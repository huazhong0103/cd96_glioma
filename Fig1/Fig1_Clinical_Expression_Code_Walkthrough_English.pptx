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98"/>
  </p:normalViewPr>
  <p:slideViewPr>
    <p:cSldViewPr snapToGrid="0" snapToObjects="1">
      <p:cViewPr varScale="1">
        <p:scale>
          <a:sx n="138" d="100"/>
          <a:sy n="138" d="100"/>
        </p:scale>
        <p:origin x="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Step-by-Step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Reproducing Fig. 1: CD96 expression across clinical and molecular glioma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Fig.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2004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664208"/>
            <a:ext cx="384048" cy="384048"/>
          </a:xfrm>
          <a:prstGeom prst="ellipse">
            <a:avLst/>
          </a:prstGeom>
          <a:solidFill>
            <a:srgbClr val="3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61848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96596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Use CGGA_CD96.txt and TCGA_CD96.txt to compare CD96 expression across grade, histology, IDH status, and molecular subtype.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63040"/>
            <a:ext cx="32004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152" y="1664208"/>
            <a:ext cx="384048" cy="384048"/>
          </a:xfrm>
          <a:prstGeom prst="ellipse">
            <a:avLst/>
          </a:prstGeom>
          <a:solidFill>
            <a:srgbClr val="1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64592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61848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Core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96596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Create one reusable plotting function, then apply it to multiple clinical variables and both cohorts.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63040"/>
            <a:ext cx="32004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39912" y="1664208"/>
            <a:ext cx="384048" cy="384048"/>
          </a:xfrm>
          <a:prstGeom prst="ellipse">
            <a:avLst/>
          </a:prstGeom>
          <a:solidFill>
            <a:srgbClr val="D67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64592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61848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96596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An 8-panel PDF figure showing boxplots, jittered samples, and statistical significance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246120"/>
            <a:ext cx="10149840" cy="146304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3374136"/>
            <a:ext cx="98206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6EEF8"/>
                </a:solidFill>
                <a:latin typeface="Consolas"/>
              </a:rPr>
              <a:t>Input files:  CGGA_CD96.txt  +  TCGA_CD96.txt
Output file:  Fig1_CD96_clinical_expression.pdf
Main R packages: ggplot2, ggpubr, gridExtra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74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293B"/>
                </a:solidFill>
                <a:latin typeface="Aptos"/>
              </a:rPr>
              <a:t>By the end, students should understand both the biological question and the structure of the R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Overall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From analysis-ready tables to a multi-panel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1. Read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Load CGGA and TCGA tables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0280" y="2880360"/>
            <a:ext cx="301752" cy="320040"/>
          </a:xfrm>
          <a:prstGeom prst="rightArrow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42032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2. Clean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Trim names, create CD96 expression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2232" y="2880360"/>
            <a:ext cx="301752" cy="320040"/>
          </a:xfrm>
          <a:prstGeom prst="rightArrow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3984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3. Define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Build reusable boxplot logic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44184" y="2880360"/>
            <a:ext cx="301752" cy="320040"/>
          </a:xfrm>
          <a:prstGeom prst="rightArrow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45936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4. Set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Control biological group display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46136" y="2880360"/>
            <a:ext cx="301751" cy="320040"/>
          </a:xfrm>
          <a:prstGeom prst="rightArrow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47888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6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A86"/>
                </a:solidFill>
                <a:latin typeface="Aptos"/>
              </a:rPr>
              <a:t>5. Generate panels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Create 4 CGGA + 4 TCGA plots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48088" y="2880360"/>
            <a:ext cx="301752" cy="320040"/>
          </a:xfrm>
          <a:prstGeom prst="rightArrow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49840" y="2011680"/>
            <a:ext cx="1600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51008" y="21671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C82A0"/>
                </a:solidFill>
                <a:latin typeface="Aptos"/>
              </a:rPr>
              <a:t>6. Export figure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8" y="251460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Arrange panels and save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846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293B"/>
                </a:solidFill>
                <a:latin typeface="Aptos"/>
              </a:rPr>
              <a:t>This script is organized as a pipeline: prepare data first, define a general plotting function, then use it repeatedly to create consistent panels.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0: Packages and Input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Prepare the R environment and expected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94960" cy="141732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506577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6EEF8"/>
                </a:solidFill>
                <a:latin typeface="Consolas"/>
              </a:rPr>
              <a:t>library(ggplot2)
library(ggpubr)
library(gridExtra)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572768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Why these packages?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920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ggplot2 draws the boxplots; ggpubr adds significance labels; gridExtra combines multiple plots into one figure.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394960" cy="141732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465576"/>
            <a:ext cx="506577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6EEF8"/>
                </a:solidFill>
                <a:latin typeface="Consolas"/>
              </a:rPr>
              <a:t>CGGA_CD96.txt
TCGA_CD96.txt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3493008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Expected input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840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ID, Histology, Grade, Gender, OS, Age, IDH status, 1p/19q status, subtype, and profile_values.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3A86"/>
                </a:solidFill>
                <a:latin typeface="Aptos"/>
              </a:rPr>
              <a:t>profile_values is the CD96 expression value used to build the y-axis of every panel.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1: Read and Clean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Create a standardized table for each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Data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577840" cy="429768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5248655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6EEF8"/>
                </a:solidFill>
                <a:latin typeface="Consolas"/>
              </a:rPr>
              <a:t>read_cd96 &lt;- function(file, cohort_name) {
  dat &lt;- read.table(file, sep = "\t", header = TRUE,
                    check.names = FALSE)
  names(dat) &lt;- trimws(names(dat))
  dat$Cohort &lt;- cohort_name
  dat$CD96_expression &lt;- log2(as.numeric(dat$profile_values) + 0.001)
  dat[dat == "NA"] &lt;- NA
  dat[dat == ""] &lt;- NA
  return(dat)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25880"/>
            <a:ext cx="48463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148132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Column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8288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trimws() removes accidental spaces such as “Age 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423160"/>
            <a:ext cx="48463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257860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Expression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92608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log2(profile_values + 0.001) reduces skewness and avoids log2(0).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611880"/>
            <a:ext cx="48463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376732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11480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Text-based missing values are converted to real R NA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0060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4848" y="495604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Cohort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303520"/>
            <a:ext cx="4434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The Cohort column keeps CGGA and TCGA traceable.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1b: Harmonize Labels Across Cohorts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Small spelling differences can break group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Data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577840" cy="132588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524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6EEF8"/>
                </a:solidFill>
                <a:latin typeface="Consolas"/>
              </a:rPr>
              <a:t>if ("h1p19q_codeletion_status" %in% names(dat)) {
  dat$h1p19q_codeletion_status &lt;- gsub("Non-code$",
    "Non-codel", dat$h1p19q_codeletion_status)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280160"/>
            <a:ext cx="48920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9128" y="1435607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Why harmonize?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78308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Different files may use slightly different labels for the same biological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514600"/>
            <a:ext cx="48920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2670048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301752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“Non-code” and “Non-codel” should be treated as the same 1p/19q non-codeletion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49039"/>
            <a:ext cx="48920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3904487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Practical lesson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251959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Before plotting, always check spelling and category levels with table().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60"/>
            <a:ext cx="1024128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5065776"/>
            <a:ext cx="9912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EF8"/>
                </a:solidFill>
                <a:latin typeface="Consolas"/>
              </a:rPr>
              <a:t>cgga &lt;- read_cd96("CGGA_CD96.txt", "CGGA")     tcga &lt;- read_cd96("TCGA_CD96.txt", "TCGA")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2: Build a Reusable Plotting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One function can draw many clinical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486400" cy="443484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16736"/>
            <a:ext cx="515721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>
                <a:solidFill>
                  <a:srgbClr val="E6EEF8"/>
                </a:solidFill>
                <a:latin typeface="Consolas"/>
              </a:rPr>
              <a:t>box_plot &lt;- function(dat, group_col, xlab, title,
                     group_order = NULL) {
  plot_dat &lt;- dat[, c(group_col, "CD96_expression")]
  colnames(plot_dat) &lt;- c("Group", "CD96_expression")
  plot_dat &lt;- plot_dat[!is.na(plot_dat$Group) &amp;
                       !is.na(plot_dat$CD96_expression), ]
  ...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47688" y="1389888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Dataset, grouping variable, x-axis label, panel title, and optional group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395728"/>
            <a:ext cx="4983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255117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Generalization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898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The selected clinical variable is renamed to Group, so the same ggplot code works every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611880"/>
            <a:ext cx="4983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3767328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Missing data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Rows without group label or expression are removed before plotting.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800600"/>
            <a:ext cx="4983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4956048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Teaching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Functions reduce repeated code and make the analysis easier to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2b: Add Statistics and Plot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Boxplot + individual samples + significance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669280" cy="452628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71016"/>
            <a:ext cx="5340096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6EEF8"/>
                </a:solidFill>
                <a:latin typeface="Consolas"/>
              </a:rPr>
              <a:t>test_method &lt;- ifelse(length(unique(plot_dat$Group)) == 2,
                      "wilcox.test", "kruskal.test")
ggplot(plot_dat, aes(x = Group, y = CD96_expression,
                     fill = Group)) +
  geom_boxplot(outlier.shape = NA) +
  geom_jitter(width = 0.18, alpha = 0.55) +
  stat_compare_means(method = test_method,
                     label = "p.signif") +
  theme_bw()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138988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Two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73736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Use Wilcoxon rank-sum test for two independent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423160"/>
            <a:ext cx="4572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0568" y="257860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More than two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92608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Use Kruskal-Wallis test for non-parametric multi-group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611880"/>
            <a:ext cx="4572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376732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411480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Boxplot summarizes distribution; jitter shows individual samples.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800600"/>
            <a:ext cx="45720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0568" y="495604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5303520"/>
            <a:ext cx="41605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p.signif displays ns, *, **, ***, or **** on the panel.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3: Define Biologically Meaningful Group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Ordering affects how the figure is interpreted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49240" cy="352044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5020055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8"/>
                </a:solidFill>
                <a:latin typeface="Consolas"/>
              </a:rPr>
              <a:t>grade_order &lt;- c("WHO II", "WHO III", "WHO IV")
histology_order &lt;- c("astrocytoma",
                     "oligoastrocytoma",
                     "oligodendroglioma",
                     "glioblastoma")
idh_order &lt;- c("Mutant", "Wildtype")
subtype_order &lt;- c("Classical", "Mesenchymal",
                   "Neural", "Proneural")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481328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Grade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WHO II → WHO III → WHO IV follows increasing malignancy.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50592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606040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IDH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953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Mutant and wildtype are displayed consistently across cohorts.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721608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Subtype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 fixed subtype order avoids random alphabetical or data-dependent ordering.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681728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83717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Practical 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5184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Use factor(levels = group_order) to control plotting order.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4: Generate CGGA and TCGA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The same function is applied to two cohorts and four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Panels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440680" cy="443484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511149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6EEF8"/>
                </a:solidFill>
                <a:latin typeface="Consolas"/>
              </a:rPr>
              <a:t>p1 &lt;- box_plot(cgga, "Grade", "WHO Grade",
               "CGGA: WHO Grade", grade_order)
p2 &lt;- box_plot(cgga, "Histology", "Histology",
               "CGGA: Histology", histology_order)
p3 &lt;- box_plot(cgga, "IDH_mutation_status",
               "IDH Mutation Status", "CGGA: IDH Status", idh_order)
p4 &lt;- box_plot(cgga, "subtype", "Molecular Subtype",
               "CGGA: Subtype", subtype_order)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25880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1481328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CGGA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828800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Grade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25880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62288" y="1481328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CGGA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828800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Histology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377439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2532887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CGGA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880359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IDH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377439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2532887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CGGA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880359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Subtype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429000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0568" y="3584448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TCGA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931920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Grade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429000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3584448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TCGA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931920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Histology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480559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4636007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TCGA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4983479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IDH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480559"/>
            <a:ext cx="20574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62288" y="4636007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TCGA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4983479"/>
            <a:ext cx="16459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Subtype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715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3A86"/>
                </a:solidFill>
                <a:latin typeface="Aptos"/>
              </a:rPr>
              <a:t>Eight panels = 2 cohorts × 4 clinical variables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Step 5: Arrange Panels and Export Fig.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Combine individual ggplot objects into a single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486400" cy="324612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515721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6EEF8"/>
                </a:solidFill>
                <a:latin typeface="Consolas"/>
              </a:rPr>
              <a:t>pdf("Fig1_CD96_clinical_expression.pdf",
    width = 13, height = 8)
grid.arrange(
  p1, p2, p3, p4,
  p5, p6, p7, p8,
  ncol = 4,
  top = "Figure 1. CD96 expression across clinical and molecular glioma phenotypes"
)
dev.off()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8463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3407" y="157276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pdf()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7" y="19202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Opens a PDF graphics device and sets output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560320"/>
            <a:ext cx="48463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7" y="271576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grid.arrange()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3063239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Places eight ggplot panels into a 4-column layout.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703320"/>
            <a:ext cx="48463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7" y="3858768"/>
            <a:ext cx="44805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dev.off()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42062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Closes the PDF device and writes the file to disk.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>
                <a:solidFill>
                  <a:srgbClr val="6854B4"/>
                </a:solidFill>
                <a:latin typeface="Aptos"/>
              </a:rPr>
              <a:t>Common error: if one panel failed to generate, the final PDF may be blank or incomplete. Always check the log and output 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Aptos Display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Aptos"/>
              </a:rPr>
              <a:t>What students should learn from this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3A86"/>
                </a:solidFill>
                <a:latin typeface="Aptos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2704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5DA7"/>
                </a:solidFill>
                <a:latin typeface="Aptos"/>
              </a:rPr>
              <a:t>1. Clean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74519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Trim column names, standardize missing values, and harmonize category labels before plotting.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52704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806A"/>
                </a:solidFill>
                <a:latin typeface="Aptos"/>
              </a:rPr>
              <a:t>2. Use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74519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 reusable plotting function prevents repetitive code and keeps plots consistent.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2704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741F"/>
                </a:solidFill>
                <a:latin typeface="Aptos"/>
              </a:rPr>
              <a:t>3. Order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74519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Biologically meaningful factor levels make figures easier to interpret.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21868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854B4"/>
                </a:solidFill>
                <a:latin typeface="Aptos"/>
              </a:rPr>
              <a:t>4. Show distributions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6616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Boxplots summarize groups, but jitter points show the actual samples.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321868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A86"/>
                </a:solidFill>
                <a:latin typeface="Aptos"/>
              </a:rPr>
              <a:t>5. Match tests to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56616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Wilcoxon is used for two groups; Kruskal-Wallis is used for more than two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63240"/>
            <a:ext cx="33832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321868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C82A0"/>
                </a:solidFill>
                <a:latin typeface="Aptos"/>
              </a:rPr>
              <a:t>6. Verify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56616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Inspect the generated PDF and check warnings or errors after running the script.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983480"/>
            <a:ext cx="9875520" cy="594360"/>
          </a:xfrm>
          <a:prstGeom prst="roundRect">
            <a:avLst/>
          </a:prstGeom>
          <a:solidFill>
            <a:srgbClr val="141B2D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7592" y="5111496"/>
            <a:ext cx="95463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6EEF8"/>
                </a:solidFill>
                <a:latin typeface="Consolas"/>
              </a:rPr>
              <a:t>Rscript 01_fig1_clinical_expression_simple.R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Aptos"/>
              </a:rPr>
              <a:t>CD96 glioma bioinformatics hands-on | Fig. 1 code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1750</Words>
  <Application>Microsoft Macintosh PowerPoint</Application>
  <PresentationFormat>Widescreen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Zhong, Hua</cp:lastModifiedBy>
  <cp:revision>1</cp:revision>
  <dcterms:created xsi:type="dcterms:W3CDTF">2013-01-27T09:14:16Z</dcterms:created>
  <dcterms:modified xsi:type="dcterms:W3CDTF">2026-07-10T14:34:21Z</dcterms:modified>
  <cp:category/>
</cp:coreProperties>
</file>