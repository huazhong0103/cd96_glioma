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523"/>
    <p:restoredTop sz="94610"/>
  </p:normalViewPr>
  <p:slideViewPr>
    <p:cSldViewPr snapToGrid="0" snapToObjects="1">
      <p:cViewPr varScale="1">
        <p:scale>
          <a:sx n="126" d="100"/>
          <a:sy n="126" d="100"/>
        </p:scale>
        <p:origin x="232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083317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54864"/>
            <a:ext cx="12191695" cy="0"/>
          </a:xfrm>
          <a:prstGeom prst="line">
            <a:avLst/>
          </a:prstGeom>
          <a:noFill/>
          <a:ln w="63500">
            <a:solidFill>
              <a:srgbClr val="173A7A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3" name="Text 1"/>
          <p:cNvSpPr/>
          <p:nvPr/>
        </p:nvSpPr>
        <p:spPr>
          <a:xfrm>
            <a:off x="411480" y="6565392"/>
            <a:ext cx="6675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CD96 glioma bioinformatics hands-on | Fig. 2 ROC code walkthrough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9144000" y="6565392"/>
            <a:ext cx="2651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 / pROC / ROC / AUC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4148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75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4148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75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914400"/>
            <a:ext cx="5760720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26314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Figure 2 ROC Analysis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76656" y="1572768"/>
            <a:ext cx="5715000" cy="6400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7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 English step-by-step walkthrough of the R code</a:t>
            </a:r>
            <a:endParaRPr lang="en-US" sz="1700" dirty="0"/>
          </a:p>
          <a:p>
            <a:pPr marL="0" indent="0" algn="l">
              <a:buNone/>
            </a:pPr>
            <a:r>
              <a:rPr lang="en-US" sz="17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Using CD96 expression to classify glioma subtype and WHO grade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685800" y="2788920"/>
            <a:ext cx="5166360" cy="1371600"/>
          </a:xfrm>
          <a:prstGeom prst="roundRect">
            <a:avLst>
              <a:gd name="adj" fmla="val 5333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5" name="Text 3"/>
          <p:cNvSpPr/>
          <p:nvPr/>
        </p:nvSpPr>
        <p:spPr>
          <a:xfrm>
            <a:off x="914400" y="2944368"/>
            <a:ext cx="182880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73A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Learning goals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914400" y="3246120"/>
            <a:ext cx="4526280" cy="685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263142"/>
                </a:solidFill>
              </a:rPr>
              <a:t>• Understand the structure of the Fig. 2 ROC script</a:t>
            </a:r>
            <a:endParaRPr lang="en-US" sz="1450" dirty="0"/>
          </a:p>
          <a:p>
            <a:pPr marL="0" indent="0">
              <a:buNone/>
            </a:pPr>
            <a:r>
              <a:rPr lang="en-US" sz="1450" dirty="0">
                <a:solidFill>
                  <a:srgbClr val="263142"/>
                </a:solidFill>
              </a:rPr>
              <a:t>• Explain how binary outcomes are defined</a:t>
            </a:r>
            <a:endParaRPr lang="en-US" sz="1450" dirty="0"/>
          </a:p>
          <a:p>
            <a:pPr marL="0" indent="0">
              <a:buNone/>
            </a:pPr>
            <a:r>
              <a:rPr lang="en-US" sz="1450" dirty="0">
                <a:solidFill>
                  <a:srgbClr val="263142"/>
                </a:solidFill>
              </a:rPr>
              <a:t>• Interpret ROC curves, AUC, and confidence intervals</a:t>
            </a:r>
            <a:endParaRPr lang="en-US" sz="1450" dirty="0"/>
          </a:p>
          <a:p>
            <a:pPr marL="0" indent="0">
              <a:buNone/>
            </a:pPr>
            <a:r>
              <a:rPr lang="en-US" sz="1450" dirty="0">
                <a:solidFill>
                  <a:srgbClr val="263142"/>
                </a:solidFill>
              </a:rPr>
              <a:t>• Export a 2×2 article-style figure and summary table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6812280" y="1234440"/>
            <a:ext cx="4389120" cy="3931920"/>
          </a:xfrm>
          <a:prstGeom prst="roundRect">
            <a:avLst>
              <a:gd name="adj" fmla="val 1860"/>
            </a:avLst>
          </a:prstGeom>
          <a:solidFill>
            <a:srgbClr val="FFFFFF"/>
          </a:solidFill>
          <a:ln w="12700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8" name="Shape 6"/>
          <p:cNvSpPr/>
          <p:nvPr/>
        </p:nvSpPr>
        <p:spPr>
          <a:xfrm>
            <a:off x="7269480" y="4617720"/>
            <a:ext cx="3429000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9" name="Shape 7"/>
          <p:cNvSpPr/>
          <p:nvPr/>
        </p:nvSpPr>
        <p:spPr>
          <a:xfrm>
            <a:off x="7269480" y="4617720"/>
            <a:ext cx="0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10" name="Shape 8"/>
          <p:cNvSpPr/>
          <p:nvPr/>
        </p:nvSpPr>
        <p:spPr>
          <a:xfrm>
            <a:off x="7269480" y="4617720"/>
            <a:ext cx="342900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11" name="Shape 9"/>
          <p:cNvSpPr/>
          <p:nvPr/>
        </p:nvSpPr>
        <p:spPr>
          <a:xfrm>
            <a:off x="7269480" y="1874520"/>
            <a:ext cx="3429000" cy="2743200"/>
          </a:xfrm>
          <a:prstGeom prst="arc">
            <a:avLst/>
          </a:prstGeom>
          <a:noFill/>
          <a:ln w="381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12" name="Text 10"/>
          <p:cNvSpPr/>
          <p:nvPr/>
        </p:nvSpPr>
        <p:spPr>
          <a:xfrm>
            <a:off x="8001000" y="1600200"/>
            <a:ext cx="201168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73A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ROC / AUC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8001000" y="4754880"/>
            <a:ext cx="201168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1 - Specificity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8321040" y="5248656"/>
            <a:ext cx="1417320" cy="256032"/>
          </a:xfrm>
          <a:prstGeom prst="roundRect">
            <a:avLst>
              <a:gd name="adj" fmla="val 28571"/>
            </a:avLst>
          </a:prstGeom>
          <a:solidFill>
            <a:srgbClr val="7C3AED"/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15" name="Text 13"/>
          <p:cNvSpPr/>
          <p:nvPr/>
        </p:nvSpPr>
        <p:spPr>
          <a:xfrm>
            <a:off x="8366760" y="5289804"/>
            <a:ext cx="13258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pROC package</a:t>
            </a:r>
            <a:endParaRPr lang="en-US" sz="88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4148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75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5488" y="301752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6314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script at a glance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02920" y="768096"/>
            <a:ext cx="10515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</a:rPr>
              <a:t>From two input tables to an article-style 2×2 ROC figure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21792" y="1874520"/>
            <a:ext cx="2011680" cy="1234440"/>
          </a:xfrm>
          <a:prstGeom prst="roundRect">
            <a:avLst>
              <a:gd name="adj" fmla="val 5926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5" name="Shape 3"/>
          <p:cNvSpPr/>
          <p:nvPr/>
        </p:nvSpPr>
        <p:spPr>
          <a:xfrm>
            <a:off x="740664" y="2002536"/>
            <a:ext cx="310896" cy="310896"/>
          </a:xfrm>
          <a:prstGeom prst="ellipse">
            <a:avLst/>
          </a:prstGeom>
          <a:solidFill>
            <a:srgbClr val="173A7A"/>
          </a:solidFill>
          <a:ln w="12700">
            <a:solidFill>
              <a:srgbClr val="173A7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6" name="Text 4"/>
          <p:cNvSpPr/>
          <p:nvPr/>
        </p:nvSpPr>
        <p:spPr>
          <a:xfrm>
            <a:off x="740664" y="2039112"/>
            <a:ext cx="31089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124712" y="1984248"/>
            <a:ext cx="132588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550" b="1" dirty="0">
                <a:solidFill>
                  <a:srgbClr val="173A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Read data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850392" y="2432304"/>
            <a:ext cx="1508760" cy="41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220" dirty="0">
                <a:solidFill>
                  <a:srgbClr val="26314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CGGA_CD96.txt</a:t>
            </a:r>
            <a:endParaRPr lang="en-US" sz="1220" dirty="0"/>
          </a:p>
          <a:p>
            <a:pPr marL="0" indent="0" algn="ctr">
              <a:buNone/>
            </a:pPr>
            <a:r>
              <a:rPr lang="en-US" sz="1220" dirty="0">
                <a:solidFill>
                  <a:srgbClr val="26314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TCGA_CD96.txt</a:t>
            </a:r>
            <a:endParaRPr lang="en-US" sz="1220" dirty="0"/>
          </a:p>
        </p:txBody>
      </p:sp>
      <p:sp>
        <p:nvSpPr>
          <p:cNvPr id="9" name="Shape 7"/>
          <p:cNvSpPr/>
          <p:nvPr/>
        </p:nvSpPr>
        <p:spPr>
          <a:xfrm>
            <a:off x="2651760" y="2487168"/>
            <a:ext cx="420624" cy="0"/>
          </a:xfrm>
          <a:prstGeom prst="line">
            <a:avLst/>
          </a:prstGeom>
          <a:noFill/>
          <a:ln w="25400">
            <a:solidFill>
              <a:srgbClr val="173A7A"/>
            </a:solidFill>
            <a:prstDash val="solid"/>
            <a:tailEnd type="triangle"/>
          </a:ln>
        </p:spPr>
        <p:txBody>
          <a:bodyPr/>
          <a:lstStyle/>
          <a:p>
            <a:endParaRPr lang="en-CN"/>
          </a:p>
        </p:txBody>
      </p:sp>
      <p:sp>
        <p:nvSpPr>
          <p:cNvPr id="10" name="Shape 8"/>
          <p:cNvSpPr/>
          <p:nvPr/>
        </p:nvSpPr>
        <p:spPr>
          <a:xfrm>
            <a:off x="2843784" y="1874520"/>
            <a:ext cx="2011680" cy="1234440"/>
          </a:xfrm>
          <a:prstGeom prst="roundRect">
            <a:avLst>
              <a:gd name="adj" fmla="val 5926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11" name="Shape 9"/>
          <p:cNvSpPr/>
          <p:nvPr/>
        </p:nvSpPr>
        <p:spPr>
          <a:xfrm>
            <a:off x="2962656" y="2002536"/>
            <a:ext cx="310896" cy="310896"/>
          </a:xfrm>
          <a:prstGeom prst="ellipse">
            <a:avLst/>
          </a:prstGeom>
          <a:solidFill>
            <a:srgbClr val="173A7A"/>
          </a:solidFill>
          <a:ln w="12700">
            <a:solidFill>
              <a:srgbClr val="173A7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12" name="Text 10"/>
          <p:cNvSpPr/>
          <p:nvPr/>
        </p:nvSpPr>
        <p:spPr>
          <a:xfrm>
            <a:off x="2962656" y="2039112"/>
            <a:ext cx="31089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346704" y="1984248"/>
            <a:ext cx="132588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550" b="1" dirty="0">
                <a:solidFill>
                  <a:srgbClr val="173A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Standardize</a:t>
            </a:r>
            <a:endParaRPr lang="en-US" sz="1550" dirty="0"/>
          </a:p>
        </p:txBody>
      </p:sp>
      <p:sp>
        <p:nvSpPr>
          <p:cNvPr id="14" name="Text 12"/>
          <p:cNvSpPr/>
          <p:nvPr/>
        </p:nvSpPr>
        <p:spPr>
          <a:xfrm>
            <a:off x="3072384" y="2432304"/>
            <a:ext cx="1508760" cy="41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220" dirty="0">
                <a:solidFill>
                  <a:srgbClr val="26314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CD96_expr</a:t>
            </a:r>
            <a:endParaRPr lang="en-US" sz="1220" dirty="0"/>
          </a:p>
          <a:p>
            <a:pPr marL="0" indent="0" algn="ctr">
              <a:buNone/>
            </a:pPr>
            <a:r>
              <a:rPr lang="en-US" sz="1220" dirty="0">
                <a:solidFill>
                  <a:srgbClr val="26314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missing values</a:t>
            </a:r>
            <a:endParaRPr lang="en-US" sz="1220" dirty="0"/>
          </a:p>
        </p:txBody>
      </p:sp>
      <p:sp>
        <p:nvSpPr>
          <p:cNvPr id="15" name="Shape 13"/>
          <p:cNvSpPr/>
          <p:nvPr/>
        </p:nvSpPr>
        <p:spPr>
          <a:xfrm>
            <a:off x="4873752" y="2487168"/>
            <a:ext cx="420624" cy="0"/>
          </a:xfrm>
          <a:prstGeom prst="line">
            <a:avLst/>
          </a:prstGeom>
          <a:noFill/>
          <a:ln w="25400">
            <a:solidFill>
              <a:srgbClr val="173A7A"/>
            </a:solidFill>
            <a:prstDash val="solid"/>
            <a:tailEnd type="triangle"/>
          </a:ln>
        </p:spPr>
        <p:txBody>
          <a:bodyPr/>
          <a:lstStyle/>
          <a:p>
            <a:endParaRPr lang="en-CN"/>
          </a:p>
        </p:txBody>
      </p:sp>
      <p:sp>
        <p:nvSpPr>
          <p:cNvPr id="16" name="Shape 14"/>
          <p:cNvSpPr/>
          <p:nvPr/>
        </p:nvSpPr>
        <p:spPr>
          <a:xfrm>
            <a:off x="5065776" y="1874520"/>
            <a:ext cx="2011680" cy="1234440"/>
          </a:xfrm>
          <a:prstGeom prst="roundRect">
            <a:avLst>
              <a:gd name="adj" fmla="val 5926"/>
            </a:avLst>
          </a:prstGeom>
          <a:solidFill>
            <a:srgbClr val="DBEAFE"/>
          </a:solidFill>
          <a:ln w="12700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17" name="Shape 15"/>
          <p:cNvSpPr/>
          <p:nvPr/>
        </p:nvSpPr>
        <p:spPr>
          <a:xfrm>
            <a:off x="5184648" y="2002536"/>
            <a:ext cx="310896" cy="310896"/>
          </a:xfrm>
          <a:prstGeom prst="ellipse">
            <a:avLst/>
          </a:prstGeom>
          <a:solidFill>
            <a:srgbClr val="173A7A"/>
          </a:solidFill>
          <a:ln w="12700">
            <a:solidFill>
              <a:srgbClr val="173A7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18" name="Text 16"/>
          <p:cNvSpPr/>
          <p:nvPr/>
        </p:nvSpPr>
        <p:spPr>
          <a:xfrm>
            <a:off x="5184648" y="2039112"/>
            <a:ext cx="31089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568696" y="1984248"/>
            <a:ext cx="132588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550" b="1" dirty="0">
                <a:solidFill>
                  <a:srgbClr val="173A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Mes ROC</a:t>
            </a:r>
            <a:endParaRPr lang="en-US" sz="1550" dirty="0"/>
          </a:p>
        </p:txBody>
      </p:sp>
      <p:sp>
        <p:nvSpPr>
          <p:cNvPr id="20" name="Text 18"/>
          <p:cNvSpPr/>
          <p:nvPr/>
        </p:nvSpPr>
        <p:spPr>
          <a:xfrm>
            <a:off x="5294376" y="2432304"/>
            <a:ext cx="1508760" cy="41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220" dirty="0">
                <a:solidFill>
                  <a:srgbClr val="26314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subtype → 0/1</a:t>
            </a:r>
            <a:endParaRPr lang="en-US" sz="1220" dirty="0"/>
          </a:p>
          <a:p>
            <a:pPr marL="0" indent="0" algn="ctr">
              <a:buNone/>
            </a:pPr>
            <a:r>
              <a:rPr lang="en-US" sz="1220" dirty="0">
                <a:solidFill>
                  <a:srgbClr val="26314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Panels A/C</a:t>
            </a:r>
            <a:endParaRPr lang="en-US" sz="1220" dirty="0"/>
          </a:p>
        </p:txBody>
      </p:sp>
      <p:sp>
        <p:nvSpPr>
          <p:cNvPr id="21" name="Shape 19"/>
          <p:cNvSpPr/>
          <p:nvPr/>
        </p:nvSpPr>
        <p:spPr>
          <a:xfrm>
            <a:off x="7095744" y="2487168"/>
            <a:ext cx="420624" cy="0"/>
          </a:xfrm>
          <a:prstGeom prst="line">
            <a:avLst/>
          </a:prstGeom>
          <a:noFill/>
          <a:ln w="25400">
            <a:solidFill>
              <a:srgbClr val="173A7A"/>
            </a:solidFill>
            <a:prstDash val="solid"/>
            <a:tailEnd type="triangle"/>
          </a:ln>
        </p:spPr>
        <p:txBody>
          <a:bodyPr/>
          <a:lstStyle/>
          <a:p>
            <a:endParaRPr lang="en-CN"/>
          </a:p>
        </p:txBody>
      </p:sp>
      <p:sp>
        <p:nvSpPr>
          <p:cNvPr id="22" name="Shape 20"/>
          <p:cNvSpPr/>
          <p:nvPr/>
        </p:nvSpPr>
        <p:spPr>
          <a:xfrm>
            <a:off x="7287768" y="1874520"/>
            <a:ext cx="2011680" cy="1234440"/>
          </a:xfrm>
          <a:prstGeom prst="roundRect">
            <a:avLst>
              <a:gd name="adj" fmla="val 5926"/>
            </a:avLst>
          </a:prstGeom>
          <a:solidFill>
            <a:srgbClr val="DBEAFE"/>
          </a:solidFill>
          <a:ln w="12700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23" name="Shape 21"/>
          <p:cNvSpPr/>
          <p:nvPr/>
        </p:nvSpPr>
        <p:spPr>
          <a:xfrm>
            <a:off x="7406640" y="2002536"/>
            <a:ext cx="310896" cy="310896"/>
          </a:xfrm>
          <a:prstGeom prst="ellipse">
            <a:avLst/>
          </a:prstGeom>
          <a:solidFill>
            <a:srgbClr val="173A7A"/>
          </a:solidFill>
          <a:ln w="12700">
            <a:solidFill>
              <a:srgbClr val="173A7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24" name="Text 22"/>
          <p:cNvSpPr/>
          <p:nvPr/>
        </p:nvSpPr>
        <p:spPr>
          <a:xfrm>
            <a:off x="7406640" y="2039112"/>
            <a:ext cx="31089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7790688" y="1984248"/>
            <a:ext cx="132588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550" b="1" dirty="0">
                <a:solidFill>
                  <a:srgbClr val="173A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Grade ROC</a:t>
            </a:r>
            <a:endParaRPr lang="en-US" sz="1550" dirty="0"/>
          </a:p>
        </p:txBody>
      </p:sp>
      <p:sp>
        <p:nvSpPr>
          <p:cNvPr id="26" name="Text 24"/>
          <p:cNvSpPr/>
          <p:nvPr/>
        </p:nvSpPr>
        <p:spPr>
          <a:xfrm>
            <a:off x="7516368" y="2432304"/>
            <a:ext cx="1508760" cy="41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220" dirty="0">
                <a:solidFill>
                  <a:srgbClr val="26314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WHO II/III/IV</a:t>
            </a:r>
            <a:endParaRPr lang="en-US" sz="1220" dirty="0"/>
          </a:p>
          <a:p>
            <a:pPr marL="0" indent="0" algn="ctr">
              <a:buNone/>
            </a:pPr>
            <a:r>
              <a:rPr lang="en-US" sz="1220" dirty="0">
                <a:solidFill>
                  <a:srgbClr val="26314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one-vs-rest</a:t>
            </a:r>
            <a:endParaRPr lang="en-US" sz="1220" dirty="0"/>
          </a:p>
        </p:txBody>
      </p:sp>
      <p:sp>
        <p:nvSpPr>
          <p:cNvPr id="27" name="Shape 25"/>
          <p:cNvSpPr/>
          <p:nvPr/>
        </p:nvSpPr>
        <p:spPr>
          <a:xfrm>
            <a:off x="9317736" y="2487168"/>
            <a:ext cx="420624" cy="0"/>
          </a:xfrm>
          <a:prstGeom prst="line">
            <a:avLst/>
          </a:prstGeom>
          <a:noFill/>
          <a:ln w="25400">
            <a:solidFill>
              <a:srgbClr val="173A7A"/>
            </a:solidFill>
            <a:prstDash val="solid"/>
            <a:tailEnd type="triangle"/>
          </a:ln>
        </p:spPr>
        <p:txBody>
          <a:bodyPr/>
          <a:lstStyle/>
          <a:p>
            <a:endParaRPr lang="en-CN"/>
          </a:p>
        </p:txBody>
      </p:sp>
      <p:sp>
        <p:nvSpPr>
          <p:cNvPr id="28" name="Shape 26"/>
          <p:cNvSpPr/>
          <p:nvPr/>
        </p:nvSpPr>
        <p:spPr>
          <a:xfrm>
            <a:off x="9509760" y="1874520"/>
            <a:ext cx="2011680" cy="1234440"/>
          </a:xfrm>
          <a:prstGeom prst="roundRect">
            <a:avLst>
              <a:gd name="adj" fmla="val 5926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29" name="Shape 27"/>
          <p:cNvSpPr/>
          <p:nvPr/>
        </p:nvSpPr>
        <p:spPr>
          <a:xfrm>
            <a:off x="9628632" y="2002536"/>
            <a:ext cx="310896" cy="310896"/>
          </a:xfrm>
          <a:prstGeom prst="ellipse">
            <a:avLst/>
          </a:prstGeom>
          <a:solidFill>
            <a:srgbClr val="173A7A"/>
          </a:solidFill>
          <a:ln w="12700">
            <a:solidFill>
              <a:srgbClr val="173A7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30" name="Text 28"/>
          <p:cNvSpPr/>
          <p:nvPr/>
        </p:nvSpPr>
        <p:spPr>
          <a:xfrm>
            <a:off x="9628632" y="2039112"/>
            <a:ext cx="31089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10012680" y="1984248"/>
            <a:ext cx="132588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550" b="1" dirty="0">
                <a:solidFill>
                  <a:srgbClr val="173A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Export</a:t>
            </a:r>
            <a:endParaRPr lang="en-US" sz="1550" dirty="0"/>
          </a:p>
        </p:txBody>
      </p:sp>
      <p:sp>
        <p:nvSpPr>
          <p:cNvPr id="32" name="Text 30"/>
          <p:cNvSpPr/>
          <p:nvPr/>
        </p:nvSpPr>
        <p:spPr>
          <a:xfrm>
            <a:off x="9738360" y="2432304"/>
            <a:ext cx="1508760" cy="41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220" dirty="0">
                <a:solidFill>
                  <a:srgbClr val="26314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2×2 PDF</a:t>
            </a:r>
            <a:endParaRPr lang="en-US" sz="1220" dirty="0"/>
          </a:p>
          <a:p>
            <a:pPr marL="0" indent="0" algn="ctr">
              <a:buNone/>
            </a:pPr>
            <a:r>
              <a:rPr lang="en-US" sz="1220" dirty="0">
                <a:solidFill>
                  <a:srgbClr val="26314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AUC summary TSV</a:t>
            </a:r>
            <a:endParaRPr lang="en-US" sz="1220" dirty="0"/>
          </a:p>
        </p:txBody>
      </p:sp>
      <p:sp>
        <p:nvSpPr>
          <p:cNvPr id="33" name="Shape 31"/>
          <p:cNvSpPr/>
          <p:nvPr/>
        </p:nvSpPr>
        <p:spPr>
          <a:xfrm>
            <a:off x="822960" y="3749040"/>
            <a:ext cx="10515600" cy="1417320"/>
          </a:xfrm>
          <a:prstGeom prst="roundRect">
            <a:avLst>
              <a:gd name="adj" fmla="val 5161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34" name="Text 32"/>
          <p:cNvSpPr/>
          <p:nvPr/>
        </p:nvSpPr>
        <p:spPr>
          <a:xfrm>
            <a:off x="969264" y="3858768"/>
            <a:ext cx="10222992" cy="11978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library(pROC)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cgga &lt;- read_cd96_data("CGGA_CD96.txt", "CGGA")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tcga &lt;- read_cd96_data("TCGA_CD96.txt", "TCGA")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res_A &lt;- plot_mes_roc(cgga, "A")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res_B &lt;- plot_grade_rocs(cgga, "B")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res_C &lt;- plot_mes_roc(tcga, "C")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res_D &lt;- plot_grade_rocs(tcga, "D")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914400" y="5559552"/>
            <a:ext cx="10149840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5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Key message: the code turns CD96 expression plus clinical labels into ROC curves and AUC values.</a:t>
            </a:r>
            <a:endParaRPr lang="en-US" sz="1550" dirty="0"/>
          </a:p>
        </p:txBody>
      </p:sp>
      <p:sp>
        <p:nvSpPr>
          <p:cNvPr id="3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4148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75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5488" y="301752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6314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Step 1 — Read and standardize input data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02920" y="768096"/>
            <a:ext cx="10515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</a:rPr>
              <a:t>Make CGGA and TCGA use the same expression column: CD96_expr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94360" y="1216152"/>
            <a:ext cx="5806440" cy="4846320"/>
          </a:xfrm>
          <a:prstGeom prst="roundRect">
            <a:avLst>
              <a:gd name="adj" fmla="val 1509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5" name="Text 3"/>
          <p:cNvSpPr/>
          <p:nvPr/>
        </p:nvSpPr>
        <p:spPr>
          <a:xfrm>
            <a:off x="740664" y="1325880"/>
            <a:ext cx="5513832" cy="46268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2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read_cd96_data &lt;- function(file, cohort_name) {</a:t>
            </a:r>
            <a:endParaRPr lang="en-US" sz="1120" dirty="0"/>
          </a:p>
          <a:p>
            <a:pPr marL="0" indent="0">
              <a:buNone/>
            </a:pPr>
            <a:r>
              <a:rPr lang="en-US" sz="112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dat &lt;- read.table(file, sep = "\t", header = TRUE,</a:t>
            </a:r>
            <a:endParaRPr lang="en-US" sz="1120" dirty="0"/>
          </a:p>
          <a:p>
            <a:pPr marL="0" indent="0">
              <a:buNone/>
            </a:pPr>
            <a:r>
              <a:rPr lang="en-US" sz="112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check.names = FALSE, quote = "")</a:t>
            </a:r>
            <a:endParaRPr lang="en-US" sz="1120" dirty="0"/>
          </a:p>
          <a:p>
            <a:pPr marL="0" indent="0">
              <a:buNone/>
            </a:pPr>
            <a:r>
              <a:rPr lang="en-US" sz="112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names(dat) &lt;- trimws(names(dat))</a:t>
            </a:r>
            <a:endParaRPr lang="en-US" sz="1120" dirty="0"/>
          </a:p>
          <a:p>
            <a:pPr marL="0" indent="0">
              <a:buNone/>
            </a:pPr>
            <a:endParaRPr lang="en-US" sz="1120" dirty="0"/>
          </a:p>
          <a:p>
            <a:pPr marL="0" indent="0">
              <a:buNone/>
            </a:pPr>
            <a:r>
              <a:rPr lang="en-US" sz="112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if ("profile_values" %in% names(dat)) {</a:t>
            </a:r>
            <a:endParaRPr lang="en-US" sz="1120" dirty="0"/>
          </a:p>
          <a:p>
            <a:pPr marL="0" indent="0">
              <a:buNone/>
            </a:pPr>
            <a:r>
              <a:rPr lang="en-US" sz="112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dat$CD96_expr &lt;- as.numeric(dat$profile_values)</a:t>
            </a:r>
            <a:endParaRPr lang="en-US" sz="1120" dirty="0"/>
          </a:p>
          <a:p>
            <a:pPr marL="0" indent="0">
              <a:buNone/>
            </a:pPr>
            <a:r>
              <a:rPr lang="en-US" sz="112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 else if ("CD96" %in% names(dat)) {</a:t>
            </a:r>
            <a:endParaRPr lang="en-US" sz="1120" dirty="0"/>
          </a:p>
          <a:p>
            <a:pPr marL="0" indent="0">
              <a:buNone/>
            </a:pPr>
            <a:r>
              <a:rPr lang="en-US" sz="112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dat$CD96_expr &lt;- as.numeric(dat$CD96)</a:t>
            </a:r>
            <a:endParaRPr lang="en-US" sz="1120" dirty="0"/>
          </a:p>
          <a:p>
            <a:pPr marL="0" indent="0">
              <a:buNone/>
            </a:pPr>
            <a:r>
              <a:rPr lang="en-US" sz="112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120" dirty="0"/>
          </a:p>
          <a:p>
            <a:pPr marL="0" indent="0">
              <a:buNone/>
            </a:pPr>
            <a:endParaRPr lang="en-US" sz="1120" dirty="0"/>
          </a:p>
          <a:p>
            <a:pPr marL="0" indent="0">
              <a:buNone/>
            </a:pPr>
            <a:r>
              <a:rPr lang="en-US" sz="112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dat$Cohort &lt;- cohort_name</a:t>
            </a:r>
            <a:endParaRPr lang="en-US" sz="1120" dirty="0"/>
          </a:p>
          <a:p>
            <a:pPr marL="0" indent="0">
              <a:buNone/>
            </a:pPr>
            <a:r>
              <a:rPr lang="en-US" sz="112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dat[dat == ""] &lt;- NA</a:t>
            </a:r>
            <a:endParaRPr lang="en-US" sz="1120" dirty="0"/>
          </a:p>
          <a:p>
            <a:pPr marL="0" indent="0">
              <a:buNone/>
            </a:pPr>
            <a:r>
              <a:rPr lang="en-US" sz="112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dat[dat == "NA"] &lt;- NA</a:t>
            </a:r>
            <a:endParaRPr lang="en-US" sz="1120" dirty="0"/>
          </a:p>
          <a:p>
            <a:pPr marL="0" indent="0">
              <a:buNone/>
            </a:pPr>
            <a:r>
              <a:rPr lang="en-US" sz="112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dat[dat == "N/A"] &lt;- NA</a:t>
            </a:r>
            <a:endParaRPr lang="en-US" sz="1120" dirty="0"/>
          </a:p>
          <a:p>
            <a:pPr marL="0" indent="0">
              <a:buNone/>
            </a:pPr>
            <a:r>
              <a:rPr lang="en-US" sz="112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return(dat)</a:t>
            </a:r>
            <a:endParaRPr lang="en-US" sz="1120" dirty="0"/>
          </a:p>
          <a:p>
            <a:pPr marL="0" indent="0">
              <a:buNone/>
            </a:pPr>
            <a:r>
              <a:rPr lang="en-US" sz="112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20" dirty="0"/>
          </a:p>
        </p:txBody>
      </p:sp>
      <p:sp>
        <p:nvSpPr>
          <p:cNvPr id="6" name="Shape 4"/>
          <p:cNvSpPr/>
          <p:nvPr/>
        </p:nvSpPr>
        <p:spPr>
          <a:xfrm>
            <a:off x="6812280" y="1325880"/>
            <a:ext cx="452628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7" name="Text 5"/>
          <p:cNvSpPr/>
          <p:nvPr/>
        </p:nvSpPr>
        <p:spPr>
          <a:xfrm>
            <a:off x="7040880" y="1517904"/>
            <a:ext cx="228600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73A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Why standardize?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040880" y="1792224"/>
            <a:ext cx="3886200" cy="47548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263142"/>
                </a:solidFill>
              </a:rPr>
              <a:t>• Some files use profile_values; others use CD96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263142"/>
                </a:solidFill>
              </a:rPr>
              <a:t>• Downstream functions only read CD96_expr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263142"/>
                </a:solidFill>
              </a:rPr>
              <a:t>• This avoids repeated column-name logic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812280" y="2834640"/>
            <a:ext cx="4526280" cy="1051560"/>
          </a:xfrm>
          <a:prstGeom prst="roundRect">
            <a:avLst>
              <a:gd name="adj" fmla="val 6957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10" name="Text 8"/>
          <p:cNvSpPr/>
          <p:nvPr/>
        </p:nvSpPr>
        <p:spPr>
          <a:xfrm>
            <a:off x="7040880" y="3035808"/>
            <a:ext cx="182880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73A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 cleaning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7040880" y="3310128"/>
            <a:ext cx="3886200" cy="47548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263142"/>
                </a:solidFill>
              </a:rPr>
              <a:t>• trimws() removes extra spaces in column names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263142"/>
                </a:solidFill>
              </a:rPr>
              <a:t>• Text missing values are converted to NA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263142"/>
                </a:solidFill>
              </a:rPr>
              <a:t>• Cohort records the data source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812280" y="4407408"/>
            <a:ext cx="452628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13" name="Text 11"/>
          <p:cNvSpPr/>
          <p:nvPr/>
        </p:nvSpPr>
        <p:spPr>
          <a:xfrm>
            <a:off x="7040880" y="4590288"/>
            <a:ext cx="91440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596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Output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7040880" y="4892040"/>
            <a:ext cx="3886200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26314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 analysis-ready data frame with CD96_expr, subtype, Grade, and Cohort.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4148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75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5488" y="301752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6314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Step 2 — ROC analysis in one sentence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02920" y="768096"/>
            <a:ext cx="10515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</a:rPr>
              <a:t>Use one continuous predictor to rank samples for a binary outcome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85800" y="1234440"/>
            <a:ext cx="2834640" cy="1097280"/>
          </a:xfrm>
          <a:prstGeom prst="roundRect">
            <a:avLst>
              <a:gd name="adj" fmla="val 6667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5" name="Text 3"/>
          <p:cNvSpPr/>
          <p:nvPr/>
        </p:nvSpPr>
        <p:spPr>
          <a:xfrm>
            <a:off x="1005840" y="1444752"/>
            <a:ext cx="201168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173A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Predictor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987552" y="1783080"/>
            <a:ext cx="2057400" cy="3657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26314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CD96 expression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26314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continuous value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566160" y="1783080"/>
            <a:ext cx="914400" cy="0"/>
          </a:xfrm>
          <a:prstGeom prst="line">
            <a:avLst/>
          </a:prstGeom>
          <a:noFill/>
          <a:ln w="25400">
            <a:solidFill>
              <a:srgbClr val="173A7A"/>
            </a:solidFill>
            <a:prstDash val="solid"/>
            <a:tailEnd type="triangle"/>
          </a:ln>
        </p:spPr>
        <p:txBody>
          <a:bodyPr/>
          <a:lstStyle/>
          <a:p>
            <a:endParaRPr lang="en-CN"/>
          </a:p>
        </p:txBody>
      </p:sp>
      <p:sp>
        <p:nvSpPr>
          <p:cNvPr id="8" name="Shape 6"/>
          <p:cNvSpPr/>
          <p:nvPr/>
        </p:nvSpPr>
        <p:spPr>
          <a:xfrm>
            <a:off x="4572000" y="1234440"/>
            <a:ext cx="2834640" cy="1097280"/>
          </a:xfrm>
          <a:prstGeom prst="roundRect">
            <a:avLst>
              <a:gd name="adj" fmla="val 6667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9" name="Text 7"/>
          <p:cNvSpPr/>
          <p:nvPr/>
        </p:nvSpPr>
        <p:spPr>
          <a:xfrm>
            <a:off x="4892040" y="1444752"/>
            <a:ext cx="219456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173A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Response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4873752" y="1783080"/>
            <a:ext cx="2194560" cy="3657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26314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 / 1 label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26314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subtype or grade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7452360" y="1783080"/>
            <a:ext cx="914400" cy="0"/>
          </a:xfrm>
          <a:prstGeom prst="line">
            <a:avLst/>
          </a:prstGeom>
          <a:noFill/>
          <a:ln w="25400">
            <a:solidFill>
              <a:srgbClr val="173A7A"/>
            </a:solidFill>
            <a:prstDash val="solid"/>
            <a:tailEnd type="triangle"/>
          </a:ln>
        </p:spPr>
        <p:txBody>
          <a:bodyPr/>
          <a:lstStyle/>
          <a:p>
            <a:endParaRPr lang="en-CN"/>
          </a:p>
        </p:txBody>
      </p:sp>
      <p:sp>
        <p:nvSpPr>
          <p:cNvPr id="12" name="Shape 10"/>
          <p:cNvSpPr/>
          <p:nvPr/>
        </p:nvSpPr>
        <p:spPr>
          <a:xfrm>
            <a:off x="8458200" y="1234440"/>
            <a:ext cx="2880360" cy="1097280"/>
          </a:xfrm>
          <a:prstGeom prst="roundRect">
            <a:avLst>
              <a:gd name="adj" fmla="val 6667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13" name="Text 11"/>
          <p:cNvSpPr/>
          <p:nvPr/>
        </p:nvSpPr>
        <p:spPr>
          <a:xfrm>
            <a:off x="8778240" y="1444752"/>
            <a:ext cx="219456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173A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ROC / AUC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8714232" y="1783080"/>
            <a:ext cx="2331720" cy="3657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350" dirty="0">
                <a:solidFill>
                  <a:srgbClr val="26314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Sensitivity vs 1-Specificity</a:t>
            </a:r>
            <a:endParaRPr lang="en-US" sz="1350" dirty="0"/>
          </a:p>
          <a:p>
            <a:pPr marL="0" indent="0" algn="ctr">
              <a:buNone/>
            </a:pPr>
            <a:r>
              <a:rPr lang="en-US" sz="1350" dirty="0">
                <a:solidFill>
                  <a:srgbClr val="26314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classification strength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777240" y="2999232"/>
            <a:ext cx="4709160" cy="2057400"/>
          </a:xfrm>
          <a:prstGeom prst="roundRect">
            <a:avLst>
              <a:gd name="adj" fmla="val 3556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16" name="Text 14"/>
          <p:cNvSpPr/>
          <p:nvPr/>
        </p:nvSpPr>
        <p:spPr>
          <a:xfrm>
            <a:off x="923544" y="3108960"/>
            <a:ext cx="4416552" cy="1837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roc_obj &lt;- roc(</a:t>
            </a:r>
            <a:endParaRPr lang="en-US" sz="1450" dirty="0"/>
          </a:p>
          <a:p>
            <a:pPr marL="0" indent="0">
              <a:buNone/>
            </a:pPr>
            <a:r>
              <a:rPr lang="en-US" sz="14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response  = d$response,</a:t>
            </a:r>
            <a:endParaRPr lang="en-US" sz="1450" dirty="0"/>
          </a:p>
          <a:p>
            <a:pPr marL="0" indent="0">
              <a:buNone/>
            </a:pPr>
            <a:r>
              <a:rPr lang="en-US" sz="14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predictor = d$CD96_expr,</a:t>
            </a:r>
            <a:endParaRPr lang="en-US" sz="1450" dirty="0"/>
          </a:p>
          <a:p>
            <a:pPr marL="0" indent="0">
              <a:buNone/>
            </a:pPr>
            <a:r>
              <a:rPr lang="en-US" sz="14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levels    = c(0, 1),</a:t>
            </a:r>
            <a:endParaRPr lang="en-US" sz="1450" dirty="0"/>
          </a:p>
          <a:p>
            <a:pPr marL="0" indent="0">
              <a:buNone/>
            </a:pPr>
            <a:r>
              <a:rPr lang="en-US" sz="14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direction = "&lt;",</a:t>
            </a:r>
            <a:endParaRPr lang="en-US" sz="1450" dirty="0"/>
          </a:p>
          <a:p>
            <a:pPr marL="0" indent="0">
              <a:buNone/>
            </a:pPr>
            <a:r>
              <a:rPr lang="en-US" sz="14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quiet     = TRUE</a:t>
            </a:r>
            <a:endParaRPr lang="en-US" sz="1450" dirty="0"/>
          </a:p>
          <a:p>
            <a:pPr marL="0" indent="0">
              <a:buNone/>
            </a:pPr>
            <a:r>
              <a:rPr lang="en-US" sz="14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450" dirty="0"/>
          </a:p>
          <a:p>
            <a:pPr marL="0" indent="0">
              <a:buNone/>
            </a:pPr>
            <a:endParaRPr lang="en-US" sz="1450" dirty="0"/>
          </a:p>
          <a:p>
            <a:pPr marL="0" indent="0">
              <a:buNone/>
            </a:pPr>
            <a:r>
              <a:rPr lang="en-US" sz="14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auc(roc_obj)</a:t>
            </a:r>
            <a:endParaRPr lang="en-US" sz="1450" dirty="0"/>
          </a:p>
        </p:txBody>
      </p:sp>
      <p:sp>
        <p:nvSpPr>
          <p:cNvPr id="17" name="Shape 15"/>
          <p:cNvSpPr/>
          <p:nvPr/>
        </p:nvSpPr>
        <p:spPr>
          <a:xfrm>
            <a:off x="5897880" y="2907792"/>
            <a:ext cx="5074920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18" name="Text 16"/>
          <p:cNvSpPr/>
          <p:nvPr/>
        </p:nvSpPr>
        <p:spPr>
          <a:xfrm>
            <a:off x="6126480" y="3182112"/>
            <a:ext cx="4526280" cy="1325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263142"/>
                </a:solidFill>
              </a:rPr>
              <a:t>• response is the known class label</a:t>
            </a:r>
            <a:endParaRPr lang="en-US" sz="1450" dirty="0"/>
          </a:p>
          <a:p>
            <a:pPr marL="0" indent="0">
              <a:buNone/>
            </a:pPr>
            <a:r>
              <a:rPr lang="en-US" sz="1450" dirty="0">
                <a:solidFill>
                  <a:srgbClr val="263142"/>
                </a:solidFill>
              </a:rPr>
              <a:t>• predictor is CD96 expression</a:t>
            </a:r>
            <a:endParaRPr lang="en-US" sz="1450" dirty="0"/>
          </a:p>
          <a:p>
            <a:pPr marL="0" indent="0">
              <a:buNone/>
            </a:pPr>
            <a:r>
              <a:rPr lang="en-US" sz="1450" dirty="0">
                <a:solidFill>
                  <a:srgbClr val="263142"/>
                </a:solidFill>
              </a:rPr>
              <a:t>• levels = c(0, 1) defines negative and positive classes</a:t>
            </a:r>
            <a:endParaRPr lang="en-US" sz="1450" dirty="0"/>
          </a:p>
          <a:p>
            <a:pPr marL="0" indent="0">
              <a:buNone/>
            </a:pPr>
            <a:r>
              <a:rPr lang="en-US" sz="1450" dirty="0">
                <a:solidFill>
                  <a:srgbClr val="263142"/>
                </a:solidFill>
              </a:rPr>
              <a:t>• direction controls whether high or low CD96 predicts the positive class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914400" y="5669280"/>
            <a:ext cx="10241280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5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ROC evaluates ranking ability across all thresholds, not just one cutoff.</a:t>
            </a:r>
            <a:endParaRPr lang="en-US" sz="15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4148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75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5488" y="301752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6314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Step 3 — Panels A/C: Mesenchymal subtype ROC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02920" y="768096"/>
            <a:ext cx="10515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</a:rPr>
              <a:t>Question: can CD96 expression identify Mesenchymal glioma?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94360" y="1234440"/>
            <a:ext cx="5669280" cy="1554480"/>
          </a:xfrm>
          <a:prstGeom prst="roundRect">
            <a:avLst>
              <a:gd name="adj" fmla="val 4706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5" name="Text 3"/>
          <p:cNvSpPr/>
          <p:nvPr/>
        </p:nvSpPr>
        <p:spPr>
          <a:xfrm>
            <a:off x="740664" y="1344168"/>
            <a:ext cx="5376672" cy="1335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2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 &lt;- dat[!is.na(dat$subtype) &amp; !is.na(dat$CD96_expr), ]</a:t>
            </a:r>
            <a:endParaRPr lang="en-US" sz="1320" dirty="0"/>
          </a:p>
          <a:p>
            <a:pPr marL="0" indent="0">
              <a:buNone/>
            </a:pPr>
            <a:r>
              <a:rPr lang="en-US" sz="132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 &lt;- d[d$subtype %in% c("Classical", "Mesenchymal",</a:t>
            </a:r>
            <a:endParaRPr lang="en-US" sz="1320" dirty="0"/>
          </a:p>
          <a:p>
            <a:pPr marL="0" indent="0">
              <a:buNone/>
            </a:pPr>
            <a:r>
              <a:rPr lang="en-US" sz="132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  "Neural", "Proneural"), ]</a:t>
            </a:r>
            <a:endParaRPr lang="en-US" sz="1320" dirty="0"/>
          </a:p>
          <a:p>
            <a:pPr marL="0" indent="0">
              <a:buNone/>
            </a:pPr>
            <a:endParaRPr lang="en-US" sz="1320" dirty="0"/>
          </a:p>
          <a:p>
            <a:pPr marL="0" indent="0">
              <a:buNone/>
            </a:pPr>
            <a:r>
              <a:rPr lang="en-US" sz="132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positive class = Mesenchymal</a:t>
            </a:r>
            <a:endParaRPr lang="en-US" sz="1320" dirty="0"/>
          </a:p>
          <a:p>
            <a:pPr marL="0" indent="0">
              <a:buNone/>
            </a:pPr>
            <a:r>
              <a:rPr lang="en-US" sz="132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d$response &lt;- ifelse(d$subtype == "Mesenchymal", 1, 0)</a:t>
            </a:r>
            <a:endParaRPr lang="en-US" sz="1320" dirty="0"/>
          </a:p>
        </p:txBody>
      </p:sp>
      <p:sp>
        <p:nvSpPr>
          <p:cNvPr id="6" name="Shape 4"/>
          <p:cNvSpPr/>
          <p:nvPr/>
        </p:nvSpPr>
        <p:spPr>
          <a:xfrm>
            <a:off x="6675120" y="1234440"/>
            <a:ext cx="4389120" cy="1554480"/>
          </a:xfrm>
          <a:prstGeom prst="roundRect">
            <a:avLst>
              <a:gd name="adj" fmla="val 4706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7" name="Text 5"/>
          <p:cNvSpPr/>
          <p:nvPr/>
        </p:nvSpPr>
        <p:spPr>
          <a:xfrm>
            <a:off x="6903720" y="1444752"/>
            <a:ext cx="164592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73A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Binary label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903720" y="1737360"/>
            <a:ext cx="3749040" cy="56692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263142"/>
                </a:solidFill>
              </a:rPr>
              <a:t>• Mesenchymal subtype → 1</a:t>
            </a:r>
            <a:endParaRPr lang="en-US" sz="1450" dirty="0"/>
          </a:p>
          <a:p>
            <a:pPr marL="0" indent="0">
              <a:buNone/>
            </a:pPr>
            <a:r>
              <a:rPr lang="en-US" sz="1450" dirty="0">
                <a:solidFill>
                  <a:srgbClr val="263142"/>
                </a:solidFill>
              </a:rPr>
              <a:t>• Classical / Neural / Proneural → 0</a:t>
            </a:r>
            <a:endParaRPr lang="en-US" sz="1450" dirty="0"/>
          </a:p>
          <a:p>
            <a:pPr marL="0" indent="0">
              <a:buNone/>
            </a:pPr>
            <a:r>
              <a:rPr lang="en-US" sz="1450" dirty="0">
                <a:solidFill>
                  <a:srgbClr val="263142"/>
                </a:solidFill>
              </a:rPr>
              <a:t>• CD96_expr is the predictor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777240" y="3246120"/>
            <a:ext cx="4160520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10" name="Shape 8"/>
          <p:cNvSpPr/>
          <p:nvPr/>
        </p:nvSpPr>
        <p:spPr>
          <a:xfrm>
            <a:off x="1143000" y="5193792"/>
            <a:ext cx="3108960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11" name="Shape 9"/>
          <p:cNvSpPr/>
          <p:nvPr/>
        </p:nvSpPr>
        <p:spPr>
          <a:xfrm>
            <a:off x="1143000" y="5193792"/>
            <a:ext cx="0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12" name="Shape 10"/>
          <p:cNvSpPr/>
          <p:nvPr/>
        </p:nvSpPr>
        <p:spPr>
          <a:xfrm>
            <a:off x="1143000" y="5193792"/>
            <a:ext cx="3108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13" name="Shape 11"/>
          <p:cNvSpPr/>
          <p:nvPr/>
        </p:nvSpPr>
        <p:spPr>
          <a:xfrm>
            <a:off x="1371600" y="3794760"/>
            <a:ext cx="1691640" cy="868680"/>
          </a:xfrm>
          <a:prstGeom prst="rect">
            <a:avLst/>
          </a:prstGeom>
          <a:solidFill>
            <a:srgbClr val="DBEAFE">
              <a:alpha val="80000"/>
            </a:srgbClr>
          </a:solidFill>
          <a:ln w="12700">
            <a:solidFill>
              <a:srgbClr val="DBEAF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14" name="Shape 12"/>
          <p:cNvSpPr/>
          <p:nvPr/>
        </p:nvSpPr>
        <p:spPr>
          <a:xfrm>
            <a:off x="1426464" y="4754880"/>
            <a:ext cx="2514600" cy="0"/>
          </a:xfrm>
          <a:prstGeom prst="line">
            <a:avLst/>
          </a:prstGeom>
          <a:noFill/>
          <a:ln w="25400">
            <a:solidFill>
              <a:srgbClr val="111827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15" name="Text 13"/>
          <p:cNvSpPr/>
          <p:nvPr/>
        </p:nvSpPr>
        <p:spPr>
          <a:xfrm>
            <a:off x="1737360" y="3493008"/>
            <a:ext cx="219456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73A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CI band + ROC line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349240" y="3273552"/>
            <a:ext cx="5943600" cy="2029968"/>
          </a:xfrm>
          <a:prstGeom prst="roundRect">
            <a:avLst>
              <a:gd name="adj" fmla="val 3604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17" name="Text 15"/>
          <p:cNvSpPr/>
          <p:nvPr/>
        </p:nvSpPr>
        <p:spPr>
          <a:xfrm>
            <a:off x="5495544" y="3383280"/>
            <a:ext cx="5650992" cy="18105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2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ci_auc  &lt;- ci.auc(roc_obj)</a:t>
            </a:r>
            <a:endParaRPr lang="en-US" sz="1220" dirty="0"/>
          </a:p>
          <a:p>
            <a:pPr marL="0" indent="0">
              <a:buNone/>
            </a:pPr>
            <a:r>
              <a:rPr lang="en-US" sz="122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ci_band &lt;- ci.se(roc_obj, specificities = seq(0, 100, 1))</a:t>
            </a:r>
            <a:endParaRPr lang="en-US" sz="1220" dirty="0"/>
          </a:p>
          <a:p>
            <a:pPr marL="0" indent="0">
              <a:buNone/>
            </a:pPr>
            <a:endParaRPr lang="en-US" sz="1220" dirty="0"/>
          </a:p>
          <a:p>
            <a:pPr marL="0" indent="0">
              <a:buNone/>
            </a:pPr>
            <a:r>
              <a:rPr lang="en-US" sz="122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plot(ci_band, type = "shape", add = TRUE)</a:t>
            </a:r>
            <a:endParaRPr lang="en-US" sz="1220" dirty="0"/>
          </a:p>
          <a:p>
            <a:pPr marL="0" indent="0">
              <a:buNone/>
            </a:pPr>
            <a:r>
              <a:rPr lang="en-US" sz="122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plot(roc_obj, add = TRUE, col = "black")</a:t>
            </a:r>
            <a:endParaRPr lang="en-US" sz="1220" dirty="0"/>
          </a:p>
        </p:txBody>
      </p:sp>
      <p:sp>
        <p:nvSpPr>
          <p:cNvPr id="18" name="Text 16"/>
          <p:cNvSpPr/>
          <p:nvPr/>
        </p:nvSpPr>
        <p:spPr>
          <a:xfrm>
            <a:off x="914400" y="5788152"/>
            <a:ext cx="10241280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53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function returns n, positives, negatives, AUC, and AUC confidence interval.</a:t>
            </a:r>
            <a:endParaRPr lang="en-US" sz="153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4148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75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5488" y="301752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6314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Step 4 — Panels B/D: WHO grade ROC overlay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02920" y="768096"/>
            <a:ext cx="10515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</a:rPr>
              <a:t>Each WHO grade is evaluated as one-vs-rest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94360" y="1207008"/>
            <a:ext cx="5806440" cy="3383280"/>
          </a:xfrm>
          <a:prstGeom prst="roundRect">
            <a:avLst>
              <a:gd name="adj" fmla="val 2162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5" name="Text 3"/>
          <p:cNvSpPr/>
          <p:nvPr/>
        </p:nvSpPr>
        <p:spPr>
          <a:xfrm>
            <a:off x="740664" y="1316736"/>
            <a:ext cx="5513832" cy="31638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1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grades &lt;- c("WHO II", "WHO III", "WHO IV")</a:t>
            </a:r>
            <a:endParaRPr lang="en-US" sz="1210" dirty="0"/>
          </a:p>
          <a:p>
            <a:pPr marL="0" indent="0">
              <a:buNone/>
            </a:pPr>
            <a:r>
              <a:rPr lang="en-US" sz="121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colors &lt;- c("red", "goldenrod2", "dodgerblue")</a:t>
            </a:r>
            <a:endParaRPr lang="en-US" sz="1210" dirty="0"/>
          </a:p>
          <a:p>
            <a:pPr marL="0" indent="0">
              <a:buNone/>
            </a:pPr>
            <a:endParaRPr lang="en-US" sz="1210" dirty="0"/>
          </a:p>
          <a:p>
            <a:pPr marL="0" indent="0">
              <a:buNone/>
            </a:pPr>
            <a:r>
              <a:rPr lang="en-US" sz="121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(i in seq_along(grades)) {</a:t>
            </a:r>
            <a:endParaRPr lang="en-US" sz="1210" dirty="0"/>
          </a:p>
          <a:p>
            <a:pPr marL="0" indent="0">
              <a:buNone/>
            </a:pPr>
            <a:r>
              <a:rPr lang="en-US" sz="121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g &lt;- grades[i]</a:t>
            </a:r>
            <a:endParaRPr lang="en-US" sz="1210" dirty="0"/>
          </a:p>
          <a:p>
            <a:pPr marL="0" indent="0">
              <a:buNone/>
            </a:pPr>
            <a:r>
              <a:rPr lang="en-US" sz="121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d$response &lt;- ifelse(d$Grade == g, 1, 0)</a:t>
            </a:r>
            <a:endParaRPr lang="en-US" sz="1210" dirty="0"/>
          </a:p>
          <a:p>
            <a:pPr marL="0" indent="0">
              <a:buNone/>
            </a:pPr>
            <a:endParaRPr lang="en-US" sz="1210" dirty="0"/>
          </a:p>
          <a:p>
            <a:pPr marL="0" indent="0">
              <a:buNone/>
            </a:pPr>
            <a:r>
              <a:rPr lang="en-US" sz="121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roc_list[[g]] &lt;- roc(</a:t>
            </a:r>
            <a:endParaRPr lang="en-US" sz="1210" dirty="0"/>
          </a:p>
          <a:p>
            <a:pPr marL="0" indent="0">
              <a:buNone/>
            </a:pPr>
            <a:r>
              <a:rPr lang="en-US" sz="121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response = d$response,</a:t>
            </a:r>
            <a:endParaRPr lang="en-US" sz="1210" dirty="0"/>
          </a:p>
          <a:p>
            <a:pPr marL="0" indent="0">
              <a:buNone/>
            </a:pPr>
            <a:r>
              <a:rPr lang="en-US" sz="121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predictor = d$CD96_expr,</a:t>
            </a:r>
            <a:endParaRPr lang="en-US" sz="1210" dirty="0"/>
          </a:p>
          <a:p>
            <a:pPr marL="0" indent="0">
              <a:buNone/>
            </a:pPr>
            <a:r>
              <a:rPr lang="en-US" sz="121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levels = c(0, 1),</a:t>
            </a:r>
            <a:endParaRPr lang="en-US" sz="1210" dirty="0"/>
          </a:p>
          <a:p>
            <a:pPr marL="0" indent="0">
              <a:buNone/>
            </a:pPr>
            <a:r>
              <a:rPr lang="en-US" sz="121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direction = "auto"</a:t>
            </a:r>
            <a:endParaRPr lang="en-US" sz="1210" dirty="0"/>
          </a:p>
          <a:p>
            <a:pPr marL="0" indent="0">
              <a:buNone/>
            </a:pPr>
            <a:r>
              <a:rPr lang="en-US" sz="121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)</a:t>
            </a:r>
            <a:endParaRPr lang="en-US" sz="1210" dirty="0"/>
          </a:p>
          <a:p>
            <a:pPr marL="0" indent="0">
              <a:buNone/>
            </a:pPr>
            <a:r>
              <a:rPr lang="en-US" sz="121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10" dirty="0"/>
          </a:p>
        </p:txBody>
      </p:sp>
      <p:sp>
        <p:nvSpPr>
          <p:cNvPr id="6" name="Shape 4"/>
          <p:cNvSpPr/>
          <p:nvPr/>
        </p:nvSpPr>
        <p:spPr>
          <a:xfrm>
            <a:off x="6812280" y="1188720"/>
            <a:ext cx="4526280" cy="960120"/>
          </a:xfrm>
          <a:prstGeom prst="roundRect">
            <a:avLst>
              <a:gd name="adj" fmla="val 7619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7" name="Text 5"/>
          <p:cNvSpPr/>
          <p:nvPr/>
        </p:nvSpPr>
        <p:spPr>
          <a:xfrm>
            <a:off x="7040880" y="1389888"/>
            <a:ext cx="182880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73A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One-vs-rest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040880" y="1700784"/>
            <a:ext cx="393192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26314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 each curve, one grade is positive and the other two grades are negative.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812280" y="2578608"/>
            <a:ext cx="452628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10" name="Text 8"/>
          <p:cNvSpPr/>
          <p:nvPr/>
        </p:nvSpPr>
        <p:spPr>
          <a:xfrm>
            <a:off x="7040880" y="2761488"/>
            <a:ext cx="283464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DC26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Why direction = "auto"?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7040880" y="3072384"/>
            <a:ext cx="3977640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360" dirty="0">
                <a:solidFill>
                  <a:srgbClr val="26314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WHO IV may be associated with higher CD96, while WHO II may be associated with lower CD96. Auto direction avoids flipped AUC values.</a:t>
            </a:r>
            <a:endParaRPr lang="en-US" sz="1360" dirty="0"/>
          </a:p>
        </p:txBody>
      </p:sp>
      <p:sp>
        <p:nvSpPr>
          <p:cNvPr id="12" name="Shape 10"/>
          <p:cNvSpPr/>
          <p:nvPr/>
        </p:nvSpPr>
        <p:spPr>
          <a:xfrm>
            <a:off x="6812280" y="4114800"/>
            <a:ext cx="4526280" cy="914400"/>
          </a:xfrm>
          <a:prstGeom prst="roundRect">
            <a:avLst>
              <a:gd name="adj" fmla="val 8000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13" name="Text 11"/>
          <p:cNvSpPr/>
          <p:nvPr/>
        </p:nvSpPr>
        <p:spPr>
          <a:xfrm>
            <a:off x="7040880" y="4297680"/>
            <a:ext cx="91440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596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Output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7040880" y="4553712"/>
            <a:ext cx="3794760" cy="34747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1380" dirty="0">
                <a:solidFill>
                  <a:srgbClr val="263142"/>
                </a:solidFill>
              </a:rPr>
              <a:t>• Three ROC curves in one panel</a:t>
            </a:r>
            <a:endParaRPr lang="en-US" sz="1380" dirty="0"/>
          </a:p>
          <a:p>
            <a:pPr marL="0" indent="0">
              <a:buNone/>
            </a:pPr>
            <a:r>
              <a:rPr lang="en-US" sz="1380" dirty="0">
                <a:solidFill>
                  <a:srgbClr val="263142"/>
                </a:solidFill>
              </a:rPr>
              <a:t>• Legend reports AUC for each grade</a:t>
            </a:r>
            <a:endParaRPr lang="en-US" sz="1380" dirty="0"/>
          </a:p>
          <a:p>
            <a:pPr marL="0" indent="0">
              <a:buNone/>
            </a:pPr>
            <a:r>
              <a:rPr lang="en-US" sz="1380" dirty="0">
                <a:solidFill>
                  <a:srgbClr val="263142"/>
                </a:solidFill>
              </a:rPr>
              <a:t>• Used for Fig. 2B and Fig. 2D</a:t>
            </a:r>
            <a:endParaRPr lang="en-US" sz="138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4148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75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5488" y="301752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6314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Step 5 — Recreate the article-style layout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02920" y="768096"/>
            <a:ext cx="10515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</a:rPr>
              <a:t>Base R layout places titles and four panels on one PDF page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21792" y="1234440"/>
            <a:ext cx="5257800" cy="2743200"/>
          </a:xfrm>
          <a:prstGeom prst="roundRect">
            <a:avLst>
              <a:gd name="adj" fmla="val 2667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5" name="Text 3"/>
          <p:cNvSpPr/>
          <p:nvPr/>
        </p:nvSpPr>
        <p:spPr>
          <a:xfrm>
            <a:off x="768096" y="1344168"/>
            <a:ext cx="4965192" cy="2523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6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pdf("Fig2_CD96_ROC_article_style.pdf", width = 8.6, height = 9.2)</a:t>
            </a:r>
            <a:endParaRPr lang="en-US" sz="1260" dirty="0"/>
          </a:p>
          <a:p>
            <a:pPr marL="0" indent="0">
              <a:buNone/>
            </a:pPr>
            <a:endParaRPr lang="en-US" sz="1260" dirty="0"/>
          </a:p>
          <a:p>
            <a:pPr marL="0" indent="0">
              <a:buNone/>
            </a:pPr>
            <a:r>
              <a:rPr lang="en-US" sz="126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layout(</a:t>
            </a:r>
            <a:endParaRPr lang="en-US" sz="1260" dirty="0"/>
          </a:p>
          <a:p>
            <a:pPr marL="0" indent="0">
              <a:buNone/>
            </a:pPr>
            <a:r>
              <a:rPr lang="en-US" sz="126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matrix(c(</a:t>
            </a:r>
            <a:endParaRPr lang="en-US" sz="1260" dirty="0"/>
          </a:p>
          <a:p>
            <a:pPr marL="0" indent="0">
              <a:buNone/>
            </a:pPr>
            <a:r>
              <a:rPr lang="en-US" sz="126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1, 1,</a:t>
            </a:r>
            <a:endParaRPr lang="en-US" sz="1260" dirty="0"/>
          </a:p>
          <a:p>
            <a:pPr marL="0" indent="0">
              <a:buNone/>
            </a:pPr>
            <a:r>
              <a:rPr lang="en-US" sz="126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2, 3,</a:t>
            </a:r>
            <a:endParaRPr lang="en-US" sz="1260" dirty="0"/>
          </a:p>
          <a:p>
            <a:pPr marL="0" indent="0">
              <a:buNone/>
            </a:pPr>
            <a:r>
              <a:rPr lang="en-US" sz="126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4, 4,</a:t>
            </a:r>
            <a:endParaRPr lang="en-US" sz="1260" dirty="0"/>
          </a:p>
          <a:p>
            <a:pPr marL="0" indent="0">
              <a:buNone/>
            </a:pPr>
            <a:r>
              <a:rPr lang="en-US" sz="126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5, 6</a:t>
            </a:r>
            <a:endParaRPr lang="en-US" sz="1260" dirty="0"/>
          </a:p>
          <a:p>
            <a:pPr marL="0" indent="0">
              <a:buNone/>
            </a:pPr>
            <a:r>
              <a:rPr lang="en-US" sz="126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), nrow = 4, byrow = TRUE),</a:t>
            </a:r>
            <a:endParaRPr lang="en-US" sz="1260" dirty="0"/>
          </a:p>
          <a:p>
            <a:pPr marL="0" indent="0">
              <a:buNone/>
            </a:pPr>
            <a:r>
              <a:rPr lang="en-US" sz="126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heights = c(0.12, 1, 0.12, 1)</a:t>
            </a:r>
            <a:endParaRPr lang="en-US" sz="1260" dirty="0"/>
          </a:p>
          <a:p>
            <a:pPr marL="0" indent="0">
              <a:buNone/>
            </a:pPr>
            <a:r>
              <a:rPr lang="en-US" sz="126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260" dirty="0"/>
          </a:p>
        </p:txBody>
      </p:sp>
      <p:sp>
        <p:nvSpPr>
          <p:cNvPr id="6" name="Shape 4"/>
          <p:cNvSpPr/>
          <p:nvPr/>
        </p:nvSpPr>
        <p:spPr>
          <a:xfrm>
            <a:off x="6583680" y="1353312"/>
            <a:ext cx="4114800" cy="411480"/>
          </a:xfrm>
          <a:prstGeom prst="roundRect">
            <a:avLst>
              <a:gd name="adj" fmla="val 17778"/>
            </a:avLst>
          </a:prstGeom>
          <a:solidFill>
            <a:srgbClr val="173A7A"/>
          </a:solidFill>
          <a:ln w="12700">
            <a:solidFill>
              <a:srgbClr val="173A7A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7" name="Text 5"/>
          <p:cNvSpPr/>
          <p:nvPr/>
        </p:nvSpPr>
        <p:spPr>
          <a:xfrm>
            <a:off x="6656832" y="1435608"/>
            <a:ext cx="396849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CGGA title row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583680" y="1883664"/>
            <a:ext cx="1920240" cy="1005840"/>
          </a:xfrm>
          <a:prstGeom prst="roundRect">
            <a:avLst>
              <a:gd name="adj" fmla="val 7273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9" name="Shape 7"/>
          <p:cNvSpPr/>
          <p:nvPr/>
        </p:nvSpPr>
        <p:spPr>
          <a:xfrm>
            <a:off x="8778240" y="1883664"/>
            <a:ext cx="1920240" cy="1005840"/>
          </a:xfrm>
          <a:prstGeom prst="roundRect">
            <a:avLst>
              <a:gd name="adj" fmla="val 7273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10" name="Text 8"/>
          <p:cNvSpPr/>
          <p:nvPr/>
        </p:nvSpPr>
        <p:spPr>
          <a:xfrm>
            <a:off x="6693408" y="1993392"/>
            <a:ext cx="2286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73A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887968" y="1993392"/>
            <a:ext cx="2286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73A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583680" y="3163824"/>
            <a:ext cx="4114800" cy="411480"/>
          </a:xfrm>
          <a:prstGeom prst="roundRect">
            <a:avLst>
              <a:gd name="adj" fmla="val 17778"/>
            </a:avLst>
          </a:prstGeom>
          <a:solidFill>
            <a:srgbClr val="173A7A"/>
          </a:solidFill>
          <a:ln w="12700">
            <a:solidFill>
              <a:srgbClr val="173A7A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13" name="Text 11"/>
          <p:cNvSpPr/>
          <p:nvPr/>
        </p:nvSpPr>
        <p:spPr>
          <a:xfrm>
            <a:off x="6656832" y="3246120"/>
            <a:ext cx="396849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TCGA title row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583680" y="3675888"/>
            <a:ext cx="1920240" cy="1143000"/>
          </a:xfrm>
          <a:prstGeom prst="roundRect">
            <a:avLst>
              <a:gd name="adj" fmla="val 6400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15" name="Shape 13"/>
          <p:cNvSpPr/>
          <p:nvPr/>
        </p:nvSpPr>
        <p:spPr>
          <a:xfrm>
            <a:off x="8778240" y="3675888"/>
            <a:ext cx="1920240" cy="1143000"/>
          </a:xfrm>
          <a:prstGeom prst="roundRect">
            <a:avLst>
              <a:gd name="adj" fmla="val 6400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16" name="Text 14"/>
          <p:cNvSpPr/>
          <p:nvPr/>
        </p:nvSpPr>
        <p:spPr>
          <a:xfrm>
            <a:off x="6693408" y="3785616"/>
            <a:ext cx="2286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73A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887968" y="3785616"/>
            <a:ext cx="2286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73A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68680" y="4983480"/>
            <a:ext cx="10241280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500" dirty="0">
                <a:solidFill>
                  <a:srgbClr val="26314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layout matrix assigns each plotting region a number. Repeating a number merges cells, which creates full-width title rows.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4148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75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5488" y="301752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6314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Step 6 — Save outputs and check reproducibility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02920" y="768096"/>
            <a:ext cx="10515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</a:rPr>
              <a:t>The figure is not the only output; the AUC table documents the exact numbers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21792" y="1188720"/>
            <a:ext cx="5715000" cy="3017520"/>
          </a:xfrm>
          <a:prstGeom prst="roundRect">
            <a:avLst>
              <a:gd name="adj" fmla="val 2424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5" name="Text 3"/>
          <p:cNvSpPr/>
          <p:nvPr/>
        </p:nvSpPr>
        <p:spPr>
          <a:xfrm>
            <a:off x="768096" y="1298448"/>
            <a:ext cx="5422392" cy="2798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7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auc_summary &lt;- rbind(res_A, res_B, res_C, res_D)</a:t>
            </a:r>
            <a:endParaRPr lang="en-US" sz="1270" dirty="0"/>
          </a:p>
          <a:p>
            <a:pPr marL="0" indent="0">
              <a:buNone/>
            </a:pPr>
            <a:endParaRPr lang="en-US" sz="1270" dirty="0"/>
          </a:p>
          <a:p>
            <a:pPr marL="0" indent="0">
              <a:buNone/>
            </a:pPr>
            <a:r>
              <a:rPr lang="en-US" sz="127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write.table(</a:t>
            </a:r>
            <a:endParaRPr lang="en-US" sz="1270" dirty="0"/>
          </a:p>
          <a:p>
            <a:pPr marL="0" indent="0">
              <a:buNone/>
            </a:pPr>
            <a:r>
              <a:rPr lang="en-US" sz="127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auc_summary,</a:t>
            </a:r>
            <a:endParaRPr lang="en-US" sz="1270" dirty="0"/>
          </a:p>
          <a:p>
            <a:pPr marL="0" indent="0">
              <a:buNone/>
            </a:pPr>
            <a:r>
              <a:rPr lang="en-US" sz="127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"Fig2_CD96_ROC_AUC_summary.tsv",</a:t>
            </a:r>
            <a:endParaRPr lang="en-US" sz="1270" dirty="0"/>
          </a:p>
          <a:p>
            <a:pPr marL="0" indent="0">
              <a:buNone/>
            </a:pPr>
            <a:r>
              <a:rPr lang="en-US" sz="127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sep = "\t", quote = FALSE, row.names = FALSE</a:t>
            </a:r>
            <a:endParaRPr lang="en-US" sz="1270" dirty="0"/>
          </a:p>
          <a:p>
            <a:pPr marL="0" indent="0">
              <a:buNone/>
            </a:pPr>
            <a:r>
              <a:rPr lang="en-US" sz="127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270" dirty="0"/>
          </a:p>
          <a:p>
            <a:pPr marL="0" indent="0">
              <a:buNone/>
            </a:pPr>
            <a:endParaRPr lang="en-US" sz="1270" dirty="0"/>
          </a:p>
          <a:p>
            <a:pPr marL="0" indent="0">
              <a:buNone/>
            </a:pPr>
            <a:r>
              <a:rPr lang="en-US" sz="127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cat("Done:\n")</a:t>
            </a:r>
            <a:endParaRPr lang="en-US" sz="1270" dirty="0"/>
          </a:p>
          <a:p>
            <a:pPr marL="0" indent="0">
              <a:buNone/>
            </a:pPr>
            <a:r>
              <a:rPr lang="en-US" sz="127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cat("  Fig2_CD96_ROC_article_style.pdf\n")</a:t>
            </a:r>
            <a:endParaRPr lang="en-US" sz="1270" dirty="0"/>
          </a:p>
          <a:p>
            <a:pPr marL="0" indent="0">
              <a:buNone/>
            </a:pPr>
            <a:r>
              <a:rPr lang="en-US" sz="127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cat("  Fig2_CD96_ROC_AUC_summary.tsv\n")</a:t>
            </a:r>
            <a:endParaRPr lang="en-US" sz="1270" dirty="0"/>
          </a:p>
        </p:txBody>
      </p:sp>
      <p:sp>
        <p:nvSpPr>
          <p:cNvPr id="6" name="Shape 4"/>
          <p:cNvSpPr/>
          <p:nvPr/>
        </p:nvSpPr>
        <p:spPr>
          <a:xfrm>
            <a:off x="6720840" y="1207008"/>
            <a:ext cx="4480560" cy="1051560"/>
          </a:xfrm>
          <a:prstGeom prst="roundRect">
            <a:avLst>
              <a:gd name="adj" fmla="val 6957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7" name="Text 5"/>
          <p:cNvSpPr/>
          <p:nvPr/>
        </p:nvSpPr>
        <p:spPr>
          <a:xfrm>
            <a:off x="6967728" y="1389888"/>
            <a:ext cx="201168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73A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to inspect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967728" y="1682496"/>
            <a:ext cx="3794760" cy="47548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1360" dirty="0">
                <a:solidFill>
                  <a:srgbClr val="263142"/>
                </a:solidFill>
              </a:rPr>
              <a:t>• Do the panel A/C Mes AUCs match the article?</a:t>
            </a:r>
            <a:endParaRPr lang="en-US" sz="1360" dirty="0"/>
          </a:p>
          <a:p>
            <a:pPr marL="0" indent="0">
              <a:buNone/>
            </a:pPr>
            <a:r>
              <a:rPr lang="en-US" sz="1360" dirty="0">
                <a:solidFill>
                  <a:srgbClr val="263142"/>
                </a:solidFill>
              </a:rPr>
              <a:t>• Are WHO II/III/IV AUCs close to the reference?</a:t>
            </a:r>
            <a:endParaRPr lang="en-US" sz="1360" dirty="0"/>
          </a:p>
          <a:p>
            <a:pPr marL="0" indent="0">
              <a:buNone/>
            </a:pPr>
            <a:r>
              <a:rPr lang="en-US" sz="1360" dirty="0">
                <a:solidFill>
                  <a:srgbClr val="263142"/>
                </a:solidFill>
              </a:rPr>
              <a:t>• Are directions biologically sensible?</a:t>
            </a:r>
            <a:endParaRPr lang="en-US" sz="1360" dirty="0"/>
          </a:p>
        </p:txBody>
      </p:sp>
      <p:sp>
        <p:nvSpPr>
          <p:cNvPr id="9" name="Shape 7"/>
          <p:cNvSpPr/>
          <p:nvPr/>
        </p:nvSpPr>
        <p:spPr>
          <a:xfrm>
            <a:off x="6720840" y="2697480"/>
            <a:ext cx="448056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10" name="Text 8"/>
          <p:cNvSpPr/>
          <p:nvPr/>
        </p:nvSpPr>
        <p:spPr>
          <a:xfrm>
            <a:off x="6967728" y="2889504"/>
            <a:ext cx="274320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DC26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Why small differences occur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967728" y="3182112"/>
            <a:ext cx="3794760" cy="502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1360" dirty="0">
                <a:solidFill>
                  <a:srgbClr val="263142"/>
                </a:solidFill>
              </a:rPr>
              <a:t>• Data release or sample filtering differences</a:t>
            </a:r>
            <a:endParaRPr lang="en-US" sz="1360" dirty="0"/>
          </a:p>
          <a:p>
            <a:pPr marL="0" indent="0">
              <a:buNone/>
            </a:pPr>
            <a:r>
              <a:rPr lang="en-US" sz="1360" dirty="0">
                <a:solidFill>
                  <a:srgbClr val="263142"/>
                </a:solidFill>
              </a:rPr>
              <a:t>• Duplicate or non-primary samples</a:t>
            </a:r>
            <a:endParaRPr lang="en-US" sz="1360" dirty="0"/>
          </a:p>
          <a:p>
            <a:pPr marL="0" indent="0">
              <a:buNone/>
            </a:pPr>
            <a:r>
              <a:rPr lang="en-US" sz="1360" dirty="0">
                <a:solidFill>
                  <a:srgbClr val="263142"/>
                </a:solidFill>
              </a:rPr>
              <a:t>• ROC direction or smoothing method</a:t>
            </a:r>
            <a:endParaRPr lang="en-US" sz="1360" dirty="0"/>
          </a:p>
          <a:p>
            <a:pPr marL="0" indent="0">
              <a:buNone/>
            </a:pPr>
            <a:r>
              <a:rPr lang="en-US" sz="1360" dirty="0">
                <a:solidFill>
                  <a:srgbClr val="263142"/>
                </a:solidFill>
              </a:rPr>
              <a:t>• Missing subtype / grade annotations</a:t>
            </a:r>
            <a:endParaRPr lang="en-US" sz="1360" dirty="0"/>
          </a:p>
        </p:txBody>
      </p:sp>
      <p:sp>
        <p:nvSpPr>
          <p:cNvPr id="12" name="Shape 10"/>
          <p:cNvSpPr/>
          <p:nvPr/>
        </p:nvSpPr>
        <p:spPr>
          <a:xfrm>
            <a:off x="914400" y="4800600"/>
            <a:ext cx="9966960" cy="731520"/>
          </a:xfrm>
          <a:prstGeom prst="roundRect">
            <a:avLst>
              <a:gd name="adj" fmla="val 10000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13" name="Text 11"/>
          <p:cNvSpPr/>
          <p:nvPr/>
        </p:nvSpPr>
        <p:spPr>
          <a:xfrm>
            <a:off x="1143000" y="4983480"/>
            <a:ext cx="950976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73A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Teaching takeaway: Fig. 2 is a classification exercise. CD96 is the score; subtype or WHO grade is the label; ROC/AUC measures how well the score separates the label.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4148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75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1397</Words>
  <Application>Microsoft Macintosh PowerPoint</Application>
  <PresentationFormat>Widescreen</PresentationFormat>
  <Paragraphs>199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Aptos</vt:lpstr>
      <vt:lpstr>Aptos Display</vt:lpstr>
      <vt:lpstr>Arial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Figure 2 ROC Code Walkthrough</dc:title>
  <dc:subject>English walkthrough of Fig. 2 CD96 ROC R code</dc:subject>
  <dc:creator>OpenAI</dc:creator>
  <cp:lastModifiedBy>Zhong, Hua</cp:lastModifiedBy>
  <cp:revision>2</cp:revision>
  <dcterms:created xsi:type="dcterms:W3CDTF">2026-07-10T04:07:24Z</dcterms:created>
  <dcterms:modified xsi:type="dcterms:W3CDTF">2026-07-10T04:16:22Z</dcterms:modified>
</cp:coreProperties>
</file>