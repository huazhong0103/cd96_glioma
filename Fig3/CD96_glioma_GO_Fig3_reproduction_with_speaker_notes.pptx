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959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In this presentation, I will show how to organize the R code needed to reproduce Figure 3 from the CD96 glioma paper and how to extend the analysis with several additional GO enrichment plots. The original Figure 3 summarized Gene Ontology Biological Process enrichment for the top 50 genes most relevant to CD96 in the CGGA and TCGA cohorts. The main plot type was a GOChord plot, which connects enriched GO terms with the genes contributing to each term. In this deck, we will first review the analytical logic, then walk through the cleaned R workflow, and finally compare different plot types that can be used in a manuscript, presentation, or classroom demonstration.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anchors the workflow to the original figure. In the paper, Figure 3 appears together with the section reporting that CD96 was significantly associated with immune functions in glioma. The CGGA panel emphasizes T cell activation and lymphocyte activation, whereas the TCGA panel emphasizes lymphocyte and mononuclear cell proliferation, immune effector regulation, and neutrophil activation. For students, the key point is that a GOChord plot combines two layers of information. The colored GO sectors represent biological processes, and the gene sectors represent the genes that contribute to those processes. This lets the reader see both pathway-level enrichment and gene-level support.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workflow. We start with two simple input files, one for CGGA and one for TCGA. Each file contains gene symbols and a log2 fold-change-like value or correlation-derived score for the top 50 CD96-associated genes. Next, we map gene symbols to ENTREZ IDs because clusterProfiler's enrichGO function works reliably with ENTREZ identifiers. We then run GO Biological Process enrichment and simplify redundant GO terms. Finally, we generate several figures. The main output for reproducing Figure 3 is the GOChord plot, and additional outputs include bubble plots, bar plots, lollipop plots, cnet plots, GO circle plots, and GO cluster plots.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input preparation. The original script had useful code, but it mixed R Markdown markers, a hard-coded local working directory, and dataset-specific blocks. In the cleaned script, I make the input step into a function. This function checks that the required columns are present, converts data types, removes missing values, and removes duplicated gene symbols. This makes the workflow safer and easier to reuse for both CGGA and TCGA.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ID mapping and enrichment. In R, gene symbols are easy to read, but enrichment tools usually require more stable identifiers. Here I use clusterProfiler's bitr function to map gene symbols to ENTREZ IDs using org.Hs.eg.db. After mapping, enrichGO tests whether the input genes are overrepresented in GO Biological Process terms. We use the Benjamini-Hochberg method for adjusted p values. This is also where we align our code with the paper, because the paper described GO Biological Process analysis of the top 50 genes most relevant to CD96.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enrichment often produces many overlapping terms because the Gene Ontology is hierarchical. If we plot too many terms, the figure becomes difficult to read. The simplify step reduces redundancy by using semantic similarity. In the revised script, I keep both outputs: the original enrichment table and the simplified table. This is important for transparency. The original table is useful for supplementary results, while the simplified table is better for presentation-quality figures.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Figure 3-style output for both cohorts. The circular sectors on the right side of each chord plot are GO terms. The smaller sectors around the left side are genes. The ribbons indicate which genes belong to which GO terms. In the CGGA cohort, the strongest themes are T cell activation and related lymphocyte processes. In the TCGA cohort, the strongest themes include lymphocyte proliferation, mononuclear cell proliferation, immune effector regulation, and neutrophil activation. The biological interpretation is consistent: CD96-associated genes are strongly linked to immune activation and immune-cell interactions in glioma.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key code structure for GOChord. GOplot requires its own format, so we first transform the enrichGO result into a data frame with category, ID, term, genes, and adjusted p value. Then circle_dat combines this GO table with the gene-level values. Next chord_dat selects the GO terms to display. Finally GOChord draws the plot. A practical detail is that the chord plot is much easier to read if the row names are gene symbols rather than ENTREZ IDs, so the revised script performs that conversion automatically.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 plots are often easier for a general audience than chord plots. They do not show exactly which genes belong to each term, but they are excellent for comparing enrichment strength, gene ratio, and gene count. In a manuscript, I would use bubble plots when the goal is to summarize the top enriched biological processes clearly. In a presentation, bubble plots are also effective because the audience can quickly see which processes are strongest in CGGA and TCGA.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plots and lollipop plots are good alternatives when the audience needs a clean ranking of GO terms. The bar plot ranks biological processes by enrichment significance. The lollipop plot emphasizes gene ratio, and the dot size or color can encode gene count or adjusted p value. These plots are less visually complex than chord diagrams and are often better for teaching. I would use a GOChord plot for a detailed gene-term relationship and a bubble or bar plot for a quick summary.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GOplot's GOBubble is another style of enrichment plot. Instead of plotting gene ratio, it places terms by z-score and negative log adjusted p value. The z-score in GOplot gives a directional summary based on the gene-level fold-change values within each term. In this CD96 example, many terms show positive z-scores because the selected CD96-associated genes tend to move in the same positive direction. This plot is useful when we want to connect enrichment significance with directional gene-level information.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two circular styles. The GO circle or bagua-style plot gives a compact view of GO terms and gene-level changes around a circle. The cnet circular plot from clusterProfiler also emphasizes gene-term connections. These plots are visually appealing and useful for presentations, but they can become crowded very quickly. For manuscript figures, I recommend using them only when the number of terms and genes is limited.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GOCluster is a more advanced circular plot. It combines clustering with term membership. In the revised script, genes can be clustered by logFC, and the outer rings indicate whether a gene belongs to each selected GO term. This helps answer a different question from the bubble plot. Instead of asking which terms are most enriched, GOCluster asks whether the genes that support those terms show similar expression or correlation patterns.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main wrapper function. The most important improvement is that CGGA and TCGA are no longer separate chunks of copy-pasted code. Instead, one function runs the entire pipeline for any dataset prefix and top 50 gene file. This is cleaner for teaching and more reliable for research. It also makes the script easy to adapt to another gene, another cancer type, or another list of correlated genes.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biological interpretation is straightforward and consistent with the original paper. In both datasets, genes associated with CD96 are enriched in immune-related biological processes. The exact top terms differ between CGGA and TCGA, but both point to immune activation, immune-cell proliferation, and leukocyte communication. However, it is important to remind students that GO enrichment is not causal evidence. It summarizes functional annotation patterns in a gene list. Experimental validation or independent mechanistic analysis is needed to establish causality.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this workflow has three main lessons. First, clean code matters. Functionalized R code is much easier to reproduce than a long manually edited script. Second, the original Figure 3 can be reproduced by using clusterProfiler for GO Biological Process enrichment and GOplot for the chord diagram. Third, different plot types serve different communication goals. A good analysis does not need to use every plot, but it should choose plots based on the story being told. Thank you.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75E"/>
        </a:solidFill>
        <a:effectLst/>
      </p:bgPr>
    </p:bg>
    <p:spTree>
      <p:nvGrpSpPr>
        <p:cNvPr id="1" name=""/>
        <p:cNvGrpSpPr/>
        <p:nvPr/>
      </p:nvGrpSpPr>
      <p:grpSpPr>
        <a:xfrm>
          <a:off x="0" y="0"/>
          <a:ext cx="0" cy="0"/>
          <a:chOff x="0" y="0"/>
          <a:chExt cx="0" cy="0"/>
        </a:xfrm>
      </p:grpSpPr>
      <p:sp>
        <p:nvSpPr>
          <p:cNvPr id="2" name="Text 0"/>
          <p:cNvSpPr/>
          <p:nvPr/>
        </p:nvSpPr>
        <p:spPr>
          <a:xfrm>
            <a:off x="685800" y="914400"/>
            <a:ext cx="7498080" cy="685800"/>
          </a:xfrm>
          <a:prstGeom prst="rect">
            <a:avLst/>
          </a:prstGeom>
          <a:noFill/>
          <a:ln/>
        </p:spPr>
        <p:txBody>
          <a:bodyPr wrap="square" lIns="0" tIns="0" rIns="0" bIns="0" rtlCol="0" anchor="ctr"/>
          <a:lstStyle/>
          <a:p>
            <a:pPr marL="0" indent="0">
              <a:buNone/>
            </a:pPr>
            <a:r>
              <a:rPr lang="en-US" sz="3000" b="1" dirty="0">
                <a:solidFill>
                  <a:srgbClr val="FFFFFF"/>
                </a:solidFill>
                <a:latin typeface="Aptos Display" pitchFamily="34" charset="0"/>
                <a:ea typeface="Aptos Display" pitchFamily="34" charset="-122"/>
                <a:cs typeface="Aptos Display" pitchFamily="34" charset="-120"/>
              </a:rPr>
              <a:t>Reproducing CD96 Glioma Figure 3</a:t>
            </a:r>
            <a:endParaRPr lang="en-US" sz="3000" dirty="0"/>
          </a:p>
        </p:txBody>
      </p:sp>
      <p:sp>
        <p:nvSpPr>
          <p:cNvPr id="3" name="Text 1"/>
          <p:cNvSpPr/>
          <p:nvPr/>
        </p:nvSpPr>
        <p:spPr>
          <a:xfrm>
            <a:off x="713232" y="1691640"/>
            <a:ext cx="7680960" cy="365760"/>
          </a:xfrm>
          <a:prstGeom prst="rect">
            <a:avLst/>
          </a:prstGeom>
          <a:noFill/>
          <a:ln/>
        </p:spPr>
        <p:txBody>
          <a:bodyPr wrap="square" lIns="0" tIns="0" rIns="0" bIns="0" rtlCol="0" anchor="ctr"/>
          <a:lstStyle/>
          <a:p>
            <a:pPr marL="0" indent="0">
              <a:buNone/>
            </a:pPr>
            <a:r>
              <a:rPr lang="en-US" sz="1700" dirty="0">
                <a:solidFill>
                  <a:srgbClr val="D9EAF7"/>
                </a:solidFill>
              </a:rPr>
              <a:t>GO enrichment visualization with clusterProfiler and GOplot</a:t>
            </a:r>
            <a:endParaRPr lang="en-US" sz="1700" dirty="0"/>
          </a:p>
        </p:txBody>
      </p:sp>
      <p:pic>
        <p:nvPicPr>
          <p:cNvPr id="4" name="Image 0" descr="/mnt/data/go_reproduce_assets/article_fig3_crop.png"/>
          <p:cNvPicPr>
            <a:picLocks noChangeAspect="1"/>
          </p:cNvPicPr>
          <p:nvPr/>
        </p:nvPicPr>
        <p:blipFill>
          <a:blip r:embed="rId3"/>
          <a:srcRect t="1429" b="1429"/>
          <a:stretch/>
        </p:blipFill>
        <p:spPr>
          <a:xfrm>
            <a:off x="777240" y="2331720"/>
            <a:ext cx="6492240" cy="3063240"/>
          </a:xfrm>
          <a:prstGeom prst="rect">
            <a:avLst/>
          </a:prstGeom>
        </p:spPr>
      </p:pic>
      <p:sp>
        <p:nvSpPr>
          <p:cNvPr id="5" name="Shape 2"/>
          <p:cNvSpPr/>
          <p:nvPr/>
        </p:nvSpPr>
        <p:spPr>
          <a:xfrm>
            <a:off x="7635240" y="2331720"/>
            <a:ext cx="3749040" cy="3063240"/>
          </a:xfrm>
          <a:prstGeom prst="roundRect">
            <a:avLst>
              <a:gd name="adj" fmla="val 3582"/>
            </a:avLst>
          </a:prstGeom>
          <a:solidFill>
            <a:srgbClr val="F4F8FC"/>
          </a:solidFill>
          <a:ln w="12700">
            <a:solidFill>
              <a:srgbClr val="7EA6D8"/>
            </a:solidFill>
            <a:prstDash val="solid"/>
          </a:ln>
        </p:spPr>
        <p:txBody>
          <a:bodyPr/>
          <a:lstStyle/>
          <a:p>
            <a:endParaRPr lang="en-CN"/>
          </a:p>
        </p:txBody>
      </p:sp>
      <p:sp>
        <p:nvSpPr>
          <p:cNvPr id="6" name="Text 3"/>
          <p:cNvSpPr/>
          <p:nvPr/>
        </p:nvSpPr>
        <p:spPr>
          <a:xfrm>
            <a:off x="7799832" y="2478024"/>
            <a:ext cx="3419856" cy="228600"/>
          </a:xfrm>
          <a:prstGeom prst="rect">
            <a:avLst/>
          </a:prstGeom>
          <a:noFill/>
          <a:ln/>
        </p:spPr>
        <p:txBody>
          <a:bodyPr wrap="square" lIns="254" tIns="254" rIns="254" bIns="254" rtlCol="0" anchor="ctr"/>
          <a:lstStyle/>
          <a:p>
            <a:pPr marL="0" indent="0">
              <a:buNone/>
            </a:pPr>
            <a:r>
              <a:rPr lang="en-US" sz="1500" b="1" dirty="0">
                <a:solidFill>
                  <a:srgbClr val="2E75B6"/>
                </a:solidFill>
              </a:rPr>
              <a:t>What this deck covers</a:t>
            </a:r>
            <a:endParaRPr lang="en-US" sz="1500" dirty="0"/>
          </a:p>
        </p:txBody>
      </p:sp>
      <p:sp>
        <p:nvSpPr>
          <p:cNvPr id="7" name="Text 4"/>
          <p:cNvSpPr/>
          <p:nvPr/>
        </p:nvSpPr>
        <p:spPr>
          <a:xfrm>
            <a:off x="7799832" y="2807208"/>
            <a:ext cx="3419856" cy="24688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 Clean and reusable R code</a:t>
            </a:r>
            <a:endParaRPr lang="en-US" sz="1200" dirty="0"/>
          </a:p>
          <a:p>
            <a:pPr marL="0" indent="0">
              <a:buNone/>
            </a:pPr>
            <a:r>
              <a:rPr lang="en-US" sz="1200" dirty="0">
                <a:solidFill>
                  <a:srgbClr val="222222"/>
                </a:solidFill>
              </a:rPr>
              <a:t>• Reproduce Figure 3-style GOChord plots</a:t>
            </a:r>
            <a:endParaRPr lang="en-US" sz="1200" dirty="0"/>
          </a:p>
          <a:p>
            <a:pPr marL="0" indent="0">
              <a:buNone/>
            </a:pPr>
            <a:r>
              <a:rPr lang="en-US" sz="1200" dirty="0">
                <a:solidFill>
                  <a:srgbClr val="222222"/>
                </a:solidFill>
              </a:rPr>
              <a:t>• Add alternative visualizations: bubble, bar, lollipop, cnet, GO circle, and GO cluster</a:t>
            </a:r>
            <a:endParaRPr lang="en-US" sz="1200" dirty="0"/>
          </a:p>
          <a:p>
            <a:pPr marL="0" indent="0">
              <a:buNone/>
            </a:pPr>
            <a:r>
              <a:rPr lang="en-US" sz="1200" dirty="0">
                <a:solidFill>
                  <a:srgbClr val="222222"/>
                </a:solidFill>
              </a:rPr>
              <a:t>• Interpret CD96-associated immune biology</a:t>
            </a:r>
            <a:endParaRPr lang="en-US" sz="1200" dirty="0"/>
          </a:p>
        </p:txBody>
      </p:sp>
      <p:sp>
        <p:nvSpPr>
          <p:cNvPr id="8" name="Text 5"/>
          <p:cNvSpPr/>
          <p:nvPr/>
        </p:nvSpPr>
        <p:spPr>
          <a:xfrm>
            <a:off x="777240" y="5715000"/>
            <a:ext cx="10881360" cy="256032"/>
          </a:xfrm>
          <a:prstGeom prst="rect">
            <a:avLst/>
          </a:prstGeom>
          <a:noFill/>
          <a:ln/>
        </p:spPr>
        <p:txBody>
          <a:bodyPr wrap="square" lIns="0" tIns="0" rIns="0" bIns="0" rtlCol="0" anchor="ctr"/>
          <a:lstStyle/>
          <a:p>
            <a:pPr marL="0" indent="0">
              <a:buNone/>
            </a:pPr>
            <a:r>
              <a:rPr lang="en-US" sz="1300" i="1" dirty="0">
                <a:solidFill>
                  <a:srgbClr val="D9EAF7"/>
                </a:solidFill>
              </a:rPr>
              <a:t>Example datasets: CGGA and TCGA top 50 CD96-correlated genes</a:t>
            </a:r>
            <a:endParaRPr lang="en-US" sz="1300" dirty="0"/>
          </a:p>
        </p:txBody>
      </p:sp>
      <p:sp>
        <p:nvSpPr>
          <p:cNvPr id="9" name="Shape 6"/>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0" name="Text 7"/>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1" name="Text 8"/>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Background: what Figure 3 is showing</a:t>
            </a:r>
            <a:endParaRPr lang="en-US" sz="2500" dirty="0"/>
          </a:p>
        </p:txBody>
      </p:sp>
      <p:pic>
        <p:nvPicPr>
          <p:cNvPr id="5" name="Image 0" descr="/mnt/data/go_reproduce_assets/article_page6-06.png"/>
          <p:cNvPicPr>
            <a:picLocks noChangeAspect="1"/>
          </p:cNvPicPr>
          <p:nvPr/>
        </p:nvPicPr>
        <p:blipFill>
          <a:blip r:embed="rId3"/>
          <a:srcRect t="10051" b="10051"/>
          <a:stretch/>
        </p:blipFill>
        <p:spPr>
          <a:xfrm>
            <a:off x="502920" y="1170432"/>
            <a:ext cx="4937760" cy="5166360"/>
          </a:xfrm>
          <a:prstGeom prst="rect">
            <a:avLst/>
          </a:prstGeom>
        </p:spPr>
      </p:pic>
      <p:sp>
        <p:nvSpPr>
          <p:cNvPr id="6" name="Shape 3"/>
          <p:cNvSpPr/>
          <p:nvPr/>
        </p:nvSpPr>
        <p:spPr>
          <a:xfrm>
            <a:off x="5715000" y="1234440"/>
            <a:ext cx="5943600" cy="1051560"/>
          </a:xfrm>
          <a:prstGeom prst="roundRect">
            <a:avLst>
              <a:gd name="adj" fmla="val 10435"/>
            </a:avLst>
          </a:prstGeom>
          <a:solidFill>
            <a:srgbClr val="F5F7FA"/>
          </a:solidFill>
          <a:ln w="12700">
            <a:solidFill>
              <a:srgbClr val="D0D0D0"/>
            </a:solidFill>
            <a:prstDash val="solid"/>
          </a:ln>
        </p:spPr>
        <p:txBody>
          <a:bodyPr/>
          <a:lstStyle/>
          <a:p>
            <a:endParaRPr lang="en-CN"/>
          </a:p>
        </p:txBody>
      </p:sp>
      <p:sp>
        <p:nvSpPr>
          <p:cNvPr id="7" name="Text 4"/>
          <p:cNvSpPr/>
          <p:nvPr/>
        </p:nvSpPr>
        <p:spPr>
          <a:xfrm>
            <a:off x="5879592" y="1380744"/>
            <a:ext cx="5614416" cy="228600"/>
          </a:xfrm>
          <a:prstGeom prst="rect">
            <a:avLst/>
          </a:prstGeom>
          <a:noFill/>
          <a:ln/>
        </p:spPr>
        <p:txBody>
          <a:bodyPr wrap="square" lIns="254" tIns="254" rIns="254" bIns="254" rtlCol="0" anchor="ctr"/>
          <a:lstStyle/>
          <a:p>
            <a:pPr marL="0" indent="0">
              <a:buNone/>
            </a:pPr>
            <a:r>
              <a:rPr lang="en-US" sz="1500" b="1" dirty="0">
                <a:solidFill>
                  <a:srgbClr val="17375E"/>
                </a:solidFill>
              </a:rPr>
              <a:t>Original analysis logic</a:t>
            </a:r>
            <a:endParaRPr lang="en-US" sz="1500" dirty="0"/>
          </a:p>
        </p:txBody>
      </p:sp>
      <p:sp>
        <p:nvSpPr>
          <p:cNvPr id="8" name="Text 5"/>
          <p:cNvSpPr/>
          <p:nvPr/>
        </p:nvSpPr>
        <p:spPr>
          <a:xfrm>
            <a:off x="5879592" y="1709928"/>
            <a:ext cx="5614416" cy="45720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paper used Spearman correlation to identify genes most strongly related to CD96. The top 50 genes were used for GO Biological Process enrichment, and Figure 3 visualized enriched immune-related terms in CGGA and TCGA.</a:t>
            </a:r>
            <a:endParaRPr lang="en-US" sz="1200" dirty="0"/>
          </a:p>
        </p:txBody>
      </p:sp>
      <p:sp>
        <p:nvSpPr>
          <p:cNvPr id="9" name="Shape 6"/>
          <p:cNvSpPr/>
          <p:nvPr/>
        </p:nvSpPr>
        <p:spPr>
          <a:xfrm>
            <a:off x="5715000" y="2560320"/>
            <a:ext cx="2834640" cy="1325880"/>
          </a:xfrm>
          <a:prstGeom prst="roundRect">
            <a:avLst>
              <a:gd name="adj" fmla="val 8276"/>
            </a:avLst>
          </a:prstGeom>
          <a:solidFill>
            <a:srgbClr val="FFF7E8"/>
          </a:solidFill>
          <a:ln w="12700">
            <a:solidFill>
              <a:srgbClr val="F4B183"/>
            </a:solidFill>
            <a:prstDash val="solid"/>
          </a:ln>
        </p:spPr>
        <p:txBody>
          <a:bodyPr/>
          <a:lstStyle/>
          <a:p>
            <a:endParaRPr lang="en-CN"/>
          </a:p>
        </p:txBody>
      </p:sp>
      <p:sp>
        <p:nvSpPr>
          <p:cNvPr id="10" name="Text 7"/>
          <p:cNvSpPr/>
          <p:nvPr/>
        </p:nvSpPr>
        <p:spPr>
          <a:xfrm>
            <a:off x="5879592" y="2706624"/>
            <a:ext cx="2505456" cy="228600"/>
          </a:xfrm>
          <a:prstGeom prst="rect">
            <a:avLst/>
          </a:prstGeom>
          <a:noFill/>
          <a:ln/>
        </p:spPr>
        <p:txBody>
          <a:bodyPr wrap="square" lIns="254" tIns="254" rIns="254" bIns="254" rtlCol="0" anchor="ctr"/>
          <a:lstStyle/>
          <a:p>
            <a:pPr marL="0" indent="0">
              <a:buNone/>
            </a:pPr>
            <a:r>
              <a:rPr lang="en-US" sz="1500" b="1" dirty="0">
                <a:solidFill>
                  <a:srgbClr val="C55A11"/>
                </a:solidFill>
              </a:rPr>
              <a:t>CGGA dominant themes</a:t>
            </a:r>
            <a:endParaRPr lang="en-US" sz="1500" dirty="0"/>
          </a:p>
        </p:txBody>
      </p:sp>
      <p:sp>
        <p:nvSpPr>
          <p:cNvPr id="11" name="Text 8"/>
          <p:cNvSpPr/>
          <p:nvPr/>
        </p:nvSpPr>
        <p:spPr>
          <a:xfrm>
            <a:off x="5879592" y="3035808"/>
            <a:ext cx="2505456" cy="73152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 cell activation, regulation of T cell activation, leukocyte cell-cell adhesion, lymphocyte activation, and T cell migration.</a:t>
            </a:r>
            <a:endParaRPr lang="en-US" sz="1200" dirty="0"/>
          </a:p>
        </p:txBody>
      </p:sp>
      <p:sp>
        <p:nvSpPr>
          <p:cNvPr id="12" name="Shape 9"/>
          <p:cNvSpPr/>
          <p:nvPr/>
        </p:nvSpPr>
        <p:spPr>
          <a:xfrm>
            <a:off x="8823960" y="2560320"/>
            <a:ext cx="2834640" cy="1325880"/>
          </a:xfrm>
          <a:prstGeom prst="roundRect">
            <a:avLst>
              <a:gd name="adj" fmla="val 8276"/>
            </a:avLst>
          </a:prstGeom>
          <a:solidFill>
            <a:srgbClr val="EAF5E9"/>
          </a:solidFill>
          <a:ln w="12700">
            <a:solidFill>
              <a:srgbClr val="4DAF4A"/>
            </a:solidFill>
            <a:prstDash val="solid"/>
          </a:ln>
        </p:spPr>
        <p:txBody>
          <a:bodyPr/>
          <a:lstStyle/>
          <a:p>
            <a:endParaRPr lang="en-CN"/>
          </a:p>
        </p:txBody>
      </p:sp>
      <p:sp>
        <p:nvSpPr>
          <p:cNvPr id="13" name="Text 10"/>
          <p:cNvSpPr/>
          <p:nvPr/>
        </p:nvSpPr>
        <p:spPr>
          <a:xfrm>
            <a:off x="8988552" y="2706624"/>
            <a:ext cx="2505456" cy="228600"/>
          </a:xfrm>
          <a:prstGeom prst="rect">
            <a:avLst/>
          </a:prstGeom>
          <a:noFill/>
          <a:ln/>
        </p:spPr>
        <p:txBody>
          <a:bodyPr wrap="square" lIns="254" tIns="254" rIns="254" bIns="254" rtlCol="0" anchor="ctr"/>
          <a:lstStyle/>
          <a:p>
            <a:pPr marL="0" indent="0">
              <a:buNone/>
            </a:pPr>
            <a:r>
              <a:rPr lang="en-US" sz="1500" b="1" dirty="0">
                <a:solidFill>
                  <a:srgbClr val="2E7D32"/>
                </a:solidFill>
              </a:rPr>
              <a:t>TCGA dominant themes</a:t>
            </a:r>
            <a:endParaRPr lang="en-US" sz="1500" dirty="0"/>
          </a:p>
        </p:txBody>
      </p:sp>
      <p:sp>
        <p:nvSpPr>
          <p:cNvPr id="14" name="Text 11"/>
          <p:cNvSpPr/>
          <p:nvPr/>
        </p:nvSpPr>
        <p:spPr>
          <a:xfrm>
            <a:off x="8988552" y="3035808"/>
            <a:ext cx="2505456" cy="73152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Lymphocyte proliferation, mononuclear cell proliferation, immune effector regulation, neutrophil activation, and leukocyte adhesion.</a:t>
            </a:r>
            <a:endParaRPr lang="en-US" sz="1200" dirty="0"/>
          </a:p>
        </p:txBody>
      </p:sp>
      <p:sp>
        <p:nvSpPr>
          <p:cNvPr id="15" name="Shape 12"/>
          <p:cNvSpPr/>
          <p:nvPr/>
        </p:nvSpPr>
        <p:spPr>
          <a:xfrm>
            <a:off x="5715000" y="4251960"/>
            <a:ext cx="5943600" cy="1554480"/>
          </a:xfrm>
          <a:prstGeom prst="roundRect">
            <a:avLst>
              <a:gd name="adj" fmla="val 7059"/>
            </a:avLst>
          </a:prstGeom>
          <a:solidFill>
            <a:srgbClr val="F5F7FA"/>
          </a:solidFill>
          <a:ln w="12700">
            <a:solidFill>
              <a:srgbClr val="D0D0D0"/>
            </a:solidFill>
            <a:prstDash val="solid"/>
          </a:ln>
        </p:spPr>
        <p:txBody>
          <a:bodyPr/>
          <a:lstStyle/>
          <a:p>
            <a:endParaRPr lang="en-CN"/>
          </a:p>
        </p:txBody>
      </p:sp>
      <p:sp>
        <p:nvSpPr>
          <p:cNvPr id="16" name="Text 13"/>
          <p:cNvSpPr/>
          <p:nvPr/>
        </p:nvSpPr>
        <p:spPr>
          <a:xfrm>
            <a:off x="5879592" y="4398264"/>
            <a:ext cx="5614416" cy="228600"/>
          </a:xfrm>
          <a:prstGeom prst="rect">
            <a:avLst/>
          </a:prstGeom>
          <a:noFill/>
          <a:ln/>
        </p:spPr>
        <p:txBody>
          <a:bodyPr wrap="square" lIns="254" tIns="254" rIns="254" bIns="254" rtlCol="0" anchor="ctr"/>
          <a:lstStyle/>
          <a:p>
            <a:pPr marL="0" indent="0">
              <a:buNone/>
            </a:pPr>
            <a:r>
              <a:rPr lang="en-US" sz="1500" b="1" dirty="0">
                <a:solidFill>
                  <a:srgbClr val="17375E"/>
                </a:solidFill>
              </a:rPr>
              <a:t>Teaching point</a:t>
            </a:r>
            <a:endParaRPr lang="en-US" sz="1500" dirty="0"/>
          </a:p>
        </p:txBody>
      </p:sp>
      <p:sp>
        <p:nvSpPr>
          <p:cNvPr id="17" name="Text 14"/>
          <p:cNvSpPr/>
          <p:nvPr/>
        </p:nvSpPr>
        <p:spPr>
          <a:xfrm>
            <a:off x="5879592" y="4727448"/>
            <a:ext cx="5614416" cy="96012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figure is not only a decorative chord diagram. It summarizes a gene-term relationship: which CD96-associated genes support which immune-related biological processes.</a:t>
            </a:r>
            <a:endParaRPr lang="en-US" sz="1200" dirty="0"/>
          </a:p>
        </p:txBody>
      </p:sp>
      <p:sp>
        <p:nvSpPr>
          <p:cNvPr id="18" name="Shape 15"/>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9" name="Text 16"/>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20" name="Text 17"/>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Overall workflow</a:t>
            </a:r>
            <a:endParaRPr lang="en-US" sz="2500" dirty="0"/>
          </a:p>
        </p:txBody>
      </p:sp>
      <p:sp>
        <p:nvSpPr>
          <p:cNvPr id="5" name="Shape 3"/>
          <p:cNvSpPr/>
          <p:nvPr/>
        </p:nvSpPr>
        <p:spPr>
          <a:xfrm>
            <a:off x="502920" y="1874520"/>
            <a:ext cx="1783080" cy="2148840"/>
          </a:xfrm>
          <a:prstGeom prst="roundRect">
            <a:avLst>
              <a:gd name="adj" fmla="val 5128"/>
            </a:avLst>
          </a:prstGeom>
          <a:solidFill>
            <a:srgbClr val="D9EAF7"/>
          </a:solidFill>
          <a:ln w="15240">
            <a:solidFill>
              <a:srgbClr val="2E75B6"/>
            </a:solidFill>
            <a:prstDash val="solid"/>
          </a:ln>
        </p:spPr>
        <p:txBody>
          <a:bodyPr/>
          <a:lstStyle/>
          <a:p>
            <a:endParaRPr lang="en-CN"/>
          </a:p>
        </p:txBody>
      </p:sp>
      <p:sp>
        <p:nvSpPr>
          <p:cNvPr id="6" name="Shape 4"/>
          <p:cNvSpPr/>
          <p:nvPr/>
        </p:nvSpPr>
        <p:spPr>
          <a:xfrm>
            <a:off x="1069848" y="1097280"/>
            <a:ext cx="621792" cy="621792"/>
          </a:xfrm>
          <a:prstGeom prst="ellipse">
            <a:avLst/>
          </a:prstGeom>
          <a:solidFill>
            <a:srgbClr val="2E75B6"/>
          </a:solidFill>
          <a:ln w="12700">
            <a:solidFill>
              <a:srgbClr val="2E75B6"/>
            </a:solidFill>
            <a:prstDash val="solid"/>
          </a:ln>
        </p:spPr>
        <p:txBody>
          <a:bodyPr/>
          <a:lstStyle/>
          <a:p>
            <a:endParaRPr lang="en-CN"/>
          </a:p>
        </p:txBody>
      </p:sp>
      <p:sp>
        <p:nvSpPr>
          <p:cNvPr id="7" name="Text 5"/>
          <p:cNvSpPr/>
          <p:nvPr/>
        </p:nvSpPr>
        <p:spPr>
          <a:xfrm>
            <a:off x="1069848" y="1243584"/>
            <a:ext cx="621792" cy="146304"/>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Text 6"/>
          <p:cNvSpPr/>
          <p:nvPr/>
        </p:nvSpPr>
        <p:spPr>
          <a:xfrm>
            <a:off x="594360" y="2057400"/>
            <a:ext cx="1600200" cy="274320"/>
          </a:xfrm>
          <a:prstGeom prst="rect">
            <a:avLst/>
          </a:prstGeom>
          <a:noFill/>
          <a:ln/>
        </p:spPr>
        <p:txBody>
          <a:bodyPr wrap="square" lIns="0" tIns="0" rIns="0" bIns="0" rtlCol="0" anchor="ctr"/>
          <a:lstStyle/>
          <a:p>
            <a:pPr marL="0" indent="0" algn="ctr">
              <a:buNone/>
            </a:pPr>
            <a:r>
              <a:rPr lang="en-US" sz="1500" b="1" dirty="0">
                <a:solidFill>
                  <a:srgbClr val="2E75B6"/>
                </a:solidFill>
              </a:rPr>
              <a:t>Input</a:t>
            </a:r>
            <a:endParaRPr lang="en-US" sz="1500" dirty="0"/>
          </a:p>
        </p:txBody>
      </p:sp>
      <p:sp>
        <p:nvSpPr>
          <p:cNvPr id="9" name="Text 7"/>
          <p:cNvSpPr/>
          <p:nvPr/>
        </p:nvSpPr>
        <p:spPr>
          <a:xfrm>
            <a:off x="630936" y="2606040"/>
            <a:ext cx="1527048" cy="1051560"/>
          </a:xfrm>
          <a:prstGeom prst="rect">
            <a:avLst/>
          </a:prstGeom>
          <a:noFill/>
          <a:ln/>
        </p:spPr>
        <p:txBody>
          <a:bodyPr wrap="square" lIns="381" tIns="381" rIns="381" bIns="381" rtlCol="0" anchor="ctr">
            <a:normAutofit/>
          </a:bodyPr>
          <a:lstStyle/>
          <a:p>
            <a:pPr marL="0" indent="0" algn="ctr">
              <a:buNone/>
            </a:pPr>
            <a:r>
              <a:rPr lang="en-US" sz="1180" dirty="0">
                <a:solidFill>
                  <a:srgbClr val="222222"/>
                </a:solidFill>
              </a:rPr>
              <a:t>Top 50 genes</a:t>
            </a:r>
            <a:endParaRPr lang="en-US" sz="1180" dirty="0"/>
          </a:p>
          <a:p>
            <a:pPr marL="0" indent="0" algn="ctr">
              <a:buNone/>
            </a:pPr>
            <a:r>
              <a:rPr lang="en-US" sz="1180" dirty="0">
                <a:solidFill>
                  <a:srgbClr val="222222"/>
                </a:solidFill>
              </a:rPr>
              <a:t>SYMBOL + log2fc</a:t>
            </a:r>
            <a:endParaRPr lang="en-US" sz="1180" dirty="0"/>
          </a:p>
        </p:txBody>
      </p:sp>
      <p:sp>
        <p:nvSpPr>
          <p:cNvPr id="10" name="Shape 8"/>
          <p:cNvSpPr/>
          <p:nvPr/>
        </p:nvSpPr>
        <p:spPr>
          <a:xfrm>
            <a:off x="2377440" y="2770632"/>
            <a:ext cx="201168" cy="219456"/>
          </a:xfrm>
          <a:prstGeom prst="rightArrow">
            <a:avLst/>
          </a:prstGeom>
          <a:solidFill>
            <a:srgbClr val="BFBFBF"/>
          </a:solidFill>
          <a:ln w="12700">
            <a:solidFill>
              <a:srgbClr val="BFBFBF"/>
            </a:solidFill>
            <a:prstDash val="solid"/>
          </a:ln>
        </p:spPr>
        <p:txBody>
          <a:bodyPr/>
          <a:lstStyle/>
          <a:p>
            <a:endParaRPr lang="en-CN"/>
          </a:p>
        </p:txBody>
      </p:sp>
      <p:sp>
        <p:nvSpPr>
          <p:cNvPr id="11" name="Shape 9"/>
          <p:cNvSpPr/>
          <p:nvPr/>
        </p:nvSpPr>
        <p:spPr>
          <a:xfrm>
            <a:off x="2606040" y="1874520"/>
            <a:ext cx="1783080" cy="2148840"/>
          </a:xfrm>
          <a:prstGeom prst="roundRect">
            <a:avLst>
              <a:gd name="adj" fmla="val 5128"/>
            </a:avLst>
          </a:prstGeom>
          <a:solidFill>
            <a:srgbClr val="EAF5E9"/>
          </a:solidFill>
          <a:ln w="15240">
            <a:solidFill>
              <a:srgbClr val="4DAF4A"/>
            </a:solidFill>
            <a:prstDash val="solid"/>
          </a:ln>
        </p:spPr>
        <p:txBody>
          <a:bodyPr/>
          <a:lstStyle/>
          <a:p>
            <a:endParaRPr lang="en-CN"/>
          </a:p>
        </p:txBody>
      </p:sp>
      <p:sp>
        <p:nvSpPr>
          <p:cNvPr id="12" name="Shape 10"/>
          <p:cNvSpPr/>
          <p:nvPr/>
        </p:nvSpPr>
        <p:spPr>
          <a:xfrm>
            <a:off x="3172968" y="1097280"/>
            <a:ext cx="621792" cy="621792"/>
          </a:xfrm>
          <a:prstGeom prst="ellipse">
            <a:avLst/>
          </a:prstGeom>
          <a:solidFill>
            <a:srgbClr val="4DAF4A"/>
          </a:solidFill>
          <a:ln w="12700">
            <a:solidFill>
              <a:srgbClr val="4DAF4A"/>
            </a:solidFill>
            <a:prstDash val="solid"/>
          </a:ln>
        </p:spPr>
        <p:txBody>
          <a:bodyPr/>
          <a:lstStyle/>
          <a:p>
            <a:endParaRPr lang="en-CN"/>
          </a:p>
        </p:txBody>
      </p:sp>
      <p:sp>
        <p:nvSpPr>
          <p:cNvPr id="13" name="Text 11"/>
          <p:cNvSpPr/>
          <p:nvPr/>
        </p:nvSpPr>
        <p:spPr>
          <a:xfrm>
            <a:off x="3172968" y="1243584"/>
            <a:ext cx="621792" cy="146304"/>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4" name="Text 12"/>
          <p:cNvSpPr/>
          <p:nvPr/>
        </p:nvSpPr>
        <p:spPr>
          <a:xfrm>
            <a:off x="2697480" y="2057400"/>
            <a:ext cx="1600200" cy="274320"/>
          </a:xfrm>
          <a:prstGeom prst="rect">
            <a:avLst/>
          </a:prstGeom>
          <a:noFill/>
          <a:ln/>
        </p:spPr>
        <p:txBody>
          <a:bodyPr wrap="square" lIns="0" tIns="0" rIns="0" bIns="0" rtlCol="0" anchor="ctr"/>
          <a:lstStyle/>
          <a:p>
            <a:pPr marL="0" indent="0" algn="ctr">
              <a:buNone/>
            </a:pPr>
            <a:r>
              <a:rPr lang="en-US" sz="1500" b="1" dirty="0">
                <a:solidFill>
                  <a:srgbClr val="4DAF4A"/>
                </a:solidFill>
              </a:rPr>
              <a:t>Map IDs</a:t>
            </a:r>
            <a:endParaRPr lang="en-US" sz="1500" dirty="0"/>
          </a:p>
        </p:txBody>
      </p:sp>
      <p:sp>
        <p:nvSpPr>
          <p:cNvPr id="15" name="Text 13"/>
          <p:cNvSpPr/>
          <p:nvPr/>
        </p:nvSpPr>
        <p:spPr>
          <a:xfrm>
            <a:off x="2734056" y="2606040"/>
            <a:ext cx="1527048" cy="1051560"/>
          </a:xfrm>
          <a:prstGeom prst="rect">
            <a:avLst/>
          </a:prstGeom>
          <a:noFill/>
          <a:ln/>
        </p:spPr>
        <p:txBody>
          <a:bodyPr wrap="square" lIns="381" tIns="381" rIns="381" bIns="381" rtlCol="0" anchor="ctr">
            <a:normAutofit/>
          </a:bodyPr>
          <a:lstStyle/>
          <a:p>
            <a:pPr marL="0" indent="0" algn="ctr">
              <a:buNone/>
            </a:pPr>
            <a:r>
              <a:rPr lang="en-US" sz="1180" dirty="0">
                <a:solidFill>
                  <a:srgbClr val="222222"/>
                </a:solidFill>
              </a:rPr>
              <a:t>SYMBOL → ENTREZID</a:t>
            </a:r>
            <a:endParaRPr lang="en-US" sz="1180" dirty="0"/>
          </a:p>
          <a:p>
            <a:pPr marL="0" indent="0" algn="ctr">
              <a:buNone/>
            </a:pPr>
            <a:r>
              <a:rPr lang="en-US" sz="1180" dirty="0">
                <a:solidFill>
                  <a:srgbClr val="222222"/>
                </a:solidFill>
              </a:rPr>
              <a:t>org.Hs.eg.db</a:t>
            </a:r>
            <a:endParaRPr lang="en-US" sz="1180" dirty="0"/>
          </a:p>
        </p:txBody>
      </p:sp>
      <p:sp>
        <p:nvSpPr>
          <p:cNvPr id="16" name="Shape 14"/>
          <p:cNvSpPr/>
          <p:nvPr/>
        </p:nvSpPr>
        <p:spPr>
          <a:xfrm>
            <a:off x="4480560" y="2770632"/>
            <a:ext cx="201168" cy="219456"/>
          </a:xfrm>
          <a:prstGeom prst="rightArrow">
            <a:avLst/>
          </a:prstGeom>
          <a:solidFill>
            <a:srgbClr val="BFBFBF"/>
          </a:solidFill>
          <a:ln w="12700">
            <a:solidFill>
              <a:srgbClr val="BFBFBF"/>
            </a:solidFill>
            <a:prstDash val="solid"/>
          </a:ln>
        </p:spPr>
        <p:txBody>
          <a:bodyPr/>
          <a:lstStyle/>
          <a:p>
            <a:endParaRPr lang="en-CN"/>
          </a:p>
        </p:txBody>
      </p:sp>
      <p:sp>
        <p:nvSpPr>
          <p:cNvPr id="17" name="Shape 15"/>
          <p:cNvSpPr/>
          <p:nvPr/>
        </p:nvSpPr>
        <p:spPr>
          <a:xfrm>
            <a:off x="4709160" y="1874520"/>
            <a:ext cx="1783080" cy="2148840"/>
          </a:xfrm>
          <a:prstGeom prst="roundRect">
            <a:avLst>
              <a:gd name="adj" fmla="val 5128"/>
            </a:avLst>
          </a:prstGeom>
          <a:solidFill>
            <a:srgbClr val="D9EAF7"/>
          </a:solidFill>
          <a:ln w="15240">
            <a:solidFill>
              <a:srgbClr val="F4B183"/>
            </a:solidFill>
            <a:prstDash val="solid"/>
          </a:ln>
        </p:spPr>
        <p:txBody>
          <a:bodyPr/>
          <a:lstStyle/>
          <a:p>
            <a:endParaRPr lang="en-CN"/>
          </a:p>
        </p:txBody>
      </p:sp>
      <p:sp>
        <p:nvSpPr>
          <p:cNvPr id="18" name="Shape 16"/>
          <p:cNvSpPr/>
          <p:nvPr/>
        </p:nvSpPr>
        <p:spPr>
          <a:xfrm>
            <a:off x="5276088" y="1097280"/>
            <a:ext cx="621792" cy="621792"/>
          </a:xfrm>
          <a:prstGeom prst="ellipse">
            <a:avLst/>
          </a:prstGeom>
          <a:solidFill>
            <a:srgbClr val="F4B183"/>
          </a:solidFill>
          <a:ln w="12700">
            <a:solidFill>
              <a:srgbClr val="F4B183"/>
            </a:solidFill>
            <a:prstDash val="solid"/>
          </a:ln>
        </p:spPr>
        <p:txBody>
          <a:bodyPr/>
          <a:lstStyle/>
          <a:p>
            <a:endParaRPr lang="en-CN"/>
          </a:p>
        </p:txBody>
      </p:sp>
      <p:sp>
        <p:nvSpPr>
          <p:cNvPr id="19" name="Text 17"/>
          <p:cNvSpPr/>
          <p:nvPr/>
        </p:nvSpPr>
        <p:spPr>
          <a:xfrm>
            <a:off x="5276088" y="1243584"/>
            <a:ext cx="621792" cy="146304"/>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0" name="Text 18"/>
          <p:cNvSpPr/>
          <p:nvPr/>
        </p:nvSpPr>
        <p:spPr>
          <a:xfrm>
            <a:off x="4800600" y="2057400"/>
            <a:ext cx="1600200" cy="274320"/>
          </a:xfrm>
          <a:prstGeom prst="rect">
            <a:avLst/>
          </a:prstGeom>
          <a:noFill/>
          <a:ln/>
        </p:spPr>
        <p:txBody>
          <a:bodyPr wrap="square" lIns="0" tIns="0" rIns="0" bIns="0" rtlCol="0" anchor="ctr"/>
          <a:lstStyle/>
          <a:p>
            <a:pPr marL="0" indent="0" algn="ctr">
              <a:buNone/>
            </a:pPr>
            <a:r>
              <a:rPr lang="en-US" sz="1500" b="1" dirty="0">
                <a:solidFill>
                  <a:srgbClr val="F4B183"/>
                </a:solidFill>
              </a:rPr>
              <a:t>enrichGO</a:t>
            </a:r>
            <a:endParaRPr lang="en-US" sz="1500" dirty="0"/>
          </a:p>
        </p:txBody>
      </p:sp>
      <p:sp>
        <p:nvSpPr>
          <p:cNvPr id="21" name="Text 19"/>
          <p:cNvSpPr/>
          <p:nvPr/>
        </p:nvSpPr>
        <p:spPr>
          <a:xfrm>
            <a:off x="4837176" y="2606040"/>
            <a:ext cx="1527048" cy="1051560"/>
          </a:xfrm>
          <a:prstGeom prst="rect">
            <a:avLst/>
          </a:prstGeom>
          <a:noFill/>
          <a:ln/>
        </p:spPr>
        <p:txBody>
          <a:bodyPr wrap="square" lIns="381" tIns="381" rIns="381" bIns="381" rtlCol="0" anchor="ctr">
            <a:normAutofit/>
          </a:bodyPr>
          <a:lstStyle/>
          <a:p>
            <a:pPr marL="0" indent="0" algn="ctr">
              <a:buNone/>
            </a:pPr>
            <a:r>
              <a:rPr lang="en-US" sz="1180" dirty="0">
                <a:solidFill>
                  <a:srgbClr val="222222"/>
                </a:solidFill>
              </a:rPr>
              <a:t>GO Biological</a:t>
            </a:r>
            <a:endParaRPr lang="en-US" sz="1180" dirty="0"/>
          </a:p>
          <a:p>
            <a:pPr marL="0" indent="0" algn="ctr">
              <a:buNone/>
            </a:pPr>
            <a:r>
              <a:rPr lang="en-US" sz="1180" dirty="0">
                <a:solidFill>
                  <a:srgbClr val="222222"/>
                </a:solidFill>
              </a:rPr>
              <a:t>Process enrichment</a:t>
            </a:r>
            <a:endParaRPr lang="en-US" sz="1180" dirty="0"/>
          </a:p>
        </p:txBody>
      </p:sp>
      <p:sp>
        <p:nvSpPr>
          <p:cNvPr id="22" name="Shape 20"/>
          <p:cNvSpPr/>
          <p:nvPr/>
        </p:nvSpPr>
        <p:spPr>
          <a:xfrm>
            <a:off x="6583680" y="2770632"/>
            <a:ext cx="201168" cy="219456"/>
          </a:xfrm>
          <a:prstGeom prst="rightArrow">
            <a:avLst/>
          </a:prstGeom>
          <a:solidFill>
            <a:srgbClr val="BFBFBF"/>
          </a:solidFill>
          <a:ln w="12700">
            <a:solidFill>
              <a:srgbClr val="BFBFBF"/>
            </a:solidFill>
            <a:prstDash val="solid"/>
          </a:ln>
        </p:spPr>
        <p:txBody>
          <a:bodyPr/>
          <a:lstStyle/>
          <a:p>
            <a:endParaRPr lang="en-CN"/>
          </a:p>
        </p:txBody>
      </p:sp>
      <p:sp>
        <p:nvSpPr>
          <p:cNvPr id="23" name="Shape 21"/>
          <p:cNvSpPr/>
          <p:nvPr/>
        </p:nvSpPr>
        <p:spPr>
          <a:xfrm>
            <a:off x="6812280" y="1874520"/>
            <a:ext cx="1783080" cy="2148840"/>
          </a:xfrm>
          <a:prstGeom prst="roundRect">
            <a:avLst>
              <a:gd name="adj" fmla="val 5128"/>
            </a:avLst>
          </a:prstGeom>
          <a:solidFill>
            <a:srgbClr val="EAF5E9"/>
          </a:solidFill>
          <a:ln w="15240">
            <a:solidFill>
              <a:srgbClr val="7030A0"/>
            </a:solidFill>
            <a:prstDash val="solid"/>
          </a:ln>
        </p:spPr>
        <p:txBody>
          <a:bodyPr/>
          <a:lstStyle/>
          <a:p>
            <a:endParaRPr lang="en-CN"/>
          </a:p>
        </p:txBody>
      </p:sp>
      <p:sp>
        <p:nvSpPr>
          <p:cNvPr id="24" name="Shape 22"/>
          <p:cNvSpPr/>
          <p:nvPr/>
        </p:nvSpPr>
        <p:spPr>
          <a:xfrm>
            <a:off x="7379208" y="1097280"/>
            <a:ext cx="621792" cy="621792"/>
          </a:xfrm>
          <a:prstGeom prst="ellipse">
            <a:avLst/>
          </a:prstGeom>
          <a:solidFill>
            <a:srgbClr val="7030A0"/>
          </a:solidFill>
          <a:ln w="12700">
            <a:solidFill>
              <a:srgbClr val="7030A0"/>
            </a:solidFill>
            <a:prstDash val="solid"/>
          </a:ln>
        </p:spPr>
        <p:txBody>
          <a:bodyPr/>
          <a:lstStyle/>
          <a:p>
            <a:endParaRPr lang="en-CN"/>
          </a:p>
        </p:txBody>
      </p:sp>
      <p:sp>
        <p:nvSpPr>
          <p:cNvPr id="25" name="Text 23"/>
          <p:cNvSpPr/>
          <p:nvPr/>
        </p:nvSpPr>
        <p:spPr>
          <a:xfrm>
            <a:off x="7379208" y="1243584"/>
            <a:ext cx="621792" cy="146304"/>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6" name="Text 24"/>
          <p:cNvSpPr/>
          <p:nvPr/>
        </p:nvSpPr>
        <p:spPr>
          <a:xfrm>
            <a:off x="6903720" y="2057400"/>
            <a:ext cx="1600200" cy="274320"/>
          </a:xfrm>
          <a:prstGeom prst="rect">
            <a:avLst/>
          </a:prstGeom>
          <a:noFill/>
          <a:ln/>
        </p:spPr>
        <p:txBody>
          <a:bodyPr wrap="square" lIns="0" tIns="0" rIns="0" bIns="0" rtlCol="0" anchor="ctr"/>
          <a:lstStyle/>
          <a:p>
            <a:pPr marL="0" indent="0" algn="ctr">
              <a:buNone/>
            </a:pPr>
            <a:r>
              <a:rPr lang="en-US" sz="1500" b="1" dirty="0">
                <a:solidFill>
                  <a:srgbClr val="7030A0"/>
                </a:solidFill>
              </a:rPr>
              <a:t>simplify</a:t>
            </a:r>
            <a:endParaRPr lang="en-US" sz="1500" dirty="0"/>
          </a:p>
        </p:txBody>
      </p:sp>
      <p:sp>
        <p:nvSpPr>
          <p:cNvPr id="27" name="Text 25"/>
          <p:cNvSpPr/>
          <p:nvPr/>
        </p:nvSpPr>
        <p:spPr>
          <a:xfrm>
            <a:off x="6940296" y="2606040"/>
            <a:ext cx="1527048" cy="1051560"/>
          </a:xfrm>
          <a:prstGeom prst="rect">
            <a:avLst/>
          </a:prstGeom>
          <a:noFill/>
          <a:ln/>
        </p:spPr>
        <p:txBody>
          <a:bodyPr wrap="square" lIns="381" tIns="381" rIns="381" bIns="381" rtlCol="0" anchor="ctr">
            <a:normAutofit/>
          </a:bodyPr>
          <a:lstStyle/>
          <a:p>
            <a:pPr marL="0" indent="0" algn="ctr">
              <a:buNone/>
            </a:pPr>
            <a:r>
              <a:rPr lang="en-US" sz="1180" dirty="0">
                <a:solidFill>
                  <a:srgbClr val="222222"/>
                </a:solidFill>
              </a:rPr>
              <a:t>Remove redundant</a:t>
            </a:r>
            <a:endParaRPr lang="en-US" sz="1180" dirty="0"/>
          </a:p>
          <a:p>
            <a:pPr marL="0" indent="0" algn="ctr">
              <a:buNone/>
            </a:pPr>
            <a:r>
              <a:rPr lang="en-US" sz="1180" dirty="0">
                <a:solidFill>
                  <a:srgbClr val="222222"/>
                </a:solidFill>
              </a:rPr>
              <a:t>GO terms</a:t>
            </a:r>
            <a:endParaRPr lang="en-US" sz="1180" dirty="0"/>
          </a:p>
        </p:txBody>
      </p:sp>
      <p:sp>
        <p:nvSpPr>
          <p:cNvPr id="28" name="Shape 26"/>
          <p:cNvSpPr/>
          <p:nvPr/>
        </p:nvSpPr>
        <p:spPr>
          <a:xfrm>
            <a:off x="8686800" y="2770632"/>
            <a:ext cx="201168" cy="219456"/>
          </a:xfrm>
          <a:prstGeom prst="rightArrow">
            <a:avLst/>
          </a:prstGeom>
          <a:solidFill>
            <a:srgbClr val="BFBFBF"/>
          </a:solidFill>
          <a:ln w="12700">
            <a:solidFill>
              <a:srgbClr val="BFBFBF"/>
            </a:solidFill>
            <a:prstDash val="solid"/>
          </a:ln>
        </p:spPr>
        <p:txBody>
          <a:bodyPr/>
          <a:lstStyle/>
          <a:p>
            <a:endParaRPr lang="en-CN"/>
          </a:p>
        </p:txBody>
      </p:sp>
      <p:sp>
        <p:nvSpPr>
          <p:cNvPr id="29" name="Shape 27"/>
          <p:cNvSpPr/>
          <p:nvPr/>
        </p:nvSpPr>
        <p:spPr>
          <a:xfrm>
            <a:off x="8915400" y="1874520"/>
            <a:ext cx="1783080" cy="2148840"/>
          </a:xfrm>
          <a:prstGeom prst="roundRect">
            <a:avLst>
              <a:gd name="adj" fmla="val 5128"/>
            </a:avLst>
          </a:prstGeom>
          <a:solidFill>
            <a:srgbClr val="D9EAF7"/>
          </a:solidFill>
          <a:ln w="15240">
            <a:solidFill>
              <a:srgbClr val="E41A1C"/>
            </a:solidFill>
            <a:prstDash val="solid"/>
          </a:ln>
        </p:spPr>
        <p:txBody>
          <a:bodyPr/>
          <a:lstStyle/>
          <a:p>
            <a:endParaRPr lang="en-CN"/>
          </a:p>
        </p:txBody>
      </p:sp>
      <p:sp>
        <p:nvSpPr>
          <p:cNvPr id="30" name="Shape 28"/>
          <p:cNvSpPr/>
          <p:nvPr/>
        </p:nvSpPr>
        <p:spPr>
          <a:xfrm>
            <a:off x="9482328" y="1097280"/>
            <a:ext cx="621792" cy="621792"/>
          </a:xfrm>
          <a:prstGeom prst="ellipse">
            <a:avLst/>
          </a:prstGeom>
          <a:solidFill>
            <a:srgbClr val="E41A1C"/>
          </a:solidFill>
          <a:ln w="12700">
            <a:solidFill>
              <a:srgbClr val="E41A1C"/>
            </a:solidFill>
            <a:prstDash val="solid"/>
          </a:ln>
        </p:spPr>
        <p:txBody>
          <a:bodyPr/>
          <a:lstStyle/>
          <a:p>
            <a:endParaRPr lang="en-CN"/>
          </a:p>
        </p:txBody>
      </p:sp>
      <p:sp>
        <p:nvSpPr>
          <p:cNvPr id="31" name="Text 29"/>
          <p:cNvSpPr/>
          <p:nvPr/>
        </p:nvSpPr>
        <p:spPr>
          <a:xfrm>
            <a:off x="9482328" y="1243584"/>
            <a:ext cx="621792" cy="146304"/>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32" name="Text 30"/>
          <p:cNvSpPr/>
          <p:nvPr/>
        </p:nvSpPr>
        <p:spPr>
          <a:xfrm>
            <a:off x="9006840" y="2057400"/>
            <a:ext cx="1600200" cy="274320"/>
          </a:xfrm>
          <a:prstGeom prst="rect">
            <a:avLst/>
          </a:prstGeom>
          <a:noFill/>
          <a:ln/>
        </p:spPr>
        <p:txBody>
          <a:bodyPr wrap="square" lIns="0" tIns="0" rIns="0" bIns="0" rtlCol="0" anchor="ctr"/>
          <a:lstStyle/>
          <a:p>
            <a:pPr marL="0" indent="0" algn="ctr">
              <a:buNone/>
            </a:pPr>
            <a:r>
              <a:rPr lang="en-US" sz="1500" b="1" dirty="0">
                <a:solidFill>
                  <a:srgbClr val="E41A1C"/>
                </a:solidFill>
              </a:rPr>
              <a:t>Plot</a:t>
            </a:r>
            <a:endParaRPr lang="en-US" sz="1500" dirty="0"/>
          </a:p>
        </p:txBody>
      </p:sp>
      <p:sp>
        <p:nvSpPr>
          <p:cNvPr id="33" name="Text 31"/>
          <p:cNvSpPr/>
          <p:nvPr/>
        </p:nvSpPr>
        <p:spPr>
          <a:xfrm>
            <a:off x="9043416" y="2606040"/>
            <a:ext cx="1527048" cy="1051560"/>
          </a:xfrm>
          <a:prstGeom prst="rect">
            <a:avLst/>
          </a:prstGeom>
          <a:noFill/>
          <a:ln/>
        </p:spPr>
        <p:txBody>
          <a:bodyPr wrap="square" lIns="381" tIns="381" rIns="381" bIns="381" rtlCol="0" anchor="ctr">
            <a:normAutofit/>
          </a:bodyPr>
          <a:lstStyle/>
          <a:p>
            <a:pPr marL="0" indent="0" algn="ctr">
              <a:buNone/>
            </a:pPr>
            <a:r>
              <a:rPr lang="en-US" sz="1180" dirty="0">
                <a:solidFill>
                  <a:srgbClr val="222222"/>
                </a:solidFill>
              </a:rPr>
              <a:t>GOChord + bubble</a:t>
            </a:r>
            <a:endParaRPr lang="en-US" sz="1180" dirty="0"/>
          </a:p>
          <a:p>
            <a:pPr marL="0" indent="0" algn="ctr">
              <a:buNone/>
            </a:pPr>
            <a:r>
              <a:rPr lang="en-US" sz="1180" dirty="0">
                <a:solidFill>
                  <a:srgbClr val="222222"/>
                </a:solidFill>
              </a:rPr>
              <a:t>+ bar + cnet + cluster</a:t>
            </a:r>
            <a:endParaRPr lang="en-US" sz="1180" dirty="0"/>
          </a:p>
        </p:txBody>
      </p:sp>
      <p:sp>
        <p:nvSpPr>
          <p:cNvPr id="34" name="Shape 32"/>
          <p:cNvSpPr/>
          <p:nvPr/>
        </p:nvSpPr>
        <p:spPr>
          <a:xfrm>
            <a:off x="1757680" y="4566920"/>
            <a:ext cx="8534400" cy="1618488"/>
          </a:xfrm>
          <a:prstGeom prst="roundRect">
            <a:avLst>
              <a:gd name="adj" fmla="val 7407"/>
            </a:avLst>
          </a:prstGeom>
          <a:solidFill>
            <a:srgbClr val="FBFBFB"/>
          </a:solidFill>
          <a:ln w="12700">
            <a:solidFill>
              <a:srgbClr val="BFBFBF"/>
            </a:solidFill>
            <a:prstDash val="solid"/>
          </a:ln>
        </p:spPr>
        <p:txBody>
          <a:bodyPr/>
          <a:lstStyle/>
          <a:p>
            <a:endParaRPr lang="en-CN"/>
          </a:p>
        </p:txBody>
      </p:sp>
      <p:sp>
        <p:nvSpPr>
          <p:cNvPr id="35" name="Shape 33"/>
          <p:cNvSpPr/>
          <p:nvPr/>
        </p:nvSpPr>
        <p:spPr>
          <a:xfrm>
            <a:off x="1828800" y="4526280"/>
            <a:ext cx="8412480" cy="310896"/>
          </a:xfrm>
          <a:prstGeom prst="rect">
            <a:avLst/>
          </a:prstGeom>
          <a:solidFill>
            <a:srgbClr val="17375E"/>
          </a:solidFill>
          <a:ln w="12700">
            <a:solidFill>
              <a:srgbClr val="17375E"/>
            </a:solidFill>
            <a:prstDash val="solid"/>
          </a:ln>
        </p:spPr>
        <p:txBody>
          <a:bodyPr/>
          <a:lstStyle/>
          <a:p>
            <a:endParaRPr lang="en-CN"/>
          </a:p>
        </p:txBody>
      </p:sp>
      <p:sp>
        <p:nvSpPr>
          <p:cNvPr id="36" name="Text 34"/>
          <p:cNvSpPr/>
          <p:nvPr/>
        </p:nvSpPr>
        <p:spPr>
          <a:xfrm>
            <a:off x="1956816" y="4628896"/>
            <a:ext cx="8156448" cy="109728"/>
          </a:xfrm>
          <a:prstGeom prst="rect">
            <a:avLst/>
          </a:prstGeom>
          <a:noFill/>
          <a:ln/>
        </p:spPr>
        <p:txBody>
          <a:bodyPr wrap="square" lIns="0" tIns="0" rIns="0" bIns="0" rtlCol="0" anchor="ctr"/>
          <a:lstStyle/>
          <a:p>
            <a:pPr marL="0" indent="0">
              <a:buNone/>
            </a:pPr>
            <a:r>
              <a:rPr lang="en-US" sz="900" b="1" dirty="0">
                <a:solidFill>
                  <a:srgbClr val="FFFFFF"/>
                </a:solidFill>
              </a:rPr>
              <a:t>Run the full workflow</a:t>
            </a:r>
            <a:endParaRPr lang="en-US" sz="900" dirty="0"/>
          </a:p>
        </p:txBody>
      </p:sp>
      <p:sp>
        <p:nvSpPr>
          <p:cNvPr id="37" name="Text 35"/>
          <p:cNvSpPr/>
          <p:nvPr/>
        </p:nvSpPr>
        <p:spPr>
          <a:xfrm>
            <a:off x="1993392" y="5029200"/>
            <a:ext cx="8083296" cy="758952"/>
          </a:xfrm>
          <a:prstGeom prst="rect">
            <a:avLst/>
          </a:prstGeom>
          <a:noFill/>
          <a:ln/>
        </p:spPr>
        <p:txBody>
          <a:bodyPr wrap="square" lIns="254" tIns="254" rIns="254" bIns="254" rtlCol="0" anchor="ctr">
            <a:normAutofit/>
          </a:bodyPr>
          <a:lstStyle/>
          <a:p>
            <a:pPr marL="0" indent="0">
              <a:buNone/>
            </a:pPr>
            <a:r>
              <a:rPr lang="en-US" sz="840" dirty="0">
                <a:solidFill>
                  <a:srgbClr val="222222"/>
                </a:solidFill>
                <a:latin typeface="Courier New" pitchFamily="34" charset="0"/>
                <a:ea typeface="Courier New" pitchFamily="34" charset="-122"/>
                <a:cs typeface="Courier New" pitchFamily="34" charset="-120"/>
              </a:rPr>
              <a:t>Rscript reproduce_CD96_glioma_Fig3_GO_plots.R</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Inputs:</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CGGA_top50.csv</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TCGA_top50.csv</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Outputs:</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CD96_GO_reproduce_outputs/</a:t>
            </a:r>
            <a:endParaRPr lang="en-US" sz="840" dirty="0"/>
          </a:p>
        </p:txBody>
      </p:sp>
      <p:sp>
        <p:nvSpPr>
          <p:cNvPr id="38" name="Shape 36"/>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39" name="Text 37"/>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40" name="Text 38"/>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Step 1: prepare top 50 gene input</a:t>
            </a:r>
            <a:endParaRPr lang="en-US" sz="2500" dirty="0"/>
          </a:p>
        </p:txBody>
      </p:sp>
      <p:sp>
        <p:nvSpPr>
          <p:cNvPr id="5" name="Shape 3"/>
          <p:cNvSpPr/>
          <p:nvPr/>
        </p:nvSpPr>
        <p:spPr>
          <a:xfrm>
            <a:off x="594360" y="1234440"/>
            <a:ext cx="5532120" cy="4389120"/>
          </a:xfrm>
          <a:prstGeom prst="roundRect">
            <a:avLst>
              <a:gd name="adj" fmla="val 2083"/>
            </a:avLst>
          </a:prstGeom>
          <a:solidFill>
            <a:srgbClr val="FBFBFB"/>
          </a:solidFill>
          <a:ln w="12700">
            <a:solidFill>
              <a:srgbClr val="BFBFBF"/>
            </a:solidFill>
            <a:prstDash val="solid"/>
          </a:ln>
        </p:spPr>
        <p:txBody>
          <a:bodyPr/>
          <a:lstStyle/>
          <a:p>
            <a:endParaRPr lang="en-CN"/>
          </a:p>
        </p:txBody>
      </p:sp>
      <p:sp>
        <p:nvSpPr>
          <p:cNvPr id="6" name="Shape 4"/>
          <p:cNvSpPr/>
          <p:nvPr/>
        </p:nvSpPr>
        <p:spPr>
          <a:xfrm>
            <a:off x="594360" y="1234440"/>
            <a:ext cx="5532120" cy="310896"/>
          </a:xfrm>
          <a:prstGeom prst="rect">
            <a:avLst/>
          </a:prstGeom>
          <a:solidFill>
            <a:srgbClr val="17375E"/>
          </a:solidFill>
          <a:ln w="12700">
            <a:solidFill>
              <a:srgbClr val="17375E"/>
            </a:solidFill>
            <a:prstDash val="solid"/>
          </a:ln>
        </p:spPr>
        <p:txBody>
          <a:bodyPr/>
          <a:lstStyle/>
          <a:p>
            <a:endParaRPr lang="en-CN"/>
          </a:p>
        </p:txBody>
      </p:sp>
      <p:sp>
        <p:nvSpPr>
          <p:cNvPr id="7" name="Text 5"/>
          <p:cNvSpPr/>
          <p:nvPr/>
        </p:nvSpPr>
        <p:spPr>
          <a:xfrm>
            <a:off x="722376" y="1316736"/>
            <a:ext cx="5276088" cy="109728"/>
          </a:xfrm>
          <a:prstGeom prst="rect">
            <a:avLst/>
          </a:prstGeom>
          <a:noFill/>
          <a:ln/>
        </p:spPr>
        <p:txBody>
          <a:bodyPr wrap="square" lIns="0" tIns="0" rIns="0" bIns="0" rtlCol="0" anchor="ctr"/>
          <a:lstStyle/>
          <a:p>
            <a:pPr marL="0" indent="0">
              <a:buNone/>
            </a:pPr>
            <a:r>
              <a:rPr lang="en-US" sz="900" b="1" dirty="0">
                <a:solidFill>
                  <a:srgbClr val="FFFFFF"/>
                </a:solidFill>
              </a:rPr>
              <a:t>Input cleaning</a:t>
            </a:r>
            <a:endParaRPr lang="en-US" sz="900" dirty="0"/>
          </a:p>
        </p:txBody>
      </p:sp>
      <p:sp>
        <p:nvSpPr>
          <p:cNvPr id="8" name="Text 6"/>
          <p:cNvSpPr/>
          <p:nvPr/>
        </p:nvSpPr>
        <p:spPr>
          <a:xfrm>
            <a:off x="758952" y="1645920"/>
            <a:ext cx="5202936" cy="3913632"/>
          </a:xfrm>
          <a:prstGeom prst="rect">
            <a:avLst/>
          </a:prstGeom>
          <a:noFill/>
          <a:ln/>
        </p:spPr>
        <p:txBody>
          <a:bodyPr wrap="square" lIns="254" tIns="254" rIns="254" bIns="254" rtlCol="0" anchor="ctr">
            <a:normAutofit/>
          </a:bodyPr>
          <a:lstStyle/>
          <a:p>
            <a:pPr marL="0" indent="0">
              <a:buNone/>
            </a:pPr>
            <a:r>
              <a:rPr lang="en-US" sz="840" dirty="0">
                <a:solidFill>
                  <a:srgbClr val="222222"/>
                </a:solidFill>
                <a:latin typeface="Courier New" pitchFamily="34" charset="0"/>
                <a:ea typeface="Courier New" pitchFamily="34" charset="-122"/>
                <a:cs typeface="Courier New" pitchFamily="34" charset="-120"/>
              </a:rPr>
              <a:t>read_gene_fc &lt;- function(file) {</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x &lt;- readr::read_csv(file, show_col_types = FALSE)</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stopifnot(all(c("SYMBOL", "log2fc") %in% colnames(x)))</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x %&gt;%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mutate(SYMBOL = as.character(SYMBOL),</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log2fc = as.numeric(log2fc)) %&gt;%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filter(!is.na(SYMBOL), !is.na(log2fc)) %&gt;%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distinct(SYMBOL, .keep_all = TRUE)</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a:t>
            </a:r>
            <a:endParaRPr lang="en-US" sz="840" dirty="0"/>
          </a:p>
        </p:txBody>
      </p:sp>
      <p:sp>
        <p:nvSpPr>
          <p:cNvPr id="9" name="Shape 7"/>
          <p:cNvSpPr/>
          <p:nvPr/>
        </p:nvSpPr>
        <p:spPr>
          <a:xfrm>
            <a:off x="6400800" y="1234440"/>
            <a:ext cx="5166360" cy="1188720"/>
          </a:xfrm>
          <a:prstGeom prst="roundRect">
            <a:avLst>
              <a:gd name="adj" fmla="val 9231"/>
            </a:avLst>
          </a:prstGeom>
          <a:solidFill>
            <a:srgbClr val="F5F7FA"/>
          </a:solidFill>
          <a:ln w="12700">
            <a:solidFill>
              <a:srgbClr val="D0D0D0"/>
            </a:solidFill>
            <a:prstDash val="solid"/>
          </a:ln>
        </p:spPr>
        <p:txBody>
          <a:bodyPr/>
          <a:lstStyle/>
          <a:p>
            <a:endParaRPr lang="en-CN"/>
          </a:p>
        </p:txBody>
      </p:sp>
      <p:sp>
        <p:nvSpPr>
          <p:cNvPr id="10" name="Text 8"/>
          <p:cNvSpPr/>
          <p:nvPr/>
        </p:nvSpPr>
        <p:spPr>
          <a:xfrm>
            <a:off x="6565392" y="1380744"/>
            <a:ext cx="4837176" cy="228600"/>
          </a:xfrm>
          <a:prstGeom prst="rect">
            <a:avLst/>
          </a:prstGeom>
          <a:noFill/>
          <a:ln/>
        </p:spPr>
        <p:txBody>
          <a:bodyPr wrap="square" lIns="254" tIns="254" rIns="254" bIns="254" rtlCol="0" anchor="ctr"/>
          <a:lstStyle/>
          <a:p>
            <a:pPr marL="0" indent="0">
              <a:buNone/>
            </a:pPr>
            <a:r>
              <a:rPr lang="en-US" sz="1500" b="1" dirty="0">
                <a:solidFill>
                  <a:srgbClr val="17375E"/>
                </a:solidFill>
              </a:rPr>
              <a:t>Why clean first?</a:t>
            </a:r>
            <a:endParaRPr lang="en-US" sz="1500" dirty="0"/>
          </a:p>
        </p:txBody>
      </p:sp>
      <p:sp>
        <p:nvSpPr>
          <p:cNvPr id="11" name="Text 9"/>
          <p:cNvSpPr/>
          <p:nvPr/>
        </p:nvSpPr>
        <p:spPr>
          <a:xfrm>
            <a:off x="6565392" y="1709928"/>
            <a:ext cx="4837176" cy="5943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original code worked for a single dataset, but a reproducible script should check required columns, remove missing values, and avoid duplicated gene symbols before ID mapping.</a:t>
            </a:r>
            <a:endParaRPr lang="en-US" sz="1200" dirty="0"/>
          </a:p>
        </p:txBody>
      </p:sp>
      <p:sp>
        <p:nvSpPr>
          <p:cNvPr id="12" name="Shape 10"/>
          <p:cNvSpPr/>
          <p:nvPr/>
        </p:nvSpPr>
        <p:spPr>
          <a:xfrm>
            <a:off x="6400800" y="2788920"/>
            <a:ext cx="5166360" cy="1188720"/>
          </a:xfrm>
          <a:prstGeom prst="roundRect">
            <a:avLst>
              <a:gd name="adj" fmla="val 9231"/>
            </a:avLst>
          </a:prstGeom>
          <a:solidFill>
            <a:srgbClr val="F5F7FA"/>
          </a:solidFill>
          <a:ln w="12700">
            <a:solidFill>
              <a:srgbClr val="D0D0D0"/>
            </a:solidFill>
            <a:prstDash val="solid"/>
          </a:ln>
        </p:spPr>
        <p:txBody>
          <a:bodyPr/>
          <a:lstStyle/>
          <a:p>
            <a:endParaRPr lang="en-CN"/>
          </a:p>
        </p:txBody>
      </p:sp>
      <p:sp>
        <p:nvSpPr>
          <p:cNvPr id="13" name="Text 11"/>
          <p:cNvSpPr/>
          <p:nvPr/>
        </p:nvSpPr>
        <p:spPr>
          <a:xfrm>
            <a:off x="6565392" y="2935224"/>
            <a:ext cx="4837176" cy="228600"/>
          </a:xfrm>
          <a:prstGeom prst="rect">
            <a:avLst/>
          </a:prstGeom>
          <a:noFill/>
          <a:ln/>
        </p:spPr>
        <p:txBody>
          <a:bodyPr wrap="square" lIns="254" tIns="254" rIns="254" bIns="254" rtlCol="0" anchor="ctr"/>
          <a:lstStyle/>
          <a:p>
            <a:pPr marL="0" indent="0">
              <a:buNone/>
            </a:pPr>
            <a:r>
              <a:rPr lang="en-US" sz="1500" b="1" dirty="0">
                <a:solidFill>
                  <a:srgbClr val="17375E"/>
                </a:solidFill>
              </a:rPr>
              <a:t>Expected files</a:t>
            </a:r>
            <a:endParaRPr lang="en-US" sz="1500" dirty="0"/>
          </a:p>
        </p:txBody>
      </p:sp>
      <p:sp>
        <p:nvSpPr>
          <p:cNvPr id="14" name="Text 12"/>
          <p:cNvSpPr/>
          <p:nvPr/>
        </p:nvSpPr>
        <p:spPr>
          <a:xfrm>
            <a:off x="6565392" y="3264408"/>
            <a:ext cx="4837176" cy="5943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CGGA_top50.csv and TCGA_top50.csv, each with two columns: SYMBOL and log2fc. The same function can process both datasets.</a:t>
            </a:r>
            <a:endParaRPr lang="en-US" sz="1200" dirty="0"/>
          </a:p>
        </p:txBody>
      </p:sp>
      <p:sp>
        <p:nvSpPr>
          <p:cNvPr id="15" name="Shape 13"/>
          <p:cNvSpPr/>
          <p:nvPr/>
        </p:nvSpPr>
        <p:spPr>
          <a:xfrm>
            <a:off x="6400800" y="4343400"/>
            <a:ext cx="5166360" cy="1188720"/>
          </a:xfrm>
          <a:prstGeom prst="roundRect">
            <a:avLst>
              <a:gd name="adj" fmla="val 9231"/>
            </a:avLst>
          </a:prstGeom>
          <a:solidFill>
            <a:srgbClr val="F5F7FA"/>
          </a:solidFill>
          <a:ln w="12700">
            <a:solidFill>
              <a:srgbClr val="D0D0D0"/>
            </a:solidFill>
            <a:prstDash val="solid"/>
          </a:ln>
        </p:spPr>
        <p:txBody>
          <a:bodyPr/>
          <a:lstStyle/>
          <a:p>
            <a:endParaRPr lang="en-CN"/>
          </a:p>
        </p:txBody>
      </p:sp>
      <p:sp>
        <p:nvSpPr>
          <p:cNvPr id="16" name="Text 14"/>
          <p:cNvSpPr/>
          <p:nvPr/>
        </p:nvSpPr>
        <p:spPr>
          <a:xfrm>
            <a:off x="6565392" y="4489704"/>
            <a:ext cx="4837176" cy="228600"/>
          </a:xfrm>
          <a:prstGeom prst="rect">
            <a:avLst/>
          </a:prstGeom>
          <a:noFill/>
          <a:ln/>
        </p:spPr>
        <p:txBody>
          <a:bodyPr wrap="square" lIns="254" tIns="254" rIns="254" bIns="254" rtlCol="0" anchor="ctr"/>
          <a:lstStyle/>
          <a:p>
            <a:pPr marL="0" indent="0">
              <a:buNone/>
            </a:pPr>
            <a:r>
              <a:rPr lang="en-US" sz="1500" b="1" dirty="0">
                <a:solidFill>
                  <a:srgbClr val="17375E"/>
                </a:solidFill>
              </a:rPr>
              <a:t>Key improvement</a:t>
            </a:r>
            <a:endParaRPr lang="en-US" sz="1500" dirty="0"/>
          </a:p>
        </p:txBody>
      </p:sp>
      <p:sp>
        <p:nvSpPr>
          <p:cNvPr id="17" name="Text 15"/>
          <p:cNvSpPr/>
          <p:nvPr/>
        </p:nvSpPr>
        <p:spPr>
          <a:xfrm>
            <a:off x="6565392" y="4818888"/>
            <a:ext cx="4837176" cy="5943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revised code is functionalized, so CGGA and TCGA can be analyzed with the same pipeline rather than repeated copy-paste blocks.</a:t>
            </a:r>
            <a:endParaRPr lang="en-US" sz="1200" dirty="0"/>
          </a:p>
        </p:txBody>
      </p:sp>
      <p:sp>
        <p:nvSpPr>
          <p:cNvPr id="18" name="Shape 16"/>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9" name="Text 17"/>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20" name="Text 18"/>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Step 2: map gene symbols and run GO enrichment</a:t>
            </a:r>
            <a:endParaRPr lang="en-US" sz="2500" dirty="0"/>
          </a:p>
        </p:txBody>
      </p:sp>
      <p:sp>
        <p:nvSpPr>
          <p:cNvPr id="5" name="Shape 3"/>
          <p:cNvSpPr/>
          <p:nvPr/>
        </p:nvSpPr>
        <p:spPr>
          <a:xfrm>
            <a:off x="594360" y="1188720"/>
            <a:ext cx="5943600" cy="5120640"/>
          </a:xfrm>
          <a:prstGeom prst="roundRect">
            <a:avLst>
              <a:gd name="adj" fmla="val 1786"/>
            </a:avLst>
          </a:prstGeom>
          <a:solidFill>
            <a:srgbClr val="FBFBFB"/>
          </a:solidFill>
          <a:ln w="12700">
            <a:solidFill>
              <a:srgbClr val="BFBFBF"/>
            </a:solidFill>
            <a:prstDash val="solid"/>
          </a:ln>
        </p:spPr>
        <p:txBody>
          <a:bodyPr/>
          <a:lstStyle/>
          <a:p>
            <a:endParaRPr lang="en-CN"/>
          </a:p>
        </p:txBody>
      </p:sp>
      <p:sp>
        <p:nvSpPr>
          <p:cNvPr id="6" name="Shape 4"/>
          <p:cNvSpPr/>
          <p:nvPr/>
        </p:nvSpPr>
        <p:spPr>
          <a:xfrm>
            <a:off x="594360" y="1188720"/>
            <a:ext cx="5943600" cy="310896"/>
          </a:xfrm>
          <a:prstGeom prst="rect">
            <a:avLst/>
          </a:prstGeom>
          <a:solidFill>
            <a:srgbClr val="17375E"/>
          </a:solidFill>
          <a:ln w="12700">
            <a:solidFill>
              <a:srgbClr val="17375E"/>
            </a:solidFill>
            <a:prstDash val="solid"/>
          </a:ln>
        </p:spPr>
        <p:txBody>
          <a:bodyPr/>
          <a:lstStyle/>
          <a:p>
            <a:endParaRPr lang="en-CN"/>
          </a:p>
        </p:txBody>
      </p:sp>
      <p:sp>
        <p:nvSpPr>
          <p:cNvPr id="7" name="Text 5"/>
          <p:cNvSpPr/>
          <p:nvPr/>
        </p:nvSpPr>
        <p:spPr>
          <a:xfrm>
            <a:off x="722376" y="1271016"/>
            <a:ext cx="5687568" cy="109728"/>
          </a:xfrm>
          <a:prstGeom prst="rect">
            <a:avLst/>
          </a:prstGeom>
          <a:noFill/>
          <a:ln/>
        </p:spPr>
        <p:txBody>
          <a:bodyPr wrap="square" lIns="0" tIns="0" rIns="0" bIns="0" rtlCol="0" anchor="ctr"/>
          <a:lstStyle/>
          <a:p>
            <a:pPr marL="0" indent="0">
              <a:buNone/>
            </a:pPr>
            <a:r>
              <a:rPr lang="en-US" sz="900" b="1" dirty="0">
                <a:solidFill>
                  <a:srgbClr val="FFFFFF"/>
                </a:solidFill>
              </a:rPr>
              <a:t>ID mapping + enrichGO</a:t>
            </a:r>
            <a:endParaRPr lang="en-US" sz="900" dirty="0"/>
          </a:p>
        </p:txBody>
      </p:sp>
      <p:sp>
        <p:nvSpPr>
          <p:cNvPr id="8" name="Text 6"/>
          <p:cNvSpPr/>
          <p:nvPr/>
        </p:nvSpPr>
        <p:spPr>
          <a:xfrm>
            <a:off x="758952" y="1600200"/>
            <a:ext cx="5614416" cy="4645152"/>
          </a:xfrm>
          <a:prstGeom prst="rect">
            <a:avLst/>
          </a:prstGeom>
          <a:noFill/>
          <a:ln/>
        </p:spPr>
        <p:txBody>
          <a:bodyPr wrap="square" lIns="254" tIns="254" rIns="254" bIns="254" rtlCol="0" anchor="ctr">
            <a:normAutofit/>
          </a:bodyPr>
          <a:lstStyle/>
          <a:p>
            <a:pPr marL="0" indent="0">
              <a:buNone/>
            </a:pPr>
            <a:r>
              <a:rPr lang="en-US" sz="840" dirty="0">
                <a:solidFill>
                  <a:srgbClr val="222222"/>
                </a:solidFill>
                <a:latin typeface="Courier New" pitchFamily="34" charset="0"/>
                <a:ea typeface="Courier New" pitchFamily="34" charset="-122"/>
                <a:cs typeface="Courier New" pitchFamily="34" charset="-120"/>
              </a:rPr>
              <a:t>map_symbol_to_entrez &lt;- function(gene_fc) {</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id_map &lt;- bitr(gene_fc$SYMBOL,</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fromType = "SYMBOL",</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toType   = "ENTREZID",</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OrgDb    = org.Hs.eg.db)</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gene_fc %&gt;%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left_join(id_map, by = "SYMBOL") %&gt;%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filter(!is.na(ENTREZID)) %&gt;%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distinct(ENTREZID, .keep_all = TRUE)</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ego &lt;- enrichGO(gene = entrez_fc$ENTREZID,</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OrgDb = org.Hs.eg.db, keyType = "ENTREZID",</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ont = "BP", pAdjustMethod = "BH",</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pvalueCutoff = 0.05, qvalueCutoff = 0.05)</a:t>
            </a:r>
            <a:endParaRPr lang="en-US" sz="840" dirty="0"/>
          </a:p>
        </p:txBody>
      </p:sp>
      <p:sp>
        <p:nvSpPr>
          <p:cNvPr id="9" name="Text 7"/>
          <p:cNvSpPr/>
          <p:nvPr/>
        </p:nvSpPr>
        <p:spPr>
          <a:xfrm>
            <a:off x="6812280" y="1417320"/>
            <a:ext cx="4572000" cy="4206240"/>
          </a:xfrm>
          <a:prstGeom prst="rect">
            <a:avLst/>
          </a:prstGeom>
          <a:noFill/>
          <a:ln/>
        </p:spPr>
        <p:txBody>
          <a:bodyPr wrap="square" lIns="381" tIns="381" rIns="381" bIns="381" rtlCol="0" anchor="ctr">
            <a:normAutofit/>
          </a:bodyPr>
          <a:lstStyle/>
          <a:p>
            <a:pPr marL="228600" indent="-228600">
              <a:buSzPct val="100000"/>
              <a:buChar char="•"/>
            </a:pPr>
            <a:r>
              <a:rPr lang="en-US" sz="1500" dirty="0">
                <a:solidFill>
                  <a:srgbClr val="222222"/>
                </a:solidFill>
                <a:latin typeface="Aptos" pitchFamily="34" charset="0"/>
                <a:ea typeface="Aptos" pitchFamily="34" charset="-122"/>
                <a:cs typeface="Aptos" pitchFamily="34" charset="-120"/>
              </a:rPr>
              <a:t>GO enrichment requires a valid gene ID system.</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ENTREZ ID mapping makes the workflow compatible with clusterProfiler.</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The ontology is set to BP because Figure 3 focuses on Biological Process.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BH adjustment controls the false discovery rate across GO terms.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The result table includes GO ID, Description, GeneRatio, p.adjust, geneID, and Count.</a:t>
            </a:r>
            <a:endParaRPr lang="en-US" sz="1500" dirty="0"/>
          </a:p>
        </p:txBody>
      </p:sp>
      <p:sp>
        <p:nvSpPr>
          <p:cNvPr id="10" name="Shape 8"/>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1" name="Text 9"/>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2" name="Text 10"/>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Step 3: simplify redundant GO terms</a:t>
            </a:r>
            <a:endParaRPr lang="en-US" sz="2500" dirty="0"/>
          </a:p>
        </p:txBody>
      </p:sp>
      <p:sp>
        <p:nvSpPr>
          <p:cNvPr id="5" name="Shape 3"/>
          <p:cNvSpPr/>
          <p:nvPr/>
        </p:nvSpPr>
        <p:spPr>
          <a:xfrm>
            <a:off x="594360" y="1325880"/>
            <a:ext cx="5212080" cy="2377440"/>
          </a:xfrm>
          <a:prstGeom prst="roundRect">
            <a:avLst>
              <a:gd name="adj" fmla="val 3846"/>
            </a:avLst>
          </a:prstGeom>
          <a:solidFill>
            <a:srgbClr val="FBFBFB"/>
          </a:solidFill>
          <a:ln w="12700">
            <a:solidFill>
              <a:srgbClr val="BFBFBF"/>
            </a:solidFill>
            <a:prstDash val="solid"/>
          </a:ln>
        </p:spPr>
        <p:txBody>
          <a:bodyPr/>
          <a:lstStyle/>
          <a:p>
            <a:endParaRPr lang="en-CN"/>
          </a:p>
        </p:txBody>
      </p:sp>
      <p:sp>
        <p:nvSpPr>
          <p:cNvPr id="6" name="Shape 4"/>
          <p:cNvSpPr/>
          <p:nvPr/>
        </p:nvSpPr>
        <p:spPr>
          <a:xfrm>
            <a:off x="594360" y="1325880"/>
            <a:ext cx="5212080" cy="310896"/>
          </a:xfrm>
          <a:prstGeom prst="rect">
            <a:avLst/>
          </a:prstGeom>
          <a:solidFill>
            <a:srgbClr val="17375E"/>
          </a:solidFill>
          <a:ln w="12700">
            <a:solidFill>
              <a:srgbClr val="17375E"/>
            </a:solidFill>
            <a:prstDash val="solid"/>
          </a:ln>
        </p:spPr>
        <p:txBody>
          <a:bodyPr/>
          <a:lstStyle/>
          <a:p>
            <a:endParaRPr lang="en-CN"/>
          </a:p>
        </p:txBody>
      </p:sp>
      <p:sp>
        <p:nvSpPr>
          <p:cNvPr id="7" name="Text 5"/>
          <p:cNvSpPr/>
          <p:nvPr/>
        </p:nvSpPr>
        <p:spPr>
          <a:xfrm>
            <a:off x="722376" y="1408176"/>
            <a:ext cx="4956048" cy="109728"/>
          </a:xfrm>
          <a:prstGeom prst="rect">
            <a:avLst/>
          </a:prstGeom>
          <a:noFill/>
          <a:ln/>
        </p:spPr>
        <p:txBody>
          <a:bodyPr wrap="square" lIns="0" tIns="0" rIns="0" bIns="0" rtlCol="0" anchor="ctr"/>
          <a:lstStyle/>
          <a:p>
            <a:pPr marL="0" indent="0">
              <a:buNone/>
            </a:pPr>
            <a:r>
              <a:rPr lang="en-US" sz="900" b="1" dirty="0">
                <a:solidFill>
                  <a:srgbClr val="FFFFFF"/>
                </a:solidFill>
              </a:rPr>
              <a:t>Redundancy reduction</a:t>
            </a:r>
            <a:endParaRPr lang="en-US" sz="900" dirty="0"/>
          </a:p>
        </p:txBody>
      </p:sp>
      <p:sp>
        <p:nvSpPr>
          <p:cNvPr id="8" name="Text 6"/>
          <p:cNvSpPr/>
          <p:nvPr/>
        </p:nvSpPr>
        <p:spPr>
          <a:xfrm>
            <a:off x="758952" y="1737360"/>
            <a:ext cx="4882896" cy="1901952"/>
          </a:xfrm>
          <a:prstGeom prst="rect">
            <a:avLst/>
          </a:prstGeom>
          <a:noFill/>
          <a:ln/>
        </p:spPr>
        <p:txBody>
          <a:bodyPr wrap="square" lIns="254" tIns="254" rIns="254" bIns="254" rtlCol="0" anchor="ctr">
            <a:normAutofit/>
          </a:bodyPr>
          <a:lstStyle/>
          <a:p>
            <a:pPr marL="0" indent="0">
              <a:buNone/>
            </a:pPr>
            <a:r>
              <a:rPr lang="en-US" sz="840" dirty="0">
                <a:solidFill>
                  <a:srgbClr val="222222"/>
                </a:solidFill>
                <a:latin typeface="Courier New" pitchFamily="34" charset="0"/>
                <a:ea typeface="Courier New" pitchFamily="34" charset="-122"/>
                <a:cs typeface="Courier New" pitchFamily="34" charset="-120"/>
              </a:rPr>
              <a:t>ego2 &lt;- simplify(</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ego,</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cutoff     = 0.70,</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by         = "p.adjust",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select_fun = min</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write_csv(as.data.frame(ego2),</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file.path(out_dir, paste0(prefix,</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"_enrichGO_simplify_BP.csv")))</a:t>
            </a:r>
            <a:endParaRPr lang="en-US" sz="840" dirty="0"/>
          </a:p>
        </p:txBody>
      </p:sp>
      <p:sp>
        <p:nvSpPr>
          <p:cNvPr id="9" name="Shape 7"/>
          <p:cNvSpPr/>
          <p:nvPr/>
        </p:nvSpPr>
        <p:spPr>
          <a:xfrm>
            <a:off x="6172200" y="1325880"/>
            <a:ext cx="5303520" cy="1234440"/>
          </a:xfrm>
          <a:prstGeom prst="roundRect">
            <a:avLst>
              <a:gd name="adj" fmla="val 8889"/>
            </a:avLst>
          </a:prstGeom>
          <a:solidFill>
            <a:srgbClr val="F5F7FA"/>
          </a:solidFill>
          <a:ln w="12700">
            <a:solidFill>
              <a:srgbClr val="D0D0D0"/>
            </a:solidFill>
            <a:prstDash val="solid"/>
          </a:ln>
        </p:spPr>
        <p:txBody>
          <a:bodyPr/>
          <a:lstStyle/>
          <a:p>
            <a:endParaRPr lang="en-CN"/>
          </a:p>
        </p:txBody>
      </p:sp>
      <p:sp>
        <p:nvSpPr>
          <p:cNvPr id="10" name="Text 8"/>
          <p:cNvSpPr/>
          <p:nvPr/>
        </p:nvSpPr>
        <p:spPr>
          <a:xfrm>
            <a:off x="6336792" y="1472184"/>
            <a:ext cx="4974336" cy="228600"/>
          </a:xfrm>
          <a:prstGeom prst="rect">
            <a:avLst/>
          </a:prstGeom>
          <a:noFill/>
          <a:ln/>
        </p:spPr>
        <p:txBody>
          <a:bodyPr wrap="square" lIns="254" tIns="254" rIns="254" bIns="254" rtlCol="0" anchor="ctr"/>
          <a:lstStyle/>
          <a:p>
            <a:pPr marL="0" indent="0">
              <a:buNone/>
            </a:pPr>
            <a:r>
              <a:rPr lang="en-US" sz="1500" b="1" dirty="0">
                <a:solidFill>
                  <a:srgbClr val="17375E"/>
                </a:solidFill>
              </a:rPr>
              <a:t>Why simplify?</a:t>
            </a:r>
            <a:endParaRPr lang="en-US" sz="1500" dirty="0"/>
          </a:p>
        </p:txBody>
      </p:sp>
      <p:sp>
        <p:nvSpPr>
          <p:cNvPr id="11" name="Text 9"/>
          <p:cNvSpPr/>
          <p:nvPr/>
        </p:nvSpPr>
        <p:spPr>
          <a:xfrm>
            <a:off x="6336792" y="1801368"/>
            <a:ext cx="4974336" cy="6400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GO terms are hierarchical and often redundant. Similar terms such as “T cell activation” and “regulation of T cell activation” may appear together.</a:t>
            </a:r>
            <a:endParaRPr lang="en-US" sz="1200" dirty="0"/>
          </a:p>
        </p:txBody>
      </p:sp>
      <p:sp>
        <p:nvSpPr>
          <p:cNvPr id="12" name="Shape 10"/>
          <p:cNvSpPr/>
          <p:nvPr/>
        </p:nvSpPr>
        <p:spPr>
          <a:xfrm>
            <a:off x="6172200" y="2880360"/>
            <a:ext cx="5303520" cy="1234440"/>
          </a:xfrm>
          <a:prstGeom prst="roundRect">
            <a:avLst>
              <a:gd name="adj" fmla="val 8889"/>
            </a:avLst>
          </a:prstGeom>
          <a:solidFill>
            <a:srgbClr val="F5F7FA"/>
          </a:solidFill>
          <a:ln w="12700">
            <a:solidFill>
              <a:srgbClr val="D0D0D0"/>
            </a:solidFill>
            <a:prstDash val="solid"/>
          </a:ln>
        </p:spPr>
        <p:txBody>
          <a:bodyPr/>
          <a:lstStyle/>
          <a:p>
            <a:endParaRPr lang="en-CN"/>
          </a:p>
        </p:txBody>
      </p:sp>
      <p:sp>
        <p:nvSpPr>
          <p:cNvPr id="13" name="Text 11"/>
          <p:cNvSpPr/>
          <p:nvPr/>
        </p:nvSpPr>
        <p:spPr>
          <a:xfrm>
            <a:off x="6336792" y="3026664"/>
            <a:ext cx="4974336" cy="228600"/>
          </a:xfrm>
          <a:prstGeom prst="rect">
            <a:avLst/>
          </a:prstGeom>
          <a:noFill/>
          <a:ln/>
        </p:spPr>
        <p:txBody>
          <a:bodyPr wrap="square" lIns="254" tIns="254" rIns="254" bIns="254" rtlCol="0" anchor="ctr"/>
          <a:lstStyle/>
          <a:p>
            <a:pPr marL="0" indent="0">
              <a:buNone/>
            </a:pPr>
            <a:r>
              <a:rPr lang="en-US" sz="1500" b="1" dirty="0">
                <a:solidFill>
                  <a:srgbClr val="17375E"/>
                </a:solidFill>
              </a:rPr>
              <a:t>How the script handles this</a:t>
            </a:r>
            <a:endParaRPr lang="en-US" sz="1500" dirty="0"/>
          </a:p>
        </p:txBody>
      </p:sp>
      <p:sp>
        <p:nvSpPr>
          <p:cNvPr id="14" name="Text 12"/>
          <p:cNvSpPr/>
          <p:nvPr/>
        </p:nvSpPr>
        <p:spPr>
          <a:xfrm>
            <a:off x="6336792" y="3355848"/>
            <a:ext cx="4974336" cy="6400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simplify() function removes semantically similar terms and keeps the term with the smallest adjusted p value.</a:t>
            </a:r>
            <a:endParaRPr lang="en-US" sz="1200" dirty="0"/>
          </a:p>
        </p:txBody>
      </p:sp>
      <p:sp>
        <p:nvSpPr>
          <p:cNvPr id="15" name="Shape 13"/>
          <p:cNvSpPr/>
          <p:nvPr/>
        </p:nvSpPr>
        <p:spPr>
          <a:xfrm>
            <a:off x="594360" y="4160520"/>
            <a:ext cx="10881360" cy="1280160"/>
          </a:xfrm>
          <a:prstGeom prst="roundRect">
            <a:avLst>
              <a:gd name="adj" fmla="val 8571"/>
            </a:avLst>
          </a:prstGeom>
          <a:solidFill>
            <a:srgbClr val="F5F7FA"/>
          </a:solidFill>
          <a:ln w="12700">
            <a:solidFill>
              <a:srgbClr val="D0D0D0"/>
            </a:solidFill>
            <a:prstDash val="solid"/>
          </a:ln>
        </p:spPr>
        <p:txBody>
          <a:bodyPr/>
          <a:lstStyle/>
          <a:p>
            <a:endParaRPr lang="en-CN"/>
          </a:p>
        </p:txBody>
      </p:sp>
      <p:sp>
        <p:nvSpPr>
          <p:cNvPr id="16" name="Text 14"/>
          <p:cNvSpPr/>
          <p:nvPr/>
        </p:nvSpPr>
        <p:spPr>
          <a:xfrm>
            <a:off x="758952" y="4306824"/>
            <a:ext cx="10552176" cy="228600"/>
          </a:xfrm>
          <a:prstGeom prst="rect">
            <a:avLst/>
          </a:prstGeom>
          <a:noFill/>
          <a:ln/>
        </p:spPr>
        <p:txBody>
          <a:bodyPr wrap="square" lIns="254" tIns="254" rIns="254" bIns="254" rtlCol="0" anchor="ctr"/>
          <a:lstStyle/>
          <a:p>
            <a:pPr marL="0" indent="0">
              <a:buNone/>
            </a:pPr>
            <a:r>
              <a:rPr lang="en-US" sz="1500" b="1" dirty="0">
                <a:solidFill>
                  <a:srgbClr val="17375E"/>
                </a:solidFill>
              </a:rPr>
              <a:t>Practical recommendation</a:t>
            </a:r>
            <a:endParaRPr lang="en-US" sz="1500" dirty="0"/>
          </a:p>
        </p:txBody>
      </p:sp>
      <p:sp>
        <p:nvSpPr>
          <p:cNvPr id="17" name="Text 15"/>
          <p:cNvSpPr/>
          <p:nvPr/>
        </p:nvSpPr>
        <p:spPr>
          <a:xfrm>
            <a:off x="758952" y="4636008"/>
            <a:ext cx="10552176" cy="68580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For reproduction, keep the enrichment and simplified tables. The unsimplified table preserves all GO results, while the simplified table is better for clean visualization.</a:t>
            </a:r>
            <a:endParaRPr lang="en-US" sz="1200" dirty="0"/>
          </a:p>
        </p:txBody>
      </p:sp>
      <p:sp>
        <p:nvSpPr>
          <p:cNvPr id="18" name="Shape 16"/>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9" name="Text 17"/>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20" name="Text 18"/>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Step 4: reproduce Figure 3-style GOChord plots</a:t>
            </a:r>
            <a:endParaRPr lang="en-US" sz="2500" dirty="0"/>
          </a:p>
        </p:txBody>
      </p:sp>
      <p:pic>
        <p:nvPicPr>
          <p:cNvPr id="5" name="Image 0" descr="/mnt/data/go_reproduce_assets/CGGA_GOChord.png"/>
          <p:cNvPicPr>
            <a:picLocks noChangeAspect="1"/>
          </p:cNvPicPr>
          <p:nvPr/>
        </p:nvPicPr>
        <p:blipFill>
          <a:blip r:embed="rId3"/>
          <a:srcRect t="4237" b="4237"/>
          <a:stretch/>
        </p:blipFill>
        <p:spPr>
          <a:xfrm>
            <a:off x="502920" y="1188720"/>
            <a:ext cx="5394960" cy="4937760"/>
          </a:xfrm>
          <a:prstGeom prst="rect">
            <a:avLst/>
          </a:prstGeom>
        </p:spPr>
      </p:pic>
      <p:pic>
        <p:nvPicPr>
          <p:cNvPr id="6" name="Image 1" descr="/mnt/data/go_reproduce_assets/TCGA_GOChord.png"/>
          <p:cNvPicPr>
            <a:picLocks noChangeAspect="1"/>
          </p:cNvPicPr>
          <p:nvPr/>
        </p:nvPicPr>
        <p:blipFill>
          <a:blip r:embed="rId4"/>
          <a:srcRect t="4237" b="4237"/>
          <a:stretch/>
        </p:blipFill>
        <p:spPr>
          <a:xfrm>
            <a:off x="6355080" y="1188720"/>
            <a:ext cx="5394960" cy="4937760"/>
          </a:xfrm>
          <a:prstGeom prst="rect">
            <a:avLst/>
          </a:prstGeom>
        </p:spPr>
      </p:pic>
      <p:sp>
        <p:nvSpPr>
          <p:cNvPr id="7" name="Text 3"/>
          <p:cNvSpPr/>
          <p:nvPr/>
        </p:nvSpPr>
        <p:spPr>
          <a:xfrm>
            <a:off x="2148840" y="6172200"/>
            <a:ext cx="2011680" cy="182880"/>
          </a:xfrm>
          <a:prstGeom prst="rect">
            <a:avLst/>
          </a:prstGeom>
          <a:noFill/>
          <a:ln/>
        </p:spPr>
        <p:txBody>
          <a:bodyPr wrap="square" lIns="0" tIns="0" rIns="0" bIns="0" rtlCol="0" anchor="ctr"/>
          <a:lstStyle/>
          <a:p>
            <a:pPr marL="0" indent="0" algn="ctr">
              <a:buNone/>
            </a:pPr>
            <a:r>
              <a:rPr lang="en-US" sz="1200" b="1" dirty="0">
                <a:solidFill>
                  <a:srgbClr val="17375E"/>
                </a:solidFill>
              </a:rPr>
              <a:t>CGGA GOChord</a:t>
            </a:r>
            <a:endParaRPr lang="en-US" sz="1200" dirty="0"/>
          </a:p>
        </p:txBody>
      </p:sp>
      <p:sp>
        <p:nvSpPr>
          <p:cNvPr id="8" name="Text 4"/>
          <p:cNvSpPr/>
          <p:nvPr/>
        </p:nvSpPr>
        <p:spPr>
          <a:xfrm>
            <a:off x="8001000" y="6172200"/>
            <a:ext cx="2011680" cy="182880"/>
          </a:xfrm>
          <a:prstGeom prst="rect">
            <a:avLst/>
          </a:prstGeom>
          <a:noFill/>
          <a:ln/>
        </p:spPr>
        <p:txBody>
          <a:bodyPr wrap="square" lIns="0" tIns="0" rIns="0" bIns="0" rtlCol="0" anchor="ctr"/>
          <a:lstStyle/>
          <a:p>
            <a:pPr marL="0" indent="0" algn="ctr">
              <a:buNone/>
            </a:pPr>
            <a:r>
              <a:rPr lang="en-US" sz="1200" b="1" dirty="0">
                <a:solidFill>
                  <a:srgbClr val="17375E"/>
                </a:solidFill>
              </a:rPr>
              <a:t>TCGA GOChord</a:t>
            </a:r>
            <a:endParaRPr lang="en-US" sz="1200" dirty="0"/>
          </a:p>
        </p:txBody>
      </p:sp>
      <p:sp>
        <p:nvSpPr>
          <p:cNvPr id="9" name="Shape 5"/>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0" name="Text 6"/>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1" name="Text 7"/>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GOChord code: convert enrichment results to GOplot format</a:t>
            </a:r>
            <a:endParaRPr lang="en-US" sz="2500" dirty="0"/>
          </a:p>
        </p:txBody>
      </p:sp>
      <p:sp>
        <p:nvSpPr>
          <p:cNvPr id="5" name="Shape 3"/>
          <p:cNvSpPr/>
          <p:nvPr/>
        </p:nvSpPr>
        <p:spPr>
          <a:xfrm>
            <a:off x="594360" y="1234440"/>
            <a:ext cx="5669280" cy="4800600"/>
          </a:xfrm>
          <a:prstGeom prst="roundRect">
            <a:avLst>
              <a:gd name="adj" fmla="val 1905"/>
            </a:avLst>
          </a:prstGeom>
          <a:solidFill>
            <a:srgbClr val="FBFBFB"/>
          </a:solidFill>
          <a:ln w="12700">
            <a:solidFill>
              <a:srgbClr val="BFBFBF"/>
            </a:solidFill>
            <a:prstDash val="solid"/>
          </a:ln>
        </p:spPr>
        <p:txBody>
          <a:bodyPr/>
          <a:lstStyle/>
          <a:p>
            <a:endParaRPr lang="en-CN"/>
          </a:p>
        </p:txBody>
      </p:sp>
      <p:sp>
        <p:nvSpPr>
          <p:cNvPr id="6" name="Shape 4"/>
          <p:cNvSpPr/>
          <p:nvPr/>
        </p:nvSpPr>
        <p:spPr>
          <a:xfrm>
            <a:off x="594360" y="1234440"/>
            <a:ext cx="5669280" cy="310896"/>
          </a:xfrm>
          <a:prstGeom prst="rect">
            <a:avLst/>
          </a:prstGeom>
          <a:solidFill>
            <a:srgbClr val="17375E"/>
          </a:solidFill>
          <a:ln w="12700">
            <a:solidFill>
              <a:srgbClr val="17375E"/>
            </a:solidFill>
            <a:prstDash val="solid"/>
          </a:ln>
        </p:spPr>
        <p:txBody>
          <a:bodyPr/>
          <a:lstStyle/>
          <a:p>
            <a:endParaRPr lang="en-CN"/>
          </a:p>
        </p:txBody>
      </p:sp>
      <p:sp>
        <p:nvSpPr>
          <p:cNvPr id="7" name="Text 5"/>
          <p:cNvSpPr/>
          <p:nvPr/>
        </p:nvSpPr>
        <p:spPr>
          <a:xfrm>
            <a:off x="722376" y="1316736"/>
            <a:ext cx="5413248" cy="109728"/>
          </a:xfrm>
          <a:prstGeom prst="rect">
            <a:avLst/>
          </a:prstGeom>
          <a:noFill/>
          <a:ln/>
        </p:spPr>
        <p:txBody>
          <a:bodyPr wrap="square" lIns="0" tIns="0" rIns="0" bIns="0" rtlCol="0" anchor="ctr"/>
          <a:lstStyle/>
          <a:p>
            <a:pPr marL="0" indent="0">
              <a:buNone/>
            </a:pPr>
            <a:r>
              <a:rPr lang="en-US" sz="900" b="1" dirty="0">
                <a:solidFill>
                  <a:srgbClr val="FFFFFF"/>
                </a:solidFill>
              </a:rPr>
              <a:t>GOplot workflow</a:t>
            </a:r>
            <a:endParaRPr lang="en-US" sz="900" dirty="0"/>
          </a:p>
        </p:txBody>
      </p:sp>
      <p:sp>
        <p:nvSpPr>
          <p:cNvPr id="8" name="Text 6"/>
          <p:cNvSpPr/>
          <p:nvPr/>
        </p:nvSpPr>
        <p:spPr>
          <a:xfrm>
            <a:off x="758952" y="1645920"/>
            <a:ext cx="5340096" cy="4325112"/>
          </a:xfrm>
          <a:prstGeom prst="rect">
            <a:avLst/>
          </a:prstGeom>
          <a:noFill/>
          <a:ln/>
        </p:spPr>
        <p:txBody>
          <a:bodyPr wrap="square" lIns="254" tIns="254" rIns="254" bIns="254" rtlCol="0" anchor="ctr">
            <a:normAutofit/>
          </a:bodyPr>
          <a:lstStyle/>
          <a:p>
            <a:pPr marL="0" indent="0">
              <a:buNone/>
            </a:pPr>
            <a:r>
              <a:rPr lang="en-US" sz="840" dirty="0">
                <a:solidFill>
                  <a:srgbClr val="222222"/>
                </a:solidFill>
                <a:latin typeface="Courier New" pitchFamily="34" charset="0"/>
                <a:ea typeface="Courier New" pitchFamily="34" charset="-122"/>
                <a:cs typeface="Courier New" pitchFamily="34" charset="-120"/>
              </a:rPr>
              <a:t>go &lt;- data.frame(Category = "BP",</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ID = ego_df$ID,</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Term = ego_df$Description,</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Genes = gsub("/", ", ", ego_df$geneID),</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adj_pval = ego_df$p.adjust)</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genelist &lt;- data.frame(ID = entrez_fc$ENTREZID,</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logFC = entrez_fc$log2fc)</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circ  &lt;- circle_dat(go, genelist)</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chord &lt;- chord_dat(circ, genelist, go$Term[1:6])</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GOChord(chord_symbol, gene.order = "logFC",</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lfc.col = c("darkgoldenrod1", "black", "cyan1"),</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gene.space = 0.25, gene.size = 5,</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border.size = 0.1, process.label = 8)</a:t>
            </a:r>
            <a:endParaRPr lang="en-US" sz="840" dirty="0"/>
          </a:p>
        </p:txBody>
      </p:sp>
      <p:sp>
        <p:nvSpPr>
          <p:cNvPr id="9" name="Text 7"/>
          <p:cNvSpPr/>
          <p:nvPr/>
        </p:nvSpPr>
        <p:spPr>
          <a:xfrm>
            <a:off x="6629400" y="1417320"/>
            <a:ext cx="4663440" cy="4480560"/>
          </a:xfrm>
          <a:prstGeom prst="rect">
            <a:avLst/>
          </a:prstGeom>
          <a:noFill/>
          <a:ln/>
        </p:spPr>
        <p:txBody>
          <a:bodyPr wrap="square" lIns="381" tIns="381" rIns="381" bIns="381" rtlCol="0" anchor="ctr">
            <a:normAutofit/>
          </a:bodyPr>
          <a:lstStyle/>
          <a:p>
            <a:pPr marL="228600" indent="-228600">
              <a:buSzPct val="100000"/>
              <a:buChar char="•"/>
            </a:pPr>
            <a:r>
              <a:rPr lang="en-US" sz="1500" dirty="0">
                <a:solidFill>
                  <a:srgbClr val="222222"/>
                </a:solidFill>
                <a:latin typeface="Aptos" pitchFamily="34" charset="0"/>
                <a:ea typeface="Aptos" pitchFamily="34" charset="-122"/>
                <a:cs typeface="Aptos" pitchFamily="34" charset="-120"/>
              </a:rPr>
              <a:t>circle_dat() combines GO results with gene-level values.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chord_dat() selects the GO terms to display in the chord diagram.</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GOChord() draws gene–term ribbons and gene-level color bars.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The script converts row names from ENTREZ IDs back to gene symbols for readable labels.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Use a small number of GO terms, usually 4–8, to avoid overcrowding.</a:t>
            </a:r>
            <a:endParaRPr lang="en-US" sz="1500" dirty="0"/>
          </a:p>
        </p:txBody>
      </p:sp>
      <p:sp>
        <p:nvSpPr>
          <p:cNvPr id="10" name="Shape 8"/>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1" name="Text 9"/>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2" name="Text 10"/>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Alternative visualization 1: bubble plots</a:t>
            </a:r>
            <a:endParaRPr lang="en-US" sz="2500" dirty="0"/>
          </a:p>
        </p:txBody>
      </p:sp>
      <p:pic>
        <p:nvPicPr>
          <p:cNvPr id="5" name="Image 0" descr="/mnt/data/go_reproduce_assets/CGGA_bubble_plot.png"/>
          <p:cNvPicPr>
            <a:picLocks noChangeAspect="1"/>
          </p:cNvPicPr>
          <p:nvPr/>
        </p:nvPicPr>
        <p:blipFill>
          <a:blip r:embed="rId3"/>
          <a:srcRect l="7293" r="7293"/>
          <a:stretch/>
        </p:blipFill>
        <p:spPr>
          <a:xfrm>
            <a:off x="640080" y="1097280"/>
            <a:ext cx="5257800" cy="4389120"/>
          </a:xfrm>
          <a:prstGeom prst="rect">
            <a:avLst/>
          </a:prstGeom>
        </p:spPr>
      </p:pic>
      <p:pic>
        <p:nvPicPr>
          <p:cNvPr id="6" name="Image 1" descr="/mnt/data/go_reproduce_assets/TCGA_bubble_plot.png"/>
          <p:cNvPicPr>
            <a:picLocks noChangeAspect="1"/>
          </p:cNvPicPr>
          <p:nvPr/>
        </p:nvPicPr>
        <p:blipFill>
          <a:blip r:embed="rId4"/>
          <a:srcRect l="7293" r="7293"/>
          <a:stretch/>
        </p:blipFill>
        <p:spPr>
          <a:xfrm>
            <a:off x="6263640" y="1097280"/>
            <a:ext cx="5257800" cy="4389120"/>
          </a:xfrm>
          <a:prstGeom prst="rect">
            <a:avLst/>
          </a:prstGeom>
        </p:spPr>
      </p:pic>
      <p:sp>
        <p:nvSpPr>
          <p:cNvPr id="7" name="Shape 3"/>
          <p:cNvSpPr/>
          <p:nvPr/>
        </p:nvSpPr>
        <p:spPr>
          <a:xfrm>
            <a:off x="868680" y="5623560"/>
            <a:ext cx="10424160" cy="640080"/>
          </a:xfrm>
          <a:prstGeom prst="roundRect">
            <a:avLst>
              <a:gd name="adj" fmla="val 17143"/>
            </a:avLst>
          </a:prstGeom>
          <a:solidFill>
            <a:srgbClr val="FFF7E8"/>
          </a:solidFill>
          <a:ln w="12700">
            <a:solidFill>
              <a:srgbClr val="F4B183"/>
            </a:solidFill>
            <a:prstDash val="solid"/>
          </a:ln>
        </p:spPr>
        <p:txBody>
          <a:bodyPr/>
          <a:lstStyle/>
          <a:p>
            <a:endParaRPr lang="en-CN"/>
          </a:p>
        </p:txBody>
      </p:sp>
      <p:sp>
        <p:nvSpPr>
          <p:cNvPr id="8" name="Text 4"/>
          <p:cNvSpPr/>
          <p:nvPr/>
        </p:nvSpPr>
        <p:spPr>
          <a:xfrm>
            <a:off x="1033272" y="5769864"/>
            <a:ext cx="10094976" cy="228600"/>
          </a:xfrm>
          <a:prstGeom prst="rect">
            <a:avLst/>
          </a:prstGeom>
          <a:noFill/>
          <a:ln/>
        </p:spPr>
        <p:txBody>
          <a:bodyPr wrap="square" lIns="254" tIns="254" rIns="254" bIns="254" rtlCol="0" anchor="ctr"/>
          <a:lstStyle/>
          <a:p>
            <a:pPr marL="0" indent="0">
              <a:buNone/>
            </a:pPr>
            <a:r>
              <a:rPr lang="en-US" sz="1500" b="1" dirty="0">
                <a:solidFill>
                  <a:srgbClr val="C55A11"/>
                </a:solidFill>
              </a:rPr>
              <a:t>How to read bubble plots</a:t>
            </a:r>
            <a:endParaRPr lang="en-US" sz="1500" dirty="0"/>
          </a:p>
        </p:txBody>
      </p:sp>
      <p:sp>
        <p:nvSpPr>
          <p:cNvPr id="9" name="Text 5"/>
          <p:cNvSpPr/>
          <p:nvPr/>
        </p:nvSpPr>
        <p:spPr>
          <a:xfrm>
            <a:off x="1033272" y="6099048"/>
            <a:ext cx="10094976" cy="4572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Y-axis: GO Biological Process term. X-axis: gene ratio. Bubble size: number of genes. Color: enrichment significance, usually -log10 adjusted p-value.</a:t>
            </a:r>
            <a:endParaRPr lang="en-US" sz="1200" dirty="0"/>
          </a:p>
        </p:txBody>
      </p:sp>
      <p:sp>
        <p:nvSpPr>
          <p:cNvPr id="10" name="Shape 6"/>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1" name="Text 7"/>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2" name="Text 8"/>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Alternative visualization 2: bar and lollipop plots</a:t>
            </a:r>
            <a:endParaRPr lang="en-US" sz="2500" dirty="0"/>
          </a:p>
        </p:txBody>
      </p:sp>
      <p:pic>
        <p:nvPicPr>
          <p:cNvPr id="5" name="Image 0" descr="/mnt/data/go_reproduce_assets/CGGA_barplot.png"/>
          <p:cNvPicPr>
            <a:picLocks noChangeAspect="1"/>
          </p:cNvPicPr>
          <p:nvPr/>
        </p:nvPicPr>
        <p:blipFill>
          <a:blip r:embed="rId3"/>
          <a:srcRect t="18630" b="18630"/>
          <a:stretch/>
        </p:blipFill>
        <p:spPr>
          <a:xfrm>
            <a:off x="594360" y="1097280"/>
            <a:ext cx="5394960" cy="2468880"/>
          </a:xfrm>
          <a:prstGeom prst="rect">
            <a:avLst/>
          </a:prstGeom>
        </p:spPr>
      </p:pic>
      <p:pic>
        <p:nvPicPr>
          <p:cNvPr id="6" name="Image 1" descr="/mnt/data/go_reproduce_assets/TCGA_barplot.png"/>
          <p:cNvPicPr>
            <a:picLocks noChangeAspect="1"/>
          </p:cNvPicPr>
          <p:nvPr/>
        </p:nvPicPr>
        <p:blipFill>
          <a:blip r:embed="rId4"/>
          <a:srcRect t="18630" b="18630"/>
          <a:stretch/>
        </p:blipFill>
        <p:spPr>
          <a:xfrm>
            <a:off x="6217920" y="1097280"/>
            <a:ext cx="5394960" cy="2468880"/>
          </a:xfrm>
          <a:prstGeom prst="rect">
            <a:avLst/>
          </a:prstGeom>
        </p:spPr>
      </p:pic>
      <p:pic>
        <p:nvPicPr>
          <p:cNvPr id="7" name="Image 2" descr="/mnt/data/go_reproduce_assets/CGGA_lollipop_plot.png"/>
          <p:cNvPicPr>
            <a:picLocks noChangeAspect="1"/>
          </p:cNvPicPr>
          <p:nvPr/>
        </p:nvPicPr>
        <p:blipFill>
          <a:blip r:embed="rId5"/>
          <a:srcRect t="17088" b="17088"/>
          <a:stretch/>
        </p:blipFill>
        <p:spPr>
          <a:xfrm>
            <a:off x="594360" y="3794760"/>
            <a:ext cx="5394960" cy="2423160"/>
          </a:xfrm>
          <a:prstGeom prst="rect">
            <a:avLst/>
          </a:prstGeom>
        </p:spPr>
      </p:pic>
      <p:pic>
        <p:nvPicPr>
          <p:cNvPr id="8" name="Image 3" descr="/mnt/data/go_reproduce_assets/TCGA_lollipop_plot.png"/>
          <p:cNvPicPr>
            <a:picLocks noChangeAspect="1"/>
          </p:cNvPicPr>
          <p:nvPr/>
        </p:nvPicPr>
        <p:blipFill>
          <a:blip r:embed="rId6"/>
          <a:srcRect t="17088" b="17088"/>
          <a:stretch/>
        </p:blipFill>
        <p:spPr>
          <a:xfrm>
            <a:off x="6217920" y="3794760"/>
            <a:ext cx="5394960" cy="2423160"/>
          </a:xfrm>
          <a:prstGeom prst="rect">
            <a:avLst/>
          </a:prstGeom>
        </p:spPr>
      </p:pic>
      <p:sp>
        <p:nvSpPr>
          <p:cNvPr id="9" name="Shape 3"/>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0" name="Text 4"/>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1" name="Text 5"/>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GOplot GOBubble: z-score and significance</a:t>
            </a:r>
            <a:endParaRPr lang="en-US" sz="2500" dirty="0"/>
          </a:p>
        </p:txBody>
      </p:sp>
      <p:pic>
        <p:nvPicPr>
          <p:cNvPr id="5" name="Image 0" descr="/mnt/data/go_reproduce_assets/CGGA_GObubble.png"/>
          <p:cNvPicPr>
            <a:picLocks noChangeAspect="1"/>
          </p:cNvPicPr>
          <p:nvPr/>
        </p:nvPicPr>
        <p:blipFill>
          <a:blip r:embed="rId3"/>
          <a:srcRect l="26818" r="26818"/>
          <a:stretch/>
        </p:blipFill>
        <p:spPr>
          <a:xfrm>
            <a:off x="548640" y="1051560"/>
            <a:ext cx="5440680" cy="5029200"/>
          </a:xfrm>
          <a:prstGeom prst="rect">
            <a:avLst/>
          </a:prstGeom>
        </p:spPr>
      </p:pic>
      <p:pic>
        <p:nvPicPr>
          <p:cNvPr id="6" name="Image 1" descr="/mnt/data/go_reproduce_assets/TCGA_GObubble_BP.png"/>
          <p:cNvPicPr>
            <a:picLocks noChangeAspect="1"/>
          </p:cNvPicPr>
          <p:nvPr/>
        </p:nvPicPr>
        <p:blipFill>
          <a:blip r:embed="rId4"/>
          <a:srcRect l="28364" r="28364"/>
          <a:stretch/>
        </p:blipFill>
        <p:spPr>
          <a:xfrm>
            <a:off x="6217920" y="1051560"/>
            <a:ext cx="5440680" cy="5029200"/>
          </a:xfrm>
          <a:prstGeom prst="rect">
            <a:avLst/>
          </a:prstGeom>
        </p:spPr>
      </p:pic>
      <p:sp>
        <p:nvSpPr>
          <p:cNvPr id="7" name="Shape 3"/>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8" name="Text 4"/>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9" name="Text 5"/>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Circular “bagua-style” views: GO circle and cnet</a:t>
            </a:r>
            <a:endParaRPr lang="en-US" sz="2500" dirty="0"/>
          </a:p>
        </p:txBody>
      </p:sp>
      <p:pic>
        <p:nvPicPr>
          <p:cNvPr id="5" name="Image 0" descr="/mnt/data/go_reproduce_assets/TCGA_GOCircle_BP.png"/>
          <p:cNvPicPr>
            <a:picLocks noChangeAspect="1"/>
          </p:cNvPicPr>
          <p:nvPr/>
        </p:nvPicPr>
        <p:blipFill>
          <a:blip r:embed="rId3"/>
          <a:srcRect t="4741" b="4741"/>
          <a:stretch/>
        </p:blipFill>
        <p:spPr>
          <a:xfrm>
            <a:off x="594360" y="1188720"/>
            <a:ext cx="5303520" cy="4800600"/>
          </a:xfrm>
          <a:prstGeom prst="rect">
            <a:avLst/>
          </a:prstGeom>
        </p:spPr>
      </p:pic>
      <p:pic>
        <p:nvPicPr>
          <p:cNvPr id="6" name="Image 1" descr="/mnt/data/go_reproduce_assets/TCGA_clusterProfiler_circle.png"/>
          <p:cNvPicPr>
            <a:picLocks noChangeAspect="1"/>
          </p:cNvPicPr>
          <p:nvPr/>
        </p:nvPicPr>
        <p:blipFill>
          <a:blip r:embed="rId4"/>
          <a:srcRect l="15476" r="15476"/>
          <a:stretch/>
        </p:blipFill>
        <p:spPr>
          <a:xfrm>
            <a:off x="6172200" y="1161288"/>
            <a:ext cx="5303520" cy="4800600"/>
          </a:xfrm>
          <a:prstGeom prst="rect">
            <a:avLst/>
          </a:prstGeom>
        </p:spPr>
      </p:pic>
      <p:sp>
        <p:nvSpPr>
          <p:cNvPr id="7" name="Text 3"/>
          <p:cNvSpPr/>
          <p:nvPr/>
        </p:nvSpPr>
        <p:spPr>
          <a:xfrm>
            <a:off x="822960" y="6144768"/>
            <a:ext cx="10332720" cy="164592"/>
          </a:xfrm>
          <a:prstGeom prst="rect">
            <a:avLst/>
          </a:prstGeom>
          <a:noFill/>
          <a:ln/>
        </p:spPr>
        <p:txBody>
          <a:bodyPr wrap="square" lIns="0" tIns="0" rIns="0" bIns="0" rtlCol="0" anchor="ctr"/>
          <a:lstStyle/>
          <a:p>
            <a:pPr marL="0" indent="0" algn="ctr">
              <a:buNone/>
            </a:pPr>
            <a:r>
              <a:rPr lang="en-US" sz="1150" i="1" dirty="0">
                <a:solidFill>
                  <a:srgbClr val="2E75B6"/>
                </a:solidFill>
              </a:rPr>
              <a:t>These circular plots are attractive for presentations, but use them sparingly in manuscripts because dense labels can reduce readability.</a:t>
            </a:r>
            <a:endParaRPr lang="en-US" sz="1150" dirty="0"/>
          </a:p>
        </p:txBody>
      </p:sp>
      <p:sp>
        <p:nvSpPr>
          <p:cNvPr id="8" name="Shape 4"/>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9" name="Text 5"/>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0" name="Text 6"/>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GOCluster: grouping genes by term membership and logFC</a:t>
            </a:r>
            <a:endParaRPr lang="en-US" sz="2500" dirty="0"/>
          </a:p>
        </p:txBody>
      </p:sp>
      <p:pic>
        <p:nvPicPr>
          <p:cNvPr id="5" name="Image 0" descr="/mnt/data/go_reproduce_assets/GOCluster.png"/>
          <p:cNvPicPr>
            <a:picLocks noChangeAspect="1"/>
          </p:cNvPicPr>
          <p:nvPr/>
        </p:nvPicPr>
        <p:blipFill>
          <a:blip r:embed="rId3"/>
          <a:srcRect t="10945" b="10945"/>
          <a:stretch/>
        </p:blipFill>
        <p:spPr>
          <a:xfrm>
            <a:off x="777240" y="1143000"/>
            <a:ext cx="5669280" cy="5166360"/>
          </a:xfrm>
          <a:prstGeom prst="rect">
            <a:avLst/>
          </a:prstGeom>
        </p:spPr>
      </p:pic>
      <p:sp>
        <p:nvSpPr>
          <p:cNvPr id="6" name="Text 3"/>
          <p:cNvSpPr/>
          <p:nvPr/>
        </p:nvSpPr>
        <p:spPr>
          <a:xfrm>
            <a:off x="6812280" y="1417320"/>
            <a:ext cx="4480560" cy="4389120"/>
          </a:xfrm>
          <a:prstGeom prst="rect">
            <a:avLst/>
          </a:prstGeom>
          <a:noFill/>
          <a:ln/>
        </p:spPr>
        <p:txBody>
          <a:bodyPr wrap="square" lIns="381" tIns="381" rIns="381" bIns="381" rtlCol="0" anchor="ctr">
            <a:normAutofit/>
          </a:bodyPr>
          <a:lstStyle/>
          <a:p>
            <a:pPr marL="228600" indent="-228600">
              <a:buSzPct val="100000"/>
              <a:buChar char="•"/>
            </a:pPr>
            <a:r>
              <a:rPr lang="en-US" sz="1500" dirty="0">
                <a:solidFill>
                  <a:srgbClr val="222222"/>
                </a:solidFill>
                <a:latin typeface="Aptos" pitchFamily="34" charset="0"/>
                <a:ea typeface="Aptos" pitchFamily="34" charset="-122"/>
                <a:cs typeface="Aptos" pitchFamily="34" charset="-120"/>
              </a:rPr>
              <a:t>GOCluster combines a dendrogram with circular gene/term annotations.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The inner tree clusters genes by the chosen variable, such as logFC.</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The outer rings show gene membership in selected GO terms.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Useful when you want to show whether genes contributing to immune terms share similar change patterns.</a:t>
            </a:r>
            <a:endParaRPr lang="en-US" sz="1500" dirty="0"/>
          </a:p>
          <a:p>
            <a:pPr marL="228600" indent="-228600">
              <a:buSzPct val="100000"/>
              <a:buChar char="•"/>
            </a:pPr>
            <a:r>
              <a:rPr lang="en-US" sz="1500" dirty="0">
                <a:solidFill>
                  <a:srgbClr val="222222"/>
                </a:solidFill>
                <a:latin typeface="Aptos" pitchFamily="34" charset="0"/>
                <a:ea typeface="Aptos" pitchFamily="34" charset="-122"/>
                <a:cs typeface="Aptos" pitchFamily="34" charset="-120"/>
              </a:rPr>
              <a:t>Most effective for a focused set of terms, not for all enriched GO terms.</a:t>
            </a:r>
            <a:endParaRPr lang="en-US" sz="1500" dirty="0"/>
          </a:p>
        </p:txBody>
      </p:sp>
      <p:sp>
        <p:nvSpPr>
          <p:cNvPr id="7" name="Shape 4"/>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8" name="Text 5"/>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9" name="Text 6"/>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Clean code organization</a:t>
            </a:r>
            <a:endParaRPr lang="en-US" sz="2500" dirty="0"/>
          </a:p>
        </p:txBody>
      </p:sp>
      <p:sp>
        <p:nvSpPr>
          <p:cNvPr id="5" name="Shape 3"/>
          <p:cNvSpPr/>
          <p:nvPr/>
        </p:nvSpPr>
        <p:spPr>
          <a:xfrm>
            <a:off x="594360" y="1097280"/>
            <a:ext cx="5577840" cy="5349240"/>
          </a:xfrm>
          <a:prstGeom prst="roundRect">
            <a:avLst>
              <a:gd name="adj" fmla="val 1709"/>
            </a:avLst>
          </a:prstGeom>
          <a:solidFill>
            <a:srgbClr val="FBFBFB"/>
          </a:solidFill>
          <a:ln w="12700">
            <a:solidFill>
              <a:srgbClr val="BFBFBF"/>
            </a:solidFill>
            <a:prstDash val="solid"/>
          </a:ln>
        </p:spPr>
        <p:txBody>
          <a:bodyPr/>
          <a:lstStyle/>
          <a:p>
            <a:endParaRPr lang="en-CN"/>
          </a:p>
        </p:txBody>
      </p:sp>
      <p:sp>
        <p:nvSpPr>
          <p:cNvPr id="6" name="Shape 4"/>
          <p:cNvSpPr/>
          <p:nvPr/>
        </p:nvSpPr>
        <p:spPr>
          <a:xfrm>
            <a:off x="594360" y="1097280"/>
            <a:ext cx="5577840" cy="310896"/>
          </a:xfrm>
          <a:prstGeom prst="rect">
            <a:avLst/>
          </a:prstGeom>
          <a:solidFill>
            <a:srgbClr val="17375E"/>
          </a:solidFill>
          <a:ln w="12700">
            <a:solidFill>
              <a:srgbClr val="17375E"/>
            </a:solidFill>
            <a:prstDash val="solid"/>
          </a:ln>
        </p:spPr>
        <p:txBody>
          <a:bodyPr/>
          <a:lstStyle/>
          <a:p>
            <a:endParaRPr lang="en-CN"/>
          </a:p>
        </p:txBody>
      </p:sp>
      <p:sp>
        <p:nvSpPr>
          <p:cNvPr id="7" name="Text 5"/>
          <p:cNvSpPr/>
          <p:nvPr/>
        </p:nvSpPr>
        <p:spPr>
          <a:xfrm>
            <a:off x="722376" y="1179576"/>
            <a:ext cx="5321808" cy="109728"/>
          </a:xfrm>
          <a:prstGeom prst="rect">
            <a:avLst/>
          </a:prstGeom>
          <a:noFill/>
          <a:ln/>
        </p:spPr>
        <p:txBody>
          <a:bodyPr wrap="square" lIns="0" tIns="0" rIns="0" bIns="0" rtlCol="0" anchor="ctr"/>
          <a:lstStyle/>
          <a:p>
            <a:pPr marL="0" indent="0">
              <a:buNone/>
            </a:pPr>
            <a:r>
              <a:rPr lang="en-US" sz="900" b="1" dirty="0">
                <a:solidFill>
                  <a:srgbClr val="FFFFFF"/>
                </a:solidFill>
              </a:rPr>
              <a:t>Main wrapper</a:t>
            </a:r>
            <a:endParaRPr lang="en-US" sz="900" dirty="0"/>
          </a:p>
        </p:txBody>
      </p:sp>
      <p:sp>
        <p:nvSpPr>
          <p:cNvPr id="8" name="Text 6"/>
          <p:cNvSpPr/>
          <p:nvPr/>
        </p:nvSpPr>
        <p:spPr>
          <a:xfrm>
            <a:off x="758952" y="1508760"/>
            <a:ext cx="5248656" cy="4873752"/>
          </a:xfrm>
          <a:prstGeom prst="rect">
            <a:avLst/>
          </a:prstGeom>
          <a:noFill/>
          <a:ln/>
        </p:spPr>
        <p:txBody>
          <a:bodyPr wrap="square" lIns="254" tIns="254" rIns="254" bIns="254" rtlCol="0" anchor="ctr">
            <a:normAutofit/>
          </a:bodyPr>
          <a:lstStyle/>
          <a:p>
            <a:pPr marL="0" indent="0">
              <a:buNone/>
            </a:pPr>
            <a:r>
              <a:rPr lang="en-US" sz="840" dirty="0">
                <a:solidFill>
                  <a:srgbClr val="222222"/>
                </a:solidFill>
                <a:latin typeface="Courier New" pitchFamily="34" charset="0"/>
                <a:ea typeface="Courier New" pitchFamily="34" charset="-122"/>
                <a:cs typeface="Courier New" pitchFamily="34" charset="-120"/>
              </a:rPr>
              <a:t>run_one_dataset &lt;- function(prefix, top50_file) {</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gene_fc   &lt;- read_gene_fc(top50_file)</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entrez_fc &lt;- map_symbol_to_entrez(gene_fc)</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enrich_res &lt;- run_go_enrichment(entrez_fc, prefix)</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ego2       &lt;- enrich_res$ego_simplified</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gene_list &lt;- make_gene_list(entrez_fc)</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plot_clusterprofiler(ego2, gene_list, prefix)</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ego2_df &lt;- as.data.frame(ego2)</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plot_custom_gg(ego2_df, prefix)</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goplot_data &lt;- make_goplot_data(ego2_df, entrez_fc)</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  plot_goplot_family(goplot_data, prefix)</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a:t>
            </a:r>
            <a:endParaRPr lang="en-US" sz="840" dirty="0"/>
          </a:p>
          <a:p>
            <a:pPr marL="0" indent="0">
              <a:buNone/>
            </a:pP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run_one_dataset("CGGA", "CGGA_top50.csv")</a:t>
            </a:r>
            <a:endParaRPr lang="en-US" sz="840" dirty="0"/>
          </a:p>
          <a:p>
            <a:pPr marL="0" indent="0">
              <a:buNone/>
            </a:pPr>
            <a:r>
              <a:rPr lang="en-US" sz="840" dirty="0">
                <a:solidFill>
                  <a:srgbClr val="222222"/>
                </a:solidFill>
                <a:latin typeface="Courier New" pitchFamily="34" charset="0"/>
                <a:ea typeface="Courier New" pitchFamily="34" charset="-122"/>
                <a:cs typeface="Courier New" pitchFamily="34" charset="-120"/>
              </a:rPr>
              <a:t>run_one_dataset("TCGA", "TCGA_top50.csv")</a:t>
            </a:r>
            <a:endParaRPr lang="en-US" sz="840" dirty="0"/>
          </a:p>
        </p:txBody>
      </p:sp>
      <p:sp>
        <p:nvSpPr>
          <p:cNvPr id="9" name="Shape 7"/>
          <p:cNvSpPr/>
          <p:nvPr/>
        </p:nvSpPr>
        <p:spPr>
          <a:xfrm>
            <a:off x="6537960" y="1234440"/>
            <a:ext cx="4800600" cy="1005840"/>
          </a:xfrm>
          <a:prstGeom prst="roundRect">
            <a:avLst>
              <a:gd name="adj" fmla="val 10909"/>
            </a:avLst>
          </a:prstGeom>
          <a:solidFill>
            <a:srgbClr val="F5F7FA"/>
          </a:solidFill>
          <a:ln w="12700">
            <a:solidFill>
              <a:srgbClr val="D0D0D0"/>
            </a:solidFill>
            <a:prstDash val="solid"/>
          </a:ln>
        </p:spPr>
        <p:txBody>
          <a:bodyPr/>
          <a:lstStyle/>
          <a:p>
            <a:endParaRPr lang="en-CN"/>
          </a:p>
        </p:txBody>
      </p:sp>
      <p:sp>
        <p:nvSpPr>
          <p:cNvPr id="10" name="Text 8"/>
          <p:cNvSpPr/>
          <p:nvPr/>
        </p:nvSpPr>
        <p:spPr>
          <a:xfrm>
            <a:off x="6702552" y="1380744"/>
            <a:ext cx="4471416" cy="228600"/>
          </a:xfrm>
          <a:prstGeom prst="rect">
            <a:avLst/>
          </a:prstGeom>
          <a:noFill/>
          <a:ln/>
        </p:spPr>
        <p:txBody>
          <a:bodyPr wrap="square" lIns="254" tIns="254" rIns="254" bIns="254" rtlCol="0" anchor="ctr"/>
          <a:lstStyle/>
          <a:p>
            <a:pPr marL="0" indent="0">
              <a:buNone/>
            </a:pPr>
            <a:r>
              <a:rPr lang="en-US" sz="1500" b="1" dirty="0">
                <a:solidFill>
                  <a:srgbClr val="17375E"/>
                </a:solidFill>
              </a:rPr>
              <a:t>Input once, run twice</a:t>
            </a:r>
            <a:endParaRPr lang="en-US" sz="1500" dirty="0"/>
          </a:p>
        </p:txBody>
      </p:sp>
      <p:sp>
        <p:nvSpPr>
          <p:cNvPr id="11" name="Text 9"/>
          <p:cNvSpPr/>
          <p:nvPr/>
        </p:nvSpPr>
        <p:spPr>
          <a:xfrm>
            <a:off x="6702552" y="1709928"/>
            <a:ext cx="4471416" cy="4114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same function processes both CGGA and TCGA, which reduces copy-paste errors.</a:t>
            </a:r>
            <a:endParaRPr lang="en-US" sz="1200" dirty="0"/>
          </a:p>
        </p:txBody>
      </p:sp>
      <p:sp>
        <p:nvSpPr>
          <p:cNvPr id="12" name="Shape 10"/>
          <p:cNvSpPr/>
          <p:nvPr/>
        </p:nvSpPr>
        <p:spPr>
          <a:xfrm>
            <a:off x="6537960" y="2514600"/>
            <a:ext cx="4800600" cy="1005840"/>
          </a:xfrm>
          <a:prstGeom prst="roundRect">
            <a:avLst>
              <a:gd name="adj" fmla="val 10909"/>
            </a:avLst>
          </a:prstGeom>
          <a:solidFill>
            <a:srgbClr val="F5F7FA"/>
          </a:solidFill>
          <a:ln w="12700">
            <a:solidFill>
              <a:srgbClr val="D0D0D0"/>
            </a:solidFill>
            <a:prstDash val="solid"/>
          </a:ln>
        </p:spPr>
        <p:txBody>
          <a:bodyPr/>
          <a:lstStyle/>
          <a:p>
            <a:endParaRPr lang="en-CN"/>
          </a:p>
        </p:txBody>
      </p:sp>
      <p:sp>
        <p:nvSpPr>
          <p:cNvPr id="13" name="Text 11"/>
          <p:cNvSpPr/>
          <p:nvPr/>
        </p:nvSpPr>
        <p:spPr>
          <a:xfrm>
            <a:off x="6702552" y="2660904"/>
            <a:ext cx="4471416" cy="228600"/>
          </a:xfrm>
          <a:prstGeom prst="rect">
            <a:avLst/>
          </a:prstGeom>
          <a:noFill/>
          <a:ln/>
        </p:spPr>
        <p:txBody>
          <a:bodyPr wrap="square" lIns="254" tIns="254" rIns="254" bIns="254" rtlCol="0" anchor="ctr"/>
          <a:lstStyle/>
          <a:p>
            <a:pPr marL="0" indent="0">
              <a:buNone/>
            </a:pPr>
            <a:r>
              <a:rPr lang="en-US" sz="1500" b="1" dirty="0">
                <a:solidFill>
                  <a:srgbClr val="17375E"/>
                </a:solidFill>
              </a:rPr>
              <a:t>Output consistency</a:t>
            </a:r>
            <a:endParaRPr lang="en-US" sz="1500" dirty="0"/>
          </a:p>
        </p:txBody>
      </p:sp>
      <p:sp>
        <p:nvSpPr>
          <p:cNvPr id="14" name="Text 12"/>
          <p:cNvSpPr/>
          <p:nvPr/>
        </p:nvSpPr>
        <p:spPr>
          <a:xfrm>
            <a:off x="6702552" y="2990088"/>
            <a:ext cx="4471416" cy="4114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Every output file is named with the dataset prefix, making downstream checking easier.</a:t>
            </a:r>
            <a:endParaRPr lang="en-US" sz="1200" dirty="0"/>
          </a:p>
        </p:txBody>
      </p:sp>
      <p:sp>
        <p:nvSpPr>
          <p:cNvPr id="15" name="Shape 13"/>
          <p:cNvSpPr/>
          <p:nvPr/>
        </p:nvSpPr>
        <p:spPr>
          <a:xfrm>
            <a:off x="6537960" y="3794760"/>
            <a:ext cx="4800600" cy="1005840"/>
          </a:xfrm>
          <a:prstGeom prst="roundRect">
            <a:avLst>
              <a:gd name="adj" fmla="val 10909"/>
            </a:avLst>
          </a:prstGeom>
          <a:solidFill>
            <a:srgbClr val="F5F7FA"/>
          </a:solidFill>
          <a:ln w="12700">
            <a:solidFill>
              <a:srgbClr val="D0D0D0"/>
            </a:solidFill>
            <a:prstDash val="solid"/>
          </a:ln>
        </p:spPr>
        <p:txBody>
          <a:bodyPr/>
          <a:lstStyle/>
          <a:p>
            <a:endParaRPr lang="en-CN"/>
          </a:p>
        </p:txBody>
      </p:sp>
      <p:sp>
        <p:nvSpPr>
          <p:cNvPr id="16" name="Text 14"/>
          <p:cNvSpPr/>
          <p:nvPr/>
        </p:nvSpPr>
        <p:spPr>
          <a:xfrm>
            <a:off x="6702552" y="3941064"/>
            <a:ext cx="4471416" cy="228600"/>
          </a:xfrm>
          <a:prstGeom prst="rect">
            <a:avLst/>
          </a:prstGeom>
          <a:noFill/>
          <a:ln/>
        </p:spPr>
        <p:txBody>
          <a:bodyPr wrap="square" lIns="254" tIns="254" rIns="254" bIns="254" rtlCol="0" anchor="ctr"/>
          <a:lstStyle/>
          <a:p>
            <a:pPr marL="0" indent="0">
              <a:buNone/>
            </a:pPr>
            <a:r>
              <a:rPr lang="en-US" sz="1500" b="1" dirty="0">
                <a:solidFill>
                  <a:srgbClr val="17375E"/>
                </a:solidFill>
              </a:rPr>
              <a:t>Reproducibility</a:t>
            </a:r>
            <a:endParaRPr lang="en-US" sz="1500" dirty="0"/>
          </a:p>
        </p:txBody>
      </p:sp>
      <p:sp>
        <p:nvSpPr>
          <p:cNvPr id="17" name="Text 15"/>
          <p:cNvSpPr/>
          <p:nvPr/>
        </p:nvSpPr>
        <p:spPr>
          <a:xfrm>
            <a:off x="6702552" y="4270248"/>
            <a:ext cx="4471416" cy="4114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script writes sessionInfo.txt so package versions are recorded.</a:t>
            </a:r>
            <a:endParaRPr lang="en-US" sz="1200" dirty="0"/>
          </a:p>
        </p:txBody>
      </p:sp>
      <p:sp>
        <p:nvSpPr>
          <p:cNvPr id="18" name="Shape 16"/>
          <p:cNvSpPr/>
          <p:nvPr/>
        </p:nvSpPr>
        <p:spPr>
          <a:xfrm>
            <a:off x="6537960" y="5074920"/>
            <a:ext cx="4800600" cy="1005840"/>
          </a:xfrm>
          <a:prstGeom prst="roundRect">
            <a:avLst>
              <a:gd name="adj" fmla="val 10909"/>
            </a:avLst>
          </a:prstGeom>
          <a:solidFill>
            <a:srgbClr val="F5F7FA"/>
          </a:solidFill>
          <a:ln w="12700">
            <a:solidFill>
              <a:srgbClr val="D0D0D0"/>
            </a:solidFill>
            <a:prstDash val="solid"/>
          </a:ln>
        </p:spPr>
        <p:txBody>
          <a:bodyPr/>
          <a:lstStyle/>
          <a:p>
            <a:endParaRPr lang="en-CN"/>
          </a:p>
        </p:txBody>
      </p:sp>
      <p:sp>
        <p:nvSpPr>
          <p:cNvPr id="19" name="Text 17"/>
          <p:cNvSpPr/>
          <p:nvPr/>
        </p:nvSpPr>
        <p:spPr>
          <a:xfrm>
            <a:off x="6702552" y="5221224"/>
            <a:ext cx="4471416" cy="228600"/>
          </a:xfrm>
          <a:prstGeom prst="rect">
            <a:avLst/>
          </a:prstGeom>
          <a:noFill/>
          <a:ln/>
        </p:spPr>
        <p:txBody>
          <a:bodyPr wrap="square" lIns="254" tIns="254" rIns="254" bIns="254" rtlCol="0" anchor="ctr"/>
          <a:lstStyle/>
          <a:p>
            <a:pPr marL="0" indent="0">
              <a:buNone/>
            </a:pPr>
            <a:r>
              <a:rPr lang="en-US" sz="1500" b="1" dirty="0">
                <a:solidFill>
                  <a:srgbClr val="17375E"/>
                </a:solidFill>
              </a:rPr>
              <a:t>Teaching use</a:t>
            </a:r>
            <a:endParaRPr lang="en-US" sz="1500" dirty="0"/>
          </a:p>
        </p:txBody>
      </p:sp>
      <p:sp>
        <p:nvSpPr>
          <p:cNvPr id="20" name="Text 18"/>
          <p:cNvSpPr/>
          <p:nvPr/>
        </p:nvSpPr>
        <p:spPr>
          <a:xfrm>
            <a:off x="6702552" y="5550408"/>
            <a:ext cx="4471416" cy="41148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Students can modify the input gene list while keeping the plotting workflow unchanged.</a:t>
            </a:r>
            <a:endParaRPr lang="en-US" sz="1200" dirty="0"/>
          </a:p>
        </p:txBody>
      </p:sp>
      <p:sp>
        <p:nvSpPr>
          <p:cNvPr id="21" name="Shape 19"/>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22" name="Text 20"/>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23" name="Text 21"/>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Biological interpretation of the reproduced result</a:t>
            </a:r>
            <a:endParaRPr lang="en-US" sz="2500" dirty="0"/>
          </a:p>
        </p:txBody>
      </p:sp>
      <p:sp>
        <p:nvSpPr>
          <p:cNvPr id="5" name="Shape 3"/>
          <p:cNvSpPr/>
          <p:nvPr/>
        </p:nvSpPr>
        <p:spPr>
          <a:xfrm>
            <a:off x="685800" y="1143000"/>
            <a:ext cx="3520440" cy="1874520"/>
          </a:xfrm>
          <a:prstGeom prst="roundRect">
            <a:avLst>
              <a:gd name="adj" fmla="val 5854"/>
            </a:avLst>
          </a:prstGeom>
          <a:solidFill>
            <a:srgbClr val="FFF7E8"/>
          </a:solidFill>
          <a:ln w="12700">
            <a:solidFill>
              <a:srgbClr val="F4B183"/>
            </a:solidFill>
            <a:prstDash val="solid"/>
          </a:ln>
        </p:spPr>
        <p:txBody>
          <a:bodyPr/>
          <a:lstStyle/>
          <a:p>
            <a:endParaRPr lang="en-CN"/>
          </a:p>
        </p:txBody>
      </p:sp>
      <p:sp>
        <p:nvSpPr>
          <p:cNvPr id="6" name="Text 4"/>
          <p:cNvSpPr/>
          <p:nvPr/>
        </p:nvSpPr>
        <p:spPr>
          <a:xfrm>
            <a:off x="850392" y="1289304"/>
            <a:ext cx="3191256" cy="228600"/>
          </a:xfrm>
          <a:prstGeom prst="rect">
            <a:avLst/>
          </a:prstGeom>
          <a:noFill/>
          <a:ln/>
        </p:spPr>
        <p:txBody>
          <a:bodyPr wrap="square" lIns="254" tIns="254" rIns="254" bIns="254" rtlCol="0" anchor="ctr"/>
          <a:lstStyle/>
          <a:p>
            <a:pPr marL="0" indent="0">
              <a:buNone/>
            </a:pPr>
            <a:r>
              <a:rPr lang="en-US" sz="1500" b="1" dirty="0">
                <a:solidFill>
                  <a:srgbClr val="C55A11"/>
                </a:solidFill>
              </a:rPr>
              <a:t>CGGA interpretation</a:t>
            </a:r>
            <a:endParaRPr lang="en-US" sz="1500" dirty="0"/>
          </a:p>
        </p:txBody>
      </p:sp>
      <p:sp>
        <p:nvSpPr>
          <p:cNvPr id="7" name="Text 5"/>
          <p:cNvSpPr/>
          <p:nvPr/>
        </p:nvSpPr>
        <p:spPr>
          <a:xfrm>
            <a:off x="850392" y="1618488"/>
            <a:ext cx="3191256" cy="12801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CD96-associated genes are enriched for T cell activation, regulation of T cell activation, leukocyte adhesion, lymphocyte activation, and T cell migration.</a:t>
            </a:r>
            <a:endParaRPr lang="en-US" sz="1200" dirty="0"/>
          </a:p>
        </p:txBody>
      </p:sp>
      <p:sp>
        <p:nvSpPr>
          <p:cNvPr id="8" name="Shape 6"/>
          <p:cNvSpPr/>
          <p:nvPr/>
        </p:nvSpPr>
        <p:spPr>
          <a:xfrm>
            <a:off x="4480560" y="1143000"/>
            <a:ext cx="3520440" cy="1874520"/>
          </a:xfrm>
          <a:prstGeom prst="roundRect">
            <a:avLst>
              <a:gd name="adj" fmla="val 5854"/>
            </a:avLst>
          </a:prstGeom>
          <a:solidFill>
            <a:srgbClr val="EAF5E9"/>
          </a:solidFill>
          <a:ln w="12700">
            <a:solidFill>
              <a:srgbClr val="4DAF4A"/>
            </a:solidFill>
            <a:prstDash val="solid"/>
          </a:ln>
        </p:spPr>
        <p:txBody>
          <a:bodyPr/>
          <a:lstStyle/>
          <a:p>
            <a:endParaRPr lang="en-CN"/>
          </a:p>
        </p:txBody>
      </p:sp>
      <p:sp>
        <p:nvSpPr>
          <p:cNvPr id="9" name="Text 7"/>
          <p:cNvSpPr/>
          <p:nvPr/>
        </p:nvSpPr>
        <p:spPr>
          <a:xfrm>
            <a:off x="4645152" y="1289304"/>
            <a:ext cx="3191256" cy="228600"/>
          </a:xfrm>
          <a:prstGeom prst="rect">
            <a:avLst/>
          </a:prstGeom>
          <a:noFill/>
          <a:ln/>
        </p:spPr>
        <p:txBody>
          <a:bodyPr wrap="square" lIns="254" tIns="254" rIns="254" bIns="254" rtlCol="0" anchor="ctr"/>
          <a:lstStyle/>
          <a:p>
            <a:pPr marL="0" indent="0">
              <a:buNone/>
            </a:pPr>
            <a:r>
              <a:rPr lang="en-US" sz="1500" b="1" dirty="0">
                <a:solidFill>
                  <a:srgbClr val="2E7D32"/>
                </a:solidFill>
              </a:rPr>
              <a:t>TCGA interpretation</a:t>
            </a:r>
            <a:endParaRPr lang="en-US" sz="1500" dirty="0"/>
          </a:p>
        </p:txBody>
      </p:sp>
      <p:sp>
        <p:nvSpPr>
          <p:cNvPr id="10" name="Text 8"/>
          <p:cNvSpPr/>
          <p:nvPr/>
        </p:nvSpPr>
        <p:spPr>
          <a:xfrm>
            <a:off x="4645152" y="1618488"/>
            <a:ext cx="3191256" cy="12801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CD96-associated genes are enriched for lymphocyte and mononuclear cell proliferation, immune effector regulation, neutrophil activation, and leukocyte adhesion.</a:t>
            </a:r>
            <a:endParaRPr lang="en-US" sz="1200" dirty="0"/>
          </a:p>
        </p:txBody>
      </p:sp>
      <p:sp>
        <p:nvSpPr>
          <p:cNvPr id="11" name="Shape 9"/>
          <p:cNvSpPr/>
          <p:nvPr/>
        </p:nvSpPr>
        <p:spPr>
          <a:xfrm>
            <a:off x="8275320" y="1143000"/>
            <a:ext cx="3246120" cy="1874520"/>
          </a:xfrm>
          <a:prstGeom prst="roundRect">
            <a:avLst>
              <a:gd name="adj" fmla="val 5854"/>
            </a:avLst>
          </a:prstGeom>
          <a:solidFill>
            <a:srgbClr val="EAF2F8"/>
          </a:solidFill>
          <a:ln w="12700">
            <a:solidFill>
              <a:srgbClr val="7EA6D8"/>
            </a:solidFill>
            <a:prstDash val="solid"/>
          </a:ln>
        </p:spPr>
        <p:txBody>
          <a:bodyPr/>
          <a:lstStyle/>
          <a:p>
            <a:endParaRPr lang="en-CN"/>
          </a:p>
        </p:txBody>
      </p:sp>
      <p:sp>
        <p:nvSpPr>
          <p:cNvPr id="12" name="Text 10"/>
          <p:cNvSpPr/>
          <p:nvPr/>
        </p:nvSpPr>
        <p:spPr>
          <a:xfrm>
            <a:off x="8439912" y="1289304"/>
            <a:ext cx="2916936" cy="228600"/>
          </a:xfrm>
          <a:prstGeom prst="rect">
            <a:avLst/>
          </a:prstGeom>
          <a:noFill/>
          <a:ln/>
        </p:spPr>
        <p:txBody>
          <a:bodyPr wrap="square" lIns="254" tIns="254" rIns="254" bIns="254" rtlCol="0" anchor="ctr"/>
          <a:lstStyle/>
          <a:p>
            <a:pPr marL="0" indent="0">
              <a:buNone/>
            </a:pPr>
            <a:r>
              <a:rPr lang="en-US" sz="1500" b="1" dirty="0">
                <a:solidFill>
                  <a:srgbClr val="2E75B6"/>
                </a:solidFill>
              </a:rPr>
              <a:t>Consistent message</a:t>
            </a:r>
            <a:endParaRPr lang="en-US" sz="1500" dirty="0"/>
          </a:p>
        </p:txBody>
      </p:sp>
      <p:sp>
        <p:nvSpPr>
          <p:cNvPr id="13" name="Text 11"/>
          <p:cNvSpPr/>
          <p:nvPr/>
        </p:nvSpPr>
        <p:spPr>
          <a:xfrm>
            <a:off x="8439912" y="1618488"/>
            <a:ext cx="2916936" cy="12801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Across both cohorts, CD96 is connected to immune activation and immune-cell communication in glioma.</a:t>
            </a:r>
            <a:endParaRPr lang="en-US" sz="1200" dirty="0"/>
          </a:p>
        </p:txBody>
      </p:sp>
      <p:sp>
        <p:nvSpPr>
          <p:cNvPr id="14" name="Text 12"/>
          <p:cNvSpPr/>
          <p:nvPr/>
        </p:nvSpPr>
        <p:spPr>
          <a:xfrm>
            <a:off x="1097280" y="3657600"/>
            <a:ext cx="10058400" cy="1691640"/>
          </a:xfrm>
          <a:prstGeom prst="rect">
            <a:avLst/>
          </a:prstGeom>
          <a:noFill/>
          <a:ln/>
        </p:spPr>
        <p:txBody>
          <a:bodyPr wrap="square" lIns="381" tIns="381" rIns="381" bIns="381" rtlCol="0" anchor="ctr">
            <a:normAutofit/>
          </a:bodyPr>
          <a:lstStyle/>
          <a:p>
            <a:pPr marL="228600" indent="-228600">
              <a:buSzPct val="100000"/>
              <a:buChar char="•"/>
            </a:pPr>
            <a:r>
              <a:rPr lang="en-US" sz="1600" dirty="0">
                <a:solidFill>
                  <a:srgbClr val="222222"/>
                </a:solidFill>
                <a:latin typeface="Aptos" pitchFamily="34" charset="0"/>
                <a:ea typeface="Aptos" pitchFamily="34" charset="-122"/>
                <a:cs typeface="Aptos" pitchFamily="34" charset="-120"/>
              </a:rPr>
              <a:t>Use chord/cnet plots when the gene-term relationship is important.</a:t>
            </a:r>
            <a:endParaRPr lang="en-US" sz="1600" dirty="0"/>
          </a:p>
          <a:p>
            <a:pPr marL="228600" indent="-228600">
              <a:buSzPct val="100000"/>
              <a:buChar char="•"/>
            </a:pPr>
            <a:r>
              <a:rPr lang="en-US" sz="1600" dirty="0">
                <a:solidFill>
                  <a:srgbClr val="222222"/>
                </a:solidFill>
                <a:latin typeface="Aptos" pitchFamily="34" charset="0"/>
                <a:ea typeface="Aptos" pitchFamily="34" charset="-122"/>
                <a:cs typeface="Aptos" pitchFamily="34" charset="-120"/>
              </a:rPr>
              <a:t>Use bubble/bar/lollipop plots when the ranked enrichment summary is more important.</a:t>
            </a:r>
            <a:endParaRPr lang="en-US" sz="1600" dirty="0"/>
          </a:p>
          <a:p>
            <a:pPr marL="228600" indent="-228600">
              <a:buSzPct val="100000"/>
              <a:buChar char="•"/>
            </a:pPr>
            <a:r>
              <a:rPr lang="en-US" sz="1600" dirty="0">
                <a:solidFill>
                  <a:srgbClr val="222222"/>
                </a:solidFill>
                <a:latin typeface="Aptos" pitchFamily="34" charset="0"/>
                <a:ea typeface="Aptos" pitchFamily="34" charset="-122"/>
                <a:cs typeface="Aptos" pitchFamily="34" charset="-120"/>
              </a:rPr>
              <a:t>Use GOCluster when the question concerns gene grouping and shared term membership.</a:t>
            </a:r>
            <a:endParaRPr lang="en-US" sz="1600" dirty="0"/>
          </a:p>
          <a:p>
            <a:pPr marL="228600" indent="-228600">
              <a:buSzPct val="100000"/>
              <a:buChar char="•"/>
            </a:pPr>
            <a:r>
              <a:rPr lang="en-US" sz="1600" dirty="0">
                <a:solidFill>
                  <a:srgbClr val="222222"/>
                </a:solidFill>
                <a:latin typeface="Aptos" pitchFamily="34" charset="0"/>
                <a:ea typeface="Aptos" pitchFamily="34" charset="-122"/>
                <a:cs typeface="Aptos" pitchFamily="34" charset="-120"/>
              </a:rPr>
              <a:t>Avoid overinterpreting GO enrichment as causal evidence; it is a functional annotation summary.</a:t>
            </a:r>
            <a:endParaRPr lang="en-US" sz="1600" dirty="0"/>
          </a:p>
        </p:txBody>
      </p:sp>
      <p:sp>
        <p:nvSpPr>
          <p:cNvPr id="15" name="Shape 13"/>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6" name="Text 14"/>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7" name="Text 15"/>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84048"/>
          </a:xfrm>
          <a:prstGeom prst="rect">
            <a:avLst/>
          </a:prstGeom>
          <a:solidFill>
            <a:srgbClr val="17375E"/>
          </a:solidFill>
          <a:ln w="12700">
            <a:solidFill>
              <a:srgbClr val="17375E"/>
            </a:solidFill>
            <a:prstDash val="solid"/>
          </a:ln>
        </p:spPr>
        <p:txBody>
          <a:bodyPr/>
          <a:lstStyle/>
          <a:p>
            <a:endParaRPr lang="en-CN"/>
          </a:p>
        </p:txBody>
      </p:sp>
      <p:sp>
        <p:nvSpPr>
          <p:cNvPr id="3" name="Text 1"/>
          <p:cNvSpPr/>
          <p:nvPr/>
        </p:nvSpPr>
        <p:spPr>
          <a:xfrm>
            <a:off x="320040" y="100584"/>
            <a:ext cx="11521440" cy="182880"/>
          </a:xfrm>
          <a:prstGeom prst="rect">
            <a:avLst/>
          </a:prstGeom>
          <a:noFill/>
          <a:ln/>
        </p:spPr>
        <p:txBody>
          <a:bodyPr wrap="square" lIns="0" tIns="0" rIns="0" bIns="0" rtlCol="0" anchor="ctr"/>
          <a:lstStyle/>
          <a:p>
            <a:pPr marL="0" indent="0">
              <a:buNone/>
            </a:pPr>
            <a:r>
              <a:rPr lang="en-US" sz="900" dirty="0">
                <a:solidFill>
                  <a:srgbClr val="FFFFFF"/>
                </a:solidFill>
                <a:latin typeface="Aptos" pitchFamily="34" charset="0"/>
                <a:ea typeface="Aptos" pitchFamily="34" charset="-122"/>
                <a:cs typeface="Aptos" pitchFamily="34" charset="-120"/>
              </a:rPr>
              <a:t>GO enrichment visualization | CD96 glioma Figure 3 reproduction</a:t>
            </a:r>
            <a:endParaRPr lang="en-US" sz="900" dirty="0"/>
          </a:p>
        </p:txBody>
      </p:sp>
      <p:sp>
        <p:nvSpPr>
          <p:cNvPr id="4" name="Text 2"/>
          <p:cNvSpPr/>
          <p:nvPr/>
        </p:nvSpPr>
        <p:spPr>
          <a:xfrm>
            <a:off x="502920" y="566928"/>
            <a:ext cx="11155680" cy="411480"/>
          </a:xfrm>
          <a:prstGeom prst="rect">
            <a:avLst/>
          </a:prstGeom>
          <a:noFill/>
          <a:ln/>
        </p:spPr>
        <p:txBody>
          <a:bodyPr wrap="square" lIns="254" tIns="254" rIns="254" bIns="254" rtlCol="0" anchor="ctr"/>
          <a:lstStyle/>
          <a:p>
            <a:pPr marL="0" indent="0">
              <a:buNone/>
            </a:pPr>
            <a:r>
              <a:rPr lang="en-US" sz="2500" b="1" dirty="0">
                <a:solidFill>
                  <a:srgbClr val="17375E"/>
                </a:solidFill>
                <a:latin typeface="Aptos Display" pitchFamily="34" charset="0"/>
                <a:ea typeface="Aptos Display" pitchFamily="34" charset="-122"/>
                <a:cs typeface="Aptos Display" pitchFamily="34" charset="-120"/>
              </a:rPr>
              <a:t>Take-home message</a:t>
            </a:r>
            <a:endParaRPr lang="en-US" sz="2500" dirty="0"/>
          </a:p>
        </p:txBody>
      </p:sp>
      <p:sp>
        <p:nvSpPr>
          <p:cNvPr id="5" name="Shape 3"/>
          <p:cNvSpPr/>
          <p:nvPr/>
        </p:nvSpPr>
        <p:spPr>
          <a:xfrm>
            <a:off x="777240" y="1234440"/>
            <a:ext cx="3474720" cy="3474720"/>
          </a:xfrm>
          <a:prstGeom prst="roundRect">
            <a:avLst>
              <a:gd name="adj" fmla="val 3158"/>
            </a:avLst>
          </a:prstGeom>
          <a:solidFill>
            <a:srgbClr val="F4F8FC"/>
          </a:solidFill>
          <a:ln w="12700">
            <a:solidFill>
              <a:srgbClr val="7EA6D8"/>
            </a:solidFill>
            <a:prstDash val="solid"/>
          </a:ln>
        </p:spPr>
        <p:txBody>
          <a:bodyPr/>
          <a:lstStyle/>
          <a:p>
            <a:endParaRPr lang="en-CN"/>
          </a:p>
        </p:txBody>
      </p:sp>
      <p:sp>
        <p:nvSpPr>
          <p:cNvPr id="6" name="Text 4"/>
          <p:cNvSpPr/>
          <p:nvPr/>
        </p:nvSpPr>
        <p:spPr>
          <a:xfrm>
            <a:off x="941832" y="1380744"/>
            <a:ext cx="3145536" cy="228600"/>
          </a:xfrm>
          <a:prstGeom prst="rect">
            <a:avLst/>
          </a:prstGeom>
          <a:noFill/>
          <a:ln/>
        </p:spPr>
        <p:txBody>
          <a:bodyPr wrap="square" lIns="254" tIns="254" rIns="254" bIns="254" rtlCol="0" anchor="ctr"/>
          <a:lstStyle/>
          <a:p>
            <a:pPr marL="0" indent="0">
              <a:buNone/>
            </a:pPr>
            <a:r>
              <a:rPr lang="en-US" sz="1500" b="1" dirty="0">
                <a:solidFill>
                  <a:srgbClr val="2E75B6"/>
                </a:solidFill>
              </a:rPr>
              <a:t>1. Reproducibility</a:t>
            </a:r>
            <a:endParaRPr lang="en-US" sz="1500" dirty="0"/>
          </a:p>
        </p:txBody>
      </p:sp>
      <p:sp>
        <p:nvSpPr>
          <p:cNvPr id="7" name="Text 5"/>
          <p:cNvSpPr/>
          <p:nvPr/>
        </p:nvSpPr>
        <p:spPr>
          <a:xfrm>
            <a:off x="941832" y="1709928"/>
            <a:ext cx="3145536" cy="28803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Use functions, relative paths, explicit package checks, and saved session information. This makes the workflow easier to rerun and teach.</a:t>
            </a:r>
            <a:endParaRPr lang="en-US" sz="1200" dirty="0"/>
          </a:p>
        </p:txBody>
      </p:sp>
      <p:sp>
        <p:nvSpPr>
          <p:cNvPr id="8" name="Shape 6"/>
          <p:cNvSpPr/>
          <p:nvPr/>
        </p:nvSpPr>
        <p:spPr>
          <a:xfrm>
            <a:off x="4389120" y="1234440"/>
            <a:ext cx="3474720" cy="3474720"/>
          </a:xfrm>
          <a:prstGeom prst="roundRect">
            <a:avLst>
              <a:gd name="adj" fmla="val 3158"/>
            </a:avLst>
          </a:prstGeom>
          <a:solidFill>
            <a:srgbClr val="FFF7E8"/>
          </a:solidFill>
          <a:ln w="12700">
            <a:solidFill>
              <a:srgbClr val="F4B183"/>
            </a:solidFill>
            <a:prstDash val="solid"/>
          </a:ln>
        </p:spPr>
        <p:txBody>
          <a:bodyPr/>
          <a:lstStyle/>
          <a:p>
            <a:endParaRPr lang="en-CN"/>
          </a:p>
        </p:txBody>
      </p:sp>
      <p:sp>
        <p:nvSpPr>
          <p:cNvPr id="9" name="Text 7"/>
          <p:cNvSpPr/>
          <p:nvPr/>
        </p:nvSpPr>
        <p:spPr>
          <a:xfrm>
            <a:off x="4553712" y="1380744"/>
            <a:ext cx="3145536" cy="228600"/>
          </a:xfrm>
          <a:prstGeom prst="rect">
            <a:avLst/>
          </a:prstGeom>
          <a:noFill/>
          <a:ln/>
        </p:spPr>
        <p:txBody>
          <a:bodyPr wrap="square" lIns="254" tIns="254" rIns="254" bIns="254" rtlCol="0" anchor="ctr"/>
          <a:lstStyle/>
          <a:p>
            <a:pPr marL="0" indent="0">
              <a:buNone/>
            </a:pPr>
            <a:r>
              <a:rPr lang="en-US" sz="1500" b="1" dirty="0">
                <a:solidFill>
                  <a:srgbClr val="C55A11"/>
                </a:solidFill>
              </a:rPr>
              <a:t>2. Figure 3 reproduction</a:t>
            </a:r>
            <a:endParaRPr lang="en-US" sz="1500" dirty="0"/>
          </a:p>
        </p:txBody>
      </p:sp>
      <p:sp>
        <p:nvSpPr>
          <p:cNvPr id="10" name="Text 8"/>
          <p:cNvSpPr/>
          <p:nvPr/>
        </p:nvSpPr>
        <p:spPr>
          <a:xfrm>
            <a:off x="4553712" y="1709928"/>
            <a:ext cx="3145536" cy="28803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The core method is top CD96-correlated genes → ENTREZ mapping → GO BP enrichment → simplified terms → GOChord visualization.</a:t>
            </a:r>
            <a:endParaRPr lang="en-US" sz="1200" dirty="0"/>
          </a:p>
        </p:txBody>
      </p:sp>
      <p:sp>
        <p:nvSpPr>
          <p:cNvPr id="11" name="Shape 9"/>
          <p:cNvSpPr/>
          <p:nvPr/>
        </p:nvSpPr>
        <p:spPr>
          <a:xfrm>
            <a:off x="8001000" y="1234440"/>
            <a:ext cx="3474720" cy="3474720"/>
          </a:xfrm>
          <a:prstGeom prst="roundRect">
            <a:avLst>
              <a:gd name="adj" fmla="val 3158"/>
            </a:avLst>
          </a:prstGeom>
          <a:solidFill>
            <a:srgbClr val="EAF5E9"/>
          </a:solidFill>
          <a:ln w="12700">
            <a:solidFill>
              <a:srgbClr val="4DAF4A"/>
            </a:solidFill>
            <a:prstDash val="solid"/>
          </a:ln>
        </p:spPr>
        <p:txBody>
          <a:bodyPr/>
          <a:lstStyle/>
          <a:p>
            <a:endParaRPr lang="en-CN"/>
          </a:p>
        </p:txBody>
      </p:sp>
      <p:sp>
        <p:nvSpPr>
          <p:cNvPr id="12" name="Text 10"/>
          <p:cNvSpPr/>
          <p:nvPr/>
        </p:nvSpPr>
        <p:spPr>
          <a:xfrm>
            <a:off x="8165592" y="1380744"/>
            <a:ext cx="3145536" cy="228600"/>
          </a:xfrm>
          <a:prstGeom prst="rect">
            <a:avLst/>
          </a:prstGeom>
          <a:noFill/>
          <a:ln/>
        </p:spPr>
        <p:txBody>
          <a:bodyPr wrap="square" lIns="254" tIns="254" rIns="254" bIns="254" rtlCol="0" anchor="ctr"/>
          <a:lstStyle/>
          <a:p>
            <a:pPr marL="0" indent="0">
              <a:buNone/>
            </a:pPr>
            <a:r>
              <a:rPr lang="en-US" sz="1500" b="1" dirty="0">
                <a:solidFill>
                  <a:srgbClr val="2E7D32"/>
                </a:solidFill>
              </a:rPr>
              <a:t>3. Better storytelling</a:t>
            </a:r>
            <a:endParaRPr lang="en-US" sz="1500" dirty="0"/>
          </a:p>
        </p:txBody>
      </p:sp>
      <p:sp>
        <p:nvSpPr>
          <p:cNvPr id="13" name="Text 11"/>
          <p:cNvSpPr/>
          <p:nvPr/>
        </p:nvSpPr>
        <p:spPr>
          <a:xfrm>
            <a:off x="8165592" y="1709928"/>
            <a:ext cx="3145536" cy="2880360"/>
          </a:xfrm>
          <a:prstGeom prst="rect">
            <a:avLst/>
          </a:prstGeom>
          <a:noFill/>
          <a:ln/>
        </p:spPr>
        <p:txBody>
          <a:bodyPr wrap="square" lIns="254" tIns="254" rIns="254" bIns="254" rtlCol="0" anchor="ctr">
            <a:normAutofit/>
          </a:bodyPr>
          <a:lstStyle/>
          <a:p>
            <a:pPr marL="0" indent="0">
              <a:buNone/>
            </a:pPr>
            <a:r>
              <a:rPr lang="en-US" sz="1200" dirty="0">
                <a:solidFill>
                  <a:srgbClr val="222222"/>
                </a:solidFill>
              </a:rPr>
              <a:t>Use multiple plot types for different purposes: chord for gene-term links, bubble for overview, bar/lollipop for ranking, and GOCluster for patterns.</a:t>
            </a:r>
            <a:endParaRPr lang="en-US" sz="1200" dirty="0"/>
          </a:p>
        </p:txBody>
      </p:sp>
      <p:sp>
        <p:nvSpPr>
          <p:cNvPr id="14" name="Text 12"/>
          <p:cNvSpPr/>
          <p:nvPr/>
        </p:nvSpPr>
        <p:spPr>
          <a:xfrm>
            <a:off x="914400" y="5440680"/>
            <a:ext cx="10241280" cy="365760"/>
          </a:xfrm>
          <a:prstGeom prst="rect">
            <a:avLst/>
          </a:prstGeom>
          <a:noFill/>
          <a:ln/>
        </p:spPr>
        <p:txBody>
          <a:bodyPr wrap="square" lIns="0" tIns="0" rIns="0" bIns="0" rtlCol="0" anchor="ctr"/>
          <a:lstStyle/>
          <a:p>
            <a:pPr marL="0" indent="0" algn="ctr">
              <a:buNone/>
            </a:pPr>
            <a:r>
              <a:rPr lang="en-US" sz="1800" b="1" dirty="0">
                <a:solidFill>
                  <a:srgbClr val="17375E"/>
                </a:solidFill>
              </a:rPr>
              <a:t>Recommended deliverables: R script + output folder + PPT with figure interpretation</a:t>
            </a:r>
            <a:endParaRPr lang="en-US" sz="1800" dirty="0"/>
          </a:p>
        </p:txBody>
      </p:sp>
      <p:sp>
        <p:nvSpPr>
          <p:cNvPr id="15" name="Shape 13"/>
          <p:cNvSpPr/>
          <p:nvPr/>
        </p:nvSpPr>
        <p:spPr>
          <a:xfrm>
            <a:off x="0" y="6601968"/>
            <a:ext cx="12191695" cy="256032"/>
          </a:xfrm>
          <a:prstGeom prst="rect">
            <a:avLst/>
          </a:prstGeom>
          <a:solidFill>
            <a:srgbClr val="17375E"/>
          </a:solidFill>
          <a:ln w="12700">
            <a:solidFill>
              <a:srgbClr val="17375E"/>
            </a:solidFill>
            <a:prstDash val="solid"/>
          </a:ln>
        </p:spPr>
        <p:txBody>
          <a:bodyPr/>
          <a:lstStyle/>
          <a:p>
            <a:endParaRPr lang="en-CN"/>
          </a:p>
        </p:txBody>
      </p:sp>
      <p:sp>
        <p:nvSpPr>
          <p:cNvPr id="16" name="Text 14"/>
          <p:cNvSpPr/>
          <p:nvPr/>
        </p:nvSpPr>
        <p:spPr>
          <a:xfrm>
            <a:off x="320040" y="6665976"/>
            <a:ext cx="5943600" cy="109728"/>
          </a:xfrm>
          <a:prstGeom prst="rect">
            <a:avLst/>
          </a:prstGeom>
          <a:noFill/>
          <a:ln/>
        </p:spPr>
        <p:txBody>
          <a:bodyPr wrap="square" lIns="0" tIns="0" rIns="0" bIns="0" rtlCol="0" anchor="ctr"/>
          <a:lstStyle/>
          <a:p>
            <a:pPr marL="0" indent="0">
              <a:buNone/>
            </a:pPr>
            <a:r>
              <a:rPr lang="en-US" sz="800" dirty="0">
                <a:solidFill>
                  <a:srgbClr val="FFFFFF"/>
                </a:solidFill>
              </a:rPr>
              <a:t>R workflow: clusterProfiler + GOplot + enrichplot</a:t>
            </a:r>
            <a:endParaRPr lang="en-US" sz="800" dirty="0"/>
          </a:p>
        </p:txBody>
      </p:sp>
      <p:sp>
        <p:nvSpPr>
          <p:cNvPr id="17" name="Text 15"/>
          <p:cNvSpPr/>
          <p:nvPr/>
        </p:nvSpPr>
        <p:spPr>
          <a:xfrm>
            <a:off x="11475720" y="6665976"/>
            <a:ext cx="320040" cy="109728"/>
          </a:xfrm>
          <a:prstGeom prst="rect">
            <a:avLst/>
          </a:prstGeom>
          <a:noFill/>
          <a:ln/>
        </p:spPr>
        <p:txBody>
          <a:bodyPr wrap="square" lIns="0" tIns="0" rIns="0" bIns="0" rtlCol="0" anchor="ctr"/>
          <a:lstStyle/>
          <a:p>
            <a:pPr marL="0" indent="0" algn="r">
              <a:buNone/>
            </a:pPr>
            <a:r>
              <a:rPr lang="en-US" sz="800" dirty="0">
                <a:solidFill>
                  <a:srgbClr val="FFFFFF"/>
                </a:solidFill>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180</TotalTime>
  <Words>3572</Words>
  <Application>Microsoft Macintosh PowerPoint</Application>
  <PresentationFormat>Widescreen</PresentationFormat>
  <Paragraphs>270</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CD96 glioma Figure 3 with GO enrichment plots</dc:title>
  <dc:subject>CD96 glioma GO enrichment visualization tutorial</dc:subject>
  <dc:creator>OpenAI</dc:creator>
  <cp:lastModifiedBy>Zhong, Hua</cp:lastModifiedBy>
  <cp:revision>3</cp:revision>
  <dcterms:created xsi:type="dcterms:W3CDTF">2026-07-17T08:35:55Z</dcterms:created>
  <dcterms:modified xsi:type="dcterms:W3CDTF">2026-07-17T17:11:29Z</dcterms:modified>
</cp:coreProperties>
</file>