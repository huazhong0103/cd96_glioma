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4173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to reproduce Figure 4, the CD96-related immune-response gene heatmap. The key idea is to order samples by CD96 expression, select immune genes correlated with CD96, convert each gene expression profile into a row-wise z-score, and display the standardized matrix as a heatmap with clinical annotations.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is not a clustered heatmap. The samples are deliberately ordered by CD96 expression from low to high. The rows are genes selected by correlation with CD96. Therefore, the heatmap is designed to show whether immune genes rise together with CD96 rather than to discover unsupervised sample clusters.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input is an expression matrix with one numeric expression value for every gene in every sample. The clinical file provides the sample-level labels used as top annotations. The gene list restricts the heatmap to immune-response genes rather than all genes in the transcriptome.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color does not show the raw expression value. It shows how high or low a gene is in a sample relative to that same gene across all samples. This is why row-wise z-scoring is used. Clipping values at minus three and plus three improves readability by reducing the effect of outliers.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intentionally supervised. First, samples are aligned with clinical data. Second, samples are ordered by CD96 expression. Third, each immune gene is tested for monotonic association with CD96 using Spearman correlation. Finally, the selected genes are placed in correlation order and visualized without clustering.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first reads the expression matrix and clinical table. For CGGA, genes are already in rows and sample IDs are in columns. For TCGA, the cleaned script includes an additional conversion from Entrez IDs to gene symbols. The most important rule is that sample order in the expression matrix and annotation table must be exactly aligned.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creates the column order. The samples are not clustered. Instead, they are arranged by the expression of one marker, CD96. A gene that follows CD96 will therefore tend to show blue colors at the left and red colors at the right.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immune gene, the code calculates Spearman correlation between that gene expression vector and the CD96 expression vector across the same ordered samples. Positive rho means the gene tends to increase with CD96. Negative rho means it tends to decrease. The selected genes form the heatmap rows.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scaling is done manually before pheatmap, so the pheatmap scale option is set to none. Clustering is turned off because the ordered display is the point of this figure. The annotation color list ensures that IDH status, subtype, and CD96 expression have stable colors.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reproduced CGGA heatmap, samples move from low CD96 to high CD96 from left to right. The main visual signal is an increase in red values toward the high-CD96 end, meaning many CD96-related immune genes are more highly expressed in those samples.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TCGA version uses the same logic as CGGA. One additional preprocessing step is necessary because the TCGA expression matrix uses Entrez identifiers. After conversion to symbols, CD96 and immune genes can be selected in the same way. The similar pattern supports cohort-level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heatmap becomes a clustered heatmap when rows and columns are reordered according to similarity. First, we define a distance between expression profiles. Second, hierarchical clustering builds a tree. Third, the heatmap is redrawn in tree order so that similar genes or samples appear next to each other. This makes hidden block patterns easier to see.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Clustering is not one fixed method. The distance metric determines how similarity is measured. Linkage determines how groups are merged into a tree. For expression data, correlation distance is often useful because we care about shared up-and-down patterns. In the CD96 Figure 4 reproduction, however, clustering is intentionally turned off because the order is defined by CD96 expression and by correlation with CD96.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two ideas that are often confused. A clustered heatmap is exploratory: it lets the data decide the row and column order. A supervised heatmap is hypothesis-driven: it orders samples by a variable such as CD96 and then asks whether genes follow that variable. Figure 4 is best interpreted as a supervised heatmap, not as a discovery of unsupervised clusters.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Heatmaps are used broadly because omics data are naturally matrix-shaped. In bulk RNA-seq, heatmaps show differential gene signatures or tumor subtypes. In immuno-oncology, they show checkpoint genes, immune infiltration scores, and pathway activity. In single-cell analysis, heatmaps show marker genes across clusters. In multi-omics, rows may be pathways, proteins, methylation sites, or model scores.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concise explanation is: We ordered glioma samples by CD96 expression, selected immune-response genes that correlate with CD96, standardized each gene across samples, and plotted the matrix as a heatmap. Red on the high-CD96 side means immune genes are more active in CD96-high tumors. Seeing the same pattern in CGGA and TCGA supports that this is not cohort-specific.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accompanying R script consolidates the reproduction workflow into reusable functions for CGGA and TCGA. The most common reasons for reproduction failure are mismatched sample IDs, gene symbols not matching the expression matrix, missing CD96 after identifier conversion, and accidental clustering that changes the intended row or column order.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cholar.google.com/citations?view_op=view_citation&amp;hl=zh-CN&amp;user=LJSin0sAAAAJ&amp;pagesize=80&amp;citation_for_view=LJSin0sAAAAJ:2osOgNQ5qMEC"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640080" y="640080"/>
            <a:ext cx="6766560" cy="502920"/>
          </a:xfrm>
          <a:prstGeom prst="rect">
            <a:avLst/>
          </a:prstGeom>
          <a:noFill/>
          <a:ln/>
        </p:spPr>
        <p:txBody>
          <a:bodyPr wrap="square" lIns="0" tIns="0" rIns="0" bIns="0" rtlCol="0" anchor="ctr"/>
          <a:lstStyle/>
          <a:p>
            <a:pPr marL="0" indent="0">
              <a:buNone/>
            </a:pPr>
            <a:r>
              <a:rPr lang="en-US" sz="3800" b="1" dirty="0">
                <a:solidFill>
                  <a:srgbClr val="1D2939"/>
                </a:solidFill>
                <a:latin typeface="Aptos Display" pitchFamily="34" charset="0"/>
                <a:ea typeface="Aptos Display" pitchFamily="34" charset="-122"/>
                <a:cs typeface="Aptos Display" pitchFamily="34" charset="-120"/>
              </a:rPr>
              <a:t>Reproducing Figure 4</a:t>
            </a:r>
            <a:endParaRPr lang="en-US" sz="3800" dirty="0"/>
          </a:p>
        </p:txBody>
      </p:sp>
      <p:sp>
        <p:nvSpPr>
          <p:cNvPr id="4" name="Text 2"/>
          <p:cNvSpPr/>
          <p:nvPr/>
        </p:nvSpPr>
        <p:spPr>
          <a:xfrm>
            <a:off x="658368" y="1207008"/>
            <a:ext cx="6766560" cy="347472"/>
          </a:xfrm>
          <a:prstGeom prst="rect">
            <a:avLst/>
          </a:prstGeom>
          <a:noFill/>
          <a:ln/>
        </p:spPr>
        <p:txBody>
          <a:bodyPr wrap="square" lIns="0" tIns="0" rIns="0" bIns="0" rtlCol="0" anchor="ctr"/>
          <a:lstStyle/>
          <a:p>
            <a:pPr marL="0" indent="0">
              <a:buNone/>
            </a:pPr>
            <a:r>
              <a:rPr lang="en-US" sz="2000" dirty="0">
                <a:solidFill>
                  <a:srgbClr val="245B9E"/>
                </a:solidFill>
              </a:rPr>
              <a:t>CD96-related immune gene heatmap in glioma</a:t>
            </a:r>
            <a:endParaRPr lang="en-US" sz="2000" dirty="0"/>
          </a:p>
        </p:txBody>
      </p:sp>
      <p:sp>
        <p:nvSpPr>
          <p:cNvPr id="5" name="Text 3"/>
          <p:cNvSpPr/>
          <p:nvPr/>
        </p:nvSpPr>
        <p:spPr>
          <a:xfrm>
            <a:off x="658368" y="1719072"/>
            <a:ext cx="6766560" cy="320040"/>
          </a:xfrm>
          <a:prstGeom prst="rect">
            <a:avLst/>
          </a:prstGeom>
          <a:noFill/>
          <a:ln/>
        </p:spPr>
        <p:txBody>
          <a:bodyPr wrap="square" lIns="0" tIns="0" rIns="0" bIns="0" rtlCol="0" anchor="ctr"/>
          <a:lstStyle/>
          <a:p>
            <a:pPr marL="0" indent="0">
              <a:buNone/>
            </a:pPr>
            <a:r>
              <a:rPr lang="en-US" sz="1400" dirty="0">
                <a:solidFill>
                  <a:srgbClr val="667085"/>
                </a:solidFill>
              </a:rPr>
              <a:t>English explanation of the heatmap principle, R code workflow, and interpretation</a:t>
            </a:r>
            <a:endParaRPr lang="en-US" sz="1400" dirty="0"/>
          </a:p>
        </p:txBody>
      </p:sp>
      <p:pic>
        <p:nvPicPr>
          <p:cNvPr id="6" name="Image 0" descr="/mnt/data/fig4_assets/cgga_heatmap-1.png"/>
          <p:cNvPicPr>
            <a:picLocks noChangeAspect="1"/>
          </p:cNvPicPr>
          <p:nvPr/>
        </p:nvPicPr>
        <p:blipFill>
          <a:blip r:embed="rId3"/>
          <a:stretch>
            <a:fillRect/>
          </a:stretch>
        </p:blipFill>
        <p:spPr>
          <a:xfrm>
            <a:off x="7909560" y="1600200"/>
            <a:ext cx="3611880" cy="3611880"/>
          </a:xfrm>
          <a:prstGeom prst="rect">
            <a:avLst/>
          </a:prstGeom>
        </p:spPr>
      </p:pic>
      <p:sp>
        <p:nvSpPr>
          <p:cNvPr id="7" name="Text 4"/>
          <p:cNvSpPr/>
          <p:nvPr/>
        </p:nvSpPr>
        <p:spPr>
          <a:xfrm>
            <a:off x="658368" y="2423160"/>
            <a:ext cx="1508760" cy="256032"/>
          </a:xfrm>
          <a:prstGeom prst="rect">
            <a:avLst/>
          </a:prstGeom>
          <a:solidFill>
            <a:srgbClr val="E7F0FA"/>
          </a:solidFill>
          <a:ln>
            <a:solidFill>
              <a:srgbClr val="E7F0FA"/>
            </a:solidFill>
          </a:ln>
        </p:spPr>
        <p:txBody>
          <a:bodyPr wrap="square" lIns="762" tIns="762" rIns="762" bIns="762" rtlCol="0" anchor="ctr">
            <a:normAutofit/>
          </a:bodyPr>
          <a:lstStyle/>
          <a:p>
            <a:pPr marL="0" indent="0" algn="ctr">
              <a:buNone/>
            </a:pPr>
            <a:r>
              <a:rPr lang="en-US" sz="1100" b="1" dirty="0">
                <a:solidFill>
                  <a:srgbClr val="245B9E"/>
                </a:solidFill>
              </a:rPr>
              <a:t>CGGA + TCGA</a:t>
            </a:r>
            <a:endParaRPr lang="en-US" sz="1100" dirty="0"/>
          </a:p>
        </p:txBody>
      </p:sp>
      <p:sp>
        <p:nvSpPr>
          <p:cNvPr id="8" name="Text 5"/>
          <p:cNvSpPr/>
          <p:nvPr/>
        </p:nvSpPr>
        <p:spPr>
          <a:xfrm>
            <a:off x="2331720" y="2423160"/>
            <a:ext cx="1920240" cy="256032"/>
          </a:xfrm>
          <a:prstGeom prst="rect">
            <a:avLst/>
          </a:prstGeom>
          <a:solidFill>
            <a:srgbClr val="FCEAE8"/>
          </a:solidFill>
          <a:ln>
            <a:solidFill>
              <a:srgbClr val="FCEAE8"/>
            </a:solidFill>
          </a:ln>
        </p:spPr>
        <p:txBody>
          <a:bodyPr wrap="square" lIns="762" tIns="762" rIns="762" bIns="762" rtlCol="0" anchor="ctr">
            <a:normAutofit/>
          </a:bodyPr>
          <a:lstStyle/>
          <a:p>
            <a:pPr marL="0" indent="0" algn="ctr">
              <a:buNone/>
            </a:pPr>
            <a:r>
              <a:rPr lang="en-US" sz="1100" b="1" dirty="0">
                <a:solidFill>
                  <a:srgbClr val="C84640"/>
                </a:solidFill>
              </a:rPr>
              <a:t>Spearman correlation</a:t>
            </a:r>
            <a:endParaRPr lang="en-US" sz="1100" dirty="0"/>
          </a:p>
        </p:txBody>
      </p:sp>
      <p:sp>
        <p:nvSpPr>
          <p:cNvPr id="9" name="Text 6"/>
          <p:cNvSpPr/>
          <p:nvPr/>
        </p:nvSpPr>
        <p:spPr>
          <a:xfrm>
            <a:off x="4434840" y="2423160"/>
            <a:ext cx="1965960" cy="256032"/>
          </a:xfrm>
          <a:prstGeom prst="rect">
            <a:avLst/>
          </a:prstGeom>
          <a:solidFill>
            <a:srgbClr val="E7F6EC"/>
          </a:solidFill>
          <a:ln>
            <a:solidFill>
              <a:srgbClr val="E7F6EC"/>
            </a:solidFill>
          </a:ln>
        </p:spPr>
        <p:txBody>
          <a:bodyPr wrap="square" lIns="762" tIns="762" rIns="762" bIns="762" rtlCol="0" anchor="ctr">
            <a:normAutofit/>
          </a:bodyPr>
          <a:lstStyle/>
          <a:p>
            <a:pPr marL="0" indent="0" algn="ctr">
              <a:buNone/>
            </a:pPr>
            <a:r>
              <a:rPr lang="en-US" sz="1100" b="1" dirty="0">
                <a:solidFill>
                  <a:srgbClr val="2F7D50"/>
                </a:solidFill>
              </a:rPr>
              <a:t>Row z-score heatmap</a:t>
            </a:r>
            <a:endParaRPr lang="en-US" sz="1100" dirty="0"/>
          </a:p>
        </p:txBody>
      </p:sp>
      <p:sp>
        <p:nvSpPr>
          <p:cNvPr id="10" name="Text 7"/>
          <p:cNvSpPr/>
          <p:nvPr/>
        </p:nvSpPr>
        <p:spPr>
          <a:xfrm>
            <a:off x="658368" y="6327648"/>
            <a:ext cx="6583680" cy="201168"/>
          </a:xfrm>
          <a:prstGeom prst="rect">
            <a:avLst/>
          </a:prstGeom>
          <a:noFill/>
          <a:ln/>
        </p:spPr>
        <p:txBody>
          <a:bodyPr wrap="square" lIns="0" tIns="0" rIns="0" bIns="0" rtlCol="0" anchor="ctr"/>
          <a:lstStyle/>
          <a:p>
            <a:pPr marL="0" indent="0">
              <a:buNone/>
            </a:pPr>
            <a:r>
              <a:rPr lang="en-US" sz="900" dirty="0">
                <a:solidFill>
                  <a:srgbClr val="98A2B3"/>
                </a:solidFill>
              </a:rPr>
              <a:t>Prepared from the supplied data files and the published Figure 4 layout.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2F0221-0519-8E4B-6180-DBC63D128181}"/>
              </a:ext>
            </a:extLst>
          </p:cNvPr>
          <p:cNvPicPr>
            <a:picLocks noChangeAspect="1"/>
          </p:cNvPicPr>
          <p:nvPr/>
        </p:nvPicPr>
        <p:blipFill>
          <a:blip r:embed="rId2"/>
          <a:stretch>
            <a:fillRect/>
          </a:stretch>
        </p:blipFill>
        <p:spPr>
          <a:xfrm>
            <a:off x="314960" y="1299488"/>
            <a:ext cx="6038918" cy="4757753"/>
          </a:xfrm>
          <a:prstGeom prst="rect">
            <a:avLst/>
          </a:prstGeom>
        </p:spPr>
      </p:pic>
      <p:sp>
        <p:nvSpPr>
          <p:cNvPr id="4" name="TextBox 3">
            <a:extLst>
              <a:ext uri="{FF2B5EF4-FFF2-40B4-BE49-F238E27FC236}">
                <a16:creationId xmlns:a16="http://schemas.microsoft.com/office/drawing/2014/main" id="{AEAC1B2D-6D52-3759-C414-3166BF1F807E}"/>
              </a:ext>
            </a:extLst>
          </p:cNvPr>
          <p:cNvSpPr txBox="1"/>
          <p:nvPr/>
        </p:nvSpPr>
        <p:spPr>
          <a:xfrm>
            <a:off x="812800" y="214253"/>
            <a:ext cx="5394960" cy="584775"/>
          </a:xfrm>
          <a:prstGeom prst="rect">
            <a:avLst/>
          </a:prstGeom>
          <a:noFill/>
        </p:spPr>
        <p:txBody>
          <a:bodyPr wrap="square" rtlCol="0">
            <a:spAutoFit/>
          </a:bodyPr>
          <a:lstStyle/>
          <a:p>
            <a:pPr algn="ctr"/>
            <a:r>
              <a:rPr lang="en-US" sz="1600" b="1" dirty="0">
                <a:hlinkClick r:id="rId3">
                  <a:extLst>
                    <a:ext uri="{A12FA001-AC4F-418D-AE19-62706E023703}">
                      <ahyp:hlinkClr xmlns:ahyp="http://schemas.microsoft.com/office/drawing/2018/hyperlinkcolor" val="tx"/>
                    </a:ext>
                  </a:extLst>
                </a:hlinkClick>
              </a:rPr>
              <a:t>Dissecting tumor antigens and immune subtypes of glioma to develop mRNA vaccine</a:t>
            </a:r>
            <a:endParaRPr lang="en-CN" sz="1600" b="1" dirty="0"/>
          </a:p>
        </p:txBody>
      </p:sp>
      <p:pic>
        <p:nvPicPr>
          <p:cNvPr id="6" name="Picture 5">
            <a:extLst>
              <a:ext uri="{FF2B5EF4-FFF2-40B4-BE49-F238E27FC236}">
                <a16:creationId xmlns:a16="http://schemas.microsoft.com/office/drawing/2014/main" id="{8ED8793D-BDC5-02E8-82F4-CAC27CEEFEB7}"/>
              </a:ext>
            </a:extLst>
          </p:cNvPr>
          <p:cNvPicPr>
            <a:picLocks noChangeAspect="1"/>
          </p:cNvPicPr>
          <p:nvPr/>
        </p:nvPicPr>
        <p:blipFill>
          <a:blip r:embed="rId4"/>
          <a:srcRect l="20870" t="16706" r="19000" b="5806"/>
          <a:stretch>
            <a:fillRect/>
          </a:stretch>
        </p:blipFill>
        <p:spPr>
          <a:xfrm>
            <a:off x="6568767" y="1432560"/>
            <a:ext cx="5308273" cy="4442793"/>
          </a:xfrm>
          <a:prstGeom prst="rect">
            <a:avLst/>
          </a:prstGeom>
        </p:spPr>
      </p:pic>
      <p:sp>
        <p:nvSpPr>
          <p:cNvPr id="7" name="TextBox 6">
            <a:extLst>
              <a:ext uri="{FF2B5EF4-FFF2-40B4-BE49-F238E27FC236}">
                <a16:creationId xmlns:a16="http://schemas.microsoft.com/office/drawing/2014/main" id="{F1A0228D-179B-8CE1-AC86-17A00FEFCAE6}"/>
              </a:ext>
            </a:extLst>
          </p:cNvPr>
          <p:cNvSpPr txBox="1"/>
          <p:nvPr/>
        </p:nvSpPr>
        <p:spPr>
          <a:xfrm>
            <a:off x="6664960" y="121920"/>
            <a:ext cx="5308272" cy="1354217"/>
          </a:xfrm>
          <a:prstGeom prst="rect">
            <a:avLst/>
          </a:prstGeom>
          <a:noFill/>
        </p:spPr>
        <p:txBody>
          <a:bodyPr wrap="square" rtlCol="0">
            <a:spAutoFit/>
          </a:bodyPr>
          <a:lstStyle/>
          <a:p>
            <a:pPr algn="ctr"/>
            <a:r>
              <a:rPr lang="en-US" sz="1600" b="1" dirty="0"/>
              <a:t>Proteomics of extracellular vesicles in plasma reveals the characteristics and residual traces of COVID-19 patients without underlying diseases after 3 months of recovery</a:t>
            </a:r>
          </a:p>
          <a:p>
            <a:endParaRPr lang="en-CN" dirty="0"/>
          </a:p>
        </p:txBody>
      </p:sp>
    </p:spTree>
    <p:extLst>
      <p:ext uri="{BB962C8B-B14F-4D97-AF65-F5344CB8AC3E}">
        <p14:creationId xmlns:p14="http://schemas.microsoft.com/office/powerpoint/2010/main" val="3625349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Original target: what Figure 4 shows</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The manuscript displays two heatmaps: CGGA on the left and TCGA on the right.</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2</a:t>
            </a:r>
            <a:endParaRPr lang="en-US" sz="800" dirty="0"/>
          </a:p>
        </p:txBody>
      </p:sp>
      <p:pic>
        <p:nvPicPr>
          <p:cNvPr id="7" name="Image 0" descr="/mnt/data/fig4_assets/original_fig4_crop.png"/>
          <p:cNvPicPr>
            <a:picLocks noChangeAspect="1"/>
          </p:cNvPicPr>
          <p:nvPr/>
        </p:nvPicPr>
        <p:blipFill>
          <a:blip r:embed="rId3"/>
          <a:stretch>
            <a:fillRect/>
          </a:stretch>
        </p:blipFill>
        <p:spPr>
          <a:xfrm>
            <a:off x="594360" y="1707969"/>
            <a:ext cx="6583680" cy="3762103"/>
          </a:xfrm>
          <a:prstGeom prst="rect">
            <a:avLst/>
          </a:prstGeom>
        </p:spPr>
      </p:pic>
      <p:sp>
        <p:nvSpPr>
          <p:cNvPr id="8" name="Text 5"/>
          <p:cNvSpPr/>
          <p:nvPr/>
        </p:nvSpPr>
        <p:spPr>
          <a:xfrm>
            <a:off x="7452360" y="1234440"/>
            <a:ext cx="3977640" cy="114300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Visual structure
</a:t>
            </a:r>
            <a:r>
              <a:rPr lang="en-US" sz="1400" dirty="0">
                <a:solidFill>
                  <a:srgbClr val="1D2939"/>
                </a:solidFill>
              </a:rPr>
              <a:t>Columns are glioma samples ordered by CD96 expression. Rows are immune-response genes correlated with CD96.</a:t>
            </a:r>
            <a:endParaRPr lang="en-US" sz="1400" dirty="0"/>
          </a:p>
        </p:txBody>
      </p:sp>
      <p:sp>
        <p:nvSpPr>
          <p:cNvPr id="9" name="Text 6"/>
          <p:cNvSpPr/>
          <p:nvPr/>
        </p:nvSpPr>
        <p:spPr>
          <a:xfrm>
            <a:off x="7452360" y="2606040"/>
            <a:ext cx="3977640" cy="105156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Top annotations
</a:t>
            </a:r>
            <a:r>
              <a:rPr lang="en-US" sz="1400" dirty="0">
                <a:solidFill>
                  <a:srgbClr val="1D2939"/>
                </a:solidFill>
              </a:rPr>
              <a:t>IDH status, molecular subtype, and CD96 expression are shown above the heatmap.</a:t>
            </a:r>
            <a:endParaRPr lang="en-US" sz="1400" dirty="0"/>
          </a:p>
        </p:txBody>
      </p:sp>
      <p:sp>
        <p:nvSpPr>
          <p:cNvPr id="10" name="Text 7"/>
          <p:cNvSpPr/>
          <p:nvPr/>
        </p:nvSpPr>
        <p:spPr>
          <a:xfrm>
            <a:off x="7452360" y="3886200"/>
            <a:ext cx="3977640" cy="118872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Main pattern
</a:t>
            </a:r>
            <a:r>
              <a:rPr lang="en-US" sz="1400" dirty="0">
                <a:solidFill>
                  <a:srgbClr val="1D2939"/>
                </a:solidFill>
              </a:rPr>
              <a:t>A red gradient toward the high-CD96 side indicates many immune genes increase with CD96.</a:t>
            </a:r>
            <a:endParaRPr lang="en-US" sz="1400" dirty="0"/>
          </a:p>
        </p:txBody>
      </p:sp>
      <p:sp>
        <p:nvSpPr>
          <p:cNvPr id="11" name="Text 8"/>
          <p:cNvSpPr/>
          <p:nvPr/>
        </p:nvSpPr>
        <p:spPr>
          <a:xfrm>
            <a:off x="7452360" y="5486400"/>
            <a:ext cx="3931920" cy="292608"/>
          </a:xfrm>
          <a:prstGeom prst="rect">
            <a:avLst/>
          </a:prstGeom>
          <a:noFill/>
          <a:ln/>
        </p:spPr>
        <p:txBody>
          <a:bodyPr wrap="square" lIns="0" tIns="0" rIns="0" bIns="0" rtlCol="0" anchor="ctr"/>
          <a:lstStyle/>
          <a:p>
            <a:pPr marL="0" indent="0">
              <a:buNone/>
            </a:pPr>
            <a:r>
              <a:rPr lang="en-US" sz="850" dirty="0">
                <a:solidFill>
                  <a:srgbClr val="667085"/>
                </a:solidFill>
              </a:rPr>
              <a:t>Source: Zhang et al., Frontiers in Bioengineering and Biotechnology, 2020; Figure 4 from the uploaded PDF.</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Inputs required to rebuild the heatmap</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The code uses expression data, clinical annotation, and an immune-response gene list.</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3</a:t>
            </a:r>
            <a:endParaRPr lang="en-US" sz="800" dirty="0"/>
          </a:p>
        </p:txBody>
      </p:sp>
      <p:sp>
        <p:nvSpPr>
          <p:cNvPr id="7" name="Text 5"/>
          <p:cNvSpPr/>
          <p:nvPr/>
        </p:nvSpPr>
        <p:spPr>
          <a:xfrm>
            <a:off x="731520" y="1298448"/>
            <a:ext cx="320040" cy="256032"/>
          </a:xfrm>
          <a:prstGeom prst="rect">
            <a:avLst/>
          </a:prstGeom>
          <a:solidFill>
            <a:srgbClr val="245B9E"/>
          </a:solidFill>
          <a:ln>
            <a:solidFill>
              <a:srgbClr val="245B9E"/>
            </a:solidFill>
          </a:ln>
        </p:spPr>
        <p:txBody>
          <a:bodyPr wrap="square" lIns="762" tIns="762" rIns="762" bIns="762" rtlCol="0" anchor="ctr">
            <a:normAutofit/>
          </a:bodyPr>
          <a:lstStyle/>
          <a:p>
            <a:pPr marL="0" indent="0" algn="ctr">
              <a:buNone/>
            </a:pPr>
            <a:r>
              <a:rPr lang="en-US" sz="1100" b="1" dirty="0">
                <a:solidFill>
                  <a:srgbClr val="FFFFFF"/>
                </a:solidFill>
              </a:rPr>
              <a:t>1</a:t>
            </a:r>
            <a:endParaRPr lang="en-US" sz="1100" dirty="0"/>
          </a:p>
        </p:txBody>
      </p:sp>
      <p:sp>
        <p:nvSpPr>
          <p:cNvPr id="8" name="Text 6"/>
          <p:cNvSpPr/>
          <p:nvPr/>
        </p:nvSpPr>
        <p:spPr>
          <a:xfrm>
            <a:off x="1143000" y="1261872"/>
            <a:ext cx="2834640" cy="274320"/>
          </a:xfrm>
          <a:prstGeom prst="rect">
            <a:avLst/>
          </a:prstGeom>
          <a:noFill/>
          <a:ln/>
        </p:spPr>
        <p:txBody>
          <a:bodyPr wrap="square" lIns="381" tIns="381" rIns="381" bIns="381" rtlCol="0" anchor="t">
            <a:normAutofit lnSpcReduction="10000"/>
          </a:bodyPr>
          <a:lstStyle/>
          <a:p>
            <a:pPr marL="0" indent="0">
              <a:buNone/>
            </a:pPr>
            <a:r>
              <a:rPr lang="en-US" sz="1800" b="1" dirty="0">
                <a:solidFill>
                  <a:srgbClr val="1D2939"/>
                </a:solidFill>
                <a:latin typeface="Aptos" pitchFamily="34" charset="0"/>
                <a:ea typeface="Aptos" pitchFamily="34" charset="-122"/>
                <a:cs typeface="Aptos" pitchFamily="34" charset="-120"/>
              </a:rPr>
              <a:t>Expression matrix</a:t>
            </a:r>
            <a:endParaRPr lang="en-US" sz="1800" dirty="0"/>
          </a:p>
        </p:txBody>
      </p:sp>
      <p:sp>
        <p:nvSpPr>
          <p:cNvPr id="9" name="Text 7"/>
          <p:cNvSpPr/>
          <p:nvPr/>
        </p:nvSpPr>
        <p:spPr>
          <a:xfrm>
            <a:off x="1143000" y="1627632"/>
            <a:ext cx="3840480" cy="621792"/>
          </a:xfrm>
          <a:prstGeom prst="rect">
            <a:avLst/>
          </a:prstGeom>
          <a:noFill/>
          <a:ln/>
        </p:spPr>
        <p:txBody>
          <a:bodyPr wrap="square" lIns="381" tIns="381" rIns="381" bIns="381" rtlCol="0" anchor="t">
            <a:normAutofit/>
          </a:bodyPr>
          <a:lstStyle/>
          <a:p>
            <a:pPr marL="0" indent="0">
              <a:buNone/>
            </a:pPr>
            <a:r>
              <a:rPr lang="en-US" sz="1400" dirty="0">
                <a:solidFill>
                  <a:srgbClr val="667085"/>
                </a:solidFill>
                <a:latin typeface="Aptos" pitchFamily="34" charset="0"/>
                <a:ea typeface="Aptos" pitchFamily="34" charset="-122"/>
                <a:cs typeface="Aptos" pitchFamily="34" charset="-120"/>
              </a:rPr>
              <a:t>Genes × samples for CGGA; samples × Entrez genes for TCGA before conversion.</a:t>
            </a:r>
            <a:endParaRPr lang="en-US" sz="1400" dirty="0"/>
          </a:p>
        </p:txBody>
      </p:sp>
      <p:sp>
        <p:nvSpPr>
          <p:cNvPr id="10" name="Text 8"/>
          <p:cNvSpPr/>
          <p:nvPr/>
        </p:nvSpPr>
        <p:spPr>
          <a:xfrm>
            <a:off x="731520" y="2560320"/>
            <a:ext cx="320040" cy="256032"/>
          </a:xfrm>
          <a:prstGeom prst="rect">
            <a:avLst/>
          </a:prstGeom>
          <a:solidFill>
            <a:srgbClr val="245B9E"/>
          </a:solidFill>
          <a:ln>
            <a:solidFill>
              <a:srgbClr val="245B9E"/>
            </a:solidFill>
          </a:ln>
        </p:spPr>
        <p:txBody>
          <a:bodyPr wrap="square" lIns="762" tIns="762" rIns="762" bIns="762" rtlCol="0" anchor="ctr">
            <a:normAutofit/>
          </a:bodyPr>
          <a:lstStyle/>
          <a:p>
            <a:pPr marL="0" indent="0" algn="ctr">
              <a:buNone/>
            </a:pPr>
            <a:r>
              <a:rPr lang="en-US" sz="1100" b="1" dirty="0">
                <a:solidFill>
                  <a:srgbClr val="FFFFFF"/>
                </a:solidFill>
              </a:rPr>
              <a:t>2</a:t>
            </a:r>
            <a:endParaRPr lang="en-US" sz="1100" dirty="0"/>
          </a:p>
        </p:txBody>
      </p:sp>
      <p:sp>
        <p:nvSpPr>
          <p:cNvPr id="11" name="Text 9"/>
          <p:cNvSpPr/>
          <p:nvPr/>
        </p:nvSpPr>
        <p:spPr>
          <a:xfrm>
            <a:off x="1143000" y="2523744"/>
            <a:ext cx="2926080" cy="274320"/>
          </a:xfrm>
          <a:prstGeom prst="rect">
            <a:avLst/>
          </a:prstGeom>
          <a:noFill/>
          <a:ln/>
        </p:spPr>
        <p:txBody>
          <a:bodyPr wrap="square" lIns="381" tIns="381" rIns="381" bIns="381" rtlCol="0" anchor="t">
            <a:normAutofit lnSpcReduction="10000"/>
          </a:bodyPr>
          <a:lstStyle/>
          <a:p>
            <a:pPr marL="0" indent="0">
              <a:buNone/>
            </a:pPr>
            <a:r>
              <a:rPr lang="en-US" sz="1800" b="1" dirty="0">
                <a:solidFill>
                  <a:srgbClr val="1D2939"/>
                </a:solidFill>
                <a:latin typeface="Aptos" pitchFamily="34" charset="0"/>
                <a:ea typeface="Aptos" pitchFamily="34" charset="-122"/>
                <a:cs typeface="Aptos" pitchFamily="34" charset="-120"/>
              </a:rPr>
              <a:t>Clinical annotation</a:t>
            </a:r>
            <a:endParaRPr lang="en-US" sz="1800" dirty="0"/>
          </a:p>
        </p:txBody>
      </p:sp>
      <p:sp>
        <p:nvSpPr>
          <p:cNvPr id="12" name="Text 10"/>
          <p:cNvSpPr/>
          <p:nvPr/>
        </p:nvSpPr>
        <p:spPr>
          <a:xfrm>
            <a:off x="1143000" y="2889504"/>
            <a:ext cx="3840480" cy="621792"/>
          </a:xfrm>
          <a:prstGeom prst="rect">
            <a:avLst/>
          </a:prstGeom>
          <a:noFill/>
          <a:ln/>
        </p:spPr>
        <p:txBody>
          <a:bodyPr wrap="square" lIns="381" tIns="381" rIns="381" bIns="381" rtlCol="0" anchor="t">
            <a:normAutofit/>
          </a:bodyPr>
          <a:lstStyle/>
          <a:p>
            <a:pPr marL="0" indent="0">
              <a:buNone/>
            </a:pPr>
            <a:r>
              <a:rPr lang="en-US" sz="1400" dirty="0">
                <a:solidFill>
                  <a:srgbClr val="667085"/>
                </a:solidFill>
                <a:latin typeface="Aptos" pitchFamily="34" charset="0"/>
                <a:ea typeface="Aptos" pitchFamily="34" charset="-122"/>
                <a:cs typeface="Aptos" pitchFamily="34" charset="-120"/>
              </a:rPr>
              <a:t>Sample ID, IDH mutation status, molecular subtype, and optional survival variables.</a:t>
            </a:r>
            <a:endParaRPr lang="en-US" sz="1400" dirty="0"/>
          </a:p>
        </p:txBody>
      </p:sp>
      <p:sp>
        <p:nvSpPr>
          <p:cNvPr id="13" name="Text 11"/>
          <p:cNvSpPr/>
          <p:nvPr/>
        </p:nvSpPr>
        <p:spPr>
          <a:xfrm>
            <a:off x="731520" y="3822192"/>
            <a:ext cx="320040" cy="256032"/>
          </a:xfrm>
          <a:prstGeom prst="rect">
            <a:avLst/>
          </a:prstGeom>
          <a:solidFill>
            <a:srgbClr val="245B9E"/>
          </a:solidFill>
          <a:ln>
            <a:solidFill>
              <a:srgbClr val="245B9E"/>
            </a:solidFill>
          </a:ln>
        </p:spPr>
        <p:txBody>
          <a:bodyPr wrap="square" lIns="762" tIns="762" rIns="762" bIns="762" rtlCol="0" anchor="ctr">
            <a:normAutofit/>
          </a:bodyPr>
          <a:lstStyle/>
          <a:p>
            <a:pPr marL="0" indent="0" algn="ctr">
              <a:buNone/>
            </a:pPr>
            <a:r>
              <a:rPr lang="en-US" sz="1100" b="1" dirty="0">
                <a:solidFill>
                  <a:srgbClr val="FFFFFF"/>
                </a:solidFill>
              </a:rPr>
              <a:t>3</a:t>
            </a:r>
            <a:endParaRPr lang="en-US" sz="1100" dirty="0"/>
          </a:p>
        </p:txBody>
      </p:sp>
      <p:sp>
        <p:nvSpPr>
          <p:cNvPr id="14" name="Text 12"/>
          <p:cNvSpPr/>
          <p:nvPr/>
        </p:nvSpPr>
        <p:spPr>
          <a:xfrm>
            <a:off x="1143000" y="3785616"/>
            <a:ext cx="3017520" cy="274320"/>
          </a:xfrm>
          <a:prstGeom prst="rect">
            <a:avLst/>
          </a:prstGeom>
          <a:noFill/>
          <a:ln/>
        </p:spPr>
        <p:txBody>
          <a:bodyPr wrap="square" lIns="381" tIns="381" rIns="381" bIns="381" rtlCol="0" anchor="t">
            <a:normAutofit lnSpcReduction="10000"/>
          </a:bodyPr>
          <a:lstStyle/>
          <a:p>
            <a:pPr marL="0" indent="0">
              <a:buNone/>
            </a:pPr>
            <a:r>
              <a:rPr lang="en-US" sz="1800" b="1" dirty="0">
                <a:solidFill>
                  <a:srgbClr val="1D2939"/>
                </a:solidFill>
                <a:latin typeface="Aptos" pitchFamily="34" charset="0"/>
                <a:ea typeface="Aptos" pitchFamily="34" charset="-122"/>
                <a:cs typeface="Aptos" pitchFamily="34" charset="-120"/>
              </a:rPr>
              <a:t>Immune gene list</a:t>
            </a:r>
            <a:endParaRPr lang="en-US" sz="1800" dirty="0"/>
          </a:p>
        </p:txBody>
      </p:sp>
      <p:sp>
        <p:nvSpPr>
          <p:cNvPr id="15" name="Text 13"/>
          <p:cNvSpPr/>
          <p:nvPr/>
        </p:nvSpPr>
        <p:spPr>
          <a:xfrm>
            <a:off x="1143000" y="4151376"/>
            <a:ext cx="3840480" cy="594360"/>
          </a:xfrm>
          <a:prstGeom prst="rect">
            <a:avLst/>
          </a:prstGeom>
          <a:noFill/>
          <a:ln/>
        </p:spPr>
        <p:txBody>
          <a:bodyPr wrap="square" lIns="381" tIns="381" rIns="381" bIns="381" rtlCol="0" anchor="t">
            <a:normAutofit/>
          </a:bodyPr>
          <a:lstStyle/>
          <a:p>
            <a:pPr marL="0" indent="0">
              <a:buNone/>
            </a:pPr>
            <a:r>
              <a:rPr lang="en-US" sz="1400" dirty="0">
                <a:solidFill>
                  <a:srgbClr val="667085"/>
                </a:solidFill>
                <a:latin typeface="Aptos" pitchFamily="34" charset="0"/>
                <a:ea typeface="Aptos" pitchFamily="34" charset="-122"/>
                <a:cs typeface="Aptos" pitchFamily="34" charset="-120"/>
              </a:rPr>
              <a:t>Candidate immune-response genes are tested for correlation with CD96.</a:t>
            </a:r>
            <a:endParaRPr lang="en-US" sz="1400" dirty="0"/>
          </a:p>
        </p:txBody>
      </p:sp>
      <p:sp>
        <p:nvSpPr>
          <p:cNvPr id="16" name="Text 14"/>
          <p:cNvSpPr/>
          <p:nvPr/>
        </p:nvSpPr>
        <p:spPr>
          <a:xfrm>
            <a:off x="5532120" y="1325880"/>
            <a:ext cx="5806440" cy="406908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1200" dirty="0">
                <a:solidFill>
                  <a:srgbClr val="E5E7EB"/>
                </a:solidFill>
                <a:latin typeface="Courier New" pitchFamily="34" charset="0"/>
                <a:ea typeface="Courier New" pitchFamily="34" charset="-122"/>
                <a:cs typeface="Courier New" pitchFamily="34" charset="-120"/>
              </a:rPr>
              <a:t>Input files used here</a:t>
            </a:r>
            <a:endParaRPr lang="en-US" sz="1200" dirty="0"/>
          </a:p>
          <a:p>
            <a:pPr marL="0" indent="0">
              <a:buNone/>
            </a:pP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CGGA:</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easy_input_CGGA.csv</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CGGA_CD96.csv</a:t>
            </a:r>
            <a:endParaRPr lang="en-US" sz="1200" dirty="0"/>
          </a:p>
          <a:p>
            <a:pPr marL="0" indent="0">
              <a:buNone/>
            </a:pP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TCGA:</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TCGA_533_exp_trans.csv</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TCGA_533_clin.csv</a:t>
            </a:r>
            <a:endParaRPr lang="en-US" sz="1200" dirty="0"/>
          </a:p>
          <a:p>
            <a:pPr marL="0" indent="0">
              <a:buNone/>
            </a:pP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Gene list:</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easy_input_genes.txt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Heatmap principle: from expression to colors</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Each cell represents standardized expression of one gene in one sample.</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4</a:t>
            </a:r>
            <a:endParaRPr lang="en-US" sz="800" dirty="0"/>
          </a:p>
        </p:txBody>
      </p:sp>
      <p:sp>
        <p:nvSpPr>
          <p:cNvPr id="7" name="Text 5"/>
          <p:cNvSpPr/>
          <p:nvPr/>
        </p:nvSpPr>
        <p:spPr>
          <a:xfrm>
            <a:off x="731520" y="1234440"/>
            <a:ext cx="2377440" cy="274320"/>
          </a:xfrm>
          <a:prstGeom prst="rect">
            <a:avLst/>
          </a:prstGeom>
          <a:noFill/>
          <a:ln/>
        </p:spPr>
        <p:txBody>
          <a:bodyPr wrap="square" lIns="381" tIns="381" rIns="381" bIns="381" rtlCol="0" anchor="t">
            <a:normAutofit lnSpcReduction="10000"/>
          </a:bodyPr>
          <a:lstStyle/>
          <a:p>
            <a:pPr marL="0" indent="0">
              <a:buNone/>
            </a:pPr>
            <a:r>
              <a:rPr lang="en-US" sz="1800" b="1" dirty="0">
                <a:solidFill>
                  <a:srgbClr val="1D2939"/>
                </a:solidFill>
                <a:latin typeface="Aptos" pitchFamily="34" charset="0"/>
                <a:ea typeface="Aptos" pitchFamily="34" charset="-122"/>
                <a:cs typeface="Aptos" pitchFamily="34" charset="-120"/>
              </a:rPr>
              <a:t>Raw expression matrix</a:t>
            </a:r>
            <a:endParaRPr lang="en-US" sz="1800" dirty="0"/>
          </a:p>
        </p:txBody>
      </p:sp>
      <p:sp>
        <p:nvSpPr>
          <p:cNvPr id="8" name="Text 6"/>
          <p:cNvSpPr/>
          <p:nvPr/>
        </p:nvSpPr>
        <p:spPr>
          <a:xfrm>
            <a:off x="731520" y="1664208"/>
            <a:ext cx="3703320" cy="114300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1100" dirty="0">
                <a:solidFill>
                  <a:srgbClr val="E5E7EB"/>
                </a:solidFill>
                <a:latin typeface="Courier New" pitchFamily="34" charset="0"/>
                <a:ea typeface="Courier New" pitchFamily="34" charset="-122"/>
                <a:cs typeface="Courier New" pitchFamily="34" charset="-120"/>
              </a:rPr>
              <a:t>          Sample1 Sample2 Sample3</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CD68        2.1     3.4     7.8</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LCK         0.8     1.2     4.5</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PDCD1       0.2     0.3     1.6</a:t>
            </a:r>
            <a:endParaRPr lang="en-US" sz="1100" dirty="0"/>
          </a:p>
        </p:txBody>
      </p:sp>
      <p:sp>
        <p:nvSpPr>
          <p:cNvPr id="9" name="Shape 7"/>
          <p:cNvSpPr/>
          <p:nvPr/>
        </p:nvSpPr>
        <p:spPr>
          <a:xfrm>
            <a:off x="4572000" y="2212848"/>
            <a:ext cx="731520" cy="0"/>
          </a:xfrm>
          <a:prstGeom prst="line">
            <a:avLst/>
          </a:prstGeom>
          <a:noFill/>
          <a:ln w="22860">
            <a:solidFill>
              <a:srgbClr val="245B9E"/>
            </a:solidFill>
            <a:prstDash val="solid"/>
            <a:headEnd type="none"/>
            <a:tailEnd type="triangle"/>
          </a:ln>
        </p:spPr>
        <p:txBody>
          <a:bodyPr/>
          <a:lstStyle/>
          <a:p>
            <a:endParaRPr lang="en-CN"/>
          </a:p>
        </p:txBody>
      </p:sp>
      <p:sp>
        <p:nvSpPr>
          <p:cNvPr id="10" name="Text 8"/>
          <p:cNvSpPr/>
          <p:nvPr/>
        </p:nvSpPr>
        <p:spPr>
          <a:xfrm>
            <a:off x="5532120" y="1234440"/>
            <a:ext cx="2560320" cy="274320"/>
          </a:xfrm>
          <a:prstGeom prst="rect">
            <a:avLst/>
          </a:prstGeom>
          <a:noFill/>
          <a:ln/>
        </p:spPr>
        <p:txBody>
          <a:bodyPr wrap="square" lIns="381" tIns="381" rIns="381" bIns="381" rtlCol="0" anchor="t">
            <a:normAutofit lnSpcReduction="10000"/>
          </a:bodyPr>
          <a:lstStyle/>
          <a:p>
            <a:pPr marL="0" indent="0">
              <a:buNone/>
            </a:pPr>
            <a:r>
              <a:rPr lang="en-US" sz="1800" b="1" dirty="0">
                <a:solidFill>
                  <a:srgbClr val="1D2939"/>
                </a:solidFill>
                <a:latin typeface="Aptos" pitchFamily="34" charset="0"/>
                <a:ea typeface="Aptos" pitchFamily="34" charset="-122"/>
                <a:cs typeface="Aptos" pitchFamily="34" charset="-120"/>
              </a:rPr>
              <a:t>Row-wise z-score</a:t>
            </a:r>
            <a:endParaRPr lang="en-US" sz="1800" dirty="0"/>
          </a:p>
        </p:txBody>
      </p:sp>
      <p:sp>
        <p:nvSpPr>
          <p:cNvPr id="11" name="Text 9"/>
          <p:cNvSpPr/>
          <p:nvPr/>
        </p:nvSpPr>
        <p:spPr>
          <a:xfrm>
            <a:off x="5532120" y="1664208"/>
            <a:ext cx="2560320" cy="219456"/>
          </a:xfrm>
          <a:prstGeom prst="rect">
            <a:avLst/>
          </a:prstGeom>
          <a:noFill/>
          <a:ln/>
        </p:spPr>
        <p:txBody>
          <a:bodyPr wrap="square" lIns="381" tIns="381" rIns="381" bIns="381" rtlCol="0" anchor="t">
            <a:normAutofit/>
          </a:bodyPr>
          <a:lstStyle/>
          <a:p>
            <a:pPr marL="0" indent="0">
              <a:buNone/>
            </a:pPr>
            <a:r>
              <a:rPr lang="en-US" sz="1300" dirty="0">
                <a:solidFill>
                  <a:srgbClr val="667085"/>
                </a:solidFill>
                <a:latin typeface="Aptos" pitchFamily="34" charset="0"/>
                <a:ea typeface="Aptos" pitchFamily="34" charset="-122"/>
                <a:cs typeface="Aptos" pitchFamily="34" charset="-120"/>
              </a:rPr>
              <a:t>For each gene separately:</a:t>
            </a:r>
            <a:endParaRPr lang="en-US" sz="1300" dirty="0"/>
          </a:p>
        </p:txBody>
      </p:sp>
      <p:sp>
        <p:nvSpPr>
          <p:cNvPr id="12" name="Text 10"/>
          <p:cNvSpPr/>
          <p:nvPr/>
        </p:nvSpPr>
        <p:spPr>
          <a:xfrm>
            <a:off x="5532120" y="1984248"/>
            <a:ext cx="3931920" cy="292608"/>
          </a:xfrm>
          <a:prstGeom prst="rect">
            <a:avLst/>
          </a:prstGeom>
          <a:noFill/>
          <a:ln/>
        </p:spPr>
        <p:txBody>
          <a:bodyPr wrap="square" lIns="0" tIns="0" rIns="0" bIns="0" rtlCol="0" anchor="ctr"/>
          <a:lstStyle/>
          <a:p>
            <a:pPr marL="0" indent="0">
              <a:buNone/>
            </a:pPr>
            <a:r>
              <a:rPr lang="en-US" sz="1700" b="1" dirty="0">
                <a:solidFill>
                  <a:srgbClr val="245B9E"/>
                </a:solidFill>
              </a:rPr>
              <a:t>z = (expression − gene mean) / gene SD</a:t>
            </a:r>
            <a:endParaRPr lang="en-US" sz="1700" dirty="0"/>
          </a:p>
        </p:txBody>
      </p:sp>
      <p:sp>
        <p:nvSpPr>
          <p:cNvPr id="13" name="Shape 11"/>
          <p:cNvSpPr/>
          <p:nvPr/>
        </p:nvSpPr>
        <p:spPr>
          <a:xfrm>
            <a:off x="9400032" y="2212848"/>
            <a:ext cx="704088" cy="0"/>
          </a:xfrm>
          <a:prstGeom prst="line">
            <a:avLst/>
          </a:prstGeom>
          <a:noFill/>
          <a:ln w="22860">
            <a:solidFill>
              <a:srgbClr val="245B9E"/>
            </a:solidFill>
            <a:prstDash val="solid"/>
            <a:headEnd type="none"/>
            <a:tailEnd type="triangle"/>
          </a:ln>
        </p:spPr>
        <p:txBody>
          <a:bodyPr/>
          <a:lstStyle/>
          <a:p>
            <a:endParaRPr lang="en-CN"/>
          </a:p>
        </p:txBody>
      </p:sp>
      <p:sp>
        <p:nvSpPr>
          <p:cNvPr id="14" name="Text 12"/>
          <p:cNvSpPr/>
          <p:nvPr/>
        </p:nvSpPr>
        <p:spPr>
          <a:xfrm>
            <a:off x="9372600" y="1234440"/>
            <a:ext cx="2194560" cy="274320"/>
          </a:xfrm>
          <a:prstGeom prst="rect">
            <a:avLst/>
          </a:prstGeom>
          <a:noFill/>
          <a:ln/>
        </p:spPr>
        <p:txBody>
          <a:bodyPr wrap="square" lIns="381" tIns="381" rIns="381" bIns="381" rtlCol="0" anchor="t">
            <a:normAutofit lnSpcReduction="10000"/>
          </a:bodyPr>
          <a:lstStyle/>
          <a:p>
            <a:pPr marL="0" indent="0">
              <a:buNone/>
            </a:pPr>
            <a:r>
              <a:rPr lang="en-US" sz="1800" b="1" dirty="0">
                <a:solidFill>
                  <a:srgbClr val="1D2939"/>
                </a:solidFill>
                <a:latin typeface="Aptos" pitchFamily="34" charset="0"/>
                <a:ea typeface="Aptos" pitchFamily="34" charset="-122"/>
                <a:cs typeface="Aptos" pitchFamily="34" charset="-120"/>
              </a:rPr>
              <a:t>Color mapping</a:t>
            </a:r>
            <a:endParaRPr lang="en-US" sz="1800" dirty="0"/>
          </a:p>
        </p:txBody>
      </p:sp>
      <p:sp>
        <p:nvSpPr>
          <p:cNvPr id="15" name="Shape 13"/>
          <p:cNvSpPr/>
          <p:nvPr/>
        </p:nvSpPr>
        <p:spPr>
          <a:xfrm>
            <a:off x="9464040" y="1755648"/>
            <a:ext cx="502920" cy="502920"/>
          </a:xfrm>
          <a:prstGeom prst="rect">
            <a:avLst/>
          </a:prstGeom>
          <a:solidFill>
            <a:srgbClr val="6699CC"/>
          </a:solidFill>
          <a:ln w="12700">
            <a:solidFill>
              <a:srgbClr val="6699CC"/>
            </a:solidFill>
            <a:prstDash val="solid"/>
          </a:ln>
        </p:spPr>
        <p:txBody>
          <a:bodyPr/>
          <a:lstStyle/>
          <a:p>
            <a:endParaRPr lang="en-CN"/>
          </a:p>
        </p:txBody>
      </p:sp>
      <p:sp>
        <p:nvSpPr>
          <p:cNvPr id="16" name="Text 14"/>
          <p:cNvSpPr/>
          <p:nvPr/>
        </p:nvSpPr>
        <p:spPr>
          <a:xfrm>
            <a:off x="10021824" y="1847088"/>
            <a:ext cx="502920" cy="182880"/>
          </a:xfrm>
          <a:prstGeom prst="rect">
            <a:avLst/>
          </a:prstGeom>
          <a:noFill/>
          <a:ln/>
        </p:spPr>
        <p:txBody>
          <a:bodyPr wrap="square" lIns="0" tIns="0" rIns="0" bIns="0" rtlCol="0" anchor="ctr"/>
          <a:lstStyle/>
          <a:p>
            <a:pPr marL="0" indent="0">
              <a:buNone/>
            </a:pPr>
            <a:r>
              <a:rPr lang="en-US" sz="1100" dirty="0">
                <a:solidFill>
                  <a:srgbClr val="667085"/>
                </a:solidFill>
              </a:rPr>
              <a:t>low</a:t>
            </a:r>
            <a:endParaRPr lang="en-US" sz="1100" dirty="0"/>
          </a:p>
        </p:txBody>
      </p:sp>
      <p:sp>
        <p:nvSpPr>
          <p:cNvPr id="17" name="Shape 15"/>
          <p:cNvSpPr/>
          <p:nvPr/>
        </p:nvSpPr>
        <p:spPr>
          <a:xfrm>
            <a:off x="10561320" y="1755648"/>
            <a:ext cx="502920" cy="502920"/>
          </a:xfrm>
          <a:prstGeom prst="rect">
            <a:avLst/>
          </a:prstGeom>
          <a:solidFill>
            <a:srgbClr val="FFFFFF"/>
          </a:solidFill>
          <a:ln w="12700">
            <a:solidFill>
              <a:srgbClr val="D0D5DD"/>
            </a:solidFill>
            <a:prstDash val="solid"/>
          </a:ln>
        </p:spPr>
        <p:txBody>
          <a:bodyPr/>
          <a:lstStyle/>
          <a:p>
            <a:endParaRPr lang="en-CN"/>
          </a:p>
        </p:txBody>
      </p:sp>
      <p:sp>
        <p:nvSpPr>
          <p:cNvPr id="18" name="Text 16"/>
          <p:cNvSpPr/>
          <p:nvPr/>
        </p:nvSpPr>
        <p:spPr>
          <a:xfrm>
            <a:off x="11119104" y="1847088"/>
            <a:ext cx="640080" cy="182880"/>
          </a:xfrm>
          <a:prstGeom prst="rect">
            <a:avLst/>
          </a:prstGeom>
          <a:noFill/>
          <a:ln/>
        </p:spPr>
        <p:txBody>
          <a:bodyPr wrap="square" lIns="0" tIns="0" rIns="0" bIns="0" rtlCol="0" anchor="ctr"/>
          <a:lstStyle/>
          <a:p>
            <a:pPr marL="0" indent="0">
              <a:buNone/>
            </a:pPr>
            <a:r>
              <a:rPr lang="en-US" sz="1100" dirty="0">
                <a:solidFill>
                  <a:srgbClr val="667085"/>
                </a:solidFill>
              </a:rPr>
              <a:t>mean</a:t>
            </a:r>
            <a:endParaRPr lang="en-US" sz="1100" dirty="0"/>
          </a:p>
        </p:txBody>
      </p:sp>
      <p:sp>
        <p:nvSpPr>
          <p:cNvPr id="19" name="Shape 17"/>
          <p:cNvSpPr/>
          <p:nvPr/>
        </p:nvSpPr>
        <p:spPr>
          <a:xfrm>
            <a:off x="9464040" y="2487168"/>
            <a:ext cx="502920" cy="502920"/>
          </a:xfrm>
          <a:prstGeom prst="rect">
            <a:avLst/>
          </a:prstGeom>
          <a:solidFill>
            <a:srgbClr val="FF3C38"/>
          </a:solidFill>
          <a:ln w="12700">
            <a:solidFill>
              <a:srgbClr val="FF3C38"/>
            </a:solidFill>
            <a:prstDash val="solid"/>
          </a:ln>
        </p:spPr>
        <p:txBody>
          <a:bodyPr/>
          <a:lstStyle/>
          <a:p>
            <a:endParaRPr lang="en-CN"/>
          </a:p>
        </p:txBody>
      </p:sp>
      <p:sp>
        <p:nvSpPr>
          <p:cNvPr id="20" name="Text 18"/>
          <p:cNvSpPr/>
          <p:nvPr/>
        </p:nvSpPr>
        <p:spPr>
          <a:xfrm>
            <a:off x="10021824" y="2578608"/>
            <a:ext cx="502920" cy="182880"/>
          </a:xfrm>
          <a:prstGeom prst="rect">
            <a:avLst/>
          </a:prstGeom>
          <a:noFill/>
          <a:ln/>
        </p:spPr>
        <p:txBody>
          <a:bodyPr wrap="square" lIns="0" tIns="0" rIns="0" bIns="0" rtlCol="0" anchor="ctr"/>
          <a:lstStyle/>
          <a:p>
            <a:pPr marL="0" indent="0">
              <a:buNone/>
            </a:pPr>
            <a:r>
              <a:rPr lang="en-US" sz="1100" dirty="0">
                <a:solidFill>
                  <a:srgbClr val="667085"/>
                </a:solidFill>
              </a:rPr>
              <a:t>high</a:t>
            </a:r>
            <a:endParaRPr lang="en-US" sz="1100" dirty="0"/>
          </a:p>
        </p:txBody>
      </p:sp>
      <p:sp>
        <p:nvSpPr>
          <p:cNvPr id="21" name="Text 19"/>
          <p:cNvSpPr/>
          <p:nvPr/>
        </p:nvSpPr>
        <p:spPr>
          <a:xfrm>
            <a:off x="731520" y="3749040"/>
            <a:ext cx="3520440" cy="105156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Why standardize by gene?
</a:t>
            </a:r>
            <a:r>
              <a:rPr lang="en-US" sz="1400" dirty="0">
                <a:solidFill>
                  <a:srgbClr val="1D2939"/>
                </a:solidFill>
              </a:rPr>
              <a:t>Different genes have different expression ranges. Z-scoring makes the color scale comparable across genes.</a:t>
            </a:r>
            <a:endParaRPr lang="en-US" sz="1400" dirty="0"/>
          </a:p>
        </p:txBody>
      </p:sp>
      <p:sp>
        <p:nvSpPr>
          <p:cNvPr id="22" name="Text 20"/>
          <p:cNvSpPr/>
          <p:nvPr/>
        </p:nvSpPr>
        <p:spPr>
          <a:xfrm>
            <a:off x="4526280" y="3749040"/>
            <a:ext cx="3246120" cy="105156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Why clip at ±3?
</a:t>
            </a:r>
            <a:r>
              <a:rPr lang="en-US" sz="1400" dirty="0">
                <a:solidFill>
                  <a:srgbClr val="1D2939"/>
                </a:solidFill>
              </a:rPr>
              <a:t>Extreme values are capped so a few outliers do not dominate the color scale.</a:t>
            </a:r>
            <a:endParaRPr lang="en-US" sz="1400" dirty="0"/>
          </a:p>
        </p:txBody>
      </p:sp>
      <p:sp>
        <p:nvSpPr>
          <p:cNvPr id="23" name="Text 21"/>
          <p:cNvSpPr/>
          <p:nvPr/>
        </p:nvSpPr>
        <p:spPr>
          <a:xfrm>
            <a:off x="8046720" y="3749040"/>
            <a:ext cx="3200400" cy="1051560"/>
          </a:xfrm>
          <a:prstGeom prst="rect">
            <a:avLst/>
          </a:prstGeom>
          <a:solidFill>
            <a:srgbClr val="FEF3F2"/>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How to read red/blue
</a:t>
            </a:r>
            <a:r>
              <a:rPr lang="en-US" sz="1400" dirty="0">
                <a:solidFill>
                  <a:srgbClr val="1D2939"/>
                </a:solidFill>
              </a:rPr>
              <a:t>Red means higher than that gene’s average; blue means lower than that gene’s average.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Overall workflow</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A supervised ordering is used to reveal immune genes that track CD96 expression.</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5</a:t>
            </a:r>
            <a:endParaRPr lang="en-US" sz="800" dirty="0"/>
          </a:p>
        </p:txBody>
      </p:sp>
      <p:sp>
        <p:nvSpPr>
          <p:cNvPr id="7" name="Text 5"/>
          <p:cNvSpPr/>
          <p:nvPr/>
        </p:nvSpPr>
        <p:spPr>
          <a:xfrm>
            <a:off x="594360" y="1920240"/>
            <a:ext cx="1508760" cy="914400"/>
          </a:xfrm>
          <a:prstGeom prst="rect">
            <a:avLst/>
          </a:prstGeom>
          <a:solidFill>
            <a:srgbClr val="E7F0FA"/>
          </a:solidFill>
          <a:ln w="10160">
            <a:solidFill>
              <a:srgbClr val="D0D5DD"/>
            </a:solidFill>
          </a:ln>
        </p:spPr>
        <p:txBody>
          <a:bodyPr wrap="square" lIns="1016" tIns="1016" rIns="1016" bIns="1016" rtlCol="0" anchor="ctr">
            <a:normAutofit/>
          </a:bodyPr>
          <a:lstStyle/>
          <a:p>
            <a:pPr marL="0" indent="0" algn="ctr">
              <a:buNone/>
            </a:pPr>
            <a:r>
              <a:rPr lang="en-US" sz="1250" b="1" dirty="0">
                <a:solidFill>
                  <a:srgbClr val="1D2939"/>
                </a:solidFill>
              </a:rPr>
              <a:t>Read data
</a:t>
            </a:r>
            <a:r>
              <a:rPr lang="en-US" sz="1250" dirty="0">
                <a:solidFill>
                  <a:srgbClr val="667085"/>
                </a:solidFill>
              </a:rPr>
              <a:t>expression + clinical + gene list</a:t>
            </a:r>
            <a:endParaRPr lang="en-US" sz="1250" dirty="0"/>
          </a:p>
        </p:txBody>
      </p:sp>
      <p:sp>
        <p:nvSpPr>
          <p:cNvPr id="8" name="Shape 6"/>
          <p:cNvSpPr/>
          <p:nvPr/>
        </p:nvSpPr>
        <p:spPr>
          <a:xfrm>
            <a:off x="2167128" y="2377440"/>
            <a:ext cx="329184" cy="0"/>
          </a:xfrm>
          <a:prstGeom prst="line">
            <a:avLst/>
          </a:prstGeom>
          <a:noFill/>
          <a:ln w="22860">
            <a:solidFill>
              <a:srgbClr val="245B9E"/>
            </a:solidFill>
            <a:prstDash val="solid"/>
            <a:headEnd type="none"/>
            <a:tailEnd type="triangle"/>
          </a:ln>
        </p:spPr>
        <p:txBody>
          <a:bodyPr/>
          <a:lstStyle/>
          <a:p>
            <a:endParaRPr lang="en-CN"/>
          </a:p>
        </p:txBody>
      </p:sp>
      <p:sp>
        <p:nvSpPr>
          <p:cNvPr id="9" name="Text 7"/>
          <p:cNvSpPr/>
          <p:nvPr/>
        </p:nvSpPr>
        <p:spPr>
          <a:xfrm>
            <a:off x="2496312" y="1920240"/>
            <a:ext cx="1508760" cy="914400"/>
          </a:xfrm>
          <a:prstGeom prst="rect">
            <a:avLst/>
          </a:prstGeom>
          <a:solidFill>
            <a:srgbClr val="F2F4F7"/>
          </a:solidFill>
          <a:ln w="10160">
            <a:solidFill>
              <a:srgbClr val="D0D5DD"/>
            </a:solidFill>
          </a:ln>
        </p:spPr>
        <p:txBody>
          <a:bodyPr wrap="square" lIns="1016" tIns="1016" rIns="1016" bIns="1016" rtlCol="0" anchor="ctr">
            <a:normAutofit/>
          </a:bodyPr>
          <a:lstStyle/>
          <a:p>
            <a:pPr marL="0" indent="0" algn="ctr">
              <a:buNone/>
            </a:pPr>
            <a:r>
              <a:rPr lang="en-US" sz="1250" b="1" dirty="0">
                <a:solidFill>
                  <a:srgbClr val="1D2939"/>
                </a:solidFill>
              </a:rPr>
              <a:t>Match samples
</a:t>
            </a:r>
            <a:r>
              <a:rPr lang="en-US" sz="1250" dirty="0">
                <a:solidFill>
                  <a:srgbClr val="667085"/>
                </a:solidFill>
              </a:rPr>
              <a:t>keep shared sample IDs</a:t>
            </a:r>
            <a:endParaRPr lang="en-US" sz="1250" dirty="0"/>
          </a:p>
        </p:txBody>
      </p:sp>
      <p:sp>
        <p:nvSpPr>
          <p:cNvPr id="10" name="Shape 8"/>
          <p:cNvSpPr/>
          <p:nvPr/>
        </p:nvSpPr>
        <p:spPr>
          <a:xfrm>
            <a:off x="4069080" y="2377440"/>
            <a:ext cx="329184" cy="0"/>
          </a:xfrm>
          <a:prstGeom prst="line">
            <a:avLst/>
          </a:prstGeom>
          <a:noFill/>
          <a:ln w="22860">
            <a:solidFill>
              <a:srgbClr val="245B9E"/>
            </a:solidFill>
            <a:prstDash val="solid"/>
            <a:headEnd type="none"/>
            <a:tailEnd type="triangle"/>
          </a:ln>
        </p:spPr>
        <p:txBody>
          <a:bodyPr/>
          <a:lstStyle/>
          <a:p>
            <a:endParaRPr lang="en-CN"/>
          </a:p>
        </p:txBody>
      </p:sp>
      <p:sp>
        <p:nvSpPr>
          <p:cNvPr id="11" name="Text 9"/>
          <p:cNvSpPr/>
          <p:nvPr/>
        </p:nvSpPr>
        <p:spPr>
          <a:xfrm>
            <a:off x="4398264" y="1920240"/>
            <a:ext cx="1508760" cy="914400"/>
          </a:xfrm>
          <a:prstGeom prst="rect">
            <a:avLst/>
          </a:prstGeom>
          <a:solidFill>
            <a:srgbClr val="E7F0FA"/>
          </a:solidFill>
          <a:ln w="10160">
            <a:solidFill>
              <a:srgbClr val="D0D5DD"/>
            </a:solidFill>
          </a:ln>
        </p:spPr>
        <p:txBody>
          <a:bodyPr wrap="square" lIns="1016" tIns="1016" rIns="1016" bIns="1016" rtlCol="0" anchor="ctr">
            <a:normAutofit/>
          </a:bodyPr>
          <a:lstStyle/>
          <a:p>
            <a:pPr marL="0" indent="0" algn="ctr">
              <a:buNone/>
            </a:pPr>
            <a:r>
              <a:rPr lang="en-US" sz="1250" b="1" dirty="0">
                <a:solidFill>
                  <a:srgbClr val="1D2939"/>
                </a:solidFill>
              </a:rPr>
              <a:t>Order columns
</a:t>
            </a:r>
            <a:r>
              <a:rPr lang="en-US" sz="1250" dirty="0">
                <a:solidFill>
                  <a:srgbClr val="667085"/>
                </a:solidFill>
              </a:rPr>
              <a:t>low → high CD96</a:t>
            </a:r>
            <a:endParaRPr lang="en-US" sz="1250" dirty="0"/>
          </a:p>
        </p:txBody>
      </p:sp>
      <p:sp>
        <p:nvSpPr>
          <p:cNvPr id="12" name="Shape 10"/>
          <p:cNvSpPr/>
          <p:nvPr/>
        </p:nvSpPr>
        <p:spPr>
          <a:xfrm>
            <a:off x="5971032" y="2377440"/>
            <a:ext cx="329184" cy="0"/>
          </a:xfrm>
          <a:prstGeom prst="line">
            <a:avLst/>
          </a:prstGeom>
          <a:noFill/>
          <a:ln w="22860">
            <a:solidFill>
              <a:srgbClr val="245B9E"/>
            </a:solidFill>
            <a:prstDash val="solid"/>
            <a:headEnd type="none"/>
            <a:tailEnd type="triangle"/>
          </a:ln>
        </p:spPr>
        <p:txBody>
          <a:bodyPr/>
          <a:lstStyle/>
          <a:p>
            <a:endParaRPr lang="en-CN"/>
          </a:p>
        </p:txBody>
      </p:sp>
      <p:sp>
        <p:nvSpPr>
          <p:cNvPr id="13" name="Text 11"/>
          <p:cNvSpPr/>
          <p:nvPr/>
        </p:nvSpPr>
        <p:spPr>
          <a:xfrm>
            <a:off x="6300216" y="1920240"/>
            <a:ext cx="1508760" cy="914400"/>
          </a:xfrm>
          <a:prstGeom prst="rect">
            <a:avLst/>
          </a:prstGeom>
          <a:solidFill>
            <a:srgbClr val="F2F4F7"/>
          </a:solidFill>
          <a:ln w="10160">
            <a:solidFill>
              <a:srgbClr val="D0D5DD"/>
            </a:solidFill>
          </a:ln>
        </p:spPr>
        <p:txBody>
          <a:bodyPr wrap="square" lIns="1016" tIns="1016" rIns="1016" bIns="1016" rtlCol="0" anchor="ctr">
            <a:normAutofit/>
          </a:bodyPr>
          <a:lstStyle/>
          <a:p>
            <a:pPr marL="0" indent="0" algn="ctr">
              <a:buNone/>
            </a:pPr>
            <a:r>
              <a:rPr lang="en-US" sz="1250" b="1" dirty="0">
                <a:solidFill>
                  <a:srgbClr val="1D2939"/>
                </a:solidFill>
              </a:rPr>
              <a:t>Correlate genes
</a:t>
            </a:r>
            <a:r>
              <a:rPr lang="en-US" sz="1250" dirty="0">
                <a:solidFill>
                  <a:srgbClr val="667085"/>
                </a:solidFill>
              </a:rPr>
              <a:t>Spearman rho with CD96</a:t>
            </a:r>
            <a:endParaRPr lang="en-US" sz="1250" dirty="0"/>
          </a:p>
        </p:txBody>
      </p:sp>
      <p:sp>
        <p:nvSpPr>
          <p:cNvPr id="14" name="Shape 12"/>
          <p:cNvSpPr/>
          <p:nvPr/>
        </p:nvSpPr>
        <p:spPr>
          <a:xfrm>
            <a:off x="7872984" y="2377440"/>
            <a:ext cx="329184" cy="0"/>
          </a:xfrm>
          <a:prstGeom prst="line">
            <a:avLst/>
          </a:prstGeom>
          <a:noFill/>
          <a:ln w="22860">
            <a:solidFill>
              <a:srgbClr val="245B9E"/>
            </a:solidFill>
            <a:prstDash val="solid"/>
            <a:headEnd type="none"/>
            <a:tailEnd type="triangle"/>
          </a:ln>
        </p:spPr>
        <p:txBody>
          <a:bodyPr/>
          <a:lstStyle/>
          <a:p>
            <a:endParaRPr lang="en-CN"/>
          </a:p>
        </p:txBody>
      </p:sp>
      <p:sp>
        <p:nvSpPr>
          <p:cNvPr id="15" name="Text 13"/>
          <p:cNvSpPr/>
          <p:nvPr/>
        </p:nvSpPr>
        <p:spPr>
          <a:xfrm>
            <a:off x="8202168" y="1920240"/>
            <a:ext cx="1508760" cy="914400"/>
          </a:xfrm>
          <a:prstGeom prst="rect">
            <a:avLst/>
          </a:prstGeom>
          <a:solidFill>
            <a:srgbClr val="E7F0FA"/>
          </a:solidFill>
          <a:ln w="10160">
            <a:solidFill>
              <a:srgbClr val="D0D5DD"/>
            </a:solidFill>
          </a:ln>
        </p:spPr>
        <p:txBody>
          <a:bodyPr wrap="square" lIns="1016" tIns="1016" rIns="1016" bIns="1016" rtlCol="0" anchor="ctr">
            <a:normAutofit/>
          </a:bodyPr>
          <a:lstStyle/>
          <a:p>
            <a:pPr marL="0" indent="0" algn="ctr">
              <a:buNone/>
            </a:pPr>
            <a:r>
              <a:rPr lang="en-US" sz="1250" b="1" dirty="0">
                <a:solidFill>
                  <a:srgbClr val="1D2939"/>
                </a:solidFill>
              </a:rPr>
              <a:t>Filter + sort
</a:t>
            </a:r>
            <a:r>
              <a:rPr lang="en-US" sz="1250" dirty="0">
                <a:solidFill>
                  <a:srgbClr val="667085"/>
                </a:solidFill>
              </a:rPr>
              <a:t>|rho| &gt; 0.30, p &lt; 0.05</a:t>
            </a:r>
            <a:endParaRPr lang="en-US" sz="1250" dirty="0"/>
          </a:p>
        </p:txBody>
      </p:sp>
      <p:sp>
        <p:nvSpPr>
          <p:cNvPr id="16" name="Shape 14"/>
          <p:cNvSpPr/>
          <p:nvPr/>
        </p:nvSpPr>
        <p:spPr>
          <a:xfrm>
            <a:off x="9774936" y="2377440"/>
            <a:ext cx="329184" cy="0"/>
          </a:xfrm>
          <a:prstGeom prst="line">
            <a:avLst/>
          </a:prstGeom>
          <a:noFill/>
          <a:ln w="22860">
            <a:solidFill>
              <a:srgbClr val="245B9E"/>
            </a:solidFill>
            <a:prstDash val="solid"/>
            <a:headEnd type="none"/>
            <a:tailEnd type="triangle"/>
          </a:ln>
        </p:spPr>
        <p:txBody>
          <a:bodyPr/>
          <a:lstStyle/>
          <a:p>
            <a:endParaRPr lang="en-CN"/>
          </a:p>
        </p:txBody>
      </p:sp>
      <p:sp>
        <p:nvSpPr>
          <p:cNvPr id="17" name="Text 15"/>
          <p:cNvSpPr/>
          <p:nvPr/>
        </p:nvSpPr>
        <p:spPr>
          <a:xfrm>
            <a:off x="10104120" y="1920240"/>
            <a:ext cx="1508760" cy="914400"/>
          </a:xfrm>
          <a:prstGeom prst="rect">
            <a:avLst/>
          </a:prstGeom>
          <a:solidFill>
            <a:srgbClr val="F2F4F7"/>
          </a:solidFill>
          <a:ln w="10160">
            <a:solidFill>
              <a:srgbClr val="D0D5DD"/>
            </a:solidFill>
          </a:ln>
        </p:spPr>
        <p:txBody>
          <a:bodyPr wrap="square" lIns="1016" tIns="1016" rIns="1016" bIns="1016" rtlCol="0" anchor="ctr">
            <a:normAutofit/>
          </a:bodyPr>
          <a:lstStyle/>
          <a:p>
            <a:pPr marL="0" indent="0" algn="ctr">
              <a:buNone/>
            </a:pPr>
            <a:r>
              <a:rPr lang="en-US" sz="1250" b="1" dirty="0">
                <a:solidFill>
                  <a:srgbClr val="1D2939"/>
                </a:solidFill>
              </a:rPr>
              <a:t>Draw heatmap
</a:t>
            </a:r>
            <a:r>
              <a:rPr lang="en-US" sz="1250" dirty="0">
                <a:solidFill>
                  <a:srgbClr val="667085"/>
                </a:solidFill>
              </a:rPr>
              <a:t>z-score, annotations, no clustering</a:t>
            </a:r>
            <a:endParaRPr lang="en-US" sz="1250" dirty="0"/>
          </a:p>
        </p:txBody>
      </p:sp>
      <p:sp>
        <p:nvSpPr>
          <p:cNvPr id="18" name="Text 16"/>
          <p:cNvSpPr/>
          <p:nvPr/>
        </p:nvSpPr>
        <p:spPr>
          <a:xfrm>
            <a:off x="822960" y="3886200"/>
            <a:ext cx="5120640" cy="105156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Important design choice
</a:t>
            </a:r>
            <a:r>
              <a:rPr lang="en-US" sz="1400" dirty="0">
                <a:solidFill>
                  <a:srgbClr val="1D2939"/>
                </a:solidFill>
              </a:rPr>
              <a:t>cluster_cols = FALSE and cluster_rows = FALSE. The Figure 4 pattern is produced by deliberate sorting, not unsupervised clustering.</a:t>
            </a:r>
            <a:endParaRPr lang="en-US" sz="1400" dirty="0"/>
          </a:p>
        </p:txBody>
      </p:sp>
      <p:sp>
        <p:nvSpPr>
          <p:cNvPr id="19" name="Text 17"/>
          <p:cNvSpPr/>
          <p:nvPr/>
        </p:nvSpPr>
        <p:spPr>
          <a:xfrm>
            <a:off x="6355080" y="3886200"/>
            <a:ext cx="4937760" cy="105156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Biological question
</a:t>
            </a:r>
            <a:r>
              <a:rPr lang="en-US" sz="1400" dirty="0">
                <a:solidFill>
                  <a:srgbClr val="1D2939"/>
                </a:solidFill>
              </a:rPr>
              <a:t>Do immune-response genes increase in samples with higher CD96 expression, and does this pattern replicate in CGGA and TCGA?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Code block 1: read and align the data</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The first step is to make a clean genes × samples matrix and align it with clinical metadata.</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6</a:t>
            </a:r>
            <a:endParaRPr lang="en-US" sz="800" dirty="0"/>
          </a:p>
        </p:txBody>
      </p:sp>
      <p:sp>
        <p:nvSpPr>
          <p:cNvPr id="7" name="Text 5"/>
          <p:cNvSpPr/>
          <p:nvPr/>
        </p:nvSpPr>
        <p:spPr>
          <a:xfrm>
            <a:off x="685800" y="1325880"/>
            <a:ext cx="5486400" cy="420624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1040" dirty="0">
                <a:solidFill>
                  <a:srgbClr val="E5E7EB"/>
                </a:solidFill>
                <a:latin typeface="Courier New" pitchFamily="34" charset="0"/>
                <a:ea typeface="Courier New" pitchFamily="34" charset="-122"/>
                <a:cs typeface="Courier New" pitchFamily="34" charset="-120"/>
              </a:rPr>
              <a:t># CGGA expression: genes x samples</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expr &lt;- read.csv("easy_input_CGGA.csv",</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                 row.names = 1, check.names = FALSE)</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expr &lt;- as.matrix(expr)</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mode(expr) &lt;- "numeric"</a:t>
            </a:r>
            <a:endParaRPr lang="en-US" sz="1040" dirty="0"/>
          </a:p>
          <a:p>
            <a:pPr marL="0" indent="0">
              <a:buNone/>
            </a:pP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 Clinical annotation</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clin &lt;- read.csv("CGGA_CD96.csv", check.names = FALSE)</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rownames(clin) &lt;- clin$ID</a:t>
            </a:r>
            <a:endParaRPr lang="en-US" sz="1040" dirty="0"/>
          </a:p>
          <a:p>
            <a:pPr marL="0" indent="0">
              <a:buNone/>
            </a:pP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 Keep only shared samples</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common &lt;- intersect(colnames(expr), rownames(clin))</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expr &lt;- expr[, common, drop = FALSE]</a:t>
            </a:r>
            <a:endParaRPr lang="en-US" sz="1040" dirty="0"/>
          </a:p>
          <a:p>
            <a:pPr marL="0" indent="0">
              <a:buNone/>
            </a:pPr>
            <a:r>
              <a:rPr lang="en-US" sz="1040" dirty="0">
                <a:solidFill>
                  <a:srgbClr val="E5E7EB"/>
                </a:solidFill>
                <a:latin typeface="Courier New" pitchFamily="34" charset="0"/>
                <a:ea typeface="Courier New" pitchFamily="34" charset="-122"/>
                <a:cs typeface="Courier New" pitchFamily="34" charset="-120"/>
              </a:rPr>
              <a:t>clin &lt;- clin[common, , drop = FALSE]</a:t>
            </a:r>
            <a:endParaRPr lang="en-US" sz="1040" dirty="0"/>
          </a:p>
        </p:txBody>
      </p:sp>
      <p:sp>
        <p:nvSpPr>
          <p:cNvPr id="8" name="Text 6"/>
          <p:cNvSpPr/>
          <p:nvPr/>
        </p:nvSpPr>
        <p:spPr>
          <a:xfrm>
            <a:off x="6537960" y="1417320"/>
            <a:ext cx="4663440" cy="109728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What this means
</a:t>
            </a:r>
            <a:r>
              <a:rPr lang="en-US" sz="1400" dirty="0">
                <a:solidFill>
                  <a:srgbClr val="1D2939"/>
                </a:solidFill>
              </a:rPr>
              <a:t>The heatmap can only use samples that have both expression values and clinical annotations. Matching by sample ID prevents annotation shifts.</a:t>
            </a:r>
            <a:endParaRPr lang="en-US" sz="1400" dirty="0"/>
          </a:p>
        </p:txBody>
      </p:sp>
      <p:sp>
        <p:nvSpPr>
          <p:cNvPr id="9" name="Text 7"/>
          <p:cNvSpPr/>
          <p:nvPr/>
        </p:nvSpPr>
        <p:spPr>
          <a:xfrm>
            <a:off x="6537960" y="2880360"/>
            <a:ext cx="4663440" cy="118872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TCGA special step
</a:t>
            </a:r>
            <a:r>
              <a:rPr lang="en-US" sz="1400" dirty="0">
                <a:solidFill>
                  <a:srgbClr val="1D2939"/>
                </a:solidFill>
              </a:rPr>
              <a:t>The TCGA expression file uses Entrez IDs as gene names. The cleaned script converts Entrez IDs to gene symbols before selecting immune genes.</a:t>
            </a:r>
            <a:endParaRPr lang="en-US" sz="1400" dirty="0"/>
          </a:p>
        </p:txBody>
      </p:sp>
      <p:sp>
        <p:nvSpPr>
          <p:cNvPr id="10" name="Text 8"/>
          <p:cNvSpPr/>
          <p:nvPr/>
        </p:nvSpPr>
        <p:spPr>
          <a:xfrm>
            <a:off x="6537960" y="4434840"/>
            <a:ext cx="4663440" cy="91440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Why check.names = FALSE?
</a:t>
            </a:r>
            <a:r>
              <a:rPr lang="en-US" sz="1400" dirty="0">
                <a:solidFill>
                  <a:srgbClr val="1D2939"/>
                </a:solidFill>
              </a:rPr>
              <a:t>It keeps original sample IDs and gene names unchanged, avoiding unwanted punctuation conversion by 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Code block 2: order samples by CD96</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Columns are sorted from low to high CD96 expression.</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7</a:t>
            </a:r>
            <a:endParaRPr lang="en-US" sz="800" dirty="0"/>
          </a:p>
        </p:txBody>
      </p:sp>
      <p:sp>
        <p:nvSpPr>
          <p:cNvPr id="7" name="Text 5"/>
          <p:cNvSpPr/>
          <p:nvPr/>
        </p:nvSpPr>
        <p:spPr>
          <a:xfrm>
            <a:off x="685800" y="1325880"/>
            <a:ext cx="5577840" cy="329184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1050" dirty="0">
                <a:solidFill>
                  <a:srgbClr val="E5E7EB"/>
                </a:solidFill>
                <a:latin typeface="Courier New" pitchFamily="34" charset="0"/>
                <a:ea typeface="Courier New" pitchFamily="34" charset="-122"/>
                <a:cs typeface="Courier New" pitchFamily="34" charset="-120"/>
              </a:rPr>
              <a:t># CD96 expression vector</a:t>
            </a: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cd96 &lt;- as.numeric(expr["CD96", ])</a:t>
            </a: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names(cd96) &lt;- colnames(expr)</a:t>
            </a:r>
            <a:endParaRPr lang="en-US" sz="1050" dirty="0"/>
          </a:p>
          <a:p>
            <a:pPr marL="0" indent="0">
              <a:buNone/>
            </a:pP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 Sample order used in the heatmap</a:t>
            </a: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sample_order &lt;- names(sort(cd96, decreasing = FALSE))</a:t>
            </a:r>
            <a:endParaRPr lang="en-US" sz="1050" dirty="0"/>
          </a:p>
          <a:p>
            <a:pPr marL="0" indent="0">
              <a:buNone/>
            </a:pP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 Immune gene matrix, columns sorted by CD96</a:t>
            </a: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gene_list &lt;- read.table("easy_input_genes.txt",</a:t>
            </a: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                        header = TRUE, sep = "\t")[[1]]</a:t>
            </a: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immune_genes &lt;- intersect(rownames(expr), gene_list)</a:t>
            </a:r>
            <a:endParaRPr lang="en-US" sz="1050" dirty="0"/>
          </a:p>
          <a:p>
            <a:pPr marL="0" indent="0">
              <a:buNone/>
            </a:pPr>
            <a:r>
              <a:rPr lang="en-US" sz="1050" dirty="0">
                <a:solidFill>
                  <a:srgbClr val="E5E7EB"/>
                </a:solidFill>
                <a:latin typeface="Courier New" pitchFamily="34" charset="0"/>
                <a:ea typeface="Courier New" pitchFamily="34" charset="-122"/>
                <a:cs typeface="Courier New" pitchFamily="34" charset="-120"/>
              </a:rPr>
              <a:t>immune_expr &lt;- expr[immune_genes, sample_order, drop = FALSE]</a:t>
            </a:r>
            <a:endParaRPr lang="en-US" sz="1050" dirty="0"/>
          </a:p>
        </p:txBody>
      </p:sp>
      <p:sp>
        <p:nvSpPr>
          <p:cNvPr id="8" name="Text 6"/>
          <p:cNvSpPr/>
          <p:nvPr/>
        </p:nvSpPr>
        <p:spPr>
          <a:xfrm>
            <a:off x="6675120" y="1828800"/>
            <a:ext cx="1097280" cy="256032"/>
          </a:xfrm>
          <a:prstGeom prst="rect">
            <a:avLst/>
          </a:prstGeom>
          <a:noFill/>
          <a:ln/>
        </p:spPr>
        <p:txBody>
          <a:bodyPr wrap="square" lIns="0" tIns="0" rIns="0" bIns="0" rtlCol="0" anchor="ctr"/>
          <a:lstStyle/>
          <a:p>
            <a:pPr marL="0" indent="0">
              <a:buNone/>
            </a:pPr>
            <a:r>
              <a:rPr lang="en-US" sz="1500" b="1" dirty="0">
                <a:solidFill>
                  <a:srgbClr val="245B9E"/>
                </a:solidFill>
              </a:rPr>
              <a:t>Low CD96</a:t>
            </a:r>
            <a:endParaRPr lang="en-US" sz="1500" dirty="0"/>
          </a:p>
        </p:txBody>
      </p:sp>
      <p:sp>
        <p:nvSpPr>
          <p:cNvPr id="9" name="Shape 7"/>
          <p:cNvSpPr/>
          <p:nvPr/>
        </p:nvSpPr>
        <p:spPr>
          <a:xfrm>
            <a:off x="7818120" y="1965960"/>
            <a:ext cx="2651760" cy="0"/>
          </a:xfrm>
          <a:prstGeom prst="line">
            <a:avLst/>
          </a:prstGeom>
          <a:noFill/>
          <a:ln w="22860">
            <a:solidFill>
              <a:srgbClr val="245B9E"/>
            </a:solidFill>
            <a:prstDash val="solid"/>
            <a:headEnd type="none"/>
            <a:tailEnd type="triangle"/>
          </a:ln>
        </p:spPr>
        <p:txBody>
          <a:bodyPr/>
          <a:lstStyle/>
          <a:p>
            <a:endParaRPr lang="en-CN"/>
          </a:p>
        </p:txBody>
      </p:sp>
      <p:sp>
        <p:nvSpPr>
          <p:cNvPr id="10" name="Text 8"/>
          <p:cNvSpPr/>
          <p:nvPr/>
        </p:nvSpPr>
        <p:spPr>
          <a:xfrm>
            <a:off x="10561320" y="1828800"/>
            <a:ext cx="1234440" cy="256032"/>
          </a:xfrm>
          <a:prstGeom prst="rect">
            <a:avLst/>
          </a:prstGeom>
          <a:noFill/>
          <a:ln/>
        </p:spPr>
        <p:txBody>
          <a:bodyPr wrap="square" lIns="0" tIns="0" rIns="0" bIns="0" rtlCol="0" anchor="ctr"/>
          <a:lstStyle/>
          <a:p>
            <a:pPr marL="0" indent="0">
              <a:buNone/>
            </a:pPr>
            <a:r>
              <a:rPr lang="en-US" sz="1500" b="1" dirty="0">
                <a:solidFill>
                  <a:srgbClr val="C84640"/>
                </a:solidFill>
              </a:rPr>
              <a:t>High CD96</a:t>
            </a:r>
            <a:endParaRPr lang="en-US" sz="1500" dirty="0"/>
          </a:p>
        </p:txBody>
      </p:sp>
      <p:sp>
        <p:nvSpPr>
          <p:cNvPr id="11" name="Shape 9"/>
          <p:cNvSpPr/>
          <p:nvPr/>
        </p:nvSpPr>
        <p:spPr>
          <a:xfrm>
            <a:off x="6675120"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2" name="Shape 10"/>
          <p:cNvSpPr/>
          <p:nvPr/>
        </p:nvSpPr>
        <p:spPr>
          <a:xfrm>
            <a:off x="6848856"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3" name="Shape 11"/>
          <p:cNvSpPr/>
          <p:nvPr/>
        </p:nvSpPr>
        <p:spPr>
          <a:xfrm>
            <a:off x="7022592"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4" name="Shape 12"/>
          <p:cNvSpPr/>
          <p:nvPr/>
        </p:nvSpPr>
        <p:spPr>
          <a:xfrm>
            <a:off x="7196328"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5" name="Shape 13"/>
          <p:cNvSpPr/>
          <p:nvPr/>
        </p:nvSpPr>
        <p:spPr>
          <a:xfrm>
            <a:off x="7370064"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6" name="Shape 14"/>
          <p:cNvSpPr/>
          <p:nvPr/>
        </p:nvSpPr>
        <p:spPr>
          <a:xfrm>
            <a:off x="7543800"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7" name="Shape 15"/>
          <p:cNvSpPr/>
          <p:nvPr/>
        </p:nvSpPr>
        <p:spPr>
          <a:xfrm>
            <a:off x="7717536"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8" name="Shape 16"/>
          <p:cNvSpPr/>
          <p:nvPr/>
        </p:nvSpPr>
        <p:spPr>
          <a:xfrm>
            <a:off x="7891272"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19" name="Shape 17"/>
          <p:cNvSpPr/>
          <p:nvPr/>
        </p:nvSpPr>
        <p:spPr>
          <a:xfrm>
            <a:off x="8065008"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20" name="Shape 18"/>
          <p:cNvSpPr/>
          <p:nvPr/>
        </p:nvSpPr>
        <p:spPr>
          <a:xfrm>
            <a:off x="8238744"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21" name="Shape 19"/>
          <p:cNvSpPr/>
          <p:nvPr/>
        </p:nvSpPr>
        <p:spPr>
          <a:xfrm>
            <a:off x="8412480"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22" name="Shape 20"/>
          <p:cNvSpPr/>
          <p:nvPr/>
        </p:nvSpPr>
        <p:spPr>
          <a:xfrm>
            <a:off x="8586216" y="2514600"/>
            <a:ext cx="146304" cy="621792"/>
          </a:xfrm>
          <a:prstGeom prst="rect">
            <a:avLst/>
          </a:prstGeom>
          <a:solidFill>
            <a:srgbClr val="7FB0D6"/>
          </a:solidFill>
          <a:ln w="12700">
            <a:solidFill>
              <a:srgbClr val="7FB0D6"/>
            </a:solidFill>
            <a:prstDash val="solid"/>
          </a:ln>
        </p:spPr>
        <p:txBody>
          <a:bodyPr/>
          <a:lstStyle/>
          <a:p>
            <a:endParaRPr lang="en-CN"/>
          </a:p>
        </p:txBody>
      </p:sp>
      <p:sp>
        <p:nvSpPr>
          <p:cNvPr id="23" name="Shape 21"/>
          <p:cNvSpPr/>
          <p:nvPr/>
        </p:nvSpPr>
        <p:spPr>
          <a:xfrm>
            <a:off x="8759952" y="2514600"/>
            <a:ext cx="146304" cy="621792"/>
          </a:xfrm>
          <a:prstGeom prst="rect">
            <a:avLst/>
          </a:prstGeom>
          <a:solidFill>
            <a:srgbClr val="F4B6B4"/>
          </a:solidFill>
          <a:ln w="12700">
            <a:solidFill>
              <a:srgbClr val="F4B6B4"/>
            </a:solidFill>
            <a:prstDash val="solid"/>
          </a:ln>
        </p:spPr>
        <p:txBody>
          <a:bodyPr/>
          <a:lstStyle/>
          <a:p>
            <a:endParaRPr lang="en-CN"/>
          </a:p>
        </p:txBody>
      </p:sp>
      <p:sp>
        <p:nvSpPr>
          <p:cNvPr id="24" name="Shape 22"/>
          <p:cNvSpPr/>
          <p:nvPr/>
        </p:nvSpPr>
        <p:spPr>
          <a:xfrm>
            <a:off x="8933688" y="2514600"/>
            <a:ext cx="146304" cy="621792"/>
          </a:xfrm>
          <a:prstGeom prst="rect">
            <a:avLst/>
          </a:prstGeom>
          <a:solidFill>
            <a:srgbClr val="F4B6B4"/>
          </a:solidFill>
          <a:ln w="12700">
            <a:solidFill>
              <a:srgbClr val="F4B6B4"/>
            </a:solidFill>
            <a:prstDash val="solid"/>
          </a:ln>
        </p:spPr>
        <p:txBody>
          <a:bodyPr/>
          <a:lstStyle/>
          <a:p>
            <a:endParaRPr lang="en-CN"/>
          </a:p>
        </p:txBody>
      </p:sp>
      <p:sp>
        <p:nvSpPr>
          <p:cNvPr id="25" name="Shape 23"/>
          <p:cNvSpPr/>
          <p:nvPr/>
        </p:nvSpPr>
        <p:spPr>
          <a:xfrm>
            <a:off x="9107424" y="2514600"/>
            <a:ext cx="146304" cy="621792"/>
          </a:xfrm>
          <a:prstGeom prst="rect">
            <a:avLst/>
          </a:prstGeom>
          <a:solidFill>
            <a:srgbClr val="F4B6B4"/>
          </a:solidFill>
          <a:ln w="12700">
            <a:solidFill>
              <a:srgbClr val="F4B6B4"/>
            </a:solidFill>
            <a:prstDash val="solid"/>
          </a:ln>
        </p:spPr>
        <p:txBody>
          <a:bodyPr/>
          <a:lstStyle/>
          <a:p>
            <a:endParaRPr lang="en-CN"/>
          </a:p>
        </p:txBody>
      </p:sp>
      <p:sp>
        <p:nvSpPr>
          <p:cNvPr id="26" name="Shape 24"/>
          <p:cNvSpPr/>
          <p:nvPr/>
        </p:nvSpPr>
        <p:spPr>
          <a:xfrm>
            <a:off x="9281160" y="2514600"/>
            <a:ext cx="146304" cy="621792"/>
          </a:xfrm>
          <a:prstGeom prst="rect">
            <a:avLst/>
          </a:prstGeom>
          <a:solidFill>
            <a:srgbClr val="F4B6B4"/>
          </a:solidFill>
          <a:ln w="12700">
            <a:solidFill>
              <a:srgbClr val="F4B6B4"/>
            </a:solidFill>
            <a:prstDash val="solid"/>
          </a:ln>
        </p:spPr>
        <p:txBody>
          <a:bodyPr/>
          <a:lstStyle/>
          <a:p>
            <a:endParaRPr lang="en-CN"/>
          </a:p>
        </p:txBody>
      </p:sp>
      <p:sp>
        <p:nvSpPr>
          <p:cNvPr id="27" name="Shape 25"/>
          <p:cNvSpPr/>
          <p:nvPr/>
        </p:nvSpPr>
        <p:spPr>
          <a:xfrm>
            <a:off x="9454896" y="2514600"/>
            <a:ext cx="146304" cy="621792"/>
          </a:xfrm>
          <a:prstGeom prst="rect">
            <a:avLst/>
          </a:prstGeom>
          <a:solidFill>
            <a:srgbClr val="F4B6B4"/>
          </a:solidFill>
          <a:ln w="12700">
            <a:solidFill>
              <a:srgbClr val="F4B6B4"/>
            </a:solidFill>
            <a:prstDash val="solid"/>
          </a:ln>
        </p:spPr>
        <p:txBody>
          <a:bodyPr/>
          <a:lstStyle/>
          <a:p>
            <a:endParaRPr lang="en-CN"/>
          </a:p>
        </p:txBody>
      </p:sp>
      <p:sp>
        <p:nvSpPr>
          <p:cNvPr id="28" name="Shape 26"/>
          <p:cNvSpPr/>
          <p:nvPr/>
        </p:nvSpPr>
        <p:spPr>
          <a:xfrm>
            <a:off x="9628632" y="2514600"/>
            <a:ext cx="146304" cy="621792"/>
          </a:xfrm>
          <a:prstGeom prst="rect">
            <a:avLst/>
          </a:prstGeom>
          <a:solidFill>
            <a:srgbClr val="F4B6B4"/>
          </a:solidFill>
          <a:ln w="12700">
            <a:solidFill>
              <a:srgbClr val="F4B6B4"/>
            </a:solidFill>
            <a:prstDash val="solid"/>
          </a:ln>
        </p:spPr>
        <p:txBody>
          <a:bodyPr/>
          <a:lstStyle/>
          <a:p>
            <a:endParaRPr lang="en-CN"/>
          </a:p>
        </p:txBody>
      </p:sp>
      <p:sp>
        <p:nvSpPr>
          <p:cNvPr id="29" name="Shape 27"/>
          <p:cNvSpPr/>
          <p:nvPr/>
        </p:nvSpPr>
        <p:spPr>
          <a:xfrm>
            <a:off x="9802368" y="2514600"/>
            <a:ext cx="146304" cy="621792"/>
          </a:xfrm>
          <a:prstGeom prst="rect">
            <a:avLst/>
          </a:prstGeom>
          <a:solidFill>
            <a:srgbClr val="F4B6B4"/>
          </a:solidFill>
          <a:ln w="12700">
            <a:solidFill>
              <a:srgbClr val="F4B6B4"/>
            </a:solidFill>
            <a:prstDash val="solid"/>
          </a:ln>
        </p:spPr>
        <p:txBody>
          <a:bodyPr/>
          <a:lstStyle/>
          <a:p>
            <a:endParaRPr lang="en-CN"/>
          </a:p>
        </p:txBody>
      </p:sp>
      <p:sp>
        <p:nvSpPr>
          <p:cNvPr id="30" name="Shape 28"/>
          <p:cNvSpPr/>
          <p:nvPr/>
        </p:nvSpPr>
        <p:spPr>
          <a:xfrm>
            <a:off x="9976104" y="2514600"/>
            <a:ext cx="146304" cy="621792"/>
          </a:xfrm>
          <a:prstGeom prst="rect">
            <a:avLst/>
          </a:prstGeom>
          <a:solidFill>
            <a:srgbClr val="FF3C38"/>
          </a:solidFill>
          <a:ln w="12700">
            <a:solidFill>
              <a:srgbClr val="FF3C38"/>
            </a:solidFill>
            <a:prstDash val="solid"/>
          </a:ln>
        </p:spPr>
        <p:txBody>
          <a:bodyPr/>
          <a:lstStyle/>
          <a:p>
            <a:endParaRPr lang="en-CN"/>
          </a:p>
        </p:txBody>
      </p:sp>
      <p:sp>
        <p:nvSpPr>
          <p:cNvPr id="31" name="Shape 29"/>
          <p:cNvSpPr/>
          <p:nvPr/>
        </p:nvSpPr>
        <p:spPr>
          <a:xfrm>
            <a:off x="10149840" y="2514600"/>
            <a:ext cx="146304" cy="621792"/>
          </a:xfrm>
          <a:prstGeom prst="rect">
            <a:avLst/>
          </a:prstGeom>
          <a:solidFill>
            <a:srgbClr val="FF3C38"/>
          </a:solidFill>
          <a:ln w="12700">
            <a:solidFill>
              <a:srgbClr val="FF3C38"/>
            </a:solidFill>
            <a:prstDash val="solid"/>
          </a:ln>
        </p:spPr>
        <p:txBody>
          <a:bodyPr/>
          <a:lstStyle/>
          <a:p>
            <a:endParaRPr lang="en-CN"/>
          </a:p>
        </p:txBody>
      </p:sp>
      <p:sp>
        <p:nvSpPr>
          <p:cNvPr id="32" name="Shape 30"/>
          <p:cNvSpPr/>
          <p:nvPr/>
        </p:nvSpPr>
        <p:spPr>
          <a:xfrm>
            <a:off x="10323576" y="2514600"/>
            <a:ext cx="146304" cy="621792"/>
          </a:xfrm>
          <a:prstGeom prst="rect">
            <a:avLst/>
          </a:prstGeom>
          <a:solidFill>
            <a:srgbClr val="FF3C38"/>
          </a:solidFill>
          <a:ln w="12700">
            <a:solidFill>
              <a:srgbClr val="FF3C38"/>
            </a:solidFill>
            <a:prstDash val="solid"/>
          </a:ln>
        </p:spPr>
        <p:txBody>
          <a:bodyPr/>
          <a:lstStyle/>
          <a:p>
            <a:endParaRPr lang="en-CN"/>
          </a:p>
        </p:txBody>
      </p:sp>
      <p:sp>
        <p:nvSpPr>
          <p:cNvPr id="33" name="Shape 31"/>
          <p:cNvSpPr/>
          <p:nvPr/>
        </p:nvSpPr>
        <p:spPr>
          <a:xfrm>
            <a:off x="10497312" y="2514600"/>
            <a:ext cx="146304" cy="621792"/>
          </a:xfrm>
          <a:prstGeom prst="rect">
            <a:avLst/>
          </a:prstGeom>
          <a:solidFill>
            <a:srgbClr val="FF3C38"/>
          </a:solidFill>
          <a:ln w="12700">
            <a:solidFill>
              <a:srgbClr val="FF3C38"/>
            </a:solidFill>
            <a:prstDash val="solid"/>
          </a:ln>
        </p:spPr>
        <p:txBody>
          <a:bodyPr/>
          <a:lstStyle/>
          <a:p>
            <a:endParaRPr lang="en-CN"/>
          </a:p>
        </p:txBody>
      </p:sp>
      <p:sp>
        <p:nvSpPr>
          <p:cNvPr id="34" name="Shape 32"/>
          <p:cNvSpPr/>
          <p:nvPr/>
        </p:nvSpPr>
        <p:spPr>
          <a:xfrm>
            <a:off x="10671048" y="2514600"/>
            <a:ext cx="146304" cy="621792"/>
          </a:xfrm>
          <a:prstGeom prst="rect">
            <a:avLst/>
          </a:prstGeom>
          <a:solidFill>
            <a:srgbClr val="FF3C38"/>
          </a:solidFill>
          <a:ln w="12700">
            <a:solidFill>
              <a:srgbClr val="FF3C38"/>
            </a:solidFill>
            <a:prstDash val="solid"/>
          </a:ln>
        </p:spPr>
        <p:txBody>
          <a:bodyPr/>
          <a:lstStyle/>
          <a:p>
            <a:endParaRPr lang="en-CN"/>
          </a:p>
        </p:txBody>
      </p:sp>
      <p:sp>
        <p:nvSpPr>
          <p:cNvPr id="35" name="Text 33"/>
          <p:cNvSpPr/>
          <p:nvPr/>
        </p:nvSpPr>
        <p:spPr>
          <a:xfrm>
            <a:off x="6675120" y="3794760"/>
            <a:ext cx="4709160" cy="91440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Interpretation
</a:t>
            </a:r>
            <a:r>
              <a:rPr lang="en-US" sz="1400" dirty="0">
                <a:solidFill>
                  <a:srgbClr val="1D2939"/>
                </a:solidFill>
              </a:rPr>
              <a:t>When genes are positively correlated with CD96, their expression tends to become redder toward the right side of the heatmap.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Code block 3: identify CD96-related immune genes</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Spearman correlation captures monotonic association without assuming linearity.</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8</a:t>
            </a:r>
            <a:endParaRPr lang="en-US" sz="800" dirty="0"/>
          </a:p>
        </p:txBody>
      </p:sp>
      <p:sp>
        <p:nvSpPr>
          <p:cNvPr id="7" name="Text 5"/>
          <p:cNvSpPr/>
          <p:nvPr/>
        </p:nvSpPr>
        <p:spPr>
          <a:xfrm>
            <a:off x="685800" y="1234440"/>
            <a:ext cx="6263640" cy="434340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960" dirty="0">
                <a:solidFill>
                  <a:srgbClr val="E5E7EB"/>
                </a:solidFill>
                <a:latin typeface="Courier New" pitchFamily="34" charset="0"/>
                <a:ea typeface="Courier New" pitchFamily="34" charset="-122"/>
                <a:cs typeface="Courier New" pitchFamily="34" charset="-120"/>
              </a:rPr>
              <a:t>cor_res &lt;- do.call(rbind, lapply(rownames(immune_expr), function(gene) {</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  test &lt;- cor.test(as.numeric(immune_expr[gene, ]),</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                   as.numeric(cd96[sample_order]),</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                   method = "spearman", exact = FALSE)</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  data.frame(gene = gene,</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             rho = unname(test$estimate),</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             p = test$p.value)</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a:t>
            </a:r>
            <a:endParaRPr lang="en-US" sz="960" dirty="0"/>
          </a:p>
          <a:p>
            <a:pPr marL="0" indent="0">
              <a:buNone/>
            </a:pP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pos_genes &lt;- cor_res[cor_res$rho &gt; 0.30 &amp; cor_res$p &lt; 0.05, ]</a:t>
            </a:r>
            <a:endParaRPr lang="en-US" sz="960" dirty="0"/>
          </a:p>
          <a:p>
            <a:pPr marL="0" indent="0">
              <a:buNone/>
            </a:pPr>
            <a:r>
              <a:rPr lang="en-US" sz="960" dirty="0">
                <a:solidFill>
                  <a:srgbClr val="E5E7EB"/>
                </a:solidFill>
                <a:latin typeface="Courier New" pitchFamily="34" charset="0"/>
                <a:ea typeface="Courier New" pitchFamily="34" charset="-122"/>
                <a:cs typeface="Courier New" pitchFamily="34" charset="-120"/>
              </a:rPr>
              <a:t>neg_genes &lt;- cor_res[cor_res$rho &lt; -0.30 &amp; cor_res$p &lt; 0.05, ]</a:t>
            </a:r>
            <a:endParaRPr lang="en-US" sz="960" dirty="0"/>
          </a:p>
        </p:txBody>
      </p:sp>
      <p:sp>
        <p:nvSpPr>
          <p:cNvPr id="8" name="Text 6"/>
          <p:cNvSpPr/>
          <p:nvPr/>
        </p:nvSpPr>
        <p:spPr>
          <a:xfrm>
            <a:off x="7315200" y="1325880"/>
            <a:ext cx="4023360" cy="731520"/>
          </a:xfrm>
          <a:prstGeom prst="rect">
            <a:avLst/>
          </a:prstGeom>
          <a:solidFill>
            <a:srgbClr val="FEF3F2"/>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rho &gt; 0
</a:t>
            </a:r>
            <a:r>
              <a:rPr lang="en-US" sz="1400" dirty="0">
                <a:solidFill>
                  <a:srgbClr val="1D2939"/>
                </a:solidFill>
              </a:rPr>
              <a:t>The gene tends to increase when CD96 increases.</a:t>
            </a:r>
            <a:endParaRPr lang="en-US" sz="1400" dirty="0"/>
          </a:p>
        </p:txBody>
      </p:sp>
      <p:sp>
        <p:nvSpPr>
          <p:cNvPr id="9" name="Text 7"/>
          <p:cNvSpPr/>
          <p:nvPr/>
        </p:nvSpPr>
        <p:spPr>
          <a:xfrm>
            <a:off x="7315200" y="2331720"/>
            <a:ext cx="4023360" cy="73152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rho &lt; 0
</a:t>
            </a:r>
            <a:r>
              <a:rPr lang="en-US" sz="1400" dirty="0">
                <a:solidFill>
                  <a:srgbClr val="1D2939"/>
                </a:solidFill>
              </a:rPr>
              <a:t>The gene tends to decrease when CD96 increases.</a:t>
            </a:r>
            <a:endParaRPr lang="en-US" sz="1400" dirty="0"/>
          </a:p>
        </p:txBody>
      </p:sp>
      <p:sp>
        <p:nvSpPr>
          <p:cNvPr id="10" name="Text 8"/>
          <p:cNvSpPr/>
          <p:nvPr/>
        </p:nvSpPr>
        <p:spPr>
          <a:xfrm>
            <a:off x="7315200" y="3337560"/>
            <a:ext cx="4023360" cy="96012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Cutoff used
</a:t>
            </a:r>
            <a:r>
              <a:rPr lang="en-US" sz="1400" dirty="0">
                <a:solidFill>
                  <a:srgbClr val="1D2939"/>
                </a:solidFill>
              </a:rPr>
              <a:t>The manuscript logic uses |rho| &gt; 0.30 and p &lt; 0.05 to define CD96-related immune genes for the heatmap.</a:t>
            </a:r>
            <a:endParaRPr lang="en-US" sz="1400" dirty="0"/>
          </a:p>
        </p:txBody>
      </p:sp>
      <p:sp>
        <p:nvSpPr>
          <p:cNvPr id="11" name="Text 9"/>
          <p:cNvSpPr/>
          <p:nvPr/>
        </p:nvSpPr>
        <p:spPr>
          <a:xfrm>
            <a:off x="7315200" y="4572000"/>
            <a:ext cx="4023360" cy="73152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Why Spearman?
</a:t>
            </a:r>
            <a:r>
              <a:rPr lang="en-US" sz="1400" dirty="0">
                <a:solidFill>
                  <a:srgbClr val="1D2939"/>
                </a:solidFill>
              </a:rPr>
              <a:t>It ranks samples and is robust to non-normal expression distributions.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Code block 4: scale, annotate, and draw</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The final pheatmap call recreates the manuscript-style heatmap.</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9</a:t>
            </a:r>
            <a:endParaRPr lang="en-US" sz="800" dirty="0"/>
          </a:p>
        </p:txBody>
      </p:sp>
      <p:sp>
        <p:nvSpPr>
          <p:cNvPr id="7" name="Text 5"/>
          <p:cNvSpPr/>
          <p:nvPr/>
        </p:nvSpPr>
        <p:spPr>
          <a:xfrm>
            <a:off x="640080" y="1170432"/>
            <a:ext cx="6446520" cy="498348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870" dirty="0">
                <a:solidFill>
                  <a:srgbClr val="E5E7EB"/>
                </a:solidFill>
                <a:latin typeface="Courier New" pitchFamily="34" charset="0"/>
                <a:ea typeface="Courier New" pitchFamily="34" charset="-122"/>
                <a:cs typeface="Courier New" pitchFamily="34" charset="-120"/>
              </a:rPr>
              <a:t># Row order: weaker-to-stronger positive genes, then negative genes</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pos_genes &lt;- pos_genes[order(pos_genes$rho), ]</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neg_genes &lt;- neg_genes[order(neg_genes$rho), ]</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plot_genes &lt;- c(pos_genes$gene, neg_genes$gene)</a:t>
            </a:r>
            <a:endParaRPr lang="en-US" sz="870" dirty="0"/>
          </a:p>
          <a:p>
            <a:pPr marL="0" indent="0">
              <a:buNone/>
            </a:pP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 Row-wise z-score and clipping</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mat &lt;- immune_expr[plot_genes, sample_order, drop = FALSE]</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z &lt;- t(scale(t(mat)))</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z[is.na(z)] &lt;- 0</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z[z &gt; 3] &lt;- 3; z[z &lt; -3] &lt;- -3</a:t>
            </a:r>
            <a:endParaRPr lang="en-US" sz="870" dirty="0"/>
          </a:p>
          <a:p>
            <a:pPr marL="0" indent="0">
              <a:buNone/>
            </a:pP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pheatmap(z, scale = "none", cluster_cols = FALSE,</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         cluster_rows = FALSE, show_colnames = FALSE,</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         annotation_col = ann_col, annotation_colors = ann_colors,</a:t>
            </a:r>
            <a:endParaRPr lang="en-US" sz="870" dirty="0"/>
          </a:p>
          <a:p>
            <a:pPr marL="0" indent="0">
              <a:buNone/>
            </a:pPr>
            <a:r>
              <a:rPr lang="en-US" sz="870" dirty="0">
                <a:solidFill>
                  <a:srgbClr val="E5E7EB"/>
                </a:solidFill>
                <a:latin typeface="Courier New" pitchFamily="34" charset="0"/>
                <a:ea typeface="Courier New" pitchFamily="34" charset="-122"/>
                <a:cs typeface="Courier New" pitchFamily="34" charset="-120"/>
              </a:rPr>
              <a:t>         color = colorRampPalette(c("#6699CC", "white", "#FF3C38"))(128))</a:t>
            </a:r>
            <a:endParaRPr lang="en-US" sz="870" dirty="0"/>
          </a:p>
        </p:txBody>
      </p:sp>
      <p:sp>
        <p:nvSpPr>
          <p:cNvPr id="8" name="Text 6"/>
          <p:cNvSpPr/>
          <p:nvPr/>
        </p:nvSpPr>
        <p:spPr>
          <a:xfrm>
            <a:off x="7360920" y="1325880"/>
            <a:ext cx="3977640" cy="77724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cluster_cols = FALSE
</a:t>
            </a:r>
            <a:r>
              <a:rPr lang="en-US" sz="1400" dirty="0">
                <a:solidFill>
                  <a:srgbClr val="1D2939"/>
                </a:solidFill>
              </a:rPr>
              <a:t>Keeps samples in the CD96-defined order.</a:t>
            </a:r>
            <a:endParaRPr lang="en-US" sz="1400" dirty="0"/>
          </a:p>
        </p:txBody>
      </p:sp>
      <p:sp>
        <p:nvSpPr>
          <p:cNvPr id="9" name="Text 7"/>
          <p:cNvSpPr/>
          <p:nvPr/>
        </p:nvSpPr>
        <p:spPr>
          <a:xfrm>
            <a:off x="7360920" y="2395728"/>
            <a:ext cx="3977640" cy="77724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cluster_rows = FALSE
</a:t>
            </a:r>
            <a:r>
              <a:rPr lang="en-US" sz="1400" dirty="0">
                <a:solidFill>
                  <a:srgbClr val="1D2939"/>
                </a:solidFill>
              </a:rPr>
              <a:t>Keeps genes in correlation-defined order.</a:t>
            </a:r>
            <a:endParaRPr lang="en-US" sz="1400" dirty="0"/>
          </a:p>
        </p:txBody>
      </p:sp>
      <p:sp>
        <p:nvSpPr>
          <p:cNvPr id="10" name="Text 8"/>
          <p:cNvSpPr/>
          <p:nvPr/>
        </p:nvSpPr>
        <p:spPr>
          <a:xfrm>
            <a:off x="7360920" y="3456432"/>
            <a:ext cx="3977640" cy="77724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annotation_col
</a:t>
            </a:r>
            <a:r>
              <a:rPr lang="en-US" sz="1400" dirty="0">
                <a:solidFill>
                  <a:srgbClr val="1D2939"/>
                </a:solidFill>
              </a:rPr>
              <a:t>Adds IDH, subtype, and CD96 tracks above the heatmap.</a:t>
            </a:r>
            <a:endParaRPr lang="en-US" sz="1400" dirty="0"/>
          </a:p>
        </p:txBody>
      </p:sp>
      <p:sp>
        <p:nvSpPr>
          <p:cNvPr id="11" name="Text 9"/>
          <p:cNvSpPr/>
          <p:nvPr/>
        </p:nvSpPr>
        <p:spPr>
          <a:xfrm>
            <a:off x="7360920" y="4526280"/>
            <a:ext cx="3977640" cy="91440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gaps_row
</a:t>
            </a:r>
            <a:r>
              <a:rPr lang="en-US" sz="1400" dirty="0">
                <a:solidFill>
                  <a:srgbClr val="1D2939"/>
                </a:solidFill>
              </a:rPr>
              <a:t>Separates positive and negative correlation blocks, if negative genes exist.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Reproduced output: CGGA cohort</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The CGGA heatmap shows immune genes increasing across the CD96 gradient.</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10</a:t>
            </a:r>
            <a:endParaRPr lang="en-US" sz="800" dirty="0"/>
          </a:p>
        </p:txBody>
      </p:sp>
      <p:pic>
        <p:nvPicPr>
          <p:cNvPr id="7" name="Image 0" descr="/mnt/data/fig4_assets/cgga_heatmap-1.png"/>
          <p:cNvPicPr>
            <a:picLocks noChangeAspect="1"/>
          </p:cNvPicPr>
          <p:nvPr/>
        </p:nvPicPr>
        <p:blipFill>
          <a:blip r:embed="rId3"/>
          <a:stretch>
            <a:fillRect/>
          </a:stretch>
        </p:blipFill>
        <p:spPr>
          <a:xfrm>
            <a:off x="1028700" y="1115568"/>
            <a:ext cx="5257800" cy="5257800"/>
          </a:xfrm>
          <a:prstGeom prst="rect">
            <a:avLst/>
          </a:prstGeom>
        </p:spPr>
      </p:pic>
      <p:sp>
        <p:nvSpPr>
          <p:cNvPr id="8" name="Text 5"/>
          <p:cNvSpPr/>
          <p:nvPr/>
        </p:nvSpPr>
        <p:spPr>
          <a:xfrm>
            <a:off x="7086600" y="1325880"/>
            <a:ext cx="4389120" cy="1143000"/>
          </a:xfrm>
          <a:prstGeom prst="rect">
            <a:avLst/>
          </a:prstGeom>
          <a:solidFill>
            <a:srgbClr val="FEF3F2"/>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How to read this
</a:t>
            </a:r>
            <a:r>
              <a:rPr lang="en-US" sz="1400" dirty="0">
                <a:solidFill>
                  <a:srgbClr val="1D2939"/>
                </a:solidFill>
              </a:rPr>
              <a:t>The right side contains high-CD96 samples. Red regions on the right indicate immune-response genes with higher standardized expression in high-CD96 tumors.</a:t>
            </a:r>
            <a:endParaRPr lang="en-US" sz="1400" dirty="0"/>
          </a:p>
        </p:txBody>
      </p:sp>
      <p:sp>
        <p:nvSpPr>
          <p:cNvPr id="9" name="Text 6"/>
          <p:cNvSpPr/>
          <p:nvPr/>
        </p:nvSpPr>
        <p:spPr>
          <a:xfrm>
            <a:off x="7086600" y="2788920"/>
            <a:ext cx="4389120" cy="96012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Top tracks
</a:t>
            </a:r>
            <a:r>
              <a:rPr lang="en-US" sz="1400" dirty="0">
                <a:solidFill>
                  <a:srgbClr val="1D2939"/>
                </a:solidFill>
              </a:rPr>
              <a:t>The annotation bars show how IDH status and molecular subtype distribute along the CD96 expression axis.</a:t>
            </a:r>
            <a:endParaRPr lang="en-US" sz="1400" dirty="0"/>
          </a:p>
        </p:txBody>
      </p:sp>
      <p:sp>
        <p:nvSpPr>
          <p:cNvPr id="10" name="Text 7"/>
          <p:cNvSpPr/>
          <p:nvPr/>
        </p:nvSpPr>
        <p:spPr>
          <a:xfrm>
            <a:off x="7086600" y="4114800"/>
            <a:ext cx="4389120" cy="109728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Main takeaway
</a:t>
            </a:r>
            <a:r>
              <a:rPr lang="en-US" sz="1400" dirty="0">
                <a:solidFill>
                  <a:srgbClr val="1D2939"/>
                </a:solidFill>
              </a:rPr>
              <a:t>A broad positive immune-expression pattern supports the statement that CD96 is associated with immune-response activity in glioma.</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Reproduced output: TCGA cohort</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The same supervised heatmap structure can be applied to TCGA for validation.</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11</a:t>
            </a:r>
            <a:endParaRPr lang="en-US" sz="800" dirty="0"/>
          </a:p>
        </p:txBody>
      </p:sp>
      <p:pic>
        <p:nvPicPr>
          <p:cNvPr id="7" name="Image 0" descr="/mnt/data/fig4_assets/tcga_heatmap-1.png"/>
          <p:cNvPicPr>
            <a:picLocks noChangeAspect="1"/>
          </p:cNvPicPr>
          <p:nvPr/>
        </p:nvPicPr>
        <p:blipFill>
          <a:blip r:embed="rId3"/>
          <a:stretch>
            <a:fillRect/>
          </a:stretch>
        </p:blipFill>
        <p:spPr>
          <a:xfrm>
            <a:off x="1028700" y="1115568"/>
            <a:ext cx="5257800" cy="5257800"/>
          </a:xfrm>
          <a:prstGeom prst="rect">
            <a:avLst/>
          </a:prstGeom>
        </p:spPr>
      </p:pic>
      <p:sp>
        <p:nvSpPr>
          <p:cNvPr id="8" name="Text 5"/>
          <p:cNvSpPr/>
          <p:nvPr/>
        </p:nvSpPr>
        <p:spPr>
          <a:xfrm>
            <a:off x="7086600" y="1325880"/>
            <a:ext cx="4389120" cy="109728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Validation logic
</a:t>
            </a:r>
            <a:r>
              <a:rPr lang="en-US" sz="1400" dirty="0">
                <a:solidFill>
                  <a:srgbClr val="1D2939"/>
                </a:solidFill>
              </a:rPr>
              <a:t>Repeating the same algorithm in TCGA checks whether the CD96-associated immune pattern is consistent across cohorts.</a:t>
            </a:r>
            <a:endParaRPr lang="en-US" sz="1400" dirty="0"/>
          </a:p>
        </p:txBody>
      </p:sp>
      <p:sp>
        <p:nvSpPr>
          <p:cNvPr id="9" name="Text 6"/>
          <p:cNvSpPr/>
          <p:nvPr/>
        </p:nvSpPr>
        <p:spPr>
          <a:xfrm>
            <a:off x="7086600" y="2743200"/>
            <a:ext cx="4389120" cy="109728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Expression ID issue
</a:t>
            </a:r>
            <a:r>
              <a:rPr lang="en-US" sz="1400" dirty="0">
                <a:solidFill>
                  <a:srgbClr val="1D2939"/>
                </a:solidFill>
              </a:rPr>
              <a:t>The TCGA file uses Entrez IDs, so the cleaned script maps Entrez IDs to gene symbols before selecting CD96 and immune genes.</a:t>
            </a:r>
            <a:endParaRPr lang="en-US" sz="1400" dirty="0"/>
          </a:p>
        </p:txBody>
      </p:sp>
      <p:sp>
        <p:nvSpPr>
          <p:cNvPr id="10" name="Text 7"/>
          <p:cNvSpPr/>
          <p:nvPr/>
        </p:nvSpPr>
        <p:spPr>
          <a:xfrm>
            <a:off x="7086600" y="4160520"/>
            <a:ext cx="4389120" cy="1005840"/>
          </a:xfrm>
          <a:prstGeom prst="rect">
            <a:avLst/>
          </a:prstGeom>
          <a:solidFill>
            <a:srgbClr val="FEF3F2"/>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Interpretation
</a:t>
            </a:r>
            <a:r>
              <a:rPr lang="en-US" sz="1400" dirty="0">
                <a:solidFill>
                  <a:srgbClr val="1D2939"/>
                </a:solidFill>
              </a:rPr>
              <a:t>A similar right-side red shift indicates that immune genes are also positively related to CD96 in the TCGA cohort.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Heatmap clustering principle</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A clustered heatmap combines color-coded values with similarity-based reordering.</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12</a:t>
            </a:r>
            <a:endParaRPr lang="en-US" sz="800" dirty="0"/>
          </a:p>
        </p:txBody>
      </p:sp>
      <p:sp>
        <p:nvSpPr>
          <p:cNvPr id="7" name="Shape 5"/>
          <p:cNvSpPr/>
          <p:nvPr/>
        </p:nvSpPr>
        <p:spPr>
          <a:xfrm>
            <a:off x="868680" y="1508760"/>
            <a:ext cx="185075" cy="185075"/>
          </a:xfrm>
          <a:prstGeom prst="rect">
            <a:avLst/>
          </a:prstGeom>
          <a:solidFill>
            <a:srgbClr val="6699CC"/>
          </a:solidFill>
          <a:ln w="3175">
            <a:solidFill>
              <a:srgbClr val="FFFFFF"/>
            </a:solidFill>
            <a:prstDash val="solid"/>
          </a:ln>
        </p:spPr>
        <p:txBody>
          <a:bodyPr/>
          <a:lstStyle/>
          <a:p>
            <a:endParaRPr lang="en-CN"/>
          </a:p>
        </p:txBody>
      </p:sp>
      <p:sp>
        <p:nvSpPr>
          <p:cNvPr id="8" name="Shape 6"/>
          <p:cNvSpPr/>
          <p:nvPr/>
        </p:nvSpPr>
        <p:spPr>
          <a:xfrm>
            <a:off x="1069848" y="1508760"/>
            <a:ext cx="185075" cy="185075"/>
          </a:xfrm>
          <a:prstGeom prst="rect">
            <a:avLst/>
          </a:prstGeom>
          <a:solidFill>
            <a:srgbClr val="DDEBF7"/>
          </a:solidFill>
          <a:ln w="3175">
            <a:solidFill>
              <a:srgbClr val="FFFFFF"/>
            </a:solidFill>
            <a:prstDash val="solid"/>
          </a:ln>
        </p:spPr>
        <p:txBody>
          <a:bodyPr/>
          <a:lstStyle/>
          <a:p>
            <a:endParaRPr lang="en-CN"/>
          </a:p>
        </p:txBody>
      </p:sp>
      <p:sp>
        <p:nvSpPr>
          <p:cNvPr id="9" name="Shape 7"/>
          <p:cNvSpPr/>
          <p:nvPr/>
        </p:nvSpPr>
        <p:spPr>
          <a:xfrm>
            <a:off x="1271016" y="1508760"/>
            <a:ext cx="185075" cy="185075"/>
          </a:xfrm>
          <a:prstGeom prst="rect">
            <a:avLst/>
          </a:prstGeom>
          <a:solidFill>
            <a:srgbClr val="FFFFFF"/>
          </a:solidFill>
          <a:ln w="3175">
            <a:solidFill>
              <a:srgbClr val="FFFFFF"/>
            </a:solidFill>
            <a:prstDash val="solid"/>
          </a:ln>
        </p:spPr>
        <p:txBody>
          <a:bodyPr/>
          <a:lstStyle/>
          <a:p>
            <a:endParaRPr lang="en-CN"/>
          </a:p>
        </p:txBody>
      </p:sp>
      <p:sp>
        <p:nvSpPr>
          <p:cNvPr id="10" name="Shape 8"/>
          <p:cNvSpPr/>
          <p:nvPr/>
        </p:nvSpPr>
        <p:spPr>
          <a:xfrm>
            <a:off x="1472184" y="1508760"/>
            <a:ext cx="185075" cy="185075"/>
          </a:xfrm>
          <a:prstGeom prst="rect">
            <a:avLst/>
          </a:prstGeom>
          <a:solidFill>
            <a:srgbClr val="F8C8C6"/>
          </a:solidFill>
          <a:ln w="3175">
            <a:solidFill>
              <a:srgbClr val="FFFFFF"/>
            </a:solidFill>
            <a:prstDash val="solid"/>
          </a:ln>
        </p:spPr>
        <p:txBody>
          <a:bodyPr/>
          <a:lstStyle/>
          <a:p>
            <a:endParaRPr lang="en-CN"/>
          </a:p>
        </p:txBody>
      </p:sp>
      <p:sp>
        <p:nvSpPr>
          <p:cNvPr id="11" name="Shape 9"/>
          <p:cNvSpPr/>
          <p:nvPr/>
        </p:nvSpPr>
        <p:spPr>
          <a:xfrm>
            <a:off x="1673352" y="1508760"/>
            <a:ext cx="185075" cy="185075"/>
          </a:xfrm>
          <a:prstGeom prst="rect">
            <a:avLst/>
          </a:prstGeom>
          <a:solidFill>
            <a:srgbClr val="FF3C38"/>
          </a:solidFill>
          <a:ln w="3175">
            <a:solidFill>
              <a:srgbClr val="FFFFFF"/>
            </a:solidFill>
            <a:prstDash val="solid"/>
          </a:ln>
        </p:spPr>
        <p:txBody>
          <a:bodyPr/>
          <a:lstStyle/>
          <a:p>
            <a:endParaRPr lang="en-CN"/>
          </a:p>
        </p:txBody>
      </p:sp>
      <p:sp>
        <p:nvSpPr>
          <p:cNvPr id="12" name="Shape 10"/>
          <p:cNvSpPr/>
          <p:nvPr/>
        </p:nvSpPr>
        <p:spPr>
          <a:xfrm>
            <a:off x="1874520" y="1508760"/>
            <a:ext cx="185075" cy="185075"/>
          </a:xfrm>
          <a:prstGeom prst="rect">
            <a:avLst/>
          </a:prstGeom>
          <a:solidFill>
            <a:srgbClr val="FF3C38"/>
          </a:solidFill>
          <a:ln w="3175">
            <a:solidFill>
              <a:srgbClr val="FFFFFF"/>
            </a:solidFill>
            <a:prstDash val="solid"/>
          </a:ln>
        </p:spPr>
        <p:txBody>
          <a:bodyPr/>
          <a:lstStyle/>
          <a:p>
            <a:endParaRPr lang="en-CN"/>
          </a:p>
        </p:txBody>
      </p:sp>
      <p:sp>
        <p:nvSpPr>
          <p:cNvPr id="13" name="Shape 11"/>
          <p:cNvSpPr/>
          <p:nvPr/>
        </p:nvSpPr>
        <p:spPr>
          <a:xfrm>
            <a:off x="868680" y="1709928"/>
            <a:ext cx="185075" cy="185075"/>
          </a:xfrm>
          <a:prstGeom prst="rect">
            <a:avLst/>
          </a:prstGeom>
          <a:solidFill>
            <a:srgbClr val="6699CC"/>
          </a:solidFill>
          <a:ln w="3175">
            <a:solidFill>
              <a:srgbClr val="FFFFFF"/>
            </a:solidFill>
            <a:prstDash val="solid"/>
          </a:ln>
        </p:spPr>
        <p:txBody>
          <a:bodyPr/>
          <a:lstStyle/>
          <a:p>
            <a:endParaRPr lang="en-CN"/>
          </a:p>
        </p:txBody>
      </p:sp>
      <p:sp>
        <p:nvSpPr>
          <p:cNvPr id="14" name="Shape 12"/>
          <p:cNvSpPr/>
          <p:nvPr/>
        </p:nvSpPr>
        <p:spPr>
          <a:xfrm>
            <a:off x="1069848" y="1709928"/>
            <a:ext cx="185075" cy="185075"/>
          </a:xfrm>
          <a:prstGeom prst="rect">
            <a:avLst/>
          </a:prstGeom>
          <a:solidFill>
            <a:srgbClr val="DDEBF7"/>
          </a:solidFill>
          <a:ln w="3175">
            <a:solidFill>
              <a:srgbClr val="FFFFFF"/>
            </a:solidFill>
            <a:prstDash val="solid"/>
          </a:ln>
        </p:spPr>
        <p:txBody>
          <a:bodyPr/>
          <a:lstStyle/>
          <a:p>
            <a:endParaRPr lang="en-CN"/>
          </a:p>
        </p:txBody>
      </p:sp>
      <p:sp>
        <p:nvSpPr>
          <p:cNvPr id="15" name="Shape 13"/>
          <p:cNvSpPr/>
          <p:nvPr/>
        </p:nvSpPr>
        <p:spPr>
          <a:xfrm>
            <a:off x="1271016" y="1709928"/>
            <a:ext cx="185075" cy="185075"/>
          </a:xfrm>
          <a:prstGeom prst="rect">
            <a:avLst/>
          </a:prstGeom>
          <a:solidFill>
            <a:srgbClr val="FFFFFF"/>
          </a:solidFill>
          <a:ln w="3175">
            <a:solidFill>
              <a:srgbClr val="FFFFFF"/>
            </a:solidFill>
            <a:prstDash val="solid"/>
          </a:ln>
        </p:spPr>
        <p:txBody>
          <a:bodyPr/>
          <a:lstStyle/>
          <a:p>
            <a:endParaRPr lang="en-CN"/>
          </a:p>
        </p:txBody>
      </p:sp>
      <p:sp>
        <p:nvSpPr>
          <p:cNvPr id="16" name="Shape 14"/>
          <p:cNvSpPr/>
          <p:nvPr/>
        </p:nvSpPr>
        <p:spPr>
          <a:xfrm>
            <a:off x="1472184" y="1709928"/>
            <a:ext cx="185075" cy="185075"/>
          </a:xfrm>
          <a:prstGeom prst="rect">
            <a:avLst/>
          </a:prstGeom>
          <a:solidFill>
            <a:srgbClr val="F8C8C6"/>
          </a:solidFill>
          <a:ln w="3175">
            <a:solidFill>
              <a:srgbClr val="FFFFFF"/>
            </a:solidFill>
            <a:prstDash val="solid"/>
          </a:ln>
        </p:spPr>
        <p:txBody>
          <a:bodyPr/>
          <a:lstStyle/>
          <a:p>
            <a:endParaRPr lang="en-CN"/>
          </a:p>
        </p:txBody>
      </p:sp>
      <p:sp>
        <p:nvSpPr>
          <p:cNvPr id="17" name="Shape 15"/>
          <p:cNvSpPr/>
          <p:nvPr/>
        </p:nvSpPr>
        <p:spPr>
          <a:xfrm>
            <a:off x="1673352" y="1709928"/>
            <a:ext cx="185075" cy="185075"/>
          </a:xfrm>
          <a:prstGeom prst="rect">
            <a:avLst/>
          </a:prstGeom>
          <a:solidFill>
            <a:srgbClr val="F8C8C6"/>
          </a:solidFill>
          <a:ln w="3175">
            <a:solidFill>
              <a:srgbClr val="FFFFFF"/>
            </a:solidFill>
            <a:prstDash val="solid"/>
          </a:ln>
        </p:spPr>
        <p:txBody>
          <a:bodyPr/>
          <a:lstStyle/>
          <a:p>
            <a:endParaRPr lang="en-CN"/>
          </a:p>
        </p:txBody>
      </p:sp>
      <p:sp>
        <p:nvSpPr>
          <p:cNvPr id="18" name="Shape 16"/>
          <p:cNvSpPr/>
          <p:nvPr/>
        </p:nvSpPr>
        <p:spPr>
          <a:xfrm>
            <a:off x="1874520" y="1709928"/>
            <a:ext cx="185075" cy="185075"/>
          </a:xfrm>
          <a:prstGeom prst="rect">
            <a:avLst/>
          </a:prstGeom>
          <a:solidFill>
            <a:srgbClr val="FF3C38"/>
          </a:solidFill>
          <a:ln w="3175">
            <a:solidFill>
              <a:srgbClr val="FFFFFF"/>
            </a:solidFill>
            <a:prstDash val="solid"/>
          </a:ln>
        </p:spPr>
        <p:txBody>
          <a:bodyPr/>
          <a:lstStyle/>
          <a:p>
            <a:endParaRPr lang="en-CN"/>
          </a:p>
        </p:txBody>
      </p:sp>
      <p:sp>
        <p:nvSpPr>
          <p:cNvPr id="19" name="Shape 17"/>
          <p:cNvSpPr/>
          <p:nvPr/>
        </p:nvSpPr>
        <p:spPr>
          <a:xfrm>
            <a:off x="868680" y="1911096"/>
            <a:ext cx="185075" cy="185075"/>
          </a:xfrm>
          <a:prstGeom prst="rect">
            <a:avLst/>
          </a:prstGeom>
          <a:solidFill>
            <a:srgbClr val="DDEBF7"/>
          </a:solidFill>
          <a:ln w="3175">
            <a:solidFill>
              <a:srgbClr val="FFFFFF"/>
            </a:solidFill>
            <a:prstDash val="solid"/>
          </a:ln>
        </p:spPr>
        <p:txBody>
          <a:bodyPr/>
          <a:lstStyle/>
          <a:p>
            <a:endParaRPr lang="en-CN"/>
          </a:p>
        </p:txBody>
      </p:sp>
      <p:sp>
        <p:nvSpPr>
          <p:cNvPr id="20" name="Shape 18"/>
          <p:cNvSpPr/>
          <p:nvPr/>
        </p:nvSpPr>
        <p:spPr>
          <a:xfrm>
            <a:off x="1069848" y="1911096"/>
            <a:ext cx="185075" cy="185075"/>
          </a:xfrm>
          <a:prstGeom prst="rect">
            <a:avLst/>
          </a:prstGeom>
          <a:solidFill>
            <a:srgbClr val="DDEBF7"/>
          </a:solidFill>
          <a:ln w="3175">
            <a:solidFill>
              <a:srgbClr val="FFFFFF"/>
            </a:solidFill>
            <a:prstDash val="solid"/>
          </a:ln>
        </p:spPr>
        <p:txBody>
          <a:bodyPr/>
          <a:lstStyle/>
          <a:p>
            <a:endParaRPr lang="en-CN"/>
          </a:p>
        </p:txBody>
      </p:sp>
      <p:sp>
        <p:nvSpPr>
          <p:cNvPr id="21" name="Shape 19"/>
          <p:cNvSpPr/>
          <p:nvPr/>
        </p:nvSpPr>
        <p:spPr>
          <a:xfrm>
            <a:off x="1271016" y="1911096"/>
            <a:ext cx="185075" cy="185075"/>
          </a:xfrm>
          <a:prstGeom prst="rect">
            <a:avLst/>
          </a:prstGeom>
          <a:solidFill>
            <a:srgbClr val="FFFFFF"/>
          </a:solidFill>
          <a:ln w="3175">
            <a:solidFill>
              <a:srgbClr val="FFFFFF"/>
            </a:solidFill>
            <a:prstDash val="solid"/>
          </a:ln>
        </p:spPr>
        <p:txBody>
          <a:bodyPr/>
          <a:lstStyle/>
          <a:p>
            <a:endParaRPr lang="en-CN"/>
          </a:p>
        </p:txBody>
      </p:sp>
      <p:sp>
        <p:nvSpPr>
          <p:cNvPr id="22" name="Shape 20"/>
          <p:cNvSpPr/>
          <p:nvPr/>
        </p:nvSpPr>
        <p:spPr>
          <a:xfrm>
            <a:off x="1472184" y="1911096"/>
            <a:ext cx="185075" cy="185075"/>
          </a:xfrm>
          <a:prstGeom prst="rect">
            <a:avLst/>
          </a:prstGeom>
          <a:solidFill>
            <a:srgbClr val="FFFFFF"/>
          </a:solidFill>
          <a:ln w="3175">
            <a:solidFill>
              <a:srgbClr val="FFFFFF"/>
            </a:solidFill>
            <a:prstDash val="solid"/>
          </a:ln>
        </p:spPr>
        <p:txBody>
          <a:bodyPr/>
          <a:lstStyle/>
          <a:p>
            <a:endParaRPr lang="en-CN"/>
          </a:p>
        </p:txBody>
      </p:sp>
      <p:sp>
        <p:nvSpPr>
          <p:cNvPr id="23" name="Shape 21"/>
          <p:cNvSpPr/>
          <p:nvPr/>
        </p:nvSpPr>
        <p:spPr>
          <a:xfrm>
            <a:off x="1673352" y="1911096"/>
            <a:ext cx="185075" cy="185075"/>
          </a:xfrm>
          <a:prstGeom prst="rect">
            <a:avLst/>
          </a:prstGeom>
          <a:solidFill>
            <a:srgbClr val="F8C8C6"/>
          </a:solidFill>
          <a:ln w="3175">
            <a:solidFill>
              <a:srgbClr val="FFFFFF"/>
            </a:solidFill>
            <a:prstDash val="solid"/>
          </a:ln>
        </p:spPr>
        <p:txBody>
          <a:bodyPr/>
          <a:lstStyle/>
          <a:p>
            <a:endParaRPr lang="en-CN"/>
          </a:p>
        </p:txBody>
      </p:sp>
      <p:sp>
        <p:nvSpPr>
          <p:cNvPr id="24" name="Shape 22"/>
          <p:cNvSpPr/>
          <p:nvPr/>
        </p:nvSpPr>
        <p:spPr>
          <a:xfrm>
            <a:off x="1874520" y="1911096"/>
            <a:ext cx="185075" cy="185075"/>
          </a:xfrm>
          <a:prstGeom prst="rect">
            <a:avLst/>
          </a:prstGeom>
          <a:solidFill>
            <a:srgbClr val="FF3C38"/>
          </a:solidFill>
          <a:ln w="3175">
            <a:solidFill>
              <a:srgbClr val="FFFFFF"/>
            </a:solidFill>
            <a:prstDash val="solid"/>
          </a:ln>
        </p:spPr>
        <p:txBody>
          <a:bodyPr/>
          <a:lstStyle/>
          <a:p>
            <a:endParaRPr lang="en-CN"/>
          </a:p>
        </p:txBody>
      </p:sp>
      <p:sp>
        <p:nvSpPr>
          <p:cNvPr id="25" name="Shape 23"/>
          <p:cNvSpPr/>
          <p:nvPr/>
        </p:nvSpPr>
        <p:spPr>
          <a:xfrm>
            <a:off x="868680" y="2112264"/>
            <a:ext cx="185075" cy="185075"/>
          </a:xfrm>
          <a:prstGeom prst="rect">
            <a:avLst/>
          </a:prstGeom>
          <a:solidFill>
            <a:srgbClr val="FF3C38"/>
          </a:solidFill>
          <a:ln w="3175">
            <a:solidFill>
              <a:srgbClr val="FFFFFF"/>
            </a:solidFill>
            <a:prstDash val="solid"/>
          </a:ln>
        </p:spPr>
        <p:txBody>
          <a:bodyPr/>
          <a:lstStyle/>
          <a:p>
            <a:endParaRPr lang="en-CN"/>
          </a:p>
        </p:txBody>
      </p:sp>
      <p:sp>
        <p:nvSpPr>
          <p:cNvPr id="26" name="Shape 24"/>
          <p:cNvSpPr/>
          <p:nvPr/>
        </p:nvSpPr>
        <p:spPr>
          <a:xfrm>
            <a:off x="1069848" y="2112264"/>
            <a:ext cx="185075" cy="185075"/>
          </a:xfrm>
          <a:prstGeom prst="rect">
            <a:avLst/>
          </a:prstGeom>
          <a:solidFill>
            <a:srgbClr val="FF3C38"/>
          </a:solidFill>
          <a:ln w="3175">
            <a:solidFill>
              <a:srgbClr val="FFFFFF"/>
            </a:solidFill>
            <a:prstDash val="solid"/>
          </a:ln>
        </p:spPr>
        <p:txBody>
          <a:bodyPr/>
          <a:lstStyle/>
          <a:p>
            <a:endParaRPr lang="en-CN"/>
          </a:p>
        </p:txBody>
      </p:sp>
      <p:sp>
        <p:nvSpPr>
          <p:cNvPr id="27" name="Shape 25"/>
          <p:cNvSpPr/>
          <p:nvPr/>
        </p:nvSpPr>
        <p:spPr>
          <a:xfrm>
            <a:off x="1271016" y="2112264"/>
            <a:ext cx="185075" cy="185075"/>
          </a:xfrm>
          <a:prstGeom prst="rect">
            <a:avLst/>
          </a:prstGeom>
          <a:solidFill>
            <a:srgbClr val="F8C8C6"/>
          </a:solidFill>
          <a:ln w="3175">
            <a:solidFill>
              <a:srgbClr val="FFFFFF"/>
            </a:solidFill>
            <a:prstDash val="solid"/>
          </a:ln>
        </p:spPr>
        <p:txBody>
          <a:bodyPr/>
          <a:lstStyle/>
          <a:p>
            <a:endParaRPr lang="en-CN"/>
          </a:p>
        </p:txBody>
      </p:sp>
      <p:sp>
        <p:nvSpPr>
          <p:cNvPr id="28" name="Shape 26"/>
          <p:cNvSpPr/>
          <p:nvPr/>
        </p:nvSpPr>
        <p:spPr>
          <a:xfrm>
            <a:off x="1472184" y="2112264"/>
            <a:ext cx="185075" cy="185075"/>
          </a:xfrm>
          <a:prstGeom prst="rect">
            <a:avLst/>
          </a:prstGeom>
          <a:solidFill>
            <a:srgbClr val="FFFFFF"/>
          </a:solidFill>
          <a:ln w="3175">
            <a:solidFill>
              <a:srgbClr val="FFFFFF"/>
            </a:solidFill>
            <a:prstDash val="solid"/>
          </a:ln>
        </p:spPr>
        <p:txBody>
          <a:bodyPr/>
          <a:lstStyle/>
          <a:p>
            <a:endParaRPr lang="en-CN"/>
          </a:p>
        </p:txBody>
      </p:sp>
      <p:sp>
        <p:nvSpPr>
          <p:cNvPr id="29" name="Shape 27"/>
          <p:cNvSpPr/>
          <p:nvPr/>
        </p:nvSpPr>
        <p:spPr>
          <a:xfrm>
            <a:off x="1673352" y="2112264"/>
            <a:ext cx="185075" cy="185075"/>
          </a:xfrm>
          <a:prstGeom prst="rect">
            <a:avLst/>
          </a:prstGeom>
          <a:solidFill>
            <a:srgbClr val="DDEBF7"/>
          </a:solidFill>
          <a:ln w="3175">
            <a:solidFill>
              <a:srgbClr val="FFFFFF"/>
            </a:solidFill>
            <a:prstDash val="solid"/>
          </a:ln>
        </p:spPr>
        <p:txBody>
          <a:bodyPr/>
          <a:lstStyle/>
          <a:p>
            <a:endParaRPr lang="en-CN"/>
          </a:p>
        </p:txBody>
      </p:sp>
      <p:sp>
        <p:nvSpPr>
          <p:cNvPr id="30" name="Shape 28"/>
          <p:cNvSpPr/>
          <p:nvPr/>
        </p:nvSpPr>
        <p:spPr>
          <a:xfrm>
            <a:off x="1874520" y="2112264"/>
            <a:ext cx="185075" cy="185075"/>
          </a:xfrm>
          <a:prstGeom prst="rect">
            <a:avLst/>
          </a:prstGeom>
          <a:solidFill>
            <a:srgbClr val="6699CC"/>
          </a:solidFill>
          <a:ln w="3175">
            <a:solidFill>
              <a:srgbClr val="FFFFFF"/>
            </a:solidFill>
            <a:prstDash val="solid"/>
          </a:ln>
        </p:spPr>
        <p:txBody>
          <a:bodyPr/>
          <a:lstStyle/>
          <a:p>
            <a:endParaRPr lang="en-CN"/>
          </a:p>
        </p:txBody>
      </p:sp>
      <p:sp>
        <p:nvSpPr>
          <p:cNvPr id="31" name="Shape 29"/>
          <p:cNvSpPr/>
          <p:nvPr/>
        </p:nvSpPr>
        <p:spPr>
          <a:xfrm>
            <a:off x="868680" y="2313432"/>
            <a:ext cx="185075" cy="185075"/>
          </a:xfrm>
          <a:prstGeom prst="rect">
            <a:avLst/>
          </a:prstGeom>
          <a:solidFill>
            <a:srgbClr val="FF3C38"/>
          </a:solidFill>
          <a:ln w="3175">
            <a:solidFill>
              <a:srgbClr val="FFFFFF"/>
            </a:solidFill>
            <a:prstDash val="solid"/>
          </a:ln>
        </p:spPr>
        <p:txBody>
          <a:bodyPr/>
          <a:lstStyle/>
          <a:p>
            <a:endParaRPr lang="en-CN"/>
          </a:p>
        </p:txBody>
      </p:sp>
      <p:sp>
        <p:nvSpPr>
          <p:cNvPr id="32" name="Shape 30"/>
          <p:cNvSpPr/>
          <p:nvPr/>
        </p:nvSpPr>
        <p:spPr>
          <a:xfrm>
            <a:off x="1069848" y="2313432"/>
            <a:ext cx="185075" cy="185075"/>
          </a:xfrm>
          <a:prstGeom prst="rect">
            <a:avLst/>
          </a:prstGeom>
          <a:solidFill>
            <a:srgbClr val="F8C8C6"/>
          </a:solidFill>
          <a:ln w="3175">
            <a:solidFill>
              <a:srgbClr val="FFFFFF"/>
            </a:solidFill>
            <a:prstDash val="solid"/>
          </a:ln>
        </p:spPr>
        <p:txBody>
          <a:bodyPr/>
          <a:lstStyle/>
          <a:p>
            <a:endParaRPr lang="en-CN"/>
          </a:p>
        </p:txBody>
      </p:sp>
      <p:sp>
        <p:nvSpPr>
          <p:cNvPr id="33" name="Shape 31"/>
          <p:cNvSpPr/>
          <p:nvPr/>
        </p:nvSpPr>
        <p:spPr>
          <a:xfrm>
            <a:off x="1271016" y="2313432"/>
            <a:ext cx="185075" cy="185075"/>
          </a:xfrm>
          <a:prstGeom prst="rect">
            <a:avLst/>
          </a:prstGeom>
          <a:solidFill>
            <a:srgbClr val="F8C8C6"/>
          </a:solidFill>
          <a:ln w="3175">
            <a:solidFill>
              <a:srgbClr val="FFFFFF"/>
            </a:solidFill>
            <a:prstDash val="solid"/>
          </a:ln>
        </p:spPr>
        <p:txBody>
          <a:bodyPr/>
          <a:lstStyle/>
          <a:p>
            <a:endParaRPr lang="en-CN"/>
          </a:p>
        </p:txBody>
      </p:sp>
      <p:sp>
        <p:nvSpPr>
          <p:cNvPr id="34" name="Shape 32"/>
          <p:cNvSpPr/>
          <p:nvPr/>
        </p:nvSpPr>
        <p:spPr>
          <a:xfrm>
            <a:off x="1472184" y="2313432"/>
            <a:ext cx="185075" cy="185075"/>
          </a:xfrm>
          <a:prstGeom prst="rect">
            <a:avLst/>
          </a:prstGeom>
          <a:solidFill>
            <a:srgbClr val="FFFFFF"/>
          </a:solidFill>
          <a:ln w="3175">
            <a:solidFill>
              <a:srgbClr val="FFFFFF"/>
            </a:solidFill>
            <a:prstDash val="solid"/>
          </a:ln>
        </p:spPr>
        <p:txBody>
          <a:bodyPr/>
          <a:lstStyle/>
          <a:p>
            <a:endParaRPr lang="en-CN"/>
          </a:p>
        </p:txBody>
      </p:sp>
      <p:sp>
        <p:nvSpPr>
          <p:cNvPr id="35" name="Shape 33"/>
          <p:cNvSpPr/>
          <p:nvPr/>
        </p:nvSpPr>
        <p:spPr>
          <a:xfrm>
            <a:off x="1673352" y="2313432"/>
            <a:ext cx="185075" cy="185075"/>
          </a:xfrm>
          <a:prstGeom prst="rect">
            <a:avLst/>
          </a:prstGeom>
          <a:solidFill>
            <a:srgbClr val="DDEBF7"/>
          </a:solidFill>
          <a:ln w="3175">
            <a:solidFill>
              <a:srgbClr val="FFFFFF"/>
            </a:solidFill>
            <a:prstDash val="solid"/>
          </a:ln>
        </p:spPr>
        <p:txBody>
          <a:bodyPr/>
          <a:lstStyle/>
          <a:p>
            <a:endParaRPr lang="en-CN"/>
          </a:p>
        </p:txBody>
      </p:sp>
      <p:sp>
        <p:nvSpPr>
          <p:cNvPr id="36" name="Shape 34"/>
          <p:cNvSpPr/>
          <p:nvPr/>
        </p:nvSpPr>
        <p:spPr>
          <a:xfrm>
            <a:off x="1874520" y="2313432"/>
            <a:ext cx="185075" cy="185075"/>
          </a:xfrm>
          <a:prstGeom prst="rect">
            <a:avLst/>
          </a:prstGeom>
          <a:solidFill>
            <a:srgbClr val="6699CC"/>
          </a:solidFill>
          <a:ln w="3175">
            <a:solidFill>
              <a:srgbClr val="FFFFFF"/>
            </a:solidFill>
            <a:prstDash val="solid"/>
          </a:ln>
        </p:spPr>
        <p:txBody>
          <a:bodyPr/>
          <a:lstStyle/>
          <a:p>
            <a:endParaRPr lang="en-CN"/>
          </a:p>
        </p:txBody>
      </p:sp>
      <p:sp>
        <p:nvSpPr>
          <p:cNvPr id="37" name="Shape 35"/>
          <p:cNvSpPr/>
          <p:nvPr/>
        </p:nvSpPr>
        <p:spPr>
          <a:xfrm>
            <a:off x="868680" y="2514600"/>
            <a:ext cx="185075" cy="185075"/>
          </a:xfrm>
          <a:prstGeom prst="rect">
            <a:avLst/>
          </a:prstGeom>
          <a:solidFill>
            <a:srgbClr val="F8C8C6"/>
          </a:solidFill>
          <a:ln w="3175">
            <a:solidFill>
              <a:srgbClr val="FFFFFF"/>
            </a:solidFill>
            <a:prstDash val="solid"/>
          </a:ln>
        </p:spPr>
        <p:txBody>
          <a:bodyPr/>
          <a:lstStyle/>
          <a:p>
            <a:endParaRPr lang="en-CN"/>
          </a:p>
        </p:txBody>
      </p:sp>
      <p:sp>
        <p:nvSpPr>
          <p:cNvPr id="38" name="Shape 36"/>
          <p:cNvSpPr/>
          <p:nvPr/>
        </p:nvSpPr>
        <p:spPr>
          <a:xfrm>
            <a:off x="1069848" y="2514600"/>
            <a:ext cx="185075" cy="185075"/>
          </a:xfrm>
          <a:prstGeom prst="rect">
            <a:avLst/>
          </a:prstGeom>
          <a:solidFill>
            <a:srgbClr val="FF3C38"/>
          </a:solidFill>
          <a:ln w="3175">
            <a:solidFill>
              <a:srgbClr val="FFFFFF"/>
            </a:solidFill>
            <a:prstDash val="solid"/>
          </a:ln>
        </p:spPr>
        <p:txBody>
          <a:bodyPr/>
          <a:lstStyle/>
          <a:p>
            <a:endParaRPr lang="en-CN"/>
          </a:p>
        </p:txBody>
      </p:sp>
      <p:sp>
        <p:nvSpPr>
          <p:cNvPr id="39" name="Shape 37"/>
          <p:cNvSpPr/>
          <p:nvPr/>
        </p:nvSpPr>
        <p:spPr>
          <a:xfrm>
            <a:off x="1271016" y="2514600"/>
            <a:ext cx="185075" cy="185075"/>
          </a:xfrm>
          <a:prstGeom prst="rect">
            <a:avLst/>
          </a:prstGeom>
          <a:solidFill>
            <a:srgbClr val="F8C8C6"/>
          </a:solidFill>
          <a:ln w="3175">
            <a:solidFill>
              <a:srgbClr val="FFFFFF"/>
            </a:solidFill>
            <a:prstDash val="solid"/>
          </a:ln>
        </p:spPr>
        <p:txBody>
          <a:bodyPr/>
          <a:lstStyle/>
          <a:p>
            <a:endParaRPr lang="en-CN"/>
          </a:p>
        </p:txBody>
      </p:sp>
      <p:sp>
        <p:nvSpPr>
          <p:cNvPr id="40" name="Shape 38"/>
          <p:cNvSpPr/>
          <p:nvPr/>
        </p:nvSpPr>
        <p:spPr>
          <a:xfrm>
            <a:off x="1472184" y="2514600"/>
            <a:ext cx="185075" cy="185075"/>
          </a:xfrm>
          <a:prstGeom prst="rect">
            <a:avLst/>
          </a:prstGeom>
          <a:solidFill>
            <a:srgbClr val="FFFFFF"/>
          </a:solidFill>
          <a:ln w="3175">
            <a:solidFill>
              <a:srgbClr val="FFFFFF"/>
            </a:solidFill>
            <a:prstDash val="solid"/>
          </a:ln>
        </p:spPr>
        <p:txBody>
          <a:bodyPr/>
          <a:lstStyle/>
          <a:p>
            <a:endParaRPr lang="en-CN"/>
          </a:p>
        </p:txBody>
      </p:sp>
      <p:sp>
        <p:nvSpPr>
          <p:cNvPr id="41" name="Shape 39"/>
          <p:cNvSpPr/>
          <p:nvPr/>
        </p:nvSpPr>
        <p:spPr>
          <a:xfrm>
            <a:off x="1673352" y="2514600"/>
            <a:ext cx="185075" cy="185075"/>
          </a:xfrm>
          <a:prstGeom prst="rect">
            <a:avLst/>
          </a:prstGeom>
          <a:solidFill>
            <a:srgbClr val="DDEBF7"/>
          </a:solidFill>
          <a:ln w="3175">
            <a:solidFill>
              <a:srgbClr val="FFFFFF"/>
            </a:solidFill>
            <a:prstDash val="solid"/>
          </a:ln>
        </p:spPr>
        <p:txBody>
          <a:bodyPr/>
          <a:lstStyle/>
          <a:p>
            <a:endParaRPr lang="en-CN"/>
          </a:p>
        </p:txBody>
      </p:sp>
      <p:sp>
        <p:nvSpPr>
          <p:cNvPr id="42" name="Shape 40"/>
          <p:cNvSpPr/>
          <p:nvPr/>
        </p:nvSpPr>
        <p:spPr>
          <a:xfrm>
            <a:off x="1874520" y="2514600"/>
            <a:ext cx="185075" cy="185075"/>
          </a:xfrm>
          <a:prstGeom prst="rect">
            <a:avLst/>
          </a:prstGeom>
          <a:solidFill>
            <a:srgbClr val="DDEBF7"/>
          </a:solidFill>
          <a:ln w="3175">
            <a:solidFill>
              <a:srgbClr val="FFFFFF"/>
            </a:solidFill>
            <a:prstDash val="solid"/>
          </a:ln>
        </p:spPr>
        <p:txBody>
          <a:bodyPr/>
          <a:lstStyle/>
          <a:p>
            <a:endParaRPr lang="en-CN"/>
          </a:p>
        </p:txBody>
      </p:sp>
      <p:sp>
        <p:nvSpPr>
          <p:cNvPr id="43" name="Text 41"/>
          <p:cNvSpPr/>
          <p:nvPr/>
        </p:nvSpPr>
        <p:spPr>
          <a:xfrm>
            <a:off x="777240" y="2926080"/>
            <a:ext cx="1828800" cy="228600"/>
          </a:xfrm>
          <a:prstGeom prst="rect">
            <a:avLst/>
          </a:prstGeom>
          <a:noFill/>
          <a:ln/>
        </p:spPr>
        <p:txBody>
          <a:bodyPr wrap="square" lIns="0" tIns="0" rIns="0" bIns="0" rtlCol="0" anchor="ctr"/>
          <a:lstStyle/>
          <a:p>
            <a:pPr marL="0" indent="0" algn="ctr">
              <a:buNone/>
            </a:pPr>
            <a:r>
              <a:rPr lang="en-US" sz="1300" b="1" dirty="0">
                <a:solidFill>
                  <a:srgbClr val="1D2939"/>
                </a:solidFill>
              </a:rPr>
              <a:t>Original matrix</a:t>
            </a:r>
            <a:endParaRPr lang="en-US" sz="1300" dirty="0"/>
          </a:p>
        </p:txBody>
      </p:sp>
      <p:sp>
        <p:nvSpPr>
          <p:cNvPr id="44" name="Shape 42"/>
          <p:cNvSpPr/>
          <p:nvPr/>
        </p:nvSpPr>
        <p:spPr>
          <a:xfrm>
            <a:off x="2743200" y="2148840"/>
            <a:ext cx="868680" cy="0"/>
          </a:xfrm>
          <a:prstGeom prst="line">
            <a:avLst/>
          </a:prstGeom>
          <a:noFill/>
          <a:ln w="22860">
            <a:solidFill>
              <a:srgbClr val="245B9E"/>
            </a:solidFill>
            <a:prstDash val="solid"/>
            <a:headEnd type="none"/>
            <a:tailEnd type="triangle"/>
          </a:ln>
        </p:spPr>
        <p:txBody>
          <a:bodyPr/>
          <a:lstStyle/>
          <a:p>
            <a:endParaRPr lang="en-CN"/>
          </a:p>
        </p:txBody>
      </p:sp>
      <p:sp>
        <p:nvSpPr>
          <p:cNvPr id="45" name="Text 43"/>
          <p:cNvSpPr/>
          <p:nvPr/>
        </p:nvSpPr>
        <p:spPr>
          <a:xfrm>
            <a:off x="3794760" y="1234440"/>
            <a:ext cx="2971800" cy="1298448"/>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1. Calculate similarity
</a:t>
            </a:r>
            <a:r>
              <a:rPr lang="en-US" sz="1400" dirty="0">
                <a:solidFill>
                  <a:srgbClr val="1D2939"/>
                </a:solidFill>
              </a:rPr>
              <a:t>Rows or columns with similar expression patterns should be close together. Common choices: Euclidean distance, Pearson/correlation distance, or Spearman/rank distance.</a:t>
            </a:r>
            <a:endParaRPr lang="en-US" sz="1400" dirty="0"/>
          </a:p>
        </p:txBody>
      </p:sp>
      <p:sp>
        <p:nvSpPr>
          <p:cNvPr id="46" name="Shape 44"/>
          <p:cNvSpPr/>
          <p:nvPr/>
        </p:nvSpPr>
        <p:spPr>
          <a:xfrm>
            <a:off x="6995160" y="2148840"/>
            <a:ext cx="731520" cy="0"/>
          </a:xfrm>
          <a:prstGeom prst="line">
            <a:avLst/>
          </a:prstGeom>
          <a:noFill/>
          <a:ln w="22860">
            <a:solidFill>
              <a:srgbClr val="245B9E"/>
            </a:solidFill>
            <a:prstDash val="solid"/>
            <a:headEnd type="none"/>
            <a:tailEnd type="triangle"/>
          </a:ln>
        </p:spPr>
        <p:txBody>
          <a:bodyPr/>
          <a:lstStyle/>
          <a:p>
            <a:endParaRPr lang="en-CN"/>
          </a:p>
        </p:txBody>
      </p:sp>
      <p:sp>
        <p:nvSpPr>
          <p:cNvPr id="47" name="Text 45"/>
          <p:cNvSpPr/>
          <p:nvPr/>
        </p:nvSpPr>
        <p:spPr>
          <a:xfrm>
            <a:off x="7909560" y="1234440"/>
            <a:ext cx="3063240" cy="109728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2. Build dendrogram
</a:t>
            </a:r>
            <a:r>
              <a:rPr lang="en-US" sz="1400" dirty="0">
                <a:solidFill>
                  <a:srgbClr val="1D2939"/>
                </a:solidFill>
              </a:rPr>
              <a:t>Hierarchical clustering repeatedly joins the most similar rows/columns. The tree height reflects dissimilarity.</a:t>
            </a:r>
            <a:endParaRPr lang="en-US" sz="1400" dirty="0"/>
          </a:p>
        </p:txBody>
      </p:sp>
      <p:sp>
        <p:nvSpPr>
          <p:cNvPr id="48" name="Shape 46"/>
          <p:cNvSpPr/>
          <p:nvPr/>
        </p:nvSpPr>
        <p:spPr>
          <a:xfrm>
            <a:off x="8476488" y="3703320"/>
            <a:ext cx="0" cy="0"/>
          </a:xfrm>
          <a:prstGeom prst="line">
            <a:avLst/>
          </a:prstGeom>
          <a:noFill/>
          <a:ln w="9525">
            <a:solidFill>
              <a:srgbClr val="1D2939"/>
            </a:solidFill>
            <a:prstDash val="solid"/>
          </a:ln>
        </p:spPr>
        <p:txBody>
          <a:bodyPr/>
          <a:lstStyle/>
          <a:p>
            <a:endParaRPr lang="en-CN"/>
          </a:p>
        </p:txBody>
      </p:sp>
      <p:sp>
        <p:nvSpPr>
          <p:cNvPr id="49" name="Shape 47"/>
          <p:cNvSpPr/>
          <p:nvPr/>
        </p:nvSpPr>
        <p:spPr>
          <a:xfrm>
            <a:off x="8846820" y="3703320"/>
            <a:ext cx="0" cy="0"/>
          </a:xfrm>
          <a:prstGeom prst="line">
            <a:avLst/>
          </a:prstGeom>
          <a:noFill/>
          <a:ln w="9525">
            <a:solidFill>
              <a:srgbClr val="1D2939"/>
            </a:solidFill>
            <a:prstDash val="solid"/>
          </a:ln>
        </p:spPr>
        <p:txBody>
          <a:bodyPr/>
          <a:lstStyle/>
          <a:p>
            <a:endParaRPr lang="en-CN"/>
          </a:p>
        </p:txBody>
      </p:sp>
      <p:sp>
        <p:nvSpPr>
          <p:cNvPr id="50" name="Shape 48"/>
          <p:cNvSpPr/>
          <p:nvPr/>
        </p:nvSpPr>
        <p:spPr>
          <a:xfrm>
            <a:off x="9266530" y="3703320"/>
            <a:ext cx="0" cy="0"/>
          </a:xfrm>
          <a:prstGeom prst="line">
            <a:avLst/>
          </a:prstGeom>
          <a:noFill/>
          <a:ln w="9525">
            <a:solidFill>
              <a:srgbClr val="1D2939"/>
            </a:solidFill>
            <a:prstDash val="solid"/>
          </a:ln>
        </p:spPr>
        <p:txBody>
          <a:bodyPr/>
          <a:lstStyle/>
          <a:p>
            <a:endParaRPr lang="en-CN"/>
          </a:p>
        </p:txBody>
      </p:sp>
      <p:sp>
        <p:nvSpPr>
          <p:cNvPr id="51" name="Shape 49"/>
          <p:cNvSpPr/>
          <p:nvPr/>
        </p:nvSpPr>
        <p:spPr>
          <a:xfrm>
            <a:off x="9661550" y="3703320"/>
            <a:ext cx="0" cy="0"/>
          </a:xfrm>
          <a:prstGeom prst="line">
            <a:avLst/>
          </a:prstGeom>
          <a:noFill/>
          <a:ln w="9525">
            <a:solidFill>
              <a:srgbClr val="1D2939"/>
            </a:solidFill>
            <a:prstDash val="solid"/>
          </a:ln>
        </p:spPr>
        <p:txBody>
          <a:bodyPr/>
          <a:lstStyle/>
          <a:p>
            <a:endParaRPr lang="en-CN"/>
          </a:p>
        </p:txBody>
      </p:sp>
      <p:sp>
        <p:nvSpPr>
          <p:cNvPr id="52" name="Shape 50"/>
          <p:cNvSpPr/>
          <p:nvPr/>
        </p:nvSpPr>
        <p:spPr>
          <a:xfrm>
            <a:off x="10081260" y="3703320"/>
            <a:ext cx="0" cy="0"/>
          </a:xfrm>
          <a:prstGeom prst="line">
            <a:avLst/>
          </a:prstGeom>
          <a:noFill/>
          <a:ln w="9525">
            <a:solidFill>
              <a:srgbClr val="1D2939"/>
            </a:solidFill>
            <a:prstDash val="solid"/>
          </a:ln>
        </p:spPr>
        <p:txBody>
          <a:bodyPr/>
          <a:lstStyle/>
          <a:p>
            <a:endParaRPr lang="en-CN"/>
          </a:p>
        </p:txBody>
      </p:sp>
      <p:sp>
        <p:nvSpPr>
          <p:cNvPr id="53" name="Shape 51"/>
          <p:cNvSpPr/>
          <p:nvPr/>
        </p:nvSpPr>
        <p:spPr>
          <a:xfrm>
            <a:off x="10451592" y="3703320"/>
            <a:ext cx="0" cy="0"/>
          </a:xfrm>
          <a:prstGeom prst="line">
            <a:avLst/>
          </a:prstGeom>
          <a:noFill/>
          <a:ln w="9525">
            <a:solidFill>
              <a:srgbClr val="1D2939"/>
            </a:solidFill>
            <a:prstDash val="solid"/>
          </a:ln>
        </p:spPr>
        <p:txBody>
          <a:bodyPr/>
          <a:lstStyle/>
          <a:p>
            <a:endParaRPr lang="en-CN"/>
          </a:p>
        </p:txBody>
      </p:sp>
      <p:sp>
        <p:nvSpPr>
          <p:cNvPr id="54" name="Shape 52"/>
          <p:cNvSpPr/>
          <p:nvPr/>
        </p:nvSpPr>
        <p:spPr>
          <a:xfrm>
            <a:off x="8476488" y="3383280"/>
            <a:ext cx="370332" cy="0"/>
          </a:xfrm>
          <a:prstGeom prst="line">
            <a:avLst/>
          </a:prstGeom>
          <a:noFill/>
          <a:ln w="9525">
            <a:solidFill>
              <a:srgbClr val="1D2939"/>
            </a:solidFill>
            <a:prstDash val="solid"/>
          </a:ln>
        </p:spPr>
        <p:txBody>
          <a:bodyPr/>
          <a:lstStyle/>
          <a:p>
            <a:endParaRPr lang="en-CN"/>
          </a:p>
        </p:txBody>
      </p:sp>
      <p:sp>
        <p:nvSpPr>
          <p:cNvPr id="55" name="Shape 53"/>
          <p:cNvSpPr/>
          <p:nvPr/>
        </p:nvSpPr>
        <p:spPr>
          <a:xfrm>
            <a:off x="8661654" y="3383280"/>
            <a:ext cx="0" cy="0"/>
          </a:xfrm>
          <a:prstGeom prst="line">
            <a:avLst/>
          </a:prstGeom>
          <a:noFill/>
          <a:ln w="9525">
            <a:solidFill>
              <a:srgbClr val="1D2939"/>
            </a:solidFill>
            <a:prstDash val="solid"/>
          </a:ln>
        </p:spPr>
        <p:txBody>
          <a:bodyPr/>
          <a:lstStyle/>
          <a:p>
            <a:endParaRPr lang="en-CN"/>
          </a:p>
        </p:txBody>
      </p:sp>
      <p:sp>
        <p:nvSpPr>
          <p:cNvPr id="56" name="Shape 54"/>
          <p:cNvSpPr/>
          <p:nvPr/>
        </p:nvSpPr>
        <p:spPr>
          <a:xfrm>
            <a:off x="9266530" y="3383280"/>
            <a:ext cx="395021" cy="0"/>
          </a:xfrm>
          <a:prstGeom prst="line">
            <a:avLst/>
          </a:prstGeom>
          <a:noFill/>
          <a:ln w="9525">
            <a:solidFill>
              <a:srgbClr val="1D2939"/>
            </a:solidFill>
            <a:prstDash val="solid"/>
          </a:ln>
        </p:spPr>
        <p:txBody>
          <a:bodyPr/>
          <a:lstStyle/>
          <a:p>
            <a:endParaRPr lang="en-CN"/>
          </a:p>
        </p:txBody>
      </p:sp>
      <p:sp>
        <p:nvSpPr>
          <p:cNvPr id="57" name="Shape 55"/>
          <p:cNvSpPr/>
          <p:nvPr/>
        </p:nvSpPr>
        <p:spPr>
          <a:xfrm>
            <a:off x="9464040" y="3383280"/>
            <a:ext cx="0" cy="0"/>
          </a:xfrm>
          <a:prstGeom prst="line">
            <a:avLst/>
          </a:prstGeom>
          <a:noFill/>
          <a:ln w="9525">
            <a:solidFill>
              <a:srgbClr val="1D2939"/>
            </a:solidFill>
            <a:prstDash val="solid"/>
          </a:ln>
        </p:spPr>
        <p:txBody>
          <a:bodyPr/>
          <a:lstStyle/>
          <a:p>
            <a:endParaRPr lang="en-CN"/>
          </a:p>
        </p:txBody>
      </p:sp>
      <p:sp>
        <p:nvSpPr>
          <p:cNvPr id="58" name="Shape 56"/>
          <p:cNvSpPr/>
          <p:nvPr/>
        </p:nvSpPr>
        <p:spPr>
          <a:xfrm>
            <a:off x="10081260" y="3383280"/>
            <a:ext cx="370332" cy="0"/>
          </a:xfrm>
          <a:prstGeom prst="line">
            <a:avLst/>
          </a:prstGeom>
          <a:noFill/>
          <a:ln w="9525">
            <a:solidFill>
              <a:srgbClr val="1D2939"/>
            </a:solidFill>
            <a:prstDash val="solid"/>
          </a:ln>
        </p:spPr>
        <p:txBody>
          <a:bodyPr/>
          <a:lstStyle/>
          <a:p>
            <a:endParaRPr lang="en-CN"/>
          </a:p>
        </p:txBody>
      </p:sp>
      <p:sp>
        <p:nvSpPr>
          <p:cNvPr id="59" name="Shape 57"/>
          <p:cNvSpPr/>
          <p:nvPr/>
        </p:nvSpPr>
        <p:spPr>
          <a:xfrm>
            <a:off x="10266426" y="3383280"/>
            <a:ext cx="0" cy="0"/>
          </a:xfrm>
          <a:prstGeom prst="line">
            <a:avLst/>
          </a:prstGeom>
          <a:noFill/>
          <a:ln w="9525">
            <a:solidFill>
              <a:srgbClr val="1D2939"/>
            </a:solidFill>
            <a:prstDash val="solid"/>
          </a:ln>
        </p:spPr>
        <p:txBody>
          <a:bodyPr/>
          <a:lstStyle/>
          <a:p>
            <a:endParaRPr lang="en-CN"/>
          </a:p>
        </p:txBody>
      </p:sp>
      <p:sp>
        <p:nvSpPr>
          <p:cNvPr id="60" name="Shape 58"/>
          <p:cNvSpPr/>
          <p:nvPr/>
        </p:nvSpPr>
        <p:spPr>
          <a:xfrm>
            <a:off x="8661654" y="3154680"/>
            <a:ext cx="802386" cy="0"/>
          </a:xfrm>
          <a:prstGeom prst="line">
            <a:avLst/>
          </a:prstGeom>
          <a:noFill/>
          <a:ln w="9525">
            <a:solidFill>
              <a:srgbClr val="1D2939"/>
            </a:solidFill>
            <a:prstDash val="solid"/>
          </a:ln>
        </p:spPr>
        <p:txBody>
          <a:bodyPr/>
          <a:lstStyle/>
          <a:p>
            <a:endParaRPr lang="en-CN"/>
          </a:p>
        </p:txBody>
      </p:sp>
      <p:sp>
        <p:nvSpPr>
          <p:cNvPr id="61" name="Shape 59"/>
          <p:cNvSpPr/>
          <p:nvPr/>
        </p:nvSpPr>
        <p:spPr>
          <a:xfrm>
            <a:off x="9062847" y="3154680"/>
            <a:ext cx="0" cy="0"/>
          </a:xfrm>
          <a:prstGeom prst="line">
            <a:avLst/>
          </a:prstGeom>
          <a:noFill/>
          <a:ln w="9525">
            <a:solidFill>
              <a:srgbClr val="1D2939"/>
            </a:solidFill>
            <a:prstDash val="solid"/>
          </a:ln>
        </p:spPr>
        <p:txBody>
          <a:bodyPr/>
          <a:lstStyle/>
          <a:p>
            <a:endParaRPr lang="en-CN"/>
          </a:p>
        </p:txBody>
      </p:sp>
      <p:sp>
        <p:nvSpPr>
          <p:cNvPr id="62" name="Shape 60"/>
          <p:cNvSpPr/>
          <p:nvPr/>
        </p:nvSpPr>
        <p:spPr>
          <a:xfrm>
            <a:off x="9062847" y="2926080"/>
            <a:ext cx="1203579" cy="0"/>
          </a:xfrm>
          <a:prstGeom prst="line">
            <a:avLst/>
          </a:prstGeom>
          <a:noFill/>
          <a:ln w="9525">
            <a:solidFill>
              <a:srgbClr val="1D2939"/>
            </a:solidFill>
            <a:prstDash val="solid"/>
          </a:ln>
        </p:spPr>
        <p:txBody>
          <a:bodyPr/>
          <a:lstStyle/>
          <a:p>
            <a:endParaRPr lang="en-CN"/>
          </a:p>
        </p:txBody>
      </p:sp>
      <p:sp>
        <p:nvSpPr>
          <p:cNvPr id="63" name="Shape 61"/>
          <p:cNvSpPr/>
          <p:nvPr/>
        </p:nvSpPr>
        <p:spPr>
          <a:xfrm>
            <a:off x="6995160" y="4343400"/>
            <a:ext cx="0" cy="0"/>
          </a:xfrm>
          <a:prstGeom prst="line">
            <a:avLst/>
          </a:prstGeom>
          <a:noFill/>
          <a:ln w="22860">
            <a:solidFill>
              <a:srgbClr val="245B9E"/>
            </a:solidFill>
            <a:prstDash val="solid"/>
            <a:headEnd type="none"/>
            <a:tailEnd type="triangle"/>
          </a:ln>
        </p:spPr>
        <p:txBody>
          <a:bodyPr/>
          <a:lstStyle/>
          <a:p>
            <a:endParaRPr lang="en-CN"/>
          </a:p>
        </p:txBody>
      </p:sp>
      <p:sp>
        <p:nvSpPr>
          <p:cNvPr id="64" name="Shape 62"/>
          <p:cNvSpPr/>
          <p:nvPr/>
        </p:nvSpPr>
        <p:spPr>
          <a:xfrm>
            <a:off x="3794760" y="3794760"/>
            <a:ext cx="185075" cy="185075"/>
          </a:xfrm>
          <a:prstGeom prst="rect">
            <a:avLst/>
          </a:prstGeom>
          <a:solidFill>
            <a:srgbClr val="6699CC"/>
          </a:solidFill>
          <a:ln w="3175">
            <a:solidFill>
              <a:srgbClr val="FFFFFF"/>
            </a:solidFill>
            <a:prstDash val="solid"/>
          </a:ln>
        </p:spPr>
        <p:txBody>
          <a:bodyPr/>
          <a:lstStyle/>
          <a:p>
            <a:endParaRPr lang="en-CN"/>
          </a:p>
        </p:txBody>
      </p:sp>
      <p:sp>
        <p:nvSpPr>
          <p:cNvPr id="65" name="Shape 63"/>
          <p:cNvSpPr/>
          <p:nvPr/>
        </p:nvSpPr>
        <p:spPr>
          <a:xfrm>
            <a:off x="3995928" y="3794760"/>
            <a:ext cx="185075" cy="185075"/>
          </a:xfrm>
          <a:prstGeom prst="rect">
            <a:avLst/>
          </a:prstGeom>
          <a:solidFill>
            <a:srgbClr val="DDEBF7"/>
          </a:solidFill>
          <a:ln w="3175">
            <a:solidFill>
              <a:srgbClr val="FFFFFF"/>
            </a:solidFill>
            <a:prstDash val="solid"/>
          </a:ln>
        </p:spPr>
        <p:txBody>
          <a:bodyPr/>
          <a:lstStyle/>
          <a:p>
            <a:endParaRPr lang="en-CN"/>
          </a:p>
        </p:txBody>
      </p:sp>
      <p:sp>
        <p:nvSpPr>
          <p:cNvPr id="66" name="Shape 64"/>
          <p:cNvSpPr/>
          <p:nvPr/>
        </p:nvSpPr>
        <p:spPr>
          <a:xfrm>
            <a:off x="4197096" y="3794760"/>
            <a:ext cx="185075" cy="185075"/>
          </a:xfrm>
          <a:prstGeom prst="rect">
            <a:avLst/>
          </a:prstGeom>
          <a:solidFill>
            <a:srgbClr val="FFFFFF"/>
          </a:solidFill>
          <a:ln w="3175">
            <a:solidFill>
              <a:srgbClr val="FFFFFF"/>
            </a:solidFill>
            <a:prstDash val="solid"/>
          </a:ln>
        </p:spPr>
        <p:txBody>
          <a:bodyPr/>
          <a:lstStyle/>
          <a:p>
            <a:endParaRPr lang="en-CN"/>
          </a:p>
        </p:txBody>
      </p:sp>
      <p:sp>
        <p:nvSpPr>
          <p:cNvPr id="67" name="Shape 65"/>
          <p:cNvSpPr/>
          <p:nvPr/>
        </p:nvSpPr>
        <p:spPr>
          <a:xfrm>
            <a:off x="4398264" y="3794760"/>
            <a:ext cx="185075" cy="185075"/>
          </a:xfrm>
          <a:prstGeom prst="rect">
            <a:avLst/>
          </a:prstGeom>
          <a:solidFill>
            <a:srgbClr val="F8C8C6"/>
          </a:solidFill>
          <a:ln w="3175">
            <a:solidFill>
              <a:srgbClr val="FFFFFF"/>
            </a:solidFill>
            <a:prstDash val="solid"/>
          </a:ln>
        </p:spPr>
        <p:txBody>
          <a:bodyPr/>
          <a:lstStyle/>
          <a:p>
            <a:endParaRPr lang="en-CN"/>
          </a:p>
        </p:txBody>
      </p:sp>
      <p:sp>
        <p:nvSpPr>
          <p:cNvPr id="68" name="Shape 66"/>
          <p:cNvSpPr/>
          <p:nvPr/>
        </p:nvSpPr>
        <p:spPr>
          <a:xfrm>
            <a:off x="4599432" y="3794760"/>
            <a:ext cx="185075" cy="185075"/>
          </a:xfrm>
          <a:prstGeom prst="rect">
            <a:avLst/>
          </a:prstGeom>
          <a:solidFill>
            <a:srgbClr val="FF3C38"/>
          </a:solidFill>
          <a:ln w="3175">
            <a:solidFill>
              <a:srgbClr val="FFFFFF"/>
            </a:solidFill>
            <a:prstDash val="solid"/>
          </a:ln>
        </p:spPr>
        <p:txBody>
          <a:bodyPr/>
          <a:lstStyle/>
          <a:p>
            <a:endParaRPr lang="en-CN"/>
          </a:p>
        </p:txBody>
      </p:sp>
      <p:sp>
        <p:nvSpPr>
          <p:cNvPr id="69" name="Shape 67"/>
          <p:cNvSpPr/>
          <p:nvPr/>
        </p:nvSpPr>
        <p:spPr>
          <a:xfrm>
            <a:off x="4800600" y="3794760"/>
            <a:ext cx="185075" cy="185075"/>
          </a:xfrm>
          <a:prstGeom prst="rect">
            <a:avLst/>
          </a:prstGeom>
          <a:solidFill>
            <a:srgbClr val="FF3C38"/>
          </a:solidFill>
          <a:ln w="3175">
            <a:solidFill>
              <a:srgbClr val="FFFFFF"/>
            </a:solidFill>
            <a:prstDash val="solid"/>
          </a:ln>
        </p:spPr>
        <p:txBody>
          <a:bodyPr/>
          <a:lstStyle/>
          <a:p>
            <a:endParaRPr lang="en-CN"/>
          </a:p>
        </p:txBody>
      </p:sp>
      <p:sp>
        <p:nvSpPr>
          <p:cNvPr id="70" name="Shape 68"/>
          <p:cNvSpPr/>
          <p:nvPr/>
        </p:nvSpPr>
        <p:spPr>
          <a:xfrm>
            <a:off x="3794760" y="3995928"/>
            <a:ext cx="185075" cy="185075"/>
          </a:xfrm>
          <a:prstGeom prst="rect">
            <a:avLst/>
          </a:prstGeom>
          <a:solidFill>
            <a:srgbClr val="6699CC"/>
          </a:solidFill>
          <a:ln w="3175">
            <a:solidFill>
              <a:srgbClr val="FFFFFF"/>
            </a:solidFill>
            <a:prstDash val="solid"/>
          </a:ln>
        </p:spPr>
        <p:txBody>
          <a:bodyPr/>
          <a:lstStyle/>
          <a:p>
            <a:endParaRPr lang="en-CN"/>
          </a:p>
        </p:txBody>
      </p:sp>
      <p:sp>
        <p:nvSpPr>
          <p:cNvPr id="71" name="Shape 69"/>
          <p:cNvSpPr/>
          <p:nvPr/>
        </p:nvSpPr>
        <p:spPr>
          <a:xfrm>
            <a:off x="3995928" y="3995928"/>
            <a:ext cx="185075" cy="185075"/>
          </a:xfrm>
          <a:prstGeom prst="rect">
            <a:avLst/>
          </a:prstGeom>
          <a:solidFill>
            <a:srgbClr val="DDEBF7"/>
          </a:solidFill>
          <a:ln w="3175">
            <a:solidFill>
              <a:srgbClr val="FFFFFF"/>
            </a:solidFill>
            <a:prstDash val="solid"/>
          </a:ln>
        </p:spPr>
        <p:txBody>
          <a:bodyPr/>
          <a:lstStyle/>
          <a:p>
            <a:endParaRPr lang="en-CN"/>
          </a:p>
        </p:txBody>
      </p:sp>
      <p:sp>
        <p:nvSpPr>
          <p:cNvPr id="72" name="Shape 70"/>
          <p:cNvSpPr/>
          <p:nvPr/>
        </p:nvSpPr>
        <p:spPr>
          <a:xfrm>
            <a:off x="4197096" y="3995928"/>
            <a:ext cx="185075" cy="185075"/>
          </a:xfrm>
          <a:prstGeom prst="rect">
            <a:avLst/>
          </a:prstGeom>
          <a:solidFill>
            <a:srgbClr val="FFFFFF"/>
          </a:solidFill>
          <a:ln w="3175">
            <a:solidFill>
              <a:srgbClr val="FFFFFF"/>
            </a:solidFill>
            <a:prstDash val="solid"/>
          </a:ln>
        </p:spPr>
        <p:txBody>
          <a:bodyPr/>
          <a:lstStyle/>
          <a:p>
            <a:endParaRPr lang="en-CN"/>
          </a:p>
        </p:txBody>
      </p:sp>
      <p:sp>
        <p:nvSpPr>
          <p:cNvPr id="73" name="Shape 71"/>
          <p:cNvSpPr/>
          <p:nvPr/>
        </p:nvSpPr>
        <p:spPr>
          <a:xfrm>
            <a:off x="4398264" y="3995928"/>
            <a:ext cx="185075" cy="185075"/>
          </a:xfrm>
          <a:prstGeom prst="rect">
            <a:avLst/>
          </a:prstGeom>
          <a:solidFill>
            <a:srgbClr val="F8C8C6"/>
          </a:solidFill>
          <a:ln w="3175">
            <a:solidFill>
              <a:srgbClr val="FFFFFF"/>
            </a:solidFill>
            <a:prstDash val="solid"/>
          </a:ln>
        </p:spPr>
        <p:txBody>
          <a:bodyPr/>
          <a:lstStyle/>
          <a:p>
            <a:endParaRPr lang="en-CN"/>
          </a:p>
        </p:txBody>
      </p:sp>
      <p:sp>
        <p:nvSpPr>
          <p:cNvPr id="74" name="Shape 72"/>
          <p:cNvSpPr/>
          <p:nvPr/>
        </p:nvSpPr>
        <p:spPr>
          <a:xfrm>
            <a:off x="4599432" y="3995928"/>
            <a:ext cx="185075" cy="185075"/>
          </a:xfrm>
          <a:prstGeom prst="rect">
            <a:avLst/>
          </a:prstGeom>
          <a:solidFill>
            <a:srgbClr val="F8C8C6"/>
          </a:solidFill>
          <a:ln w="3175">
            <a:solidFill>
              <a:srgbClr val="FFFFFF"/>
            </a:solidFill>
            <a:prstDash val="solid"/>
          </a:ln>
        </p:spPr>
        <p:txBody>
          <a:bodyPr/>
          <a:lstStyle/>
          <a:p>
            <a:endParaRPr lang="en-CN"/>
          </a:p>
        </p:txBody>
      </p:sp>
      <p:sp>
        <p:nvSpPr>
          <p:cNvPr id="75" name="Shape 73"/>
          <p:cNvSpPr/>
          <p:nvPr/>
        </p:nvSpPr>
        <p:spPr>
          <a:xfrm>
            <a:off x="4800600" y="3995928"/>
            <a:ext cx="185075" cy="185075"/>
          </a:xfrm>
          <a:prstGeom prst="rect">
            <a:avLst/>
          </a:prstGeom>
          <a:solidFill>
            <a:srgbClr val="FF3C38"/>
          </a:solidFill>
          <a:ln w="3175">
            <a:solidFill>
              <a:srgbClr val="FFFFFF"/>
            </a:solidFill>
            <a:prstDash val="solid"/>
          </a:ln>
        </p:spPr>
        <p:txBody>
          <a:bodyPr/>
          <a:lstStyle/>
          <a:p>
            <a:endParaRPr lang="en-CN"/>
          </a:p>
        </p:txBody>
      </p:sp>
      <p:sp>
        <p:nvSpPr>
          <p:cNvPr id="76" name="Shape 74"/>
          <p:cNvSpPr/>
          <p:nvPr/>
        </p:nvSpPr>
        <p:spPr>
          <a:xfrm>
            <a:off x="3794760" y="4197096"/>
            <a:ext cx="185075" cy="185075"/>
          </a:xfrm>
          <a:prstGeom prst="rect">
            <a:avLst/>
          </a:prstGeom>
          <a:solidFill>
            <a:srgbClr val="DDEBF7"/>
          </a:solidFill>
          <a:ln w="3175">
            <a:solidFill>
              <a:srgbClr val="FFFFFF"/>
            </a:solidFill>
            <a:prstDash val="solid"/>
          </a:ln>
        </p:spPr>
        <p:txBody>
          <a:bodyPr/>
          <a:lstStyle/>
          <a:p>
            <a:endParaRPr lang="en-CN"/>
          </a:p>
        </p:txBody>
      </p:sp>
      <p:sp>
        <p:nvSpPr>
          <p:cNvPr id="77" name="Shape 75"/>
          <p:cNvSpPr/>
          <p:nvPr/>
        </p:nvSpPr>
        <p:spPr>
          <a:xfrm>
            <a:off x="3995928" y="4197096"/>
            <a:ext cx="185075" cy="185075"/>
          </a:xfrm>
          <a:prstGeom prst="rect">
            <a:avLst/>
          </a:prstGeom>
          <a:solidFill>
            <a:srgbClr val="DDEBF7"/>
          </a:solidFill>
          <a:ln w="3175">
            <a:solidFill>
              <a:srgbClr val="FFFFFF"/>
            </a:solidFill>
            <a:prstDash val="solid"/>
          </a:ln>
        </p:spPr>
        <p:txBody>
          <a:bodyPr/>
          <a:lstStyle/>
          <a:p>
            <a:endParaRPr lang="en-CN"/>
          </a:p>
        </p:txBody>
      </p:sp>
      <p:sp>
        <p:nvSpPr>
          <p:cNvPr id="78" name="Shape 76"/>
          <p:cNvSpPr/>
          <p:nvPr/>
        </p:nvSpPr>
        <p:spPr>
          <a:xfrm>
            <a:off x="4197096" y="4197096"/>
            <a:ext cx="185075" cy="185075"/>
          </a:xfrm>
          <a:prstGeom prst="rect">
            <a:avLst/>
          </a:prstGeom>
          <a:solidFill>
            <a:srgbClr val="FFFFFF"/>
          </a:solidFill>
          <a:ln w="3175">
            <a:solidFill>
              <a:srgbClr val="FFFFFF"/>
            </a:solidFill>
            <a:prstDash val="solid"/>
          </a:ln>
        </p:spPr>
        <p:txBody>
          <a:bodyPr/>
          <a:lstStyle/>
          <a:p>
            <a:endParaRPr lang="en-CN"/>
          </a:p>
        </p:txBody>
      </p:sp>
      <p:sp>
        <p:nvSpPr>
          <p:cNvPr id="79" name="Shape 77"/>
          <p:cNvSpPr/>
          <p:nvPr/>
        </p:nvSpPr>
        <p:spPr>
          <a:xfrm>
            <a:off x="4398264" y="4197096"/>
            <a:ext cx="185075" cy="185075"/>
          </a:xfrm>
          <a:prstGeom prst="rect">
            <a:avLst/>
          </a:prstGeom>
          <a:solidFill>
            <a:srgbClr val="FFFFFF"/>
          </a:solidFill>
          <a:ln w="3175">
            <a:solidFill>
              <a:srgbClr val="FFFFFF"/>
            </a:solidFill>
            <a:prstDash val="solid"/>
          </a:ln>
        </p:spPr>
        <p:txBody>
          <a:bodyPr/>
          <a:lstStyle/>
          <a:p>
            <a:endParaRPr lang="en-CN"/>
          </a:p>
        </p:txBody>
      </p:sp>
      <p:sp>
        <p:nvSpPr>
          <p:cNvPr id="80" name="Shape 78"/>
          <p:cNvSpPr/>
          <p:nvPr/>
        </p:nvSpPr>
        <p:spPr>
          <a:xfrm>
            <a:off x="4599432" y="4197096"/>
            <a:ext cx="185075" cy="185075"/>
          </a:xfrm>
          <a:prstGeom prst="rect">
            <a:avLst/>
          </a:prstGeom>
          <a:solidFill>
            <a:srgbClr val="F8C8C6"/>
          </a:solidFill>
          <a:ln w="3175">
            <a:solidFill>
              <a:srgbClr val="FFFFFF"/>
            </a:solidFill>
            <a:prstDash val="solid"/>
          </a:ln>
        </p:spPr>
        <p:txBody>
          <a:bodyPr/>
          <a:lstStyle/>
          <a:p>
            <a:endParaRPr lang="en-CN"/>
          </a:p>
        </p:txBody>
      </p:sp>
      <p:sp>
        <p:nvSpPr>
          <p:cNvPr id="81" name="Shape 79"/>
          <p:cNvSpPr/>
          <p:nvPr/>
        </p:nvSpPr>
        <p:spPr>
          <a:xfrm>
            <a:off x="4800600" y="4197096"/>
            <a:ext cx="185075" cy="185075"/>
          </a:xfrm>
          <a:prstGeom prst="rect">
            <a:avLst/>
          </a:prstGeom>
          <a:solidFill>
            <a:srgbClr val="FF3C38"/>
          </a:solidFill>
          <a:ln w="3175">
            <a:solidFill>
              <a:srgbClr val="FFFFFF"/>
            </a:solidFill>
            <a:prstDash val="solid"/>
          </a:ln>
        </p:spPr>
        <p:txBody>
          <a:bodyPr/>
          <a:lstStyle/>
          <a:p>
            <a:endParaRPr lang="en-CN"/>
          </a:p>
        </p:txBody>
      </p:sp>
      <p:sp>
        <p:nvSpPr>
          <p:cNvPr id="82" name="Shape 80"/>
          <p:cNvSpPr/>
          <p:nvPr/>
        </p:nvSpPr>
        <p:spPr>
          <a:xfrm>
            <a:off x="3794760" y="4398264"/>
            <a:ext cx="185075" cy="185075"/>
          </a:xfrm>
          <a:prstGeom prst="rect">
            <a:avLst/>
          </a:prstGeom>
          <a:solidFill>
            <a:srgbClr val="F8C8C6"/>
          </a:solidFill>
          <a:ln w="3175">
            <a:solidFill>
              <a:srgbClr val="FFFFFF"/>
            </a:solidFill>
            <a:prstDash val="solid"/>
          </a:ln>
        </p:spPr>
        <p:txBody>
          <a:bodyPr/>
          <a:lstStyle/>
          <a:p>
            <a:endParaRPr lang="en-CN"/>
          </a:p>
        </p:txBody>
      </p:sp>
      <p:sp>
        <p:nvSpPr>
          <p:cNvPr id="83" name="Shape 81"/>
          <p:cNvSpPr/>
          <p:nvPr/>
        </p:nvSpPr>
        <p:spPr>
          <a:xfrm>
            <a:off x="3995928" y="4398264"/>
            <a:ext cx="185075" cy="185075"/>
          </a:xfrm>
          <a:prstGeom prst="rect">
            <a:avLst/>
          </a:prstGeom>
          <a:solidFill>
            <a:srgbClr val="FF3C38"/>
          </a:solidFill>
          <a:ln w="3175">
            <a:solidFill>
              <a:srgbClr val="FFFFFF"/>
            </a:solidFill>
            <a:prstDash val="solid"/>
          </a:ln>
        </p:spPr>
        <p:txBody>
          <a:bodyPr/>
          <a:lstStyle/>
          <a:p>
            <a:endParaRPr lang="en-CN"/>
          </a:p>
        </p:txBody>
      </p:sp>
      <p:sp>
        <p:nvSpPr>
          <p:cNvPr id="84" name="Shape 82"/>
          <p:cNvSpPr/>
          <p:nvPr/>
        </p:nvSpPr>
        <p:spPr>
          <a:xfrm>
            <a:off x="4197096" y="4398264"/>
            <a:ext cx="185075" cy="185075"/>
          </a:xfrm>
          <a:prstGeom prst="rect">
            <a:avLst/>
          </a:prstGeom>
          <a:solidFill>
            <a:srgbClr val="F8C8C6"/>
          </a:solidFill>
          <a:ln w="3175">
            <a:solidFill>
              <a:srgbClr val="FFFFFF"/>
            </a:solidFill>
            <a:prstDash val="solid"/>
          </a:ln>
        </p:spPr>
        <p:txBody>
          <a:bodyPr/>
          <a:lstStyle/>
          <a:p>
            <a:endParaRPr lang="en-CN"/>
          </a:p>
        </p:txBody>
      </p:sp>
      <p:sp>
        <p:nvSpPr>
          <p:cNvPr id="85" name="Shape 83"/>
          <p:cNvSpPr/>
          <p:nvPr/>
        </p:nvSpPr>
        <p:spPr>
          <a:xfrm>
            <a:off x="4398264" y="4398264"/>
            <a:ext cx="185075" cy="185075"/>
          </a:xfrm>
          <a:prstGeom prst="rect">
            <a:avLst/>
          </a:prstGeom>
          <a:solidFill>
            <a:srgbClr val="FFFFFF"/>
          </a:solidFill>
          <a:ln w="3175">
            <a:solidFill>
              <a:srgbClr val="FFFFFF"/>
            </a:solidFill>
            <a:prstDash val="solid"/>
          </a:ln>
        </p:spPr>
        <p:txBody>
          <a:bodyPr/>
          <a:lstStyle/>
          <a:p>
            <a:endParaRPr lang="en-CN"/>
          </a:p>
        </p:txBody>
      </p:sp>
      <p:sp>
        <p:nvSpPr>
          <p:cNvPr id="86" name="Shape 84"/>
          <p:cNvSpPr/>
          <p:nvPr/>
        </p:nvSpPr>
        <p:spPr>
          <a:xfrm>
            <a:off x="4599432" y="4398264"/>
            <a:ext cx="185075" cy="185075"/>
          </a:xfrm>
          <a:prstGeom prst="rect">
            <a:avLst/>
          </a:prstGeom>
          <a:solidFill>
            <a:srgbClr val="DDEBF7"/>
          </a:solidFill>
          <a:ln w="3175">
            <a:solidFill>
              <a:srgbClr val="FFFFFF"/>
            </a:solidFill>
            <a:prstDash val="solid"/>
          </a:ln>
        </p:spPr>
        <p:txBody>
          <a:bodyPr/>
          <a:lstStyle/>
          <a:p>
            <a:endParaRPr lang="en-CN"/>
          </a:p>
        </p:txBody>
      </p:sp>
      <p:sp>
        <p:nvSpPr>
          <p:cNvPr id="87" name="Shape 85"/>
          <p:cNvSpPr/>
          <p:nvPr/>
        </p:nvSpPr>
        <p:spPr>
          <a:xfrm>
            <a:off x="4800600" y="4398264"/>
            <a:ext cx="185075" cy="185075"/>
          </a:xfrm>
          <a:prstGeom prst="rect">
            <a:avLst/>
          </a:prstGeom>
          <a:solidFill>
            <a:srgbClr val="DDEBF7"/>
          </a:solidFill>
          <a:ln w="3175">
            <a:solidFill>
              <a:srgbClr val="FFFFFF"/>
            </a:solidFill>
            <a:prstDash val="solid"/>
          </a:ln>
        </p:spPr>
        <p:txBody>
          <a:bodyPr/>
          <a:lstStyle/>
          <a:p>
            <a:endParaRPr lang="en-CN"/>
          </a:p>
        </p:txBody>
      </p:sp>
      <p:sp>
        <p:nvSpPr>
          <p:cNvPr id="88" name="Shape 86"/>
          <p:cNvSpPr/>
          <p:nvPr/>
        </p:nvSpPr>
        <p:spPr>
          <a:xfrm>
            <a:off x="3794760" y="4599432"/>
            <a:ext cx="185075" cy="185075"/>
          </a:xfrm>
          <a:prstGeom prst="rect">
            <a:avLst/>
          </a:prstGeom>
          <a:solidFill>
            <a:srgbClr val="FF3C38"/>
          </a:solidFill>
          <a:ln w="3175">
            <a:solidFill>
              <a:srgbClr val="FFFFFF"/>
            </a:solidFill>
            <a:prstDash val="solid"/>
          </a:ln>
        </p:spPr>
        <p:txBody>
          <a:bodyPr/>
          <a:lstStyle/>
          <a:p>
            <a:endParaRPr lang="en-CN"/>
          </a:p>
        </p:txBody>
      </p:sp>
      <p:sp>
        <p:nvSpPr>
          <p:cNvPr id="89" name="Shape 87"/>
          <p:cNvSpPr/>
          <p:nvPr/>
        </p:nvSpPr>
        <p:spPr>
          <a:xfrm>
            <a:off x="3995928" y="4599432"/>
            <a:ext cx="185075" cy="185075"/>
          </a:xfrm>
          <a:prstGeom prst="rect">
            <a:avLst/>
          </a:prstGeom>
          <a:solidFill>
            <a:srgbClr val="F8C8C6"/>
          </a:solidFill>
          <a:ln w="3175">
            <a:solidFill>
              <a:srgbClr val="FFFFFF"/>
            </a:solidFill>
            <a:prstDash val="solid"/>
          </a:ln>
        </p:spPr>
        <p:txBody>
          <a:bodyPr/>
          <a:lstStyle/>
          <a:p>
            <a:endParaRPr lang="en-CN"/>
          </a:p>
        </p:txBody>
      </p:sp>
      <p:sp>
        <p:nvSpPr>
          <p:cNvPr id="90" name="Shape 88"/>
          <p:cNvSpPr/>
          <p:nvPr/>
        </p:nvSpPr>
        <p:spPr>
          <a:xfrm>
            <a:off x="4197096" y="4599432"/>
            <a:ext cx="185075" cy="185075"/>
          </a:xfrm>
          <a:prstGeom prst="rect">
            <a:avLst/>
          </a:prstGeom>
          <a:solidFill>
            <a:srgbClr val="F8C8C6"/>
          </a:solidFill>
          <a:ln w="3175">
            <a:solidFill>
              <a:srgbClr val="FFFFFF"/>
            </a:solidFill>
            <a:prstDash val="solid"/>
          </a:ln>
        </p:spPr>
        <p:txBody>
          <a:bodyPr/>
          <a:lstStyle/>
          <a:p>
            <a:endParaRPr lang="en-CN"/>
          </a:p>
        </p:txBody>
      </p:sp>
      <p:sp>
        <p:nvSpPr>
          <p:cNvPr id="91" name="Shape 89"/>
          <p:cNvSpPr/>
          <p:nvPr/>
        </p:nvSpPr>
        <p:spPr>
          <a:xfrm>
            <a:off x="4398264" y="4599432"/>
            <a:ext cx="185075" cy="185075"/>
          </a:xfrm>
          <a:prstGeom prst="rect">
            <a:avLst/>
          </a:prstGeom>
          <a:solidFill>
            <a:srgbClr val="FFFFFF"/>
          </a:solidFill>
          <a:ln w="3175">
            <a:solidFill>
              <a:srgbClr val="FFFFFF"/>
            </a:solidFill>
            <a:prstDash val="solid"/>
          </a:ln>
        </p:spPr>
        <p:txBody>
          <a:bodyPr/>
          <a:lstStyle/>
          <a:p>
            <a:endParaRPr lang="en-CN"/>
          </a:p>
        </p:txBody>
      </p:sp>
      <p:sp>
        <p:nvSpPr>
          <p:cNvPr id="92" name="Shape 90"/>
          <p:cNvSpPr/>
          <p:nvPr/>
        </p:nvSpPr>
        <p:spPr>
          <a:xfrm>
            <a:off x="4599432" y="4599432"/>
            <a:ext cx="185075" cy="185075"/>
          </a:xfrm>
          <a:prstGeom prst="rect">
            <a:avLst/>
          </a:prstGeom>
          <a:solidFill>
            <a:srgbClr val="DDEBF7"/>
          </a:solidFill>
          <a:ln w="3175">
            <a:solidFill>
              <a:srgbClr val="FFFFFF"/>
            </a:solidFill>
            <a:prstDash val="solid"/>
          </a:ln>
        </p:spPr>
        <p:txBody>
          <a:bodyPr/>
          <a:lstStyle/>
          <a:p>
            <a:endParaRPr lang="en-CN"/>
          </a:p>
        </p:txBody>
      </p:sp>
      <p:sp>
        <p:nvSpPr>
          <p:cNvPr id="93" name="Shape 91"/>
          <p:cNvSpPr/>
          <p:nvPr/>
        </p:nvSpPr>
        <p:spPr>
          <a:xfrm>
            <a:off x="4800600" y="4599432"/>
            <a:ext cx="185075" cy="185075"/>
          </a:xfrm>
          <a:prstGeom prst="rect">
            <a:avLst/>
          </a:prstGeom>
          <a:solidFill>
            <a:srgbClr val="6699CC"/>
          </a:solidFill>
          <a:ln w="3175">
            <a:solidFill>
              <a:srgbClr val="FFFFFF"/>
            </a:solidFill>
            <a:prstDash val="solid"/>
          </a:ln>
        </p:spPr>
        <p:txBody>
          <a:bodyPr/>
          <a:lstStyle/>
          <a:p>
            <a:endParaRPr lang="en-CN"/>
          </a:p>
        </p:txBody>
      </p:sp>
      <p:sp>
        <p:nvSpPr>
          <p:cNvPr id="94" name="Shape 92"/>
          <p:cNvSpPr/>
          <p:nvPr/>
        </p:nvSpPr>
        <p:spPr>
          <a:xfrm>
            <a:off x="3794760" y="4800600"/>
            <a:ext cx="185075" cy="185075"/>
          </a:xfrm>
          <a:prstGeom prst="rect">
            <a:avLst/>
          </a:prstGeom>
          <a:solidFill>
            <a:srgbClr val="FF3C38"/>
          </a:solidFill>
          <a:ln w="3175">
            <a:solidFill>
              <a:srgbClr val="FFFFFF"/>
            </a:solidFill>
            <a:prstDash val="solid"/>
          </a:ln>
        </p:spPr>
        <p:txBody>
          <a:bodyPr/>
          <a:lstStyle/>
          <a:p>
            <a:endParaRPr lang="en-CN"/>
          </a:p>
        </p:txBody>
      </p:sp>
      <p:sp>
        <p:nvSpPr>
          <p:cNvPr id="95" name="Shape 93"/>
          <p:cNvSpPr/>
          <p:nvPr/>
        </p:nvSpPr>
        <p:spPr>
          <a:xfrm>
            <a:off x="3995928" y="4800600"/>
            <a:ext cx="185075" cy="185075"/>
          </a:xfrm>
          <a:prstGeom prst="rect">
            <a:avLst/>
          </a:prstGeom>
          <a:solidFill>
            <a:srgbClr val="FF3C38"/>
          </a:solidFill>
          <a:ln w="3175">
            <a:solidFill>
              <a:srgbClr val="FFFFFF"/>
            </a:solidFill>
            <a:prstDash val="solid"/>
          </a:ln>
        </p:spPr>
        <p:txBody>
          <a:bodyPr/>
          <a:lstStyle/>
          <a:p>
            <a:endParaRPr lang="en-CN"/>
          </a:p>
        </p:txBody>
      </p:sp>
      <p:sp>
        <p:nvSpPr>
          <p:cNvPr id="96" name="Shape 94"/>
          <p:cNvSpPr/>
          <p:nvPr/>
        </p:nvSpPr>
        <p:spPr>
          <a:xfrm>
            <a:off x="4197096" y="4800600"/>
            <a:ext cx="185075" cy="185075"/>
          </a:xfrm>
          <a:prstGeom prst="rect">
            <a:avLst/>
          </a:prstGeom>
          <a:solidFill>
            <a:srgbClr val="F8C8C6"/>
          </a:solidFill>
          <a:ln w="3175">
            <a:solidFill>
              <a:srgbClr val="FFFFFF"/>
            </a:solidFill>
            <a:prstDash val="solid"/>
          </a:ln>
        </p:spPr>
        <p:txBody>
          <a:bodyPr/>
          <a:lstStyle/>
          <a:p>
            <a:endParaRPr lang="en-CN"/>
          </a:p>
        </p:txBody>
      </p:sp>
      <p:sp>
        <p:nvSpPr>
          <p:cNvPr id="97" name="Shape 95"/>
          <p:cNvSpPr/>
          <p:nvPr/>
        </p:nvSpPr>
        <p:spPr>
          <a:xfrm>
            <a:off x="4398264" y="4800600"/>
            <a:ext cx="185075" cy="185075"/>
          </a:xfrm>
          <a:prstGeom prst="rect">
            <a:avLst/>
          </a:prstGeom>
          <a:solidFill>
            <a:srgbClr val="FFFFFF"/>
          </a:solidFill>
          <a:ln w="3175">
            <a:solidFill>
              <a:srgbClr val="FFFFFF"/>
            </a:solidFill>
            <a:prstDash val="solid"/>
          </a:ln>
        </p:spPr>
        <p:txBody>
          <a:bodyPr/>
          <a:lstStyle/>
          <a:p>
            <a:endParaRPr lang="en-CN"/>
          </a:p>
        </p:txBody>
      </p:sp>
      <p:sp>
        <p:nvSpPr>
          <p:cNvPr id="98" name="Shape 96"/>
          <p:cNvSpPr/>
          <p:nvPr/>
        </p:nvSpPr>
        <p:spPr>
          <a:xfrm>
            <a:off x="4599432" y="4800600"/>
            <a:ext cx="185075" cy="185075"/>
          </a:xfrm>
          <a:prstGeom prst="rect">
            <a:avLst/>
          </a:prstGeom>
          <a:solidFill>
            <a:srgbClr val="DDEBF7"/>
          </a:solidFill>
          <a:ln w="3175">
            <a:solidFill>
              <a:srgbClr val="FFFFFF"/>
            </a:solidFill>
            <a:prstDash val="solid"/>
          </a:ln>
        </p:spPr>
        <p:txBody>
          <a:bodyPr/>
          <a:lstStyle/>
          <a:p>
            <a:endParaRPr lang="en-CN"/>
          </a:p>
        </p:txBody>
      </p:sp>
      <p:sp>
        <p:nvSpPr>
          <p:cNvPr id="99" name="Shape 97"/>
          <p:cNvSpPr/>
          <p:nvPr/>
        </p:nvSpPr>
        <p:spPr>
          <a:xfrm>
            <a:off x="4800600" y="4800600"/>
            <a:ext cx="185075" cy="185075"/>
          </a:xfrm>
          <a:prstGeom prst="rect">
            <a:avLst/>
          </a:prstGeom>
          <a:solidFill>
            <a:srgbClr val="6699CC"/>
          </a:solidFill>
          <a:ln w="3175">
            <a:solidFill>
              <a:srgbClr val="FFFFFF"/>
            </a:solidFill>
            <a:prstDash val="solid"/>
          </a:ln>
        </p:spPr>
        <p:txBody>
          <a:bodyPr/>
          <a:lstStyle/>
          <a:p>
            <a:endParaRPr lang="en-CN"/>
          </a:p>
        </p:txBody>
      </p:sp>
      <p:sp>
        <p:nvSpPr>
          <p:cNvPr id="100" name="Shape 98"/>
          <p:cNvSpPr/>
          <p:nvPr/>
        </p:nvSpPr>
        <p:spPr>
          <a:xfrm>
            <a:off x="3915461" y="3749040"/>
            <a:ext cx="0" cy="0"/>
          </a:xfrm>
          <a:prstGeom prst="line">
            <a:avLst/>
          </a:prstGeom>
          <a:noFill/>
          <a:ln w="9525">
            <a:solidFill>
              <a:srgbClr val="1D2939"/>
            </a:solidFill>
            <a:prstDash val="solid"/>
          </a:ln>
        </p:spPr>
        <p:txBody>
          <a:bodyPr/>
          <a:lstStyle/>
          <a:p>
            <a:endParaRPr lang="en-CN"/>
          </a:p>
        </p:txBody>
      </p:sp>
      <p:sp>
        <p:nvSpPr>
          <p:cNvPr id="101" name="Shape 99"/>
          <p:cNvSpPr/>
          <p:nvPr/>
        </p:nvSpPr>
        <p:spPr>
          <a:xfrm>
            <a:off x="4096512" y="3749040"/>
            <a:ext cx="0" cy="0"/>
          </a:xfrm>
          <a:prstGeom prst="line">
            <a:avLst/>
          </a:prstGeom>
          <a:noFill/>
          <a:ln w="9525">
            <a:solidFill>
              <a:srgbClr val="1D2939"/>
            </a:solidFill>
            <a:prstDash val="solid"/>
          </a:ln>
        </p:spPr>
        <p:txBody>
          <a:bodyPr/>
          <a:lstStyle/>
          <a:p>
            <a:endParaRPr lang="en-CN"/>
          </a:p>
        </p:txBody>
      </p:sp>
      <p:sp>
        <p:nvSpPr>
          <p:cNvPr id="102" name="Shape 100"/>
          <p:cNvSpPr/>
          <p:nvPr/>
        </p:nvSpPr>
        <p:spPr>
          <a:xfrm>
            <a:off x="4301703" y="3749040"/>
            <a:ext cx="0" cy="0"/>
          </a:xfrm>
          <a:prstGeom prst="line">
            <a:avLst/>
          </a:prstGeom>
          <a:noFill/>
          <a:ln w="9525">
            <a:solidFill>
              <a:srgbClr val="1D2939"/>
            </a:solidFill>
            <a:prstDash val="solid"/>
          </a:ln>
        </p:spPr>
        <p:txBody>
          <a:bodyPr/>
          <a:lstStyle/>
          <a:p>
            <a:endParaRPr lang="en-CN"/>
          </a:p>
        </p:txBody>
      </p:sp>
      <p:sp>
        <p:nvSpPr>
          <p:cNvPr id="103" name="Shape 101"/>
          <p:cNvSpPr/>
          <p:nvPr/>
        </p:nvSpPr>
        <p:spPr>
          <a:xfrm>
            <a:off x="4494825" y="3749040"/>
            <a:ext cx="0" cy="0"/>
          </a:xfrm>
          <a:prstGeom prst="line">
            <a:avLst/>
          </a:prstGeom>
          <a:noFill/>
          <a:ln w="9525">
            <a:solidFill>
              <a:srgbClr val="1D2939"/>
            </a:solidFill>
            <a:prstDash val="solid"/>
          </a:ln>
        </p:spPr>
        <p:txBody>
          <a:bodyPr/>
          <a:lstStyle/>
          <a:p>
            <a:endParaRPr lang="en-CN"/>
          </a:p>
        </p:txBody>
      </p:sp>
      <p:sp>
        <p:nvSpPr>
          <p:cNvPr id="104" name="Shape 102"/>
          <p:cNvSpPr/>
          <p:nvPr/>
        </p:nvSpPr>
        <p:spPr>
          <a:xfrm>
            <a:off x="4700016" y="3749040"/>
            <a:ext cx="0" cy="0"/>
          </a:xfrm>
          <a:prstGeom prst="line">
            <a:avLst/>
          </a:prstGeom>
          <a:noFill/>
          <a:ln w="9525">
            <a:solidFill>
              <a:srgbClr val="1D2939"/>
            </a:solidFill>
            <a:prstDash val="solid"/>
          </a:ln>
        </p:spPr>
        <p:txBody>
          <a:bodyPr/>
          <a:lstStyle/>
          <a:p>
            <a:endParaRPr lang="en-CN"/>
          </a:p>
        </p:txBody>
      </p:sp>
      <p:sp>
        <p:nvSpPr>
          <p:cNvPr id="105" name="Shape 103"/>
          <p:cNvSpPr/>
          <p:nvPr/>
        </p:nvSpPr>
        <p:spPr>
          <a:xfrm>
            <a:off x="4881067" y="3749040"/>
            <a:ext cx="0" cy="0"/>
          </a:xfrm>
          <a:prstGeom prst="line">
            <a:avLst/>
          </a:prstGeom>
          <a:noFill/>
          <a:ln w="9525">
            <a:solidFill>
              <a:srgbClr val="1D2939"/>
            </a:solidFill>
            <a:prstDash val="solid"/>
          </a:ln>
        </p:spPr>
        <p:txBody>
          <a:bodyPr/>
          <a:lstStyle/>
          <a:p>
            <a:endParaRPr lang="en-CN"/>
          </a:p>
        </p:txBody>
      </p:sp>
      <p:sp>
        <p:nvSpPr>
          <p:cNvPr id="106" name="Shape 104"/>
          <p:cNvSpPr/>
          <p:nvPr/>
        </p:nvSpPr>
        <p:spPr>
          <a:xfrm>
            <a:off x="3915461" y="3573018"/>
            <a:ext cx="181051" cy="0"/>
          </a:xfrm>
          <a:prstGeom prst="line">
            <a:avLst/>
          </a:prstGeom>
          <a:noFill/>
          <a:ln w="9525">
            <a:solidFill>
              <a:srgbClr val="1D2939"/>
            </a:solidFill>
            <a:prstDash val="solid"/>
          </a:ln>
        </p:spPr>
        <p:txBody>
          <a:bodyPr/>
          <a:lstStyle/>
          <a:p>
            <a:endParaRPr lang="en-CN"/>
          </a:p>
        </p:txBody>
      </p:sp>
      <p:sp>
        <p:nvSpPr>
          <p:cNvPr id="107" name="Shape 105"/>
          <p:cNvSpPr/>
          <p:nvPr/>
        </p:nvSpPr>
        <p:spPr>
          <a:xfrm>
            <a:off x="4005986" y="3573018"/>
            <a:ext cx="0" cy="0"/>
          </a:xfrm>
          <a:prstGeom prst="line">
            <a:avLst/>
          </a:prstGeom>
          <a:noFill/>
          <a:ln w="9525">
            <a:solidFill>
              <a:srgbClr val="1D2939"/>
            </a:solidFill>
            <a:prstDash val="solid"/>
          </a:ln>
        </p:spPr>
        <p:txBody>
          <a:bodyPr/>
          <a:lstStyle/>
          <a:p>
            <a:endParaRPr lang="en-CN"/>
          </a:p>
        </p:txBody>
      </p:sp>
      <p:sp>
        <p:nvSpPr>
          <p:cNvPr id="108" name="Shape 106"/>
          <p:cNvSpPr/>
          <p:nvPr/>
        </p:nvSpPr>
        <p:spPr>
          <a:xfrm>
            <a:off x="4301703" y="3573018"/>
            <a:ext cx="193121" cy="0"/>
          </a:xfrm>
          <a:prstGeom prst="line">
            <a:avLst/>
          </a:prstGeom>
          <a:noFill/>
          <a:ln w="9525">
            <a:solidFill>
              <a:srgbClr val="1D2939"/>
            </a:solidFill>
            <a:prstDash val="solid"/>
          </a:ln>
        </p:spPr>
        <p:txBody>
          <a:bodyPr/>
          <a:lstStyle/>
          <a:p>
            <a:endParaRPr lang="en-CN"/>
          </a:p>
        </p:txBody>
      </p:sp>
      <p:sp>
        <p:nvSpPr>
          <p:cNvPr id="109" name="Shape 107"/>
          <p:cNvSpPr/>
          <p:nvPr/>
        </p:nvSpPr>
        <p:spPr>
          <a:xfrm>
            <a:off x="4398264" y="3573018"/>
            <a:ext cx="0" cy="0"/>
          </a:xfrm>
          <a:prstGeom prst="line">
            <a:avLst/>
          </a:prstGeom>
          <a:noFill/>
          <a:ln w="9525">
            <a:solidFill>
              <a:srgbClr val="1D2939"/>
            </a:solidFill>
            <a:prstDash val="solid"/>
          </a:ln>
        </p:spPr>
        <p:txBody>
          <a:bodyPr/>
          <a:lstStyle/>
          <a:p>
            <a:endParaRPr lang="en-CN"/>
          </a:p>
        </p:txBody>
      </p:sp>
      <p:sp>
        <p:nvSpPr>
          <p:cNvPr id="110" name="Shape 108"/>
          <p:cNvSpPr/>
          <p:nvPr/>
        </p:nvSpPr>
        <p:spPr>
          <a:xfrm>
            <a:off x="4700016" y="3573018"/>
            <a:ext cx="181051" cy="0"/>
          </a:xfrm>
          <a:prstGeom prst="line">
            <a:avLst/>
          </a:prstGeom>
          <a:noFill/>
          <a:ln w="9525">
            <a:solidFill>
              <a:srgbClr val="1D2939"/>
            </a:solidFill>
            <a:prstDash val="solid"/>
          </a:ln>
        </p:spPr>
        <p:txBody>
          <a:bodyPr/>
          <a:lstStyle/>
          <a:p>
            <a:endParaRPr lang="en-CN"/>
          </a:p>
        </p:txBody>
      </p:sp>
      <p:sp>
        <p:nvSpPr>
          <p:cNvPr id="111" name="Shape 109"/>
          <p:cNvSpPr/>
          <p:nvPr/>
        </p:nvSpPr>
        <p:spPr>
          <a:xfrm>
            <a:off x="4790542" y="3573018"/>
            <a:ext cx="0" cy="0"/>
          </a:xfrm>
          <a:prstGeom prst="line">
            <a:avLst/>
          </a:prstGeom>
          <a:noFill/>
          <a:ln w="9525">
            <a:solidFill>
              <a:srgbClr val="1D2939"/>
            </a:solidFill>
            <a:prstDash val="solid"/>
          </a:ln>
        </p:spPr>
        <p:txBody>
          <a:bodyPr/>
          <a:lstStyle/>
          <a:p>
            <a:endParaRPr lang="en-CN"/>
          </a:p>
        </p:txBody>
      </p:sp>
      <p:sp>
        <p:nvSpPr>
          <p:cNvPr id="112" name="Shape 110"/>
          <p:cNvSpPr/>
          <p:nvPr/>
        </p:nvSpPr>
        <p:spPr>
          <a:xfrm>
            <a:off x="4005986" y="3447288"/>
            <a:ext cx="392278" cy="0"/>
          </a:xfrm>
          <a:prstGeom prst="line">
            <a:avLst/>
          </a:prstGeom>
          <a:noFill/>
          <a:ln w="9525">
            <a:solidFill>
              <a:srgbClr val="1D2939"/>
            </a:solidFill>
            <a:prstDash val="solid"/>
          </a:ln>
        </p:spPr>
        <p:txBody>
          <a:bodyPr/>
          <a:lstStyle/>
          <a:p>
            <a:endParaRPr lang="en-CN"/>
          </a:p>
        </p:txBody>
      </p:sp>
      <p:sp>
        <p:nvSpPr>
          <p:cNvPr id="113" name="Shape 111"/>
          <p:cNvSpPr/>
          <p:nvPr/>
        </p:nvSpPr>
        <p:spPr>
          <a:xfrm>
            <a:off x="4202125" y="3447288"/>
            <a:ext cx="0" cy="0"/>
          </a:xfrm>
          <a:prstGeom prst="line">
            <a:avLst/>
          </a:prstGeom>
          <a:noFill/>
          <a:ln w="9525">
            <a:solidFill>
              <a:srgbClr val="1D2939"/>
            </a:solidFill>
            <a:prstDash val="solid"/>
          </a:ln>
        </p:spPr>
        <p:txBody>
          <a:bodyPr/>
          <a:lstStyle/>
          <a:p>
            <a:endParaRPr lang="en-CN"/>
          </a:p>
        </p:txBody>
      </p:sp>
      <p:sp>
        <p:nvSpPr>
          <p:cNvPr id="114" name="Shape 112"/>
          <p:cNvSpPr/>
          <p:nvPr/>
        </p:nvSpPr>
        <p:spPr>
          <a:xfrm>
            <a:off x="4202125" y="3321558"/>
            <a:ext cx="588416" cy="0"/>
          </a:xfrm>
          <a:prstGeom prst="line">
            <a:avLst/>
          </a:prstGeom>
          <a:noFill/>
          <a:ln w="9525">
            <a:solidFill>
              <a:srgbClr val="1D2939"/>
            </a:solidFill>
            <a:prstDash val="solid"/>
          </a:ln>
        </p:spPr>
        <p:txBody>
          <a:bodyPr/>
          <a:lstStyle/>
          <a:p>
            <a:endParaRPr lang="en-CN"/>
          </a:p>
        </p:txBody>
      </p:sp>
      <p:sp>
        <p:nvSpPr>
          <p:cNvPr id="115" name="Shape 113"/>
          <p:cNvSpPr/>
          <p:nvPr/>
        </p:nvSpPr>
        <p:spPr>
          <a:xfrm>
            <a:off x="3749040" y="3915461"/>
            <a:ext cx="0" cy="0"/>
          </a:xfrm>
          <a:prstGeom prst="line">
            <a:avLst/>
          </a:prstGeom>
          <a:noFill/>
          <a:ln w="9525">
            <a:solidFill>
              <a:srgbClr val="1D2939"/>
            </a:solidFill>
            <a:prstDash val="solid"/>
          </a:ln>
        </p:spPr>
        <p:txBody>
          <a:bodyPr/>
          <a:lstStyle/>
          <a:p>
            <a:endParaRPr lang="en-CN"/>
          </a:p>
        </p:txBody>
      </p:sp>
      <p:sp>
        <p:nvSpPr>
          <p:cNvPr id="116" name="Shape 114"/>
          <p:cNvSpPr/>
          <p:nvPr/>
        </p:nvSpPr>
        <p:spPr>
          <a:xfrm>
            <a:off x="3749040" y="4096512"/>
            <a:ext cx="0" cy="0"/>
          </a:xfrm>
          <a:prstGeom prst="line">
            <a:avLst/>
          </a:prstGeom>
          <a:noFill/>
          <a:ln w="9525">
            <a:solidFill>
              <a:srgbClr val="1D2939"/>
            </a:solidFill>
            <a:prstDash val="solid"/>
          </a:ln>
        </p:spPr>
        <p:txBody>
          <a:bodyPr/>
          <a:lstStyle/>
          <a:p>
            <a:endParaRPr lang="en-CN"/>
          </a:p>
        </p:txBody>
      </p:sp>
      <p:sp>
        <p:nvSpPr>
          <p:cNvPr id="117" name="Shape 115"/>
          <p:cNvSpPr/>
          <p:nvPr/>
        </p:nvSpPr>
        <p:spPr>
          <a:xfrm>
            <a:off x="3749040" y="4301703"/>
            <a:ext cx="0" cy="0"/>
          </a:xfrm>
          <a:prstGeom prst="line">
            <a:avLst/>
          </a:prstGeom>
          <a:noFill/>
          <a:ln w="9525">
            <a:solidFill>
              <a:srgbClr val="1D2939"/>
            </a:solidFill>
            <a:prstDash val="solid"/>
          </a:ln>
        </p:spPr>
        <p:txBody>
          <a:bodyPr/>
          <a:lstStyle/>
          <a:p>
            <a:endParaRPr lang="en-CN"/>
          </a:p>
        </p:txBody>
      </p:sp>
      <p:sp>
        <p:nvSpPr>
          <p:cNvPr id="118" name="Shape 116"/>
          <p:cNvSpPr/>
          <p:nvPr/>
        </p:nvSpPr>
        <p:spPr>
          <a:xfrm>
            <a:off x="3749040" y="4494825"/>
            <a:ext cx="0" cy="0"/>
          </a:xfrm>
          <a:prstGeom prst="line">
            <a:avLst/>
          </a:prstGeom>
          <a:noFill/>
          <a:ln w="9525">
            <a:solidFill>
              <a:srgbClr val="1D2939"/>
            </a:solidFill>
            <a:prstDash val="solid"/>
          </a:ln>
        </p:spPr>
        <p:txBody>
          <a:bodyPr/>
          <a:lstStyle/>
          <a:p>
            <a:endParaRPr lang="en-CN"/>
          </a:p>
        </p:txBody>
      </p:sp>
      <p:sp>
        <p:nvSpPr>
          <p:cNvPr id="119" name="Shape 117"/>
          <p:cNvSpPr/>
          <p:nvPr/>
        </p:nvSpPr>
        <p:spPr>
          <a:xfrm>
            <a:off x="3749040" y="4700016"/>
            <a:ext cx="0" cy="0"/>
          </a:xfrm>
          <a:prstGeom prst="line">
            <a:avLst/>
          </a:prstGeom>
          <a:noFill/>
          <a:ln w="9525">
            <a:solidFill>
              <a:srgbClr val="1D2939"/>
            </a:solidFill>
            <a:prstDash val="solid"/>
          </a:ln>
        </p:spPr>
        <p:txBody>
          <a:bodyPr/>
          <a:lstStyle/>
          <a:p>
            <a:endParaRPr lang="en-CN"/>
          </a:p>
        </p:txBody>
      </p:sp>
      <p:sp>
        <p:nvSpPr>
          <p:cNvPr id="120" name="Shape 118"/>
          <p:cNvSpPr/>
          <p:nvPr/>
        </p:nvSpPr>
        <p:spPr>
          <a:xfrm>
            <a:off x="3749040" y="4881067"/>
            <a:ext cx="0" cy="0"/>
          </a:xfrm>
          <a:prstGeom prst="line">
            <a:avLst/>
          </a:prstGeom>
          <a:noFill/>
          <a:ln w="9525">
            <a:solidFill>
              <a:srgbClr val="1D2939"/>
            </a:solidFill>
            <a:prstDash val="solid"/>
          </a:ln>
        </p:spPr>
        <p:txBody>
          <a:bodyPr/>
          <a:lstStyle/>
          <a:p>
            <a:endParaRPr lang="en-CN"/>
          </a:p>
        </p:txBody>
      </p:sp>
      <p:sp>
        <p:nvSpPr>
          <p:cNvPr id="121" name="Shape 119"/>
          <p:cNvSpPr/>
          <p:nvPr/>
        </p:nvSpPr>
        <p:spPr>
          <a:xfrm>
            <a:off x="3573018" y="3915461"/>
            <a:ext cx="0" cy="181051"/>
          </a:xfrm>
          <a:prstGeom prst="line">
            <a:avLst/>
          </a:prstGeom>
          <a:noFill/>
          <a:ln w="9525">
            <a:solidFill>
              <a:srgbClr val="1D2939"/>
            </a:solidFill>
            <a:prstDash val="solid"/>
          </a:ln>
        </p:spPr>
        <p:txBody>
          <a:bodyPr/>
          <a:lstStyle/>
          <a:p>
            <a:endParaRPr lang="en-CN"/>
          </a:p>
        </p:txBody>
      </p:sp>
      <p:sp>
        <p:nvSpPr>
          <p:cNvPr id="122" name="Shape 120"/>
          <p:cNvSpPr/>
          <p:nvPr/>
        </p:nvSpPr>
        <p:spPr>
          <a:xfrm>
            <a:off x="3447288" y="4005986"/>
            <a:ext cx="125730" cy="0"/>
          </a:xfrm>
          <a:prstGeom prst="line">
            <a:avLst/>
          </a:prstGeom>
          <a:noFill/>
          <a:ln w="9525">
            <a:solidFill>
              <a:srgbClr val="1D2939"/>
            </a:solidFill>
            <a:prstDash val="solid"/>
          </a:ln>
        </p:spPr>
        <p:txBody>
          <a:bodyPr/>
          <a:lstStyle/>
          <a:p>
            <a:endParaRPr lang="en-CN"/>
          </a:p>
        </p:txBody>
      </p:sp>
      <p:sp>
        <p:nvSpPr>
          <p:cNvPr id="123" name="Shape 121"/>
          <p:cNvSpPr/>
          <p:nvPr/>
        </p:nvSpPr>
        <p:spPr>
          <a:xfrm>
            <a:off x="3573018" y="4301703"/>
            <a:ext cx="0" cy="193121"/>
          </a:xfrm>
          <a:prstGeom prst="line">
            <a:avLst/>
          </a:prstGeom>
          <a:noFill/>
          <a:ln w="9525">
            <a:solidFill>
              <a:srgbClr val="1D2939"/>
            </a:solidFill>
            <a:prstDash val="solid"/>
          </a:ln>
        </p:spPr>
        <p:txBody>
          <a:bodyPr/>
          <a:lstStyle/>
          <a:p>
            <a:endParaRPr lang="en-CN"/>
          </a:p>
        </p:txBody>
      </p:sp>
      <p:sp>
        <p:nvSpPr>
          <p:cNvPr id="124" name="Shape 122"/>
          <p:cNvSpPr/>
          <p:nvPr/>
        </p:nvSpPr>
        <p:spPr>
          <a:xfrm>
            <a:off x="3447288" y="4398264"/>
            <a:ext cx="125730" cy="0"/>
          </a:xfrm>
          <a:prstGeom prst="line">
            <a:avLst/>
          </a:prstGeom>
          <a:noFill/>
          <a:ln w="9525">
            <a:solidFill>
              <a:srgbClr val="1D2939"/>
            </a:solidFill>
            <a:prstDash val="solid"/>
          </a:ln>
        </p:spPr>
        <p:txBody>
          <a:bodyPr/>
          <a:lstStyle/>
          <a:p>
            <a:endParaRPr lang="en-CN"/>
          </a:p>
        </p:txBody>
      </p:sp>
      <p:sp>
        <p:nvSpPr>
          <p:cNvPr id="125" name="Shape 123"/>
          <p:cNvSpPr/>
          <p:nvPr/>
        </p:nvSpPr>
        <p:spPr>
          <a:xfrm>
            <a:off x="3447288" y="4005986"/>
            <a:ext cx="0" cy="392278"/>
          </a:xfrm>
          <a:prstGeom prst="line">
            <a:avLst/>
          </a:prstGeom>
          <a:noFill/>
          <a:ln w="9525">
            <a:solidFill>
              <a:srgbClr val="1D2939"/>
            </a:solidFill>
            <a:prstDash val="solid"/>
          </a:ln>
        </p:spPr>
        <p:txBody>
          <a:bodyPr/>
          <a:lstStyle/>
          <a:p>
            <a:endParaRPr lang="en-CN"/>
          </a:p>
        </p:txBody>
      </p:sp>
      <p:sp>
        <p:nvSpPr>
          <p:cNvPr id="126" name="Shape 124"/>
          <p:cNvSpPr/>
          <p:nvPr/>
        </p:nvSpPr>
        <p:spPr>
          <a:xfrm>
            <a:off x="3321558" y="4202125"/>
            <a:ext cx="125730" cy="0"/>
          </a:xfrm>
          <a:prstGeom prst="line">
            <a:avLst/>
          </a:prstGeom>
          <a:noFill/>
          <a:ln w="9525">
            <a:solidFill>
              <a:srgbClr val="1D2939"/>
            </a:solidFill>
            <a:prstDash val="solid"/>
          </a:ln>
        </p:spPr>
        <p:txBody>
          <a:bodyPr/>
          <a:lstStyle/>
          <a:p>
            <a:endParaRPr lang="en-CN"/>
          </a:p>
        </p:txBody>
      </p:sp>
      <p:sp>
        <p:nvSpPr>
          <p:cNvPr id="127" name="Text 125"/>
          <p:cNvSpPr/>
          <p:nvPr/>
        </p:nvSpPr>
        <p:spPr>
          <a:xfrm>
            <a:off x="3429000" y="5230368"/>
            <a:ext cx="2011680" cy="228600"/>
          </a:xfrm>
          <a:prstGeom prst="rect">
            <a:avLst/>
          </a:prstGeom>
          <a:noFill/>
          <a:ln/>
        </p:spPr>
        <p:txBody>
          <a:bodyPr wrap="square" lIns="0" tIns="0" rIns="0" bIns="0" rtlCol="0" anchor="ctr"/>
          <a:lstStyle/>
          <a:p>
            <a:pPr marL="0" indent="0" algn="ctr">
              <a:buNone/>
            </a:pPr>
            <a:r>
              <a:rPr lang="en-US" sz="1300" b="1" dirty="0">
                <a:solidFill>
                  <a:srgbClr val="1D2939"/>
                </a:solidFill>
              </a:rPr>
              <a:t>Reordered matrix</a:t>
            </a:r>
            <a:endParaRPr lang="en-US" sz="1300" dirty="0"/>
          </a:p>
        </p:txBody>
      </p:sp>
      <p:sp>
        <p:nvSpPr>
          <p:cNvPr id="128" name="Text 126"/>
          <p:cNvSpPr/>
          <p:nvPr/>
        </p:nvSpPr>
        <p:spPr>
          <a:xfrm>
            <a:off x="6629400" y="3886200"/>
            <a:ext cx="4343400" cy="91440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Key idea
</a:t>
            </a:r>
            <a:r>
              <a:rPr lang="en-US" sz="1400" dirty="0">
                <a:solidFill>
                  <a:srgbClr val="1D2939"/>
                </a:solidFill>
              </a:rPr>
              <a:t>Clustering changes the row/column order so related genes or samples form visible blocks.</a:t>
            </a:r>
            <a:endParaRPr lang="en-US" sz="1400" dirty="0"/>
          </a:p>
        </p:txBody>
      </p:sp>
      <p:sp>
        <p:nvSpPr>
          <p:cNvPr id="129" name="Text 127"/>
          <p:cNvSpPr/>
          <p:nvPr/>
        </p:nvSpPr>
        <p:spPr>
          <a:xfrm>
            <a:off x="685800" y="6327648"/>
            <a:ext cx="10835640" cy="182880"/>
          </a:xfrm>
          <a:prstGeom prst="rect">
            <a:avLst/>
          </a:prstGeom>
          <a:noFill/>
          <a:ln/>
        </p:spPr>
        <p:txBody>
          <a:bodyPr wrap="square" lIns="0" tIns="0" rIns="0" bIns="0" rtlCol="0" anchor="ctr">
            <a:normAutofit/>
          </a:bodyPr>
          <a:lstStyle/>
          <a:p>
            <a:pPr marL="0" indent="0">
              <a:buNone/>
            </a:pPr>
            <a:r>
              <a:rPr lang="en-US" sz="750" dirty="0">
                <a:solidFill>
                  <a:srgbClr val="98A2B3"/>
                </a:solidFill>
              </a:rPr>
              <a:t>Sources: Eisen et al., 1998; Wilkinson &amp; Friendly, 2009; pheatmap documentation.</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Clustering methods: what changes the result?</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Different distance and linkage choices can produce different dendrograms.</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13</a:t>
            </a:r>
            <a:endParaRPr lang="en-US" sz="800" dirty="0"/>
          </a:p>
        </p:txBody>
      </p:sp>
      <p:sp>
        <p:nvSpPr>
          <p:cNvPr id="7" name="Text 5"/>
          <p:cNvSpPr/>
          <p:nvPr/>
        </p:nvSpPr>
        <p:spPr>
          <a:xfrm>
            <a:off x="731520" y="1234440"/>
            <a:ext cx="3108960" cy="658368"/>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Distance metric
</a:t>
            </a:r>
            <a:r>
              <a:rPr lang="en-US" sz="1400" dirty="0">
                <a:solidFill>
                  <a:srgbClr val="1D2939"/>
                </a:solidFill>
              </a:rPr>
              <a:t>Defines how “similar” two rows or columns are.</a:t>
            </a:r>
            <a:endParaRPr lang="en-US" sz="1400" dirty="0"/>
          </a:p>
        </p:txBody>
      </p:sp>
      <p:sp>
        <p:nvSpPr>
          <p:cNvPr id="8" name="Text 6"/>
          <p:cNvSpPr/>
          <p:nvPr/>
        </p:nvSpPr>
        <p:spPr>
          <a:xfrm>
            <a:off x="914400" y="2121408"/>
            <a:ext cx="2103120" cy="237744"/>
          </a:xfrm>
          <a:prstGeom prst="rect">
            <a:avLst/>
          </a:prstGeom>
          <a:noFill/>
          <a:ln/>
        </p:spPr>
        <p:txBody>
          <a:bodyPr wrap="square" lIns="0" tIns="0" rIns="0" bIns="0" rtlCol="0" anchor="ctr"/>
          <a:lstStyle/>
          <a:p>
            <a:pPr marL="0" indent="0">
              <a:buNone/>
            </a:pPr>
            <a:r>
              <a:rPr lang="en-US" sz="1500" b="1" dirty="0">
                <a:solidFill>
                  <a:srgbClr val="1D2939"/>
                </a:solidFill>
              </a:rPr>
              <a:t>Euclidean distance</a:t>
            </a:r>
            <a:endParaRPr lang="en-US" sz="1500" dirty="0"/>
          </a:p>
        </p:txBody>
      </p:sp>
      <p:sp>
        <p:nvSpPr>
          <p:cNvPr id="9" name="Text 7"/>
          <p:cNvSpPr/>
          <p:nvPr/>
        </p:nvSpPr>
        <p:spPr>
          <a:xfrm>
            <a:off x="914400" y="2487168"/>
            <a:ext cx="2926080" cy="320040"/>
          </a:xfrm>
          <a:prstGeom prst="rect">
            <a:avLst/>
          </a:prstGeom>
          <a:noFill/>
          <a:ln/>
        </p:spPr>
        <p:txBody>
          <a:bodyPr wrap="square" lIns="0" tIns="0" rIns="0" bIns="0" rtlCol="0" anchor="ctr"/>
          <a:lstStyle/>
          <a:p>
            <a:pPr marL="0" indent="0">
              <a:buNone/>
            </a:pPr>
            <a:r>
              <a:rPr lang="en-US" sz="1250" dirty="0">
                <a:solidFill>
                  <a:srgbClr val="667085"/>
                </a:solidFill>
              </a:rPr>
              <a:t>Groups by absolute expression differences.</a:t>
            </a:r>
            <a:endParaRPr lang="en-US" sz="1250" dirty="0"/>
          </a:p>
        </p:txBody>
      </p:sp>
      <p:sp>
        <p:nvSpPr>
          <p:cNvPr id="10" name="Text 8"/>
          <p:cNvSpPr/>
          <p:nvPr/>
        </p:nvSpPr>
        <p:spPr>
          <a:xfrm>
            <a:off x="914400" y="3127248"/>
            <a:ext cx="2286000" cy="237744"/>
          </a:xfrm>
          <a:prstGeom prst="rect">
            <a:avLst/>
          </a:prstGeom>
          <a:noFill/>
          <a:ln/>
        </p:spPr>
        <p:txBody>
          <a:bodyPr wrap="square" lIns="0" tIns="0" rIns="0" bIns="0" rtlCol="0" anchor="ctr"/>
          <a:lstStyle/>
          <a:p>
            <a:pPr marL="0" indent="0">
              <a:buNone/>
            </a:pPr>
            <a:r>
              <a:rPr lang="en-US" sz="1500" b="1" dirty="0">
                <a:solidFill>
                  <a:srgbClr val="1D2939"/>
                </a:solidFill>
              </a:rPr>
              <a:t>Correlation distance</a:t>
            </a:r>
            <a:endParaRPr lang="en-US" sz="1500" dirty="0"/>
          </a:p>
        </p:txBody>
      </p:sp>
      <p:sp>
        <p:nvSpPr>
          <p:cNvPr id="11" name="Text 9"/>
          <p:cNvSpPr/>
          <p:nvPr/>
        </p:nvSpPr>
        <p:spPr>
          <a:xfrm>
            <a:off x="914400" y="3493008"/>
            <a:ext cx="3017520" cy="320040"/>
          </a:xfrm>
          <a:prstGeom prst="rect">
            <a:avLst/>
          </a:prstGeom>
          <a:noFill/>
          <a:ln/>
        </p:spPr>
        <p:txBody>
          <a:bodyPr wrap="square" lIns="0" tIns="0" rIns="0" bIns="0" rtlCol="0" anchor="ctr"/>
          <a:lstStyle/>
          <a:p>
            <a:pPr marL="0" indent="0">
              <a:buNone/>
            </a:pPr>
            <a:r>
              <a:rPr lang="en-US" sz="1250" dirty="0">
                <a:solidFill>
                  <a:srgbClr val="667085"/>
                </a:solidFill>
              </a:rPr>
              <a:t>Groups by shared pattern, even when amplitude differs.</a:t>
            </a:r>
            <a:endParaRPr lang="en-US" sz="1250" dirty="0"/>
          </a:p>
        </p:txBody>
      </p:sp>
      <p:sp>
        <p:nvSpPr>
          <p:cNvPr id="12" name="Text 10"/>
          <p:cNvSpPr/>
          <p:nvPr/>
        </p:nvSpPr>
        <p:spPr>
          <a:xfrm>
            <a:off x="914400" y="4133088"/>
            <a:ext cx="2286000" cy="237744"/>
          </a:xfrm>
          <a:prstGeom prst="rect">
            <a:avLst/>
          </a:prstGeom>
          <a:noFill/>
          <a:ln/>
        </p:spPr>
        <p:txBody>
          <a:bodyPr wrap="square" lIns="0" tIns="0" rIns="0" bIns="0" rtlCol="0" anchor="ctr"/>
          <a:lstStyle/>
          <a:p>
            <a:pPr marL="0" indent="0">
              <a:buNone/>
            </a:pPr>
            <a:r>
              <a:rPr lang="en-US" sz="1500" b="1" dirty="0">
                <a:solidFill>
                  <a:srgbClr val="1D2939"/>
                </a:solidFill>
              </a:rPr>
              <a:t>Spearman distance</a:t>
            </a:r>
            <a:endParaRPr lang="en-US" sz="1500" dirty="0"/>
          </a:p>
        </p:txBody>
      </p:sp>
      <p:sp>
        <p:nvSpPr>
          <p:cNvPr id="13" name="Text 11"/>
          <p:cNvSpPr/>
          <p:nvPr/>
        </p:nvSpPr>
        <p:spPr>
          <a:xfrm>
            <a:off x="914400" y="4498848"/>
            <a:ext cx="3017520" cy="320040"/>
          </a:xfrm>
          <a:prstGeom prst="rect">
            <a:avLst/>
          </a:prstGeom>
          <a:noFill/>
          <a:ln/>
        </p:spPr>
        <p:txBody>
          <a:bodyPr wrap="square" lIns="0" tIns="0" rIns="0" bIns="0" rtlCol="0" anchor="ctr"/>
          <a:lstStyle/>
          <a:p>
            <a:pPr marL="0" indent="0">
              <a:buNone/>
            </a:pPr>
            <a:r>
              <a:rPr lang="en-US" sz="1250" dirty="0">
                <a:solidFill>
                  <a:srgbClr val="667085"/>
                </a:solidFill>
              </a:rPr>
              <a:t>Groups by rank-based monotonic pattern.</a:t>
            </a:r>
            <a:endParaRPr lang="en-US" sz="1250" dirty="0"/>
          </a:p>
        </p:txBody>
      </p:sp>
      <p:sp>
        <p:nvSpPr>
          <p:cNvPr id="14" name="Text 12"/>
          <p:cNvSpPr/>
          <p:nvPr/>
        </p:nvSpPr>
        <p:spPr>
          <a:xfrm>
            <a:off x="4572000" y="1234440"/>
            <a:ext cx="3108960" cy="658368"/>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Linkage rule
</a:t>
            </a:r>
            <a:r>
              <a:rPr lang="en-US" sz="1400" dirty="0">
                <a:solidFill>
                  <a:srgbClr val="1D2939"/>
                </a:solidFill>
              </a:rPr>
              <a:t>Defines how two clusters are merged after pairwise distances are computed.</a:t>
            </a:r>
            <a:endParaRPr lang="en-US" sz="1400" dirty="0"/>
          </a:p>
        </p:txBody>
      </p:sp>
      <p:sp>
        <p:nvSpPr>
          <p:cNvPr id="15" name="Text 13"/>
          <p:cNvSpPr/>
          <p:nvPr/>
        </p:nvSpPr>
        <p:spPr>
          <a:xfrm>
            <a:off x="4754880" y="2121408"/>
            <a:ext cx="2103120" cy="237744"/>
          </a:xfrm>
          <a:prstGeom prst="rect">
            <a:avLst/>
          </a:prstGeom>
          <a:noFill/>
          <a:ln/>
        </p:spPr>
        <p:txBody>
          <a:bodyPr wrap="square" lIns="0" tIns="0" rIns="0" bIns="0" rtlCol="0" anchor="ctr"/>
          <a:lstStyle/>
          <a:p>
            <a:pPr marL="0" indent="0">
              <a:buNone/>
            </a:pPr>
            <a:r>
              <a:rPr lang="en-US" sz="1500" b="1" dirty="0">
                <a:solidFill>
                  <a:srgbClr val="1D2939"/>
                </a:solidFill>
              </a:rPr>
              <a:t>Complete linkage</a:t>
            </a:r>
            <a:endParaRPr lang="en-US" sz="1500" dirty="0"/>
          </a:p>
        </p:txBody>
      </p:sp>
      <p:sp>
        <p:nvSpPr>
          <p:cNvPr id="16" name="Text 14"/>
          <p:cNvSpPr/>
          <p:nvPr/>
        </p:nvSpPr>
        <p:spPr>
          <a:xfrm>
            <a:off x="4754880" y="2487168"/>
            <a:ext cx="2926080" cy="320040"/>
          </a:xfrm>
          <a:prstGeom prst="rect">
            <a:avLst/>
          </a:prstGeom>
          <a:noFill/>
          <a:ln/>
        </p:spPr>
        <p:txBody>
          <a:bodyPr wrap="square" lIns="0" tIns="0" rIns="0" bIns="0" rtlCol="0" anchor="ctr"/>
          <a:lstStyle/>
          <a:p>
            <a:pPr marL="0" indent="0">
              <a:buNone/>
            </a:pPr>
            <a:r>
              <a:rPr lang="en-US" sz="1250" dirty="0">
                <a:solidFill>
                  <a:srgbClr val="667085"/>
                </a:solidFill>
              </a:rPr>
              <a:t>Uses the farthest pair; tends to make compact clusters.</a:t>
            </a:r>
            <a:endParaRPr lang="en-US" sz="1250" dirty="0"/>
          </a:p>
        </p:txBody>
      </p:sp>
      <p:sp>
        <p:nvSpPr>
          <p:cNvPr id="17" name="Text 15"/>
          <p:cNvSpPr/>
          <p:nvPr/>
        </p:nvSpPr>
        <p:spPr>
          <a:xfrm>
            <a:off x="4754880" y="3127248"/>
            <a:ext cx="2103120" cy="237744"/>
          </a:xfrm>
          <a:prstGeom prst="rect">
            <a:avLst/>
          </a:prstGeom>
          <a:noFill/>
          <a:ln/>
        </p:spPr>
        <p:txBody>
          <a:bodyPr wrap="square" lIns="0" tIns="0" rIns="0" bIns="0" rtlCol="0" anchor="ctr"/>
          <a:lstStyle/>
          <a:p>
            <a:pPr marL="0" indent="0">
              <a:buNone/>
            </a:pPr>
            <a:r>
              <a:rPr lang="en-US" sz="1500" b="1" dirty="0">
                <a:solidFill>
                  <a:srgbClr val="1D2939"/>
                </a:solidFill>
              </a:rPr>
              <a:t>Average linkage</a:t>
            </a:r>
            <a:endParaRPr lang="en-US" sz="1500" dirty="0"/>
          </a:p>
        </p:txBody>
      </p:sp>
      <p:sp>
        <p:nvSpPr>
          <p:cNvPr id="18" name="Text 16"/>
          <p:cNvSpPr/>
          <p:nvPr/>
        </p:nvSpPr>
        <p:spPr>
          <a:xfrm>
            <a:off x="4754880" y="3493008"/>
            <a:ext cx="3017520" cy="320040"/>
          </a:xfrm>
          <a:prstGeom prst="rect">
            <a:avLst/>
          </a:prstGeom>
          <a:noFill/>
          <a:ln/>
        </p:spPr>
        <p:txBody>
          <a:bodyPr wrap="square" lIns="0" tIns="0" rIns="0" bIns="0" rtlCol="0" anchor="ctr"/>
          <a:lstStyle/>
          <a:p>
            <a:pPr marL="0" indent="0">
              <a:buNone/>
            </a:pPr>
            <a:r>
              <a:rPr lang="en-US" sz="1250" dirty="0">
                <a:solidFill>
                  <a:srgbClr val="667085"/>
                </a:solidFill>
              </a:rPr>
              <a:t>Uses the average pairwise distance; often stable for expression data.</a:t>
            </a:r>
            <a:endParaRPr lang="en-US" sz="1250" dirty="0"/>
          </a:p>
        </p:txBody>
      </p:sp>
      <p:sp>
        <p:nvSpPr>
          <p:cNvPr id="19" name="Text 17"/>
          <p:cNvSpPr/>
          <p:nvPr/>
        </p:nvSpPr>
        <p:spPr>
          <a:xfrm>
            <a:off x="4754880" y="4133088"/>
            <a:ext cx="1828800" cy="237744"/>
          </a:xfrm>
          <a:prstGeom prst="rect">
            <a:avLst/>
          </a:prstGeom>
          <a:noFill/>
          <a:ln/>
        </p:spPr>
        <p:txBody>
          <a:bodyPr wrap="square" lIns="0" tIns="0" rIns="0" bIns="0" rtlCol="0" anchor="ctr"/>
          <a:lstStyle/>
          <a:p>
            <a:pPr marL="0" indent="0">
              <a:buNone/>
            </a:pPr>
            <a:r>
              <a:rPr lang="en-US" sz="1500" b="1" dirty="0">
                <a:solidFill>
                  <a:srgbClr val="1D2939"/>
                </a:solidFill>
              </a:rPr>
              <a:t>Ward linkage</a:t>
            </a:r>
            <a:endParaRPr lang="en-US" sz="1500" dirty="0"/>
          </a:p>
        </p:txBody>
      </p:sp>
      <p:sp>
        <p:nvSpPr>
          <p:cNvPr id="20" name="Text 18"/>
          <p:cNvSpPr/>
          <p:nvPr/>
        </p:nvSpPr>
        <p:spPr>
          <a:xfrm>
            <a:off x="4754880" y="4498848"/>
            <a:ext cx="3017520" cy="320040"/>
          </a:xfrm>
          <a:prstGeom prst="rect">
            <a:avLst/>
          </a:prstGeom>
          <a:noFill/>
          <a:ln/>
        </p:spPr>
        <p:txBody>
          <a:bodyPr wrap="square" lIns="0" tIns="0" rIns="0" bIns="0" rtlCol="0" anchor="ctr"/>
          <a:lstStyle/>
          <a:p>
            <a:pPr marL="0" indent="0">
              <a:buNone/>
            </a:pPr>
            <a:r>
              <a:rPr lang="en-US" sz="1250" dirty="0">
                <a:solidFill>
                  <a:srgbClr val="667085"/>
                </a:solidFill>
              </a:rPr>
              <a:t>Merges clusters to minimize within-cluster variance.</a:t>
            </a:r>
            <a:endParaRPr lang="en-US" sz="1250" dirty="0"/>
          </a:p>
        </p:txBody>
      </p:sp>
      <p:sp>
        <p:nvSpPr>
          <p:cNvPr id="21" name="Text 19"/>
          <p:cNvSpPr/>
          <p:nvPr/>
        </p:nvSpPr>
        <p:spPr>
          <a:xfrm>
            <a:off x="8229600" y="1417320"/>
            <a:ext cx="3063240" cy="361188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1020" dirty="0">
                <a:solidFill>
                  <a:srgbClr val="E5E7EB"/>
                </a:solidFill>
                <a:latin typeface="Courier New" pitchFamily="34" charset="0"/>
                <a:ea typeface="Courier New" pitchFamily="34" charset="-122"/>
                <a:cs typeface="Courier New" pitchFamily="34" charset="-120"/>
              </a:rPr>
              <a:t># pheatmap examples</a:t>
            </a:r>
            <a:endParaRPr lang="en-US" sz="1020" dirty="0"/>
          </a:p>
          <a:p>
            <a:pPr marL="0" indent="0">
              <a:buNone/>
            </a:pPr>
            <a:r>
              <a:rPr lang="en-US" sz="1020" dirty="0">
                <a:solidFill>
                  <a:srgbClr val="E5E7EB"/>
                </a:solidFill>
                <a:latin typeface="Courier New" pitchFamily="34" charset="0"/>
                <a:ea typeface="Courier New" pitchFamily="34" charset="-122"/>
                <a:cs typeface="Courier New" pitchFamily="34" charset="-120"/>
              </a:rPr>
              <a:t>pheatmap(mat,</a:t>
            </a:r>
            <a:endParaRPr lang="en-US" sz="1020" dirty="0"/>
          </a:p>
          <a:p>
            <a:pPr marL="0" indent="0">
              <a:buNone/>
            </a:pPr>
            <a:r>
              <a:rPr lang="en-US" sz="1020" dirty="0">
                <a:solidFill>
                  <a:srgbClr val="E5E7EB"/>
                </a:solidFill>
                <a:latin typeface="Courier New" pitchFamily="34" charset="0"/>
                <a:ea typeface="Courier New" pitchFamily="34" charset="-122"/>
                <a:cs typeface="Courier New" pitchFamily="34" charset="-120"/>
              </a:rPr>
              <a:t>  clustering_distance_rows = "correlation",</a:t>
            </a:r>
            <a:endParaRPr lang="en-US" sz="1020" dirty="0"/>
          </a:p>
          <a:p>
            <a:pPr marL="0" indent="0">
              <a:buNone/>
            </a:pPr>
            <a:r>
              <a:rPr lang="en-US" sz="1020" dirty="0">
                <a:solidFill>
                  <a:srgbClr val="E5E7EB"/>
                </a:solidFill>
                <a:latin typeface="Courier New" pitchFamily="34" charset="0"/>
                <a:ea typeface="Courier New" pitchFamily="34" charset="-122"/>
                <a:cs typeface="Courier New" pitchFamily="34" charset="-120"/>
              </a:rPr>
              <a:t>  clustering_method = "complete")</a:t>
            </a:r>
            <a:endParaRPr lang="en-US" sz="1020" dirty="0"/>
          </a:p>
          <a:p>
            <a:pPr marL="0" indent="0">
              <a:buNone/>
            </a:pPr>
            <a:endParaRPr lang="en-US" sz="1020" dirty="0"/>
          </a:p>
          <a:p>
            <a:pPr marL="0" indent="0">
              <a:buNone/>
            </a:pPr>
            <a:r>
              <a:rPr lang="en-US" sz="1020" dirty="0">
                <a:solidFill>
                  <a:srgbClr val="E5E7EB"/>
                </a:solidFill>
                <a:latin typeface="Courier New" pitchFamily="34" charset="0"/>
                <a:ea typeface="Courier New" pitchFamily="34" charset="-122"/>
                <a:cs typeface="Courier New" pitchFamily="34" charset="-120"/>
              </a:rPr>
              <a:t># Turn clustering off for a supervised order</a:t>
            </a:r>
            <a:endParaRPr lang="en-US" sz="1020" dirty="0"/>
          </a:p>
          <a:p>
            <a:pPr marL="0" indent="0">
              <a:buNone/>
            </a:pPr>
            <a:r>
              <a:rPr lang="en-US" sz="1020" dirty="0">
                <a:solidFill>
                  <a:srgbClr val="E5E7EB"/>
                </a:solidFill>
                <a:latin typeface="Courier New" pitchFamily="34" charset="0"/>
                <a:ea typeface="Courier New" pitchFamily="34" charset="-122"/>
                <a:cs typeface="Courier New" pitchFamily="34" charset="-120"/>
              </a:rPr>
              <a:t>pheatmap(mat,</a:t>
            </a:r>
            <a:endParaRPr lang="en-US" sz="1020" dirty="0"/>
          </a:p>
          <a:p>
            <a:pPr marL="0" indent="0">
              <a:buNone/>
            </a:pPr>
            <a:r>
              <a:rPr lang="en-US" sz="1020" dirty="0">
                <a:solidFill>
                  <a:srgbClr val="E5E7EB"/>
                </a:solidFill>
                <a:latin typeface="Courier New" pitchFamily="34" charset="0"/>
                <a:ea typeface="Courier New" pitchFamily="34" charset="-122"/>
                <a:cs typeface="Courier New" pitchFamily="34" charset="-120"/>
              </a:rPr>
              <a:t>  cluster_rows = FALSE,</a:t>
            </a:r>
            <a:endParaRPr lang="en-US" sz="1020" dirty="0"/>
          </a:p>
          <a:p>
            <a:pPr marL="0" indent="0">
              <a:buNone/>
            </a:pPr>
            <a:r>
              <a:rPr lang="en-US" sz="1020" dirty="0">
                <a:solidFill>
                  <a:srgbClr val="E5E7EB"/>
                </a:solidFill>
                <a:latin typeface="Courier New" pitchFamily="34" charset="0"/>
                <a:ea typeface="Courier New" pitchFamily="34" charset="-122"/>
                <a:cs typeface="Courier New" pitchFamily="34" charset="-120"/>
              </a:rPr>
              <a:t>  cluster_cols = FALSE)</a:t>
            </a:r>
            <a:endParaRPr lang="en-US" sz="1020" dirty="0"/>
          </a:p>
        </p:txBody>
      </p:sp>
      <p:sp>
        <p:nvSpPr>
          <p:cNvPr id="22" name="Text 20"/>
          <p:cNvSpPr/>
          <p:nvPr/>
        </p:nvSpPr>
        <p:spPr>
          <a:xfrm>
            <a:off x="685800" y="6327648"/>
            <a:ext cx="10835640" cy="182880"/>
          </a:xfrm>
          <a:prstGeom prst="rect">
            <a:avLst/>
          </a:prstGeom>
          <a:noFill/>
          <a:ln/>
        </p:spPr>
        <p:txBody>
          <a:bodyPr wrap="square" lIns="0" tIns="0" rIns="0" bIns="0" rtlCol="0" anchor="ctr">
            <a:normAutofit/>
          </a:bodyPr>
          <a:lstStyle/>
          <a:p>
            <a:pPr marL="0" indent="0">
              <a:buNone/>
            </a:pPr>
            <a:r>
              <a:rPr lang="en-US" sz="750" dirty="0">
                <a:solidFill>
                  <a:srgbClr val="98A2B3"/>
                </a:solidFill>
              </a:rPr>
              <a:t>Source: pheatmap documentation describes clustered heatmaps and clustering controls.</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Supervised ordering vs. unsupervised clustering</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Figure 4 uses supervised ordering, but clustered heatmaps answer a different question.</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14</a:t>
            </a:r>
            <a:endParaRPr lang="en-US" sz="800" dirty="0"/>
          </a:p>
        </p:txBody>
      </p:sp>
      <p:sp>
        <p:nvSpPr>
          <p:cNvPr id="7" name="Text 5"/>
          <p:cNvSpPr/>
          <p:nvPr/>
        </p:nvSpPr>
        <p:spPr>
          <a:xfrm>
            <a:off x="777240" y="1234440"/>
            <a:ext cx="3291840" cy="320040"/>
          </a:xfrm>
          <a:prstGeom prst="rect">
            <a:avLst/>
          </a:prstGeom>
          <a:noFill/>
          <a:ln/>
        </p:spPr>
        <p:txBody>
          <a:bodyPr wrap="square" lIns="0" tIns="0" rIns="0" bIns="0" rtlCol="0" anchor="ctr"/>
          <a:lstStyle/>
          <a:p>
            <a:pPr marL="0" indent="0">
              <a:buNone/>
            </a:pPr>
            <a:r>
              <a:rPr lang="en-US" sz="2100" b="1" dirty="0">
                <a:solidFill>
                  <a:srgbClr val="245B9E"/>
                </a:solidFill>
              </a:rPr>
              <a:t>Supervised heatmap</a:t>
            </a:r>
            <a:endParaRPr lang="en-US" sz="2100" dirty="0"/>
          </a:p>
        </p:txBody>
      </p:sp>
      <p:sp>
        <p:nvSpPr>
          <p:cNvPr id="8" name="Shape 6"/>
          <p:cNvSpPr/>
          <p:nvPr/>
        </p:nvSpPr>
        <p:spPr>
          <a:xfrm>
            <a:off x="960120" y="1920240"/>
            <a:ext cx="193487" cy="193487"/>
          </a:xfrm>
          <a:prstGeom prst="rect">
            <a:avLst/>
          </a:prstGeom>
          <a:solidFill>
            <a:srgbClr val="6699CC"/>
          </a:solidFill>
          <a:ln w="3175">
            <a:solidFill>
              <a:srgbClr val="FFFFFF"/>
            </a:solidFill>
            <a:prstDash val="solid"/>
          </a:ln>
        </p:spPr>
        <p:txBody>
          <a:bodyPr/>
          <a:lstStyle/>
          <a:p>
            <a:endParaRPr lang="en-CN"/>
          </a:p>
        </p:txBody>
      </p:sp>
      <p:sp>
        <p:nvSpPr>
          <p:cNvPr id="9" name="Shape 7"/>
          <p:cNvSpPr/>
          <p:nvPr/>
        </p:nvSpPr>
        <p:spPr>
          <a:xfrm>
            <a:off x="1170432" y="1920240"/>
            <a:ext cx="193487" cy="193487"/>
          </a:xfrm>
          <a:prstGeom prst="rect">
            <a:avLst/>
          </a:prstGeom>
          <a:solidFill>
            <a:srgbClr val="DDEBF7"/>
          </a:solidFill>
          <a:ln w="3175">
            <a:solidFill>
              <a:srgbClr val="FFFFFF"/>
            </a:solidFill>
            <a:prstDash val="solid"/>
          </a:ln>
        </p:spPr>
        <p:txBody>
          <a:bodyPr/>
          <a:lstStyle/>
          <a:p>
            <a:endParaRPr lang="en-CN"/>
          </a:p>
        </p:txBody>
      </p:sp>
      <p:sp>
        <p:nvSpPr>
          <p:cNvPr id="10" name="Shape 8"/>
          <p:cNvSpPr/>
          <p:nvPr/>
        </p:nvSpPr>
        <p:spPr>
          <a:xfrm>
            <a:off x="1380744" y="1920240"/>
            <a:ext cx="193487" cy="193487"/>
          </a:xfrm>
          <a:prstGeom prst="rect">
            <a:avLst/>
          </a:prstGeom>
          <a:solidFill>
            <a:srgbClr val="DDEBF7"/>
          </a:solidFill>
          <a:ln w="3175">
            <a:solidFill>
              <a:srgbClr val="FFFFFF"/>
            </a:solidFill>
            <a:prstDash val="solid"/>
          </a:ln>
        </p:spPr>
        <p:txBody>
          <a:bodyPr/>
          <a:lstStyle/>
          <a:p>
            <a:endParaRPr lang="en-CN"/>
          </a:p>
        </p:txBody>
      </p:sp>
      <p:sp>
        <p:nvSpPr>
          <p:cNvPr id="11" name="Shape 9"/>
          <p:cNvSpPr/>
          <p:nvPr/>
        </p:nvSpPr>
        <p:spPr>
          <a:xfrm>
            <a:off x="1591056" y="1920240"/>
            <a:ext cx="193487" cy="193487"/>
          </a:xfrm>
          <a:prstGeom prst="rect">
            <a:avLst/>
          </a:prstGeom>
          <a:solidFill>
            <a:srgbClr val="FFFFFF"/>
          </a:solidFill>
          <a:ln w="3175">
            <a:solidFill>
              <a:srgbClr val="FFFFFF"/>
            </a:solidFill>
            <a:prstDash val="solid"/>
          </a:ln>
        </p:spPr>
        <p:txBody>
          <a:bodyPr/>
          <a:lstStyle/>
          <a:p>
            <a:endParaRPr lang="en-CN"/>
          </a:p>
        </p:txBody>
      </p:sp>
      <p:sp>
        <p:nvSpPr>
          <p:cNvPr id="12" name="Shape 10"/>
          <p:cNvSpPr/>
          <p:nvPr/>
        </p:nvSpPr>
        <p:spPr>
          <a:xfrm>
            <a:off x="1801368" y="1920240"/>
            <a:ext cx="193487" cy="193487"/>
          </a:xfrm>
          <a:prstGeom prst="rect">
            <a:avLst/>
          </a:prstGeom>
          <a:solidFill>
            <a:srgbClr val="F8C8C6"/>
          </a:solidFill>
          <a:ln w="3175">
            <a:solidFill>
              <a:srgbClr val="FFFFFF"/>
            </a:solidFill>
            <a:prstDash val="solid"/>
          </a:ln>
        </p:spPr>
        <p:txBody>
          <a:bodyPr/>
          <a:lstStyle/>
          <a:p>
            <a:endParaRPr lang="en-CN"/>
          </a:p>
        </p:txBody>
      </p:sp>
      <p:sp>
        <p:nvSpPr>
          <p:cNvPr id="13" name="Shape 11"/>
          <p:cNvSpPr/>
          <p:nvPr/>
        </p:nvSpPr>
        <p:spPr>
          <a:xfrm>
            <a:off x="2011680" y="1920240"/>
            <a:ext cx="193487" cy="193487"/>
          </a:xfrm>
          <a:prstGeom prst="rect">
            <a:avLst/>
          </a:prstGeom>
          <a:solidFill>
            <a:srgbClr val="FF3C38"/>
          </a:solidFill>
          <a:ln w="3175">
            <a:solidFill>
              <a:srgbClr val="FFFFFF"/>
            </a:solidFill>
            <a:prstDash val="solid"/>
          </a:ln>
        </p:spPr>
        <p:txBody>
          <a:bodyPr/>
          <a:lstStyle/>
          <a:p>
            <a:endParaRPr lang="en-CN"/>
          </a:p>
        </p:txBody>
      </p:sp>
      <p:sp>
        <p:nvSpPr>
          <p:cNvPr id="14" name="Shape 12"/>
          <p:cNvSpPr/>
          <p:nvPr/>
        </p:nvSpPr>
        <p:spPr>
          <a:xfrm>
            <a:off x="960120" y="2130552"/>
            <a:ext cx="193487" cy="193487"/>
          </a:xfrm>
          <a:prstGeom prst="rect">
            <a:avLst/>
          </a:prstGeom>
          <a:solidFill>
            <a:srgbClr val="6699CC"/>
          </a:solidFill>
          <a:ln w="3175">
            <a:solidFill>
              <a:srgbClr val="FFFFFF"/>
            </a:solidFill>
            <a:prstDash val="solid"/>
          </a:ln>
        </p:spPr>
        <p:txBody>
          <a:bodyPr/>
          <a:lstStyle/>
          <a:p>
            <a:endParaRPr lang="en-CN"/>
          </a:p>
        </p:txBody>
      </p:sp>
      <p:sp>
        <p:nvSpPr>
          <p:cNvPr id="15" name="Shape 13"/>
          <p:cNvSpPr/>
          <p:nvPr/>
        </p:nvSpPr>
        <p:spPr>
          <a:xfrm>
            <a:off x="1170432" y="2130552"/>
            <a:ext cx="193487" cy="193487"/>
          </a:xfrm>
          <a:prstGeom prst="rect">
            <a:avLst/>
          </a:prstGeom>
          <a:solidFill>
            <a:srgbClr val="DDEBF7"/>
          </a:solidFill>
          <a:ln w="3175">
            <a:solidFill>
              <a:srgbClr val="FFFFFF"/>
            </a:solidFill>
            <a:prstDash val="solid"/>
          </a:ln>
        </p:spPr>
        <p:txBody>
          <a:bodyPr/>
          <a:lstStyle/>
          <a:p>
            <a:endParaRPr lang="en-CN"/>
          </a:p>
        </p:txBody>
      </p:sp>
      <p:sp>
        <p:nvSpPr>
          <p:cNvPr id="16" name="Shape 14"/>
          <p:cNvSpPr/>
          <p:nvPr/>
        </p:nvSpPr>
        <p:spPr>
          <a:xfrm>
            <a:off x="1380744" y="2130552"/>
            <a:ext cx="193487" cy="193487"/>
          </a:xfrm>
          <a:prstGeom prst="rect">
            <a:avLst/>
          </a:prstGeom>
          <a:solidFill>
            <a:srgbClr val="FFFFFF"/>
          </a:solidFill>
          <a:ln w="3175">
            <a:solidFill>
              <a:srgbClr val="FFFFFF"/>
            </a:solidFill>
            <a:prstDash val="solid"/>
          </a:ln>
        </p:spPr>
        <p:txBody>
          <a:bodyPr/>
          <a:lstStyle/>
          <a:p>
            <a:endParaRPr lang="en-CN"/>
          </a:p>
        </p:txBody>
      </p:sp>
      <p:sp>
        <p:nvSpPr>
          <p:cNvPr id="17" name="Shape 15"/>
          <p:cNvSpPr/>
          <p:nvPr/>
        </p:nvSpPr>
        <p:spPr>
          <a:xfrm>
            <a:off x="1591056" y="2130552"/>
            <a:ext cx="193487" cy="193487"/>
          </a:xfrm>
          <a:prstGeom prst="rect">
            <a:avLst/>
          </a:prstGeom>
          <a:solidFill>
            <a:srgbClr val="FFFFFF"/>
          </a:solidFill>
          <a:ln w="3175">
            <a:solidFill>
              <a:srgbClr val="FFFFFF"/>
            </a:solidFill>
            <a:prstDash val="solid"/>
          </a:ln>
        </p:spPr>
        <p:txBody>
          <a:bodyPr/>
          <a:lstStyle/>
          <a:p>
            <a:endParaRPr lang="en-CN"/>
          </a:p>
        </p:txBody>
      </p:sp>
      <p:sp>
        <p:nvSpPr>
          <p:cNvPr id="18" name="Shape 16"/>
          <p:cNvSpPr/>
          <p:nvPr/>
        </p:nvSpPr>
        <p:spPr>
          <a:xfrm>
            <a:off x="1801368" y="2130552"/>
            <a:ext cx="193487" cy="193487"/>
          </a:xfrm>
          <a:prstGeom prst="rect">
            <a:avLst/>
          </a:prstGeom>
          <a:solidFill>
            <a:srgbClr val="F8C8C6"/>
          </a:solidFill>
          <a:ln w="3175">
            <a:solidFill>
              <a:srgbClr val="FFFFFF"/>
            </a:solidFill>
            <a:prstDash val="solid"/>
          </a:ln>
        </p:spPr>
        <p:txBody>
          <a:bodyPr/>
          <a:lstStyle/>
          <a:p>
            <a:endParaRPr lang="en-CN"/>
          </a:p>
        </p:txBody>
      </p:sp>
      <p:sp>
        <p:nvSpPr>
          <p:cNvPr id="19" name="Shape 17"/>
          <p:cNvSpPr/>
          <p:nvPr/>
        </p:nvSpPr>
        <p:spPr>
          <a:xfrm>
            <a:off x="2011680" y="2130552"/>
            <a:ext cx="193487" cy="193487"/>
          </a:xfrm>
          <a:prstGeom prst="rect">
            <a:avLst/>
          </a:prstGeom>
          <a:solidFill>
            <a:srgbClr val="FF3C38"/>
          </a:solidFill>
          <a:ln w="3175">
            <a:solidFill>
              <a:srgbClr val="FFFFFF"/>
            </a:solidFill>
            <a:prstDash val="solid"/>
          </a:ln>
        </p:spPr>
        <p:txBody>
          <a:bodyPr/>
          <a:lstStyle/>
          <a:p>
            <a:endParaRPr lang="en-CN"/>
          </a:p>
        </p:txBody>
      </p:sp>
      <p:sp>
        <p:nvSpPr>
          <p:cNvPr id="20" name="Shape 18"/>
          <p:cNvSpPr/>
          <p:nvPr/>
        </p:nvSpPr>
        <p:spPr>
          <a:xfrm>
            <a:off x="960120" y="2340864"/>
            <a:ext cx="193487" cy="193487"/>
          </a:xfrm>
          <a:prstGeom prst="rect">
            <a:avLst/>
          </a:prstGeom>
          <a:solidFill>
            <a:srgbClr val="DDEBF7"/>
          </a:solidFill>
          <a:ln w="3175">
            <a:solidFill>
              <a:srgbClr val="FFFFFF"/>
            </a:solidFill>
            <a:prstDash val="solid"/>
          </a:ln>
        </p:spPr>
        <p:txBody>
          <a:bodyPr/>
          <a:lstStyle/>
          <a:p>
            <a:endParaRPr lang="en-CN"/>
          </a:p>
        </p:txBody>
      </p:sp>
      <p:sp>
        <p:nvSpPr>
          <p:cNvPr id="21" name="Shape 19"/>
          <p:cNvSpPr/>
          <p:nvPr/>
        </p:nvSpPr>
        <p:spPr>
          <a:xfrm>
            <a:off x="1170432" y="2340864"/>
            <a:ext cx="193487" cy="193487"/>
          </a:xfrm>
          <a:prstGeom prst="rect">
            <a:avLst/>
          </a:prstGeom>
          <a:solidFill>
            <a:srgbClr val="DDEBF7"/>
          </a:solidFill>
          <a:ln w="3175">
            <a:solidFill>
              <a:srgbClr val="FFFFFF"/>
            </a:solidFill>
            <a:prstDash val="solid"/>
          </a:ln>
        </p:spPr>
        <p:txBody>
          <a:bodyPr/>
          <a:lstStyle/>
          <a:p>
            <a:endParaRPr lang="en-CN"/>
          </a:p>
        </p:txBody>
      </p:sp>
      <p:sp>
        <p:nvSpPr>
          <p:cNvPr id="22" name="Shape 20"/>
          <p:cNvSpPr/>
          <p:nvPr/>
        </p:nvSpPr>
        <p:spPr>
          <a:xfrm>
            <a:off x="1380744" y="2340864"/>
            <a:ext cx="193487" cy="193487"/>
          </a:xfrm>
          <a:prstGeom prst="rect">
            <a:avLst/>
          </a:prstGeom>
          <a:solidFill>
            <a:srgbClr val="FFFFFF"/>
          </a:solidFill>
          <a:ln w="3175">
            <a:solidFill>
              <a:srgbClr val="FFFFFF"/>
            </a:solidFill>
            <a:prstDash val="solid"/>
          </a:ln>
        </p:spPr>
        <p:txBody>
          <a:bodyPr/>
          <a:lstStyle/>
          <a:p>
            <a:endParaRPr lang="en-CN"/>
          </a:p>
        </p:txBody>
      </p:sp>
      <p:sp>
        <p:nvSpPr>
          <p:cNvPr id="23" name="Shape 21"/>
          <p:cNvSpPr/>
          <p:nvPr/>
        </p:nvSpPr>
        <p:spPr>
          <a:xfrm>
            <a:off x="1591056" y="2340864"/>
            <a:ext cx="193487" cy="193487"/>
          </a:xfrm>
          <a:prstGeom prst="rect">
            <a:avLst/>
          </a:prstGeom>
          <a:solidFill>
            <a:srgbClr val="F8C8C6"/>
          </a:solidFill>
          <a:ln w="3175">
            <a:solidFill>
              <a:srgbClr val="FFFFFF"/>
            </a:solidFill>
            <a:prstDash val="solid"/>
          </a:ln>
        </p:spPr>
        <p:txBody>
          <a:bodyPr/>
          <a:lstStyle/>
          <a:p>
            <a:endParaRPr lang="en-CN"/>
          </a:p>
        </p:txBody>
      </p:sp>
      <p:sp>
        <p:nvSpPr>
          <p:cNvPr id="24" name="Shape 22"/>
          <p:cNvSpPr/>
          <p:nvPr/>
        </p:nvSpPr>
        <p:spPr>
          <a:xfrm>
            <a:off x="1801368" y="2340864"/>
            <a:ext cx="193487" cy="193487"/>
          </a:xfrm>
          <a:prstGeom prst="rect">
            <a:avLst/>
          </a:prstGeom>
          <a:solidFill>
            <a:srgbClr val="F8C8C6"/>
          </a:solidFill>
          <a:ln w="3175">
            <a:solidFill>
              <a:srgbClr val="FFFFFF"/>
            </a:solidFill>
            <a:prstDash val="solid"/>
          </a:ln>
        </p:spPr>
        <p:txBody>
          <a:bodyPr/>
          <a:lstStyle/>
          <a:p>
            <a:endParaRPr lang="en-CN"/>
          </a:p>
        </p:txBody>
      </p:sp>
      <p:sp>
        <p:nvSpPr>
          <p:cNvPr id="25" name="Shape 23"/>
          <p:cNvSpPr/>
          <p:nvPr/>
        </p:nvSpPr>
        <p:spPr>
          <a:xfrm>
            <a:off x="2011680" y="2340864"/>
            <a:ext cx="193487" cy="193487"/>
          </a:xfrm>
          <a:prstGeom prst="rect">
            <a:avLst/>
          </a:prstGeom>
          <a:solidFill>
            <a:srgbClr val="FF3C38"/>
          </a:solidFill>
          <a:ln w="3175">
            <a:solidFill>
              <a:srgbClr val="FFFFFF"/>
            </a:solidFill>
            <a:prstDash val="solid"/>
          </a:ln>
        </p:spPr>
        <p:txBody>
          <a:bodyPr/>
          <a:lstStyle/>
          <a:p>
            <a:endParaRPr lang="en-CN"/>
          </a:p>
        </p:txBody>
      </p:sp>
      <p:sp>
        <p:nvSpPr>
          <p:cNvPr id="26" name="Shape 24"/>
          <p:cNvSpPr/>
          <p:nvPr/>
        </p:nvSpPr>
        <p:spPr>
          <a:xfrm>
            <a:off x="960120" y="2551176"/>
            <a:ext cx="193487" cy="193487"/>
          </a:xfrm>
          <a:prstGeom prst="rect">
            <a:avLst/>
          </a:prstGeom>
          <a:solidFill>
            <a:srgbClr val="6699CC"/>
          </a:solidFill>
          <a:ln w="3175">
            <a:solidFill>
              <a:srgbClr val="FFFFFF"/>
            </a:solidFill>
            <a:prstDash val="solid"/>
          </a:ln>
        </p:spPr>
        <p:txBody>
          <a:bodyPr/>
          <a:lstStyle/>
          <a:p>
            <a:endParaRPr lang="en-CN"/>
          </a:p>
        </p:txBody>
      </p:sp>
      <p:sp>
        <p:nvSpPr>
          <p:cNvPr id="27" name="Shape 25"/>
          <p:cNvSpPr/>
          <p:nvPr/>
        </p:nvSpPr>
        <p:spPr>
          <a:xfrm>
            <a:off x="1170432" y="2551176"/>
            <a:ext cx="193487" cy="193487"/>
          </a:xfrm>
          <a:prstGeom prst="rect">
            <a:avLst/>
          </a:prstGeom>
          <a:solidFill>
            <a:srgbClr val="FFFFFF"/>
          </a:solidFill>
          <a:ln w="3175">
            <a:solidFill>
              <a:srgbClr val="FFFFFF"/>
            </a:solidFill>
            <a:prstDash val="solid"/>
          </a:ln>
        </p:spPr>
        <p:txBody>
          <a:bodyPr/>
          <a:lstStyle/>
          <a:p>
            <a:endParaRPr lang="en-CN"/>
          </a:p>
        </p:txBody>
      </p:sp>
      <p:sp>
        <p:nvSpPr>
          <p:cNvPr id="28" name="Shape 26"/>
          <p:cNvSpPr/>
          <p:nvPr/>
        </p:nvSpPr>
        <p:spPr>
          <a:xfrm>
            <a:off x="1380744" y="2551176"/>
            <a:ext cx="193487" cy="193487"/>
          </a:xfrm>
          <a:prstGeom prst="rect">
            <a:avLst/>
          </a:prstGeom>
          <a:solidFill>
            <a:srgbClr val="DDEBF7"/>
          </a:solidFill>
          <a:ln w="3175">
            <a:solidFill>
              <a:srgbClr val="FFFFFF"/>
            </a:solidFill>
            <a:prstDash val="solid"/>
          </a:ln>
        </p:spPr>
        <p:txBody>
          <a:bodyPr/>
          <a:lstStyle/>
          <a:p>
            <a:endParaRPr lang="en-CN"/>
          </a:p>
        </p:txBody>
      </p:sp>
      <p:sp>
        <p:nvSpPr>
          <p:cNvPr id="29" name="Shape 27"/>
          <p:cNvSpPr/>
          <p:nvPr/>
        </p:nvSpPr>
        <p:spPr>
          <a:xfrm>
            <a:off x="1591056" y="2551176"/>
            <a:ext cx="193487" cy="193487"/>
          </a:xfrm>
          <a:prstGeom prst="rect">
            <a:avLst/>
          </a:prstGeom>
          <a:solidFill>
            <a:srgbClr val="F8C8C6"/>
          </a:solidFill>
          <a:ln w="3175">
            <a:solidFill>
              <a:srgbClr val="FFFFFF"/>
            </a:solidFill>
            <a:prstDash val="solid"/>
          </a:ln>
        </p:spPr>
        <p:txBody>
          <a:bodyPr/>
          <a:lstStyle/>
          <a:p>
            <a:endParaRPr lang="en-CN"/>
          </a:p>
        </p:txBody>
      </p:sp>
      <p:sp>
        <p:nvSpPr>
          <p:cNvPr id="30" name="Shape 28"/>
          <p:cNvSpPr/>
          <p:nvPr/>
        </p:nvSpPr>
        <p:spPr>
          <a:xfrm>
            <a:off x="1801368" y="2551176"/>
            <a:ext cx="193487" cy="193487"/>
          </a:xfrm>
          <a:prstGeom prst="rect">
            <a:avLst/>
          </a:prstGeom>
          <a:solidFill>
            <a:srgbClr val="F8C8C6"/>
          </a:solidFill>
          <a:ln w="3175">
            <a:solidFill>
              <a:srgbClr val="FFFFFF"/>
            </a:solidFill>
            <a:prstDash val="solid"/>
          </a:ln>
        </p:spPr>
        <p:txBody>
          <a:bodyPr/>
          <a:lstStyle/>
          <a:p>
            <a:endParaRPr lang="en-CN"/>
          </a:p>
        </p:txBody>
      </p:sp>
      <p:sp>
        <p:nvSpPr>
          <p:cNvPr id="31" name="Shape 29"/>
          <p:cNvSpPr/>
          <p:nvPr/>
        </p:nvSpPr>
        <p:spPr>
          <a:xfrm>
            <a:off x="2011680" y="2551176"/>
            <a:ext cx="193487" cy="193487"/>
          </a:xfrm>
          <a:prstGeom prst="rect">
            <a:avLst/>
          </a:prstGeom>
          <a:solidFill>
            <a:srgbClr val="FF3C38"/>
          </a:solidFill>
          <a:ln w="3175">
            <a:solidFill>
              <a:srgbClr val="FFFFFF"/>
            </a:solidFill>
            <a:prstDash val="solid"/>
          </a:ln>
        </p:spPr>
        <p:txBody>
          <a:bodyPr/>
          <a:lstStyle/>
          <a:p>
            <a:endParaRPr lang="en-CN"/>
          </a:p>
        </p:txBody>
      </p:sp>
      <p:sp>
        <p:nvSpPr>
          <p:cNvPr id="32" name="Shape 30"/>
          <p:cNvSpPr/>
          <p:nvPr/>
        </p:nvSpPr>
        <p:spPr>
          <a:xfrm>
            <a:off x="960120" y="2761488"/>
            <a:ext cx="193487" cy="193487"/>
          </a:xfrm>
          <a:prstGeom prst="rect">
            <a:avLst/>
          </a:prstGeom>
          <a:solidFill>
            <a:srgbClr val="FFFFFF"/>
          </a:solidFill>
          <a:ln w="3175">
            <a:solidFill>
              <a:srgbClr val="FFFFFF"/>
            </a:solidFill>
            <a:prstDash val="solid"/>
          </a:ln>
        </p:spPr>
        <p:txBody>
          <a:bodyPr/>
          <a:lstStyle/>
          <a:p>
            <a:endParaRPr lang="en-CN"/>
          </a:p>
        </p:txBody>
      </p:sp>
      <p:sp>
        <p:nvSpPr>
          <p:cNvPr id="33" name="Shape 31"/>
          <p:cNvSpPr/>
          <p:nvPr/>
        </p:nvSpPr>
        <p:spPr>
          <a:xfrm>
            <a:off x="1170432" y="2761488"/>
            <a:ext cx="193487" cy="193487"/>
          </a:xfrm>
          <a:prstGeom prst="rect">
            <a:avLst/>
          </a:prstGeom>
          <a:solidFill>
            <a:srgbClr val="DDEBF7"/>
          </a:solidFill>
          <a:ln w="3175">
            <a:solidFill>
              <a:srgbClr val="FFFFFF"/>
            </a:solidFill>
            <a:prstDash val="solid"/>
          </a:ln>
        </p:spPr>
        <p:txBody>
          <a:bodyPr/>
          <a:lstStyle/>
          <a:p>
            <a:endParaRPr lang="en-CN"/>
          </a:p>
        </p:txBody>
      </p:sp>
      <p:sp>
        <p:nvSpPr>
          <p:cNvPr id="34" name="Shape 32"/>
          <p:cNvSpPr/>
          <p:nvPr/>
        </p:nvSpPr>
        <p:spPr>
          <a:xfrm>
            <a:off x="1380744" y="2761488"/>
            <a:ext cx="193487" cy="193487"/>
          </a:xfrm>
          <a:prstGeom prst="rect">
            <a:avLst/>
          </a:prstGeom>
          <a:solidFill>
            <a:srgbClr val="FFFFFF"/>
          </a:solidFill>
          <a:ln w="3175">
            <a:solidFill>
              <a:srgbClr val="FFFFFF"/>
            </a:solidFill>
            <a:prstDash val="solid"/>
          </a:ln>
        </p:spPr>
        <p:txBody>
          <a:bodyPr/>
          <a:lstStyle/>
          <a:p>
            <a:endParaRPr lang="en-CN"/>
          </a:p>
        </p:txBody>
      </p:sp>
      <p:sp>
        <p:nvSpPr>
          <p:cNvPr id="35" name="Shape 33"/>
          <p:cNvSpPr/>
          <p:nvPr/>
        </p:nvSpPr>
        <p:spPr>
          <a:xfrm>
            <a:off x="1591056" y="2761488"/>
            <a:ext cx="193487" cy="193487"/>
          </a:xfrm>
          <a:prstGeom prst="rect">
            <a:avLst/>
          </a:prstGeom>
          <a:solidFill>
            <a:srgbClr val="F8C8C6"/>
          </a:solidFill>
          <a:ln w="3175">
            <a:solidFill>
              <a:srgbClr val="FFFFFF"/>
            </a:solidFill>
            <a:prstDash val="solid"/>
          </a:ln>
        </p:spPr>
        <p:txBody>
          <a:bodyPr/>
          <a:lstStyle/>
          <a:p>
            <a:endParaRPr lang="en-CN"/>
          </a:p>
        </p:txBody>
      </p:sp>
      <p:sp>
        <p:nvSpPr>
          <p:cNvPr id="36" name="Shape 34"/>
          <p:cNvSpPr/>
          <p:nvPr/>
        </p:nvSpPr>
        <p:spPr>
          <a:xfrm>
            <a:off x="1801368" y="2761488"/>
            <a:ext cx="193487" cy="193487"/>
          </a:xfrm>
          <a:prstGeom prst="rect">
            <a:avLst/>
          </a:prstGeom>
          <a:solidFill>
            <a:srgbClr val="FF3C38"/>
          </a:solidFill>
          <a:ln w="3175">
            <a:solidFill>
              <a:srgbClr val="FFFFFF"/>
            </a:solidFill>
            <a:prstDash val="solid"/>
          </a:ln>
        </p:spPr>
        <p:txBody>
          <a:bodyPr/>
          <a:lstStyle/>
          <a:p>
            <a:endParaRPr lang="en-CN"/>
          </a:p>
        </p:txBody>
      </p:sp>
      <p:sp>
        <p:nvSpPr>
          <p:cNvPr id="37" name="Shape 35"/>
          <p:cNvSpPr/>
          <p:nvPr/>
        </p:nvSpPr>
        <p:spPr>
          <a:xfrm>
            <a:off x="2011680" y="2761488"/>
            <a:ext cx="193487" cy="193487"/>
          </a:xfrm>
          <a:prstGeom prst="rect">
            <a:avLst/>
          </a:prstGeom>
          <a:solidFill>
            <a:srgbClr val="FF3C38"/>
          </a:solidFill>
          <a:ln w="3175">
            <a:solidFill>
              <a:srgbClr val="FFFFFF"/>
            </a:solidFill>
            <a:prstDash val="solid"/>
          </a:ln>
        </p:spPr>
        <p:txBody>
          <a:bodyPr/>
          <a:lstStyle/>
          <a:p>
            <a:endParaRPr lang="en-CN"/>
          </a:p>
        </p:txBody>
      </p:sp>
      <p:sp>
        <p:nvSpPr>
          <p:cNvPr id="38" name="Text 36"/>
          <p:cNvSpPr/>
          <p:nvPr/>
        </p:nvSpPr>
        <p:spPr>
          <a:xfrm>
            <a:off x="868680" y="3200400"/>
            <a:ext cx="2011680" cy="228600"/>
          </a:xfrm>
          <a:prstGeom prst="rect">
            <a:avLst/>
          </a:prstGeom>
          <a:noFill/>
          <a:ln/>
        </p:spPr>
        <p:txBody>
          <a:bodyPr wrap="square" lIns="0" tIns="0" rIns="0" bIns="0" rtlCol="0" anchor="ctr"/>
          <a:lstStyle/>
          <a:p>
            <a:pPr marL="0" indent="0">
              <a:buNone/>
            </a:pPr>
            <a:r>
              <a:rPr lang="en-US" sz="1250" dirty="0">
                <a:solidFill>
                  <a:srgbClr val="1D2939"/>
                </a:solidFill>
              </a:rPr>
              <a:t>Samples ordered by CD96 →</a:t>
            </a:r>
            <a:endParaRPr lang="en-US" sz="1250" dirty="0"/>
          </a:p>
        </p:txBody>
      </p:sp>
      <p:sp>
        <p:nvSpPr>
          <p:cNvPr id="39" name="Text 37"/>
          <p:cNvSpPr/>
          <p:nvPr/>
        </p:nvSpPr>
        <p:spPr>
          <a:xfrm>
            <a:off x="777240" y="3794760"/>
            <a:ext cx="4389120" cy="96012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Best for
</a:t>
            </a:r>
            <a:r>
              <a:rPr lang="en-US" sz="1400" dirty="0">
                <a:solidFill>
                  <a:srgbClr val="1D2939"/>
                </a:solidFill>
              </a:rPr>
              <a:t>Testing whether a predefined variable, such as CD96, grade, treatment, or risk score, explains gene-expression patterns.</a:t>
            </a:r>
            <a:endParaRPr lang="en-US" sz="1400" dirty="0"/>
          </a:p>
        </p:txBody>
      </p:sp>
      <p:sp>
        <p:nvSpPr>
          <p:cNvPr id="40" name="Text 38"/>
          <p:cNvSpPr/>
          <p:nvPr/>
        </p:nvSpPr>
        <p:spPr>
          <a:xfrm>
            <a:off x="6400800" y="1234440"/>
            <a:ext cx="4389120" cy="320040"/>
          </a:xfrm>
          <a:prstGeom prst="rect">
            <a:avLst/>
          </a:prstGeom>
          <a:noFill/>
          <a:ln/>
        </p:spPr>
        <p:txBody>
          <a:bodyPr wrap="square" lIns="0" tIns="0" rIns="0" bIns="0" rtlCol="0" anchor="ctr"/>
          <a:lstStyle/>
          <a:p>
            <a:pPr marL="0" indent="0">
              <a:buNone/>
            </a:pPr>
            <a:r>
              <a:rPr lang="en-US" sz="2100" b="1" dirty="0">
                <a:solidFill>
                  <a:srgbClr val="C84640"/>
                </a:solidFill>
              </a:rPr>
              <a:t>Unsupervised clustered heatmap</a:t>
            </a:r>
            <a:endParaRPr lang="en-US" sz="2100" dirty="0"/>
          </a:p>
        </p:txBody>
      </p:sp>
      <p:sp>
        <p:nvSpPr>
          <p:cNvPr id="41" name="Shape 39"/>
          <p:cNvSpPr/>
          <p:nvPr/>
        </p:nvSpPr>
        <p:spPr>
          <a:xfrm>
            <a:off x="6938467" y="2167128"/>
            <a:ext cx="0" cy="0"/>
          </a:xfrm>
          <a:prstGeom prst="line">
            <a:avLst/>
          </a:prstGeom>
          <a:noFill/>
          <a:ln w="9525">
            <a:solidFill>
              <a:srgbClr val="1D2939"/>
            </a:solidFill>
            <a:prstDash val="solid"/>
          </a:ln>
        </p:spPr>
        <p:txBody>
          <a:bodyPr/>
          <a:lstStyle/>
          <a:p>
            <a:endParaRPr lang="en-CN"/>
          </a:p>
        </p:txBody>
      </p:sp>
      <p:sp>
        <p:nvSpPr>
          <p:cNvPr id="42" name="Shape 40"/>
          <p:cNvSpPr/>
          <p:nvPr/>
        </p:nvSpPr>
        <p:spPr>
          <a:xfrm>
            <a:off x="7127748" y="2167128"/>
            <a:ext cx="0" cy="0"/>
          </a:xfrm>
          <a:prstGeom prst="line">
            <a:avLst/>
          </a:prstGeom>
          <a:noFill/>
          <a:ln w="9525">
            <a:solidFill>
              <a:srgbClr val="1D2939"/>
            </a:solidFill>
            <a:prstDash val="solid"/>
          </a:ln>
        </p:spPr>
        <p:txBody>
          <a:bodyPr/>
          <a:lstStyle/>
          <a:p>
            <a:endParaRPr lang="en-CN"/>
          </a:p>
        </p:txBody>
      </p:sp>
      <p:sp>
        <p:nvSpPr>
          <p:cNvPr id="43" name="Shape 41"/>
          <p:cNvSpPr/>
          <p:nvPr/>
        </p:nvSpPr>
        <p:spPr>
          <a:xfrm>
            <a:off x="7342266" y="2167128"/>
            <a:ext cx="0" cy="0"/>
          </a:xfrm>
          <a:prstGeom prst="line">
            <a:avLst/>
          </a:prstGeom>
          <a:noFill/>
          <a:ln w="9525">
            <a:solidFill>
              <a:srgbClr val="1D2939"/>
            </a:solidFill>
            <a:prstDash val="solid"/>
          </a:ln>
        </p:spPr>
        <p:txBody>
          <a:bodyPr/>
          <a:lstStyle/>
          <a:p>
            <a:endParaRPr lang="en-CN"/>
          </a:p>
        </p:txBody>
      </p:sp>
      <p:sp>
        <p:nvSpPr>
          <p:cNvPr id="44" name="Shape 42"/>
          <p:cNvSpPr/>
          <p:nvPr/>
        </p:nvSpPr>
        <p:spPr>
          <a:xfrm>
            <a:off x="7544166" y="2167128"/>
            <a:ext cx="0" cy="0"/>
          </a:xfrm>
          <a:prstGeom prst="line">
            <a:avLst/>
          </a:prstGeom>
          <a:noFill/>
          <a:ln w="9525">
            <a:solidFill>
              <a:srgbClr val="1D2939"/>
            </a:solidFill>
            <a:prstDash val="solid"/>
          </a:ln>
        </p:spPr>
        <p:txBody>
          <a:bodyPr/>
          <a:lstStyle/>
          <a:p>
            <a:endParaRPr lang="en-CN"/>
          </a:p>
        </p:txBody>
      </p:sp>
      <p:sp>
        <p:nvSpPr>
          <p:cNvPr id="45" name="Shape 43"/>
          <p:cNvSpPr/>
          <p:nvPr/>
        </p:nvSpPr>
        <p:spPr>
          <a:xfrm>
            <a:off x="7758684" y="2167128"/>
            <a:ext cx="0" cy="0"/>
          </a:xfrm>
          <a:prstGeom prst="line">
            <a:avLst/>
          </a:prstGeom>
          <a:noFill/>
          <a:ln w="9525">
            <a:solidFill>
              <a:srgbClr val="1D2939"/>
            </a:solidFill>
            <a:prstDash val="solid"/>
          </a:ln>
        </p:spPr>
        <p:txBody>
          <a:bodyPr/>
          <a:lstStyle/>
          <a:p>
            <a:endParaRPr lang="en-CN"/>
          </a:p>
        </p:txBody>
      </p:sp>
      <p:sp>
        <p:nvSpPr>
          <p:cNvPr id="46" name="Shape 44"/>
          <p:cNvSpPr/>
          <p:nvPr/>
        </p:nvSpPr>
        <p:spPr>
          <a:xfrm>
            <a:off x="7947965" y="2167128"/>
            <a:ext cx="0" cy="0"/>
          </a:xfrm>
          <a:prstGeom prst="line">
            <a:avLst/>
          </a:prstGeom>
          <a:noFill/>
          <a:ln w="9525">
            <a:solidFill>
              <a:srgbClr val="1D2939"/>
            </a:solidFill>
            <a:prstDash val="solid"/>
          </a:ln>
        </p:spPr>
        <p:txBody>
          <a:bodyPr/>
          <a:lstStyle/>
          <a:p>
            <a:endParaRPr lang="en-CN"/>
          </a:p>
        </p:txBody>
      </p:sp>
      <p:sp>
        <p:nvSpPr>
          <p:cNvPr id="47" name="Shape 45"/>
          <p:cNvSpPr/>
          <p:nvPr/>
        </p:nvSpPr>
        <p:spPr>
          <a:xfrm>
            <a:off x="6938467" y="2000707"/>
            <a:ext cx="189281" cy="0"/>
          </a:xfrm>
          <a:prstGeom prst="line">
            <a:avLst/>
          </a:prstGeom>
          <a:noFill/>
          <a:ln w="9525">
            <a:solidFill>
              <a:srgbClr val="1D2939"/>
            </a:solidFill>
            <a:prstDash val="solid"/>
          </a:ln>
        </p:spPr>
        <p:txBody>
          <a:bodyPr/>
          <a:lstStyle/>
          <a:p>
            <a:endParaRPr lang="en-CN"/>
          </a:p>
        </p:txBody>
      </p:sp>
      <p:sp>
        <p:nvSpPr>
          <p:cNvPr id="48" name="Shape 46"/>
          <p:cNvSpPr/>
          <p:nvPr/>
        </p:nvSpPr>
        <p:spPr>
          <a:xfrm>
            <a:off x="7033108" y="2000707"/>
            <a:ext cx="0" cy="0"/>
          </a:xfrm>
          <a:prstGeom prst="line">
            <a:avLst/>
          </a:prstGeom>
          <a:noFill/>
          <a:ln w="9525">
            <a:solidFill>
              <a:srgbClr val="1D2939"/>
            </a:solidFill>
            <a:prstDash val="solid"/>
          </a:ln>
        </p:spPr>
        <p:txBody>
          <a:bodyPr/>
          <a:lstStyle/>
          <a:p>
            <a:endParaRPr lang="en-CN"/>
          </a:p>
        </p:txBody>
      </p:sp>
      <p:sp>
        <p:nvSpPr>
          <p:cNvPr id="49" name="Shape 47"/>
          <p:cNvSpPr/>
          <p:nvPr/>
        </p:nvSpPr>
        <p:spPr>
          <a:xfrm>
            <a:off x="7342266" y="2000707"/>
            <a:ext cx="201900" cy="0"/>
          </a:xfrm>
          <a:prstGeom prst="line">
            <a:avLst/>
          </a:prstGeom>
          <a:noFill/>
          <a:ln w="9525">
            <a:solidFill>
              <a:srgbClr val="1D2939"/>
            </a:solidFill>
            <a:prstDash val="solid"/>
          </a:ln>
        </p:spPr>
        <p:txBody>
          <a:bodyPr/>
          <a:lstStyle/>
          <a:p>
            <a:endParaRPr lang="en-CN"/>
          </a:p>
        </p:txBody>
      </p:sp>
      <p:sp>
        <p:nvSpPr>
          <p:cNvPr id="50" name="Shape 48"/>
          <p:cNvSpPr/>
          <p:nvPr/>
        </p:nvSpPr>
        <p:spPr>
          <a:xfrm>
            <a:off x="7443216" y="2000707"/>
            <a:ext cx="0" cy="0"/>
          </a:xfrm>
          <a:prstGeom prst="line">
            <a:avLst/>
          </a:prstGeom>
          <a:noFill/>
          <a:ln w="9525">
            <a:solidFill>
              <a:srgbClr val="1D2939"/>
            </a:solidFill>
            <a:prstDash val="solid"/>
          </a:ln>
        </p:spPr>
        <p:txBody>
          <a:bodyPr/>
          <a:lstStyle/>
          <a:p>
            <a:endParaRPr lang="en-CN"/>
          </a:p>
        </p:txBody>
      </p:sp>
      <p:sp>
        <p:nvSpPr>
          <p:cNvPr id="51" name="Shape 49"/>
          <p:cNvSpPr/>
          <p:nvPr/>
        </p:nvSpPr>
        <p:spPr>
          <a:xfrm>
            <a:off x="7758684" y="2000707"/>
            <a:ext cx="189281" cy="0"/>
          </a:xfrm>
          <a:prstGeom prst="line">
            <a:avLst/>
          </a:prstGeom>
          <a:noFill/>
          <a:ln w="9525">
            <a:solidFill>
              <a:srgbClr val="1D2939"/>
            </a:solidFill>
            <a:prstDash val="solid"/>
          </a:ln>
        </p:spPr>
        <p:txBody>
          <a:bodyPr/>
          <a:lstStyle/>
          <a:p>
            <a:endParaRPr lang="en-CN"/>
          </a:p>
        </p:txBody>
      </p:sp>
      <p:sp>
        <p:nvSpPr>
          <p:cNvPr id="52" name="Shape 50"/>
          <p:cNvSpPr/>
          <p:nvPr/>
        </p:nvSpPr>
        <p:spPr>
          <a:xfrm>
            <a:off x="7853324" y="2000707"/>
            <a:ext cx="0" cy="0"/>
          </a:xfrm>
          <a:prstGeom prst="line">
            <a:avLst/>
          </a:prstGeom>
          <a:noFill/>
          <a:ln w="9525">
            <a:solidFill>
              <a:srgbClr val="1D2939"/>
            </a:solidFill>
            <a:prstDash val="solid"/>
          </a:ln>
        </p:spPr>
        <p:txBody>
          <a:bodyPr/>
          <a:lstStyle/>
          <a:p>
            <a:endParaRPr lang="en-CN"/>
          </a:p>
        </p:txBody>
      </p:sp>
      <p:sp>
        <p:nvSpPr>
          <p:cNvPr id="53" name="Shape 51"/>
          <p:cNvSpPr/>
          <p:nvPr/>
        </p:nvSpPr>
        <p:spPr>
          <a:xfrm>
            <a:off x="7033108" y="1881835"/>
            <a:ext cx="410108" cy="0"/>
          </a:xfrm>
          <a:prstGeom prst="line">
            <a:avLst/>
          </a:prstGeom>
          <a:noFill/>
          <a:ln w="9525">
            <a:solidFill>
              <a:srgbClr val="1D2939"/>
            </a:solidFill>
            <a:prstDash val="solid"/>
          </a:ln>
        </p:spPr>
        <p:txBody>
          <a:bodyPr/>
          <a:lstStyle/>
          <a:p>
            <a:endParaRPr lang="en-CN"/>
          </a:p>
        </p:txBody>
      </p:sp>
      <p:sp>
        <p:nvSpPr>
          <p:cNvPr id="54" name="Shape 52"/>
          <p:cNvSpPr/>
          <p:nvPr/>
        </p:nvSpPr>
        <p:spPr>
          <a:xfrm>
            <a:off x="7238162" y="1881835"/>
            <a:ext cx="0" cy="0"/>
          </a:xfrm>
          <a:prstGeom prst="line">
            <a:avLst/>
          </a:prstGeom>
          <a:noFill/>
          <a:ln w="9525">
            <a:solidFill>
              <a:srgbClr val="1D2939"/>
            </a:solidFill>
            <a:prstDash val="solid"/>
          </a:ln>
        </p:spPr>
        <p:txBody>
          <a:bodyPr/>
          <a:lstStyle/>
          <a:p>
            <a:endParaRPr lang="en-CN"/>
          </a:p>
        </p:txBody>
      </p:sp>
      <p:sp>
        <p:nvSpPr>
          <p:cNvPr id="55" name="Shape 53"/>
          <p:cNvSpPr/>
          <p:nvPr/>
        </p:nvSpPr>
        <p:spPr>
          <a:xfrm>
            <a:off x="7238162" y="1762963"/>
            <a:ext cx="615163" cy="0"/>
          </a:xfrm>
          <a:prstGeom prst="line">
            <a:avLst/>
          </a:prstGeom>
          <a:noFill/>
          <a:ln w="9525">
            <a:solidFill>
              <a:srgbClr val="1D2939"/>
            </a:solidFill>
            <a:prstDash val="solid"/>
          </a:ln>
        </p:spPr>
        <p:txBody>
          <a:bodyPr/>
          <a:lstStyle/>
          <a:p>
            <a:endParaRPr lang="en-CN"/>
          </a:p>
        </p:txBody>
      </p:sp>
      <p:sp>
        <p:nvSpPr>
          <p:cNvPr id="56" name="Shape 54"/>
          <p:cNvSpPr/>
          <p:nvPr/>
        </p:nvSpPr>
        <p:spPr>
          <a:xfrm>
            <a:off x="6812280" y="2194560"/>
            <a:ext cx="193487" cy="193487"/>
          </a:xfrm>
          <a:prstGeom prst="rect">
            <a:avLst/>
          </a:prstGeom>
          <a:solidFill>
            <a:srgbClr val="6699CC"/>
          </a:solidFill>
          <a:ln w="3175">
            <a:solidFill>
              <a:srgbClr val="FFFFFF"/>
            </a:solidFill>
            <a:prstDash val="solid"/>
          </a:ln>
        </p:spPr>
        <p:txBody>
          <a:bodyPr/>
          <a:lstStyle/>
          <a:p>
            <a:endParaRPr lang="en-CN"/>
          </a:p>
        </p:txBody>
      </p:sp>
      <p:sp>
        <p:nvSpPr>
          <p:cNvPr id="57" name="Shape 55"/>
          <p:cNvSpPr/>
          <p:nvPr/>
        </p:nvSpPr>
        <p:spPr>
          <a:xfrm>
            <a:off x="7022592" y="2194560"/>
            <a:ext cx="193487" cy="193487"/>
          </a:xfrm>
          <a:prstGeom prst="rect">
            <a:avLst/>
          </a:prstGeom>
          <a:solidFill>
            <a:srgbClr val="DDEBF7"/>
          </a:solidFill>
          <a:ln w="3175">
            <a:solidFill>
              <a:srgbClr val="FFFFFF"/>
            </a:solidFill>
            <a:prstDash val="solid"/>
          </a:ln>
        </p:spPr>
        <p:txBody>
          <a:bodyPr/>
          <a:lstStyle/>
          <a:p>
            <a:endParaRPr lang="en-CN"/>
          </a:p>
        </p:txBody>
      </p:sp>
      <p:sp>
        <p:nvSpPr>
          <p:cNvPr id="58" name="Shape 56"/>
          <p:cNvSpPr/>
          <p:nvPr/>
        </p:nvSpPr>
        <p:spPr>
          <a:xfrm>
            <a:off x="7232904" y="2194560"/>
            <a:ext cx="193487" cy="193487"/>
          </a:xfrm>
          <a:prstGeom prst="rect">
            <a:avLst/>
          </a:prstGeom>
          <a:solidFill>
            <a:srgbClr val="FFFFFF"/>
          </a:solidFill>
          <a:ln w="3175">
            <a:solidFill>
              <a:srgbClr val="FFFFFF"/>
            </a:solidFill>
            <a:prstDash val="solid"/>
          </a:ln>
        </p:spPr>
        <p:txBody>
          <a:bodyPr/>
          <a:lstStyle/>
          <a:p>
            <a:endParaRPr lang="en-CN"/>
          </a:p>
        </p:txBody>
      </p:sp>
      <p:sp>
        <p:nvSpPr>
          <p:cNvPr id="59" name="Shape 57"/>
          <p:cNvSpPr/>
          <p:nvPr/>
        </p:nvSpPr>
        <p:spPr>
          <a:xfrm>
            <a:off x="7443216" y="2194560"/>
            <a:ext cx="193487" cy="193487"/>
          </a:xfrm>
          <a:prstGeom prst="rect">
            <a:avLst/>
          </a:prstGeom>
          <a:solidFill>
            <a:srgbClr val="F8C8C6"/>
          </a:solidFill>
          <a:ln w="3175">
            <a:solidFill>
              <a:srgbClr val="FFFFFF"/>
            </a:solidFill>
            <a:prstDash val="solid"/>
          </a:ln>
        </p:spPr>
        <p:txBody>
          <a:bodyPr/>
          <a:lstStyle/>
          <a:p>
            <a:endParaRPr lang="en-CN"/>
          </a:p>
        </p:txBody>
      </p:sp>
      <p:sp>
        <p:nvSpPr>
          <p:cNvPr id="60" name="Shape 58"/>
          <p:cNvSpPr/>
          <p:nvPr/>
        </p:nvSpPr>
        <p:spPr>
          <a:xfrm>
            <a:off x="7653528" y="2194560"/>
            <a:ext cx="193487" cy="193487"/>
          </a:xfrm>
          <a:prstGeom prst="rect">
            <a:avLst/>
          </a:prstGeom>
          <a:solidFill>
            <a:srgbClr val="FF3C38"/>
          </a:solidFill>
          <a:ln w="3175">
            <a:solidFill>
              <a:srgbClr val="FFFFFF"/>
            </a:solidFill>
            <a:prstDash val="solid"/>
          </a:ln>
        </p:spPr>
        <p:txBody>
          <a:bodyPr/>
          <a:lstStyle/>
          <a:p>
            <a:endParaRPr lang="en-CN"/>
          </a:p>
        </p:txBody>
      </p:sp>
      <p:sp>
        <p:nvSpPr>
          <p:cNvPr id="61" name="Shape 59"/>
          <p:cNvSpPr/>
          <p:nvPr/>
        </p:nvSpPr>
        <p:spPr>
          <a:xfrm>
            <a:off x="7863840" y="2194560"/>
            <a:ext cx="193487" cy="193487"/>
          </a:xfrm>
          <a:prstGeom prst="rect">
            <a:avLst/>
          </a:prstGeom>
          <a:solidFill>
            <a:srgbClr val="FF3C38"/>
          </a:solidFill>
          <a:ln w="3175">
            <a:solidFill>
              <a:srgbClr val="FFFFFF"/>
            </a:solidFill>
            <a:prstDash val="solid"/>
          </a:ln>
        </p:spPr>
        <p:txBody>
          <a:bodyPr/>
          <a:lstStyle/>
          <a:p>
            <a:endParaRPr lang="en-CN"/>
          </a:p>
        </p:txBody>
      </p:sp>
      <p:sp>
        <p:nvSpPr>
          <p:cNvPr id="62" name="Shape 60"/>
          <p:cNvSpPr/>
          <p:nvPr/>
        </p:nvSpPr>
        <p:spPr>
          <a:xfrm>
            <a:off x="6812280" y="2404872"/>
            <a:ext cx="193487" cy="193487"/>
          </a:xfrm>
          <a:prstGeom prst="rect">
            <a:avLst/>
          </a:prstGeom>
          <a:solidFill>
            <a:srgbClr val="6699CC"/>
          </a:solidFill>
          <a:ln w="3175">
            <a:solidFill>
              <a:srgbClr val="FFFFFF"/>
            </a:solidFill>
            <a:prstDash val="solid"/>
          </a:ln>
        </p:spPr>
        <p:txBody>
          <a:bodyPr/>
          <a:lstStyle/>
          <a:p>
            <a:endParaRPr lang="en-CN"/>
          </a:p>
        </p:txBody>
      </p:sp>
      <p:sp>
        <p:nvSpPr>
          <p:cNvPr id="63" name="Shape 61"/>
          <p:cNvSpPr/>
          <p:nvPr/>
        </p:nvSpPr>
        <p:spPr>
          <a:xfrm>
            <a:off x="7022592" y="2404872"/>
            <a:ext cx="193487" cy="193487"/>
          </a:xfrm>
          <a:prstGeom prst="rect">
            <a:avLst/>
          </a:prstGeom>
          <a:solidFill>
            <a:srgbClr val="DDEBF7"/>
          </a:solidFill>
          <a:ln w="3175">
            <a:solidFill>
              <a:srgbClr val="FFFFFF"/>
            </a:solidFill>
            <a:prstDash val="solid"/>
          </a:ln>
        </p:spPr>
        <p:txBody>
          <a:bodyPr/>
          <a:lstStyle/>
          <a:p>
            <a:endParaRPr lang="en-CN"/>
          </a:p>
        </p:txBody>
      </p:sp>
      <p:sp>
        <p:nvSpPr>
          <p:cNvPr id="64" name="Shape 62"/>
          <p:cNvSpPr/>
          <p:nvPr/>
        </p:nvSpPr>
        <p:spPr>
          <a:xfrm>
            <a:off x="7232904" y="2404872"/>
            <a:ext cx="193487" cy="193487"/>
          </a:xfrm>
          <a:prstGeom prst="rect">
            <a:avLst/>
          </a:prstGeom>
          <a:solidFill>
            <a:srgbClr val="FFFFFF"/>
          </a:solidFill>
          <a:ln w="3175">
            <a:solidFill>
              <a:srgbClr val="FFFFFF"/>
            </a:solidFill>
            <a:prstDash val="solid"/>
          </a:ln>
        </p:spPr>
        <p:txBody>
          <a:bodyPr/>
          <a:lstStyle/>
          <a:p>
            <a:endParaRPr lang="en-CN"/>
          </a:p>
        </p:txBody>
      </p:sp>
      <p:sp>
        <p:nvSpPr>
          <p:cNvPr id="65" name="Shape 63"/>
          <p:cNvSpPr/>
          <p:nvPr/>
        </p:nvSpPr>
        <p:spPr>
          <a:xfrm>
            <a:off x="7443216" y="2404872"/>
            <a:ext cx="193487" cy="193487"/>
          </a:xfrm>
          <a:prstGeom prst="rect">
            <a:avLst/>
          </a:prstGeom>
          <a:solidFill>
            <a:srgbClr val="F8C8C6"/>
          </a:solidFill>
          <a:ln w="3175">
            <a:solidFill>
              <a:srgbClr val="FFFFFF"/>
            </a:solidFill>
            <a:prstDash val="solid"/>
          </a:ln>
        </p:spPr>
        <p:txBody>
          <a:bodyPr/>
          <a:lstStyle/>
          <a:p>
            <a:endParaRPr lang="en-CN"/>
          </a:p>
        </p:txBody>
      </p:sp>
      <p:sp>
        <p:nvSpPr>
          <p:cNvPr id="66" name="Shape 64"/>
          <p:cNvSpPr/>
          <p:nvPr/>
        </p:nvSpPr>
        <p:spPr>
          <a:xfrm>
            <a:off x="7653528" y="2404872"/>
            <a:ext cx="193487" cy="193487"/>
          </a:xfrm>
          <a:prstGeom prst="rect">
            <a:avLst/>
          </a:prstGeom>
          <a:solidFill>
            <a:srgbClr val="F8C8C6"/>
          </a:solidFill>
          <a:ln w="3175">
            <a:solidFill>
              <a:srgbClr val="FFFFFF"/>
            </a:solidFill>
            <a:prstDash val="solid"/>
          </a:ln>
        </p:spPr>
        <p:txBody>
          <a:bodyPr/>
          <a:lstStyle/>
          <a:p>
            <a:endParaRPr lang="en-CN"/>
          </a:p>
        </p:txBody>
      </p:sp>
      <p:sp>
        <p:nvSpPr>
          <p:cNvPr id="67" name="Shape 65"/>
          <p:cNvSpPr/>
          <p:nvPr/>
        </p:nvSpPr>
        <p:spPr>
          <a:xfrm>
            <a:off x="7863840" y="2404872"/>
            <a:ext cx="193487" cy="193487"/>
          </a:xfrm>
          <a:prstGeom prst="rect">
            <a:avLst/>
          </a:prstGeom>
          <a:solidFill>
            <a:srgbClr val="FF3C38"/>
          </a:solidFill>
          <a:ln w="3175">
            <a:solidFill>
              <a:srgbClr val="FFFFFF"/>
            </a:solidFill>
            <a:prstDash val="solid"/>
          </a:ln>
        </p:spPr>
        <p:txBody>
          <a:bodyPr/>
          <a:lstStyle/>
          <a:p>
            <a:endParaRPr lang="en-CN"/>
          </a:p>
        </p:txBody>
      </p:sp>
      <p:sp>
        <p:nvSpPr>
          <p:cNvPr id="68" name="Shape 66"/>
          <p:cNvSpPr/>
          <p:nvPr/>
        </p:nvSpPr>
        <p:spPr>
          <a:xfrm>
            <a:off x="6812280" y="2615184"/>
            <a:ext cx="193487" cy="193487"/>
          </a:xfrm>
          <a:prstGeom prst="rect">
            <a:avLst/>
          </a:prstGeom>
          <a:solidFill>
            <a:srgbClr val="F8C8C6"/>
          </a:solidFill>
          <a:ln w="3175">
            <a:solidFill>
              <a:srgbClr val="FFFFFF"/>
            </a:solidFill>
            <a:prstDash val="solid"/>
          </a:ln>
        </p:spPr>
        <p:txBody>
          <a:bodyPr/>
          <a:lstStyle/>
          <a:p>
            <a:endParaRPr lang="en-CN"/>
          </a:p>
        </p:txBody>
      </p:sp>
      <p:sp>
        <p:nvSpPr>
          <p:cNvPr id="69" name="Shape 67"/>
          <p:cNvSpPr/>
          <p:nvPr/>
        </p:nvSpPr>
        <p:spPr>
          <a:xfrm>
            <a:off x="7022592" y="2615184"/>
            <a:ext cx="193487" cy="193487"/>
          </a:xfrm>
          <a:prstGeom prst="rect">
            <a:avLst/>
          </a:prstGeom>
          <a:solidFill>
            <a:srgbClr val="FF3C38"/>
          </a:solidFill>
          <a:ln w="3175">
            <a:solidFill>
              <a:srgbClr val="FFFFFF"/>
            </a:solidFill>
            <a:prstDash val="solid"/>
          </a:ln>
        </p:spPr>
        <p:txBody>
          <a:bodyPr/>
          <a:lstStyle/>
          <a:p>
            <a:endParaRPr lang="en-CN"/>
          </a:p>
        </p:txBody>
      </p:sp>
      <p:sp>
        <p:nvSpPr>
          <p:cNvPr id="70" name="Shape 68"/>
          <p:cNvSpPr/>
          <p:nvPr/>
        </p:nvSpPr>
        <p:spPr>
          <a:xfrm>
            <a:off x="7232904" y="2615184"/>
            <a:ext cx="193487" cy="193487"/>
          </a:xfrm>
          <a:prstGeom prst="rect">
            <a:avLst/>
          </a:prstGeom>
          <a:solidFill>
            <a:srgbClr val="F8C8C6"/>
          </a:solidFill>
          <a:ln w="3175">
            <a:solidFill>
              <a:srgbClr val="FFFFFF"/>
            </a:solidFill>
            <a:prstDash val="solid"/>
          </a:ln>
        </p:spPr>
        <p:txBody>
          <a:bodyPr/>
          <a:lstStyle/>
          <a:p>
            <a:endParaRPr lang="en-CN"/>
          </a:p>
        </p:txBody>
      </p:sp>
      <p:sp>
        <p:nvSpPr>
          <p:cNvPr id="71" name="Shape 69"/>
          <p:cNvSpPr/>
          <p:nvPr/>
        </p:nvSpPr>
        <p:spPr>
          <a:xfrm>
            <a:off x="7443216" y="2615184"/>
            <a:ext cx="193487" cy="193487"/>
          </a:xfrm>
          <a:prstGeom prst="rect">
            <a:avLst/>
          </a:prstGeom>
          <a:solidFill>
            <a:srgbClr val="FFFFFF"/>
          </a:solidFill>
          <a:ln w="3175">
            <a:solidFill>
              <a:srgbClr val="FFFFFF"/>
            </a:solidFill>
            <a:prstDash val="solid"/>
          </a:ln>
        </p:spPr>
        <p:txBody>
          <a:bodyPr/>
          <a:lstStyle/>
          <a:p>
            <a:endParaRPr lang="en-CN"/>
          </a:p>
        </p:txBody>
      </p:sp>
      <p:sp>
        <p:nvSpPr>
          <p:cNvPr id="72" name="Shape 70"/>
          <p:cNvSpPr/>
          <p:nvPr/>
        </p:nvSpPr>
        <p:spPr>
          <a:xfrm>
            <a:off x="7653528" y="2615184"/>
            <a:ext cx="193487" cy="193487"/>
          </a:xfrm>
          <a:prstGeom prst="rect">
            <a:avLst/>
          </a:prstGeom>
          <a:solidFill>
            <a:srgbClr val="DDEBF7"/>
          </a:solidFill>
          <a:ln w="3175">
            <a:solidFill>
              <a:srgbClr val="FFFFFF"/>
            </a:solidFill>
            <a:prstDash val="solid"/>
          </a:ln>
        </p:spPr>
        <p:txBody>
          <a:bodyPr/>
          <a:lstStyle/>
          <a:p>
            <a:endParaRPr lang="en-CN"/>
          </a:p>
        </p:txBody>
      </p:sp>
      <p:sp>
        <p:nvSpPr>
          <p:cNvPr id="73" name="Shape 71"/>
          <p:cNvSpPr/>
          <p:nvPr/>
        </p:nvSpPr>
        <p:spPr>
          <a:xfrm>
            <a:off x="7863840" y="2615184"/>
            <a:ext cx="193487" cy="193487"/>
          </a:xfrm>
          <a:prstGeom prst="rect">
            <a:avLst/>
          </a:prstGeom>
          <a:solidFill>
            <a:srgbClr val="DDEBF7"/>
          </a:solidFill>
          <a:ln w="3175">
            <a:solidFill>
              <a:srgbClr val="FFFFFF"/>
            </a:solidFill>
            <a:prstDash val="solid"/>
          </a:ln>
        </p:spPr>
        <p:txBody>
          <a:bodyPr/>
          <a:lstStyle/>
          <a:p>
            <a:endParaRPr lang="en-CN"/>
          </a:p>
        </p:txBody>
      </p:sp>
      <p:sp>
        <p:nvSpPr>
          <p:cNvPr id="74" name="Shape 72"/>
          <p:cNvSpPr/>
          <p:nvPr/>
        </p:nvSpPr>
        <p:spPr>
          <a:xfrm>
            <a:off x="6812280" y="2825496"/>
            <a:ext cx="193487" cy="193487"/>
          </a:xfrm>
          <a:prstGeom prst="rect">
            <a:avLst/>
          </a:prstGeom>
          <a:solidFill>
            <a:srgbClr val="FF3C38"/>
          </a:solidFill>
          <a:ln w="3175">
            <a:solidFill>
              <a:srgbClr val="FFFFFF"/>
            </a:solidFill>
            <a:prstDash val="solid"/>
          </a:ln>
        </p:spPr>
        <p:txBody>
          <a:bodyPr/>
          <a:lstStyle/>
          <a:p>
            <a:endParaRPr lang="en-CN"/>
          </a:p>
        </p:txBody>
      </p:sp>
      <p:sp>
        <p:nvSpPr>
          <p:cNvPr id="75" name="Shape 73"/>
          <p:cNvSpPr/>
          <p:nvPr/>
        </p:nvSpPr>
        <p:spPr>
          <a:xfrm>
            <a:off x="7022592" y="2825496"/>
            <a:ext cx="193487" cy="193487"/>
          </a:xfrm>
          <a:prstGeom prst="rect">
            <a:avLst/>
          </a:prstGeom>
          <a:solidFill>
            <a:srgbClr val="FF3C38"/>
          </a:solidFill>
          <a:ln w="3175">
            <a:solidFill>
              <a:srgbClr val="FFFFFF"/>
            </a:solidFill>
            <a:prstDash val="solid"/>
          </a:ln>
        </p:spPr>
        <p:txBody>
          <a:bodyPr/>
          <a:lstStyle/>
          <a:p>
            <a:endParaRPr lang="en-CN"/>
          </a:p>
        </p:txBody>
      </p:sp>
      <p:sp>
        <p:nvSpPr>
          <p:cNvPr id="76" name="Shape 74"/>
          <p:cNvSpPr/>
          <p:nvPr/>
        </p:nvSpPr>
        <p:spPr>
          <a:xfrm>
            <a:off x="7232904" y="2825496"/>
            <a:ext cx="193487" cy="193487"/>
          </a:xfrm>
          <a:prstGeom prst="rect">
            <a:avLst/>
          </a:prstGeom>
          <a:solidFill>
            <a:srgbClr val="F8C8C6"/>
          </a:solidFill>
          <a:ln w="3175">
            <a:solidFill>
              <a:srgbClr val="FFFFFF"/>
            </a:solidFill>
            <a:prstDash val="solid"/>
          </a:ln>
        </p:spPr>
        <p:txBody>
          <a:bodyPr/>
          <a:lstStyle/>
          <a:p>
            <a:endParaRPr lang="en-CN"/>
          </a:p>
        </p:txBody>
      </p:sp>
      <p:sp>
        <p:nvSpPr>
          <p:cNvPr id="77" name="Shape 75"/>
          <p:cNvSpPr/>
          <p:nvPr/>
        </p:nvSpPr>
        <p:spPr>
          <a:xfrm>
            <a:off x="7443216" y="2825496"/>
            <a:ext cx="193487" cy="193487"/>
          </a:xfrm>
          <a:prstGeom prst="rect">
            <a:avLst/>
          </a:prstGeom>
          <a:solidFill>
            <a:srgbClr val="FFFFFF"/>
          </a:solidFill>
          <a:ln w="3175">
            <a:solidFill>
              <a:srgbClr val="FFFFFF"/>
            </a:solidFill>
            <a:prstDash val="solid"/>
          </a:ln>
        </p:spPr>
        <p:txBody>
          <a:bodyPr/>
          <a:lstStyle/>
          <a:p>
            <a:endParaRPr lang="en-CN"/>
          </a:p>
        </p:txBody>
      </p:sp>
      <p:sp>
        <p:nvSpPr>
          <p:cNvPr id="78" name="Shape 76"/>
          <p:cNvSpPr/>
          <p:nvPr/>
        </p:nvSpPr>
        <p:spPr>
          <a:xfrm>
            <a:off x="7653528" y="2825496"/>
            <a:ext cx="193487" cy="193487"/>
          </a:xfrm>
          <a:prstGeom prst="rect">
            <a:avLst/>
          </a:prstGeom>
          <a:solidFill>
            <a:srgbClr val="DDEBF7"/>
          </a:solidFill>
          <a:ln w="3175">
            <a:solidFill>
              <a:srgbClr val="FFFFFF"/>
            </a:solidFill>
            <a:prstDash val="solid"/>
          </a:ln>
        </p:spPr>
        <p:txBody>
          <a:bodyPr/>
          <a:lstStyle/>
          <a:p>
            <a:endParaRPr lang="en-CN"/>
          </a:p>
        </p:txBody>
      </p:sp>
      <p:sp>
        <p:nvSpPr>
          <p:cNvPr id="79" name="Shape 77"/>
          <p:cNvSpPr/>
          <p:nvPr/>
        </p:nvSpPr>
        <p:spPr>
          <a:xfrm>
            <a:off x="7863840" y="2825496"/>
            <a:ext cx="193487" cy="193487"/>
          </a:xfrm>
          <a:prstGeom prst="rect">
            <a:avLst/>
          </a:prstGeom>
          <a:solidFill>
            <a:srgbClr val="6699CC"/>
          </a:solidFill>
          <a:ln w="3175">
            <a:solidFill>
              <a:srgbClr val="FFFFFF"/>
            </a:solidFill>
            <a:prstDash val="solid"/>
          </a:ln>
        </p:spPr>
        <p:txBody>
          <a:bodyPr/>
          <a:lstStyle/>
          <a:p>
            <a:endParaRPr lang="en-CN"/>
          </a:p>
        </p:txBody>
      </p:sp>
      <p:sp>
        <p:nvSpPr>
          <p:cNvPr id="80" name="Shape 78"/>
          <p:cNvSpPr/>
          <p:nvPr/>
        </p:nvSpPr>
        <p:spPr>
          <a:xfrm>
            <a:off x="6812280" y="3035808"/>
            <a:ext cx="193487" cy="193487"/>
          </a:xfrm>
          <a:prstGeom prst="rect">
            <a:avLst/>
          </a:prstGeom>
          <a:solidFill>
            <a:srgbClr val="DDEBF7"/>
          </a:solidFill>
          <a:ln w="3175">
            <a:solidFill>
              <a:srgbClr val="FFFFFF"/>
            </a:solidFill>
            <a:prstDash val="solid"/>
          </a:ln>
        </p:spPr>
        <p:txBody>
          <a:bodyPr/>
          <a:lstStyle/>
          <a:p>
            <a:endParaRPr lang="en-CN"/>
          </a:p>
        </p:txBody>
      </p:sp>
      <p:sp>
        <p:nvSpPr>
          <p:cNvPr id="81" name="Shape 79"/>
          <p:cNvSpPr/>
          <p:nvPr/>
        </p:nvSpPr>
        <p:spPr>
          <a:xfrm>
            <a:off x="7022592" y="3035808"/>
            <a:ext cx="193487" cy="193487"/>
          </a:xfrm>
          <a:prstGeom prst="rect">
            <a:avLst/>
          </a:prstGeom>
          <a:solidFill>
            <a:srgbClr val="DDEBF7"/>
          </a:solidFill>
          <a:ln w="3175">
            <a:solidFill>
              <a:srgbClr val="FFFFFF"/>
            </a:solidFill>
            <a:prstDash val="solid"/>
          </a:ln>
        </p:spPr>
        <p:txBody>
          <a:bodyPr/>
          <a:lstStyle/>
          <a:p>
            <a:endParaRPr lang="en-CN"/>
          </a:p>
        </p:txBody>
      </p:sp>
      <p:sp>
        <p:nvSpPr>
          <p:cNvPr id="82" name="Shape 80"/>
          <p:cNvSpPr/>
          <p:nvPr/>
        </p:nvSpPr>
        <p:spPr>
          <a:xfrm>
            <a:off x="7232904" y="3035808"/>
            <a:ext cx="193487" cy="193487"/>
          </a:xfrm>
          <a:prstGeom prst="rect">
            <a:avLst/>
          </a:prstGeom>
          <a:solidFill>
            <a:srgbClr val="FFFFFF"/>
          </a:solidFill>
          <a:ln w="3175">
            <a:solidFill>
              <a:srgbClr val="FFFFFF"/>
            </a:solidFill>
            <a:prstDash val="solid"/>
          </a:ln>
        </p:spPr>
        <p:txBody>
          <a:bodyPr/>
          <a:lstStyle/>
          <a:p>
            <a:endParaRPr lang="en-CN"/>
          </a:p>
        </p:txBody>
      </p:sp>
      <p:sp>
        <p:nvSpPr>
          <p:cNvPr id="83" name="Shape 81"/>
          <p:cNvSpPr/>
          <p:nvPr/>
        </p:nvSpPr>
        <p:spPr>
          <a:xfrm>
            <a:off x="7443216" y="3035808"/>
            <a:ext cx="193487" cy="193487"/>
          </a:xfrm>
          <a:prstGeom prst="rect">
            <a:avLst/>
          </a:prstGeom>
          <a:solidFill>
            <a:srgbClr val="FFFFFF"/>
          </a:solidFill>
          <a:ln w="3175">
            <a:solidFill>
              <a:srgbClr val="FFFFFF"/>
            </a:solidFill>
            <a:prstDash val="solid"/>
          </a:ln>
        </p:spPr>
        <p:txBody>
          <a:bodyPr/>
          <a:lstStyle/>
          <a:p>
            <a:endParaRPr lang="en-CN"/>
          </a:p>
        </p:txBody>
      </p:sp>
      <p:sp>
        <p:nvSpPr>
          <p:cNvPr id="84" name="Shape 82"/>
          <p:cNvSpPr/>
          <p:nvPr/>
        </p:nvSpPr>
        <p:spPr>
          <a:xfrm>
            <a:off x="7653528" y="3035808"/>
            <a:ext cx="193487" cy="193487"/>
          </a:xfrm>
          <a:prstGeom prst="rect">
            <a:avLst/>
          </a:prstGeom>
          <a:solidFill>
            <a:srgbClr val="F8C8C6"/>
          </a:solidFill>
          <a:ln w="3175">
            <a:solidFill>
              <a:srgbClr val="FFFFFF"/>
            </a:solidFill>
            <a:prstDash val="solid"/>
          </a:ln>
        </p:spPr>
        <p:txBody>
          <a:bodyPr/>
          <a:lstStyle/>
          <a:p>
            <a:endParaRPr lang="en-CN"/>
          </a:p>
        </p:txBody>
      </p:sp>
      <p:sp>
        <p:nvSpPr>
          <p:cNvPr id="85" name="Shape 83"/>
          <p:cNvSpPr/>
          <p:nvPr/>
        </p:nvSpPr>
        <p:spPr>
          <a:xfrm>
            <a:off x="7863840" y="3035808"/>
            <a:ext cx="193487" cy="193487"/>
          </a:xfrm>
          <a:prstGeom prst="rect">
            <a:avLst/>
          </a:prstGeom>
          <a:solidFill>
            <a:srgbClr val="FF3C38"/>
          </a:solidFill>
          <a:ln w="3175">
            <a:solidFill>
              <a:srgbClr val="FFFFFF"/>
            </a:solidFill>
            <a:prstDash val="solid"/>
          </a:ln>
        </p:spPr>
        <p:txBody>
          <a:bodyPr/>
          <a:lstStyle/>
          <a:p>
            <a:endParaRPr lang="en-CN"/>
          </a:p>
        </p:txBody>
      </p:sp>
      <p:sp>
        <p:nvSpPr>
          <p:cNvPr id="86" name="Text 84"/>
          <p:cNvSpPr/>
          <p:nvPr/>
        </p:nvSpPr>
        <p:spPr>
          <a:xfrm>
            <a:off x="6446520" y="3474720"/>
            <a:ext cx="3017520" cy="228600"/>
          </a:xfrm>
          <a:prstGeom prst="rect">
            <a:avLst/>
          </a:prstGeom>
          <a:noFill/>
          <a:ln/>
        </p:spPr>
        <p:txBody>
          <a:bodyPr wrap="square" lIns="0" tIns="0" rIns="0" bIns="0" rtlCol="0" anchor="ctr"/>
          <a:lstStyle/>
          <a:p>
            <a:pPr marL="0" indent="0">
              <a:buNone/>
            </a:pPr>
            <a:r>
              <a:rPr lang="en-US" sz="1250" dirty="0">
                <a:solidFill>
                  <a:srgbClr val="1D2939"/>
                </a:solidFill>
              </a:rPr>
              <a:t>Samples grouped by similarity</a:t>
            </a:r>
            <a:endParaRPr lang="en-US" sz="1250" dirty="0"/>
          </a:p>
        </p:txBody>
      </p:sp>
      <p:sp>
        <p:nvSpPr>
          <p:cNvPr id="87" name="Text 85"/>
          <p:cNvSpPr/>
          <p:nvPr/>
        </p:nvSpPr>
        <p:spPr>
          <a:xfrm>
            <a:off x="6400800" y="3794760"/>
            <a:ext cx="4389120" cy="960120"/>
          </a:xfrm>
          <a:prstGeom prst="rect">
            <a:avLst/>
          </a:prstGeom>
          <a:solidFill>
            <a:srgbClr val="FEF3F2"/>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Best for
</a:t>
            </a:r>
            <a:r>
              <a:rPr lang="en-US" sz="1400" dirty="0">
                <a:solidFill>
                  <a:srgbClr val="1D2939"/>
                </a:solidFill>
              </a:rPr>
              <a:t>Discovering unknown sample subtypes, gene modules, or co-expression blocks when no ordering variable is imposed.</a:t>
            </a:r>
            <a:endParaRPr lang="en-US" sz="1400" dirty="0"/>
          </a:p>
        </p:txBody>
      </p:sp>
      <p:sp>
        <p:nvSpPr>
          <p:cNvPr id="88" name="Text 86"/>
          <p:cNvSpPr/>
          <p:nvPr/>
        </p:nvSpPr>
        <p:spPr>
          <a:xfrm>
            <a:off x="2423160" y="5349240"/>
            <a:ext cx="7315200" cy="68580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For this CD96 figure
</a:t>
            </a:r>
            <a:r>
              <a:rPr lang="en-US" sz="1400" dirty="0">
                <a:solidFill>
                  <a:srgbClr val="1D2939"/>
                </a:solidFill>
              </a:rPr>
              <a:t>Use supervised ordering because the biological question is: do immune genes increase as CD96 increases?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Heatmaps are widely used in similar omics studies</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They compress high-dimensional molecular data into interpretable patterns.</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15</a:t>
            </a:r>
            <a:endParaRPr lang="en-US" sz="800" dirty="0"/>
          </a:p>
        </p:txBody>
      </p:sp>
      <p:sp>
        <p:nvSpPr>
          <p:cNvPr id="7" name="Shape 5"/>
          <p:cNvSpPr/>
          <p:nvPr/>
        </p:nvSpPr>
        <p:spPr>
          <a:xfrm>
            <a:off x="822960" y="1325880"/>
            <a:ext cx="151425" cy="151425"/>
          </a:xfrm>
          <a:prstGeom prst="rect">
            <a:avLst/>
          </a:prstGeom>
          <a:solidFill>
            <a:srgbClr val="6699CC"/>
          </a:solidFill>
          <a:ln w="3175">
            <a:solidFill>
              <a:srgbClr val="FFFFFF"/>
            </a:solidFill>
            <a:prstDash val="solid"/>
          </a:ln>
        </p:spPr>
        <p:txBody>
          <a:bodyPr/>
          <a:lstStyle/>
          <a:p>
            <a:endParaRPr lang="en-CN"/>
          </a:p>
        </p:txBody>
      </p:sp>
      <p:sp>
        <p:nvSpPr>
          <p:cNvPr id="8" name="Shape 6"/>
          <p:cNvSpPr/>
          <p:nvPr/>
        </p:nvSpPr>
        <p:spPr>
          <a:xfrm>
            <a:off x="987552" y="1325880"/>
            <a:ext cx="151425" cy="151425"/>
          </a:xfrm>
          <a:prstGeom prst="rect">
            <a:avLst/>
          </a:prstGeom>
          <a:solidFill>
            <a:srgbClr val="DDEBF7"/>
          </a:solidFill>
          <a:ln w="3175">
            <a:solidFill>
              <a:srgbClr val="FFFFFF"/>
            </a:solidFill>
            <a:prstDash val="solid"/>
          </a:ln>
        </p:spPr>
        <p:txBody>
          <a:bodyPr/>
          <a:lstStyle/>
          <a:p>
            <a:endParaRPr lang="en-CN"/>
          </a:p>
        </p:txBody>
      </p:sp>
      <p:sp>
        <p:nvSpPr>
          <p:cNvPr id="9" name="Shape 7"/>
          <p:cNvSpPr/>
          <p:nvPr/>
        </p:nvSpPr>
        <p:spPr>
          <a:xfrm>
            <a:off x="1152144" y="1325880"/>
            <a:ext cx="151425" cy="151425"/>
          </a:xfrm>
          <a:prstGeom prst="rect">
            <a:avLst/>
          </a:prstGeom>
          <a:solidFill>
            <a:srgbClr val="FFFFFF"/>
          </a:solidFill>
          <a:ln w="3175">
            <a:solidFill>
              <a:srgbClr val="FFFFFF"/>
            </a:solidFill>
            <a:prstDash val="solid"/>
          </a:ln>
        </p:spPr>
        <p:txBody>
          <a:bodyPr/>
          <a:lstStyle/>
          <a:p>
            <a:endParaRPr lang="en-CN"/>
          </a:p>
        </p:txBody>
      </p:sp>
      <p:sp>
        <p:nvSpPr>
          <p:cNvPr id="10" name="Shape 8"/>
          <p:cNvSpPr/>
          <p:nvPr/>
        </p:nvSpPr>
        <p:spPr>
          <a:xfrm>
            <a:off x="1316736" y="1325880"/>
            <a:ext cx="151425" cy="151425"/>
          </a:xfrm>
          <a:prstGeom prst="rect">
            <a:avLst/>
          </a:prstGeom>
          <a:solidFill>
            <a:srgbClr val="F8C8C6"/>
          </a:solidFill>
          <a:ln w="3175">
            <a:solidFill>
              <a:srgbClr val="FFFFFF"/>
            </a:solidFill>
            <a:prstDash val="solid"/>
          </a:ln>
        </p:spPr>
        <p:txBody>
          <a:bodyPr/>
          <a:lstStyle/>
          <a:p>
            <a:endParaRPr lang="en-CN"/>
          </a:p>
        </p:txBody>
      </p:sp>
      <p:sp>
        <p:nvSpPr>
          <p:cNvPr id="11" name="Shape 9"/>
          <p:cNvSpPr/>
          <p:nvPr/>
        </p:nvSpPr>
        <p:spPr>
          <a:xfrm>
            <a:off x="1481328" y="1325880"/>
            <a:ext cx="151425" cy="151425"/>
          </a:xfrm>
          <a:prstGeom prst="rect">
            <a:avLst/>
          </a:prstGeom>
          <a:solidFill>
            <a:srgbClr val="FF3C38"/>
          </a:solidFill>
          <a:ln w="3175">
            <a:solidFill>
              <a:srgbClr val="FFFFFF"/>
            </a:solidFill>
            <a:prstDash val="solid"/>
          </a:ln>
        </p:spPr>
        <p:txBody>
          <a:bodyPr/>
          <a:lstStyle/>
          <a:p>
            <a:endParaRPr lang="en-CN"/>
          </a:p>
        </p:txBody>
      </p:sp>
      <p:sp>
        <p:nvSpPr>
          <p:cNvPr id="12" name="Shape 10"/>
          <p:cNvSpPr/>
          <p:nvPr/>
        </p:nvSpPr>
        <p:spPr>
          <a:xfrm>
            <a:off x="822960" y="1490472"/>
            <a:ext cx="151425" cy="151425"/>
          </a:xfrm>
          <a:prstGeom prst="rect">
            <a:avLst/>
          </a:prstGeom>
          <a:solidFill>
            <a:srgbClr val="DDEBF7"/>
          </a:solidFill>
          <a:ln w="3175">
            <a:solidFill>
              <a:srgbClr val="FFFFFF"/>
            </a:solidFill>
            <a:prstDash val="solid"/>
          </a:ln>
        </p:spPr>
        <p:txBody>
          <a:bodyPr/>
          <a:lstStyle/>
          <a:p>
            <a:endParaRPr lang="en-CN"/>
          </a:p>
        </p:txBody>
      </p:sp>
      <p:sp>
        <p:nvSpPr>
          <p:cNvPr id="13" name="Shape 11"/>
          <p:cNvSpPr/>
          <p:nvPr/>
        </p:nvSpPr>
        <p:spPr>
          <a:xfrm>
            <a:off x="987552" y="1490472"/>
            <a:ext cx="151425" cy="151425"/>
          </a:xfrm>
          <a:prstGeom prst="rect">
            <a:avLst/>
          </a:prstGeom>
          <a:solidFill>
            <a:srgbClr val="DDEBF7"/>
          </a:solidFill>
          <a:ln w="3175">
            <a:solidFill>
              <a:srgbClr val="FFFFFF"/>
            </a:solidFill>
            <a:prstDash val="solid"/>
          </a:ln>
        </p:spPr>
        <p:txBody>
          <a:bodyPr/>
          <a:lstStyle/>
          <a:p>
            <a:endParaRPr lang="en-CN"/>
          </a:p>
        </p:txBody>
      </p:sp>
      <p:sp>
        <p:nvSpPr>
          <p:cNvPr id="14" name="Shape 12"/>
          <p:cNvSpPr/>
          <p:nvPr/>
        </p:nvSpPr>
        <p:spPr>
          <a:xfrm>
            <a:off x="1152144" y="1490472"/>
            <a:ext cx="151425" cy="151425"/>
          </a:xfrm>
          <a:prstGeom prst="rect">
            <a:avLst/>
          </a:prstGeom>
          <a:solidFill>
            <a:srgbClr val="FFFFFF"/>
          </a:solidFill>
          <a:ln w="3175">
            <a:solidFill>
              <a:srgbClr val="FFFFFF"/>
            </a:solidFill>
            <a:prstDash val="solid"/>
          </a:ln>
        </p:spPr>
        <p:txBody>
          <a:bodyPr/>
          <a:lstStyle/>
          <a:p>
            <a:endParaRPr lang="en-CN"/>
          </a:p>
        </p:txBody>
      </p:sp>
      <p:sp>
        <p:nvSpPr>
          <p:cNvPr id="15" name="Shape 13"/>
          <p:cNvSpPr/>
          <p:nvPr/>
        </p:nvSpPr>
        <p:spPr>
          <a:xfrm>
            <a:off x="1316736" y="1490472"/>
            <a:ext cx="151425" cy="151425"/>
          </a:xfrm>
          <a:prstGeom prst="rect">
            <a:avLst/>
          </a:prstGeom>
          <a:solidFill>
            <a:srgbClr val="F8C8C6"/>
          </a:solidFill>
          <a:ln w="3175">
            <a:solidFill>
              <a:srgbClr val="FFFFFF"/>
            </a:solidFill>
            <a:prstDash val="solid"/>
          </a:ln>
        </p:spPr>
        <p:txBody>
          <a:bodyPr/>
          <a:lstStyle/>
          <a:p>
            <a:endParaRPr lang="en-CN"/>
          </a:p>
        </p:txBody>
      </p:sp>
      <p:sp>
        <p:nvSpPr>
          <p:cNvPr id="16" name="Shape 14"/>
          <p:cNvSpPr/>
          <p:nvPr/>
        </p:nvSpPr>
        <p:spPr>
          <a:xfrm>
            <a:off x="1481328" y="1490472"/>
            <a:ext cx="151425" cy="151425"/>
          </a:xfrm>
          <a:prstGeom prst="rect">
            <a:avLst/>
          </a:prstGeom>
          <a:solidFill>
            <a:srgbClr val="FF3C38"/>
          </a:solidFill>
          <a:ln w="3175">
            <a:solidFill>
              <a:srgbClr val="FFFFFF"/>
            </a:solidFill>
            <a:prstDash val="solid"/>
          </a:ln>
        </p:spPr>
        <p:txBody>
          <a:bodyPr/>
          <a:lstStyle/>
          <a:p>
            <a:endParaRPr lang="en-CN"/>
          </a:p>
        </p:txBody>
      </p:sp>
      <p:sp>
        <p:nvSpPr>
          <p:cNvPr id="17" name="Shape 15"/>
          <p:cNvSpPr/>
          <p:nvPr/>
        </p:nvSpPr>
        <p:spPr>
          <a:xfrm>
            <a:off x="822960" y="1655064"/>
            <a:ext cx="151425" cy="151425"/>
          </a:xfrm>
          <a:prstGeom prst="rect">
            <a:avLst/>
          </a:prstGeom>
          <a:solidFill>
            <a:srgbClr val="6699CC"/>
          </a:solidFill>
          <a:ln w="3175">
            <a:solidFill>
              <a:srgbClr val="FFFFFF"/>
            </a:solidFill>
            <a:prstDash val="solid"/>
          </a:ln>
        </p:spPr>
        <p:txBody>
          <a:bodyPr/>
          <a:lstStyle/>
          <a:p>
            <a:endParaRPr lang="en-CN"/>
          </a:p>
        </p:txBody>
      </p:sp>
      <p:sp>
        <p:nvSpPr>
          <p:cNvPr id="18" name="Shape 16"/>
          <p:cNvSpPr/>
          <p:nvPr/>
        </p:nvSpPr>
        <p:spPr>
          <a:xfrm>
            <a:off x="987552" y="1655064"/>
            <a:ext cx="151425" cy="151425"/>
          </a:xfrm>
          <a:prstGeom prst="rect">
            <a:avLst/>
          </a:prstGeom>
          <a:solidFill>
            <a:srgbClr val="FFFFFF"/>
          </a:solidFill>
          <a:ln w="3175">
            <a:solidFill>
              <a:srgbClr val="FFFFFF"/>
            </a:solidFill>
            <a:prstDash val="solid"/>
          </a:ln>
        </p:spPr>
        <p:txBody>
          <a:bodyPr/>
          <a:lstStyle/>
          <a:p>
            <a:endParaRPr lang="en-CN"/>
          </a:p>
        </p:txBody>
      </p:sp>
      <p:sp>
        <p:nvSpPr>
          <p:cNvPr id="19" name="Shape 17"/>
          <p:cNvSpPr/>
          <p:nvPr/>
        </p:nvSpPr>
        <p:spPr>
          <a:xfrm>
            <a:off x="1152144" y="1655064"/>
            <a:ext cx="151425" cy="151425"/>
          </a:xfrm>
          <a:prstGeom prst="rect">
            <a:avLst/>
          </a:prstGeom>
          <a:solidFill>
            <a:srgbClr val="F8C8C6"/>
          </a:solidFill>
          <a:ln w="3175">
            <a:solidFill>
              <a:srgbClr val="FFFFFF"/>
            </a:solidFill>
            <a:prstDash val="solid"/>
          </a:ln>
        </p:spPr>
        <p:txBody>
          <a:bodyPr/>
          <a:lstStyle/>
          <a:p>
            <a:endParaRPr lang="en-CN"/>
          </a:p>
        </p:txBody>
      </p:sp>
      <p:sp>
        <p:nvSpPr>
          <p:cNvPr id="20" name="Shape 18"/>
          <p:cNvSpPr/>
          <p:nvPr/>
        </p:nvSpPr>
        <p:spPr>
          <a:xfrm>
            <a:off x="1316736" y="1655064"/>
            <a:ext cx="151425" cy="151425"/>
          </a:xfrm>
          <a:prstGeom prst="rect">
            <a:avLst/>
          </a:prstGeom>
          <a:solidFill>
            <a:srgbClr val="F8C8C6"/>
          </a:solidFill>
          <a:ln w="3175">
            <a:solidFill>
              <a:srgbClr val="FFFFFF"/>
            </a:solidFill>
            <a:prstDash val="solid"/>
          </a:ln>
        </p:spPr>
        <p:txBody>
          <a:bodyPr/>
          <a:lstStyle/>
          <a:p>
            <a:endParaRPr lang="en-CN"/>
          </a:p>
        </p:txBody>
      </p:sp>
      <p:sp>
        <p:nvSpPr>
          <p:cNvPr id="21" name="Shape 19"/>
          <p:cNvSpPr/>
          <p:nvPr/>
        </p:nvSpPr>
        <p:spPr>
          <a:xfrm>
            <a:off x="1481328" y="1655064"/>
            <a:ext cx="151425" cy="151425"/>
          </a:xfrm>
          <a:prstGeom prst="rect">
            <a:avLst/>
          </a:prstGeom>
          <a:solidFill>
            <a:srgbClr val="FF3C38"/>
          </a:solidFill>
          <a:ln w="3175">
            <a:solidFill>
              <a:srgbClr val="FFFFFF"/>
            </a:solidFill>
            <a:prstDash val="solid"/>
          </a:ln>
        </p:spPr>
        <p:txBody>
          <a:bodyPr/>
          <a:lstStyle/>
          <a:p>
            <a:endParaRPr lang="en-CN"/>
          </a:p>
        </p:txBody>
      </p:sp>
      <p:sp>
        <p:nvSpPr>
          <p:cNvPr id="22" name="Shape 20"/>
          <p:cNvSpPr/>
          <p:nvPr/>
        </p:nvSpPr>
        <p:spPr>
          <a:xfrm>
            <a:off x="822960" y="1819656"/>
            <a:ext cx="151425" cy="151425"/>
          </a:xfrm>
          <a:prstGeom prst="rect">
            <a:avLst/>
          </a:prstGeom>
          <a:solidFill>
            <a:srgbClr val="FF3C38"/>
          </a:solidFill>
          <a:ln w="3175">
            <a:solidFill>
              <a:srgbClr val="FFFFFF"/>
            </a:solidFill>
            <a:prstDash val="solid"/>
          </a:ln>
        </p:spPr>
        <p:txBody>
          <a:bodyPr/>
          <a:lstStyle/>
          <a:p>
            <a:endParaRPr lang="en-CN"/>
          </a:p>
        </p:txBody>
      </p:sp>
      <p:sp>
        <p:nvSpPr>
          <p:cNvPr id="23" name="Shape 21"/>
          <p:cNvSpPr/>
          <p:nvPr/>
        </p:nvSpPr>
        <p:spPr>
          <a:xfrm>
            <a:off x="987552" y="1819656"/>
            <a:ext cx="151425" cy="151425"/>
          </a:xfrm>
          <a:prstGeom prst="rect">
            <a:avLst/>
          </a:prstGeom>
          <a:solidFill>
            <a:srgbClr val="F8C8C6"/>
          </a:solidFill>
          <a:ln w="3175">
            <a:solidFill>
              <a:srgbClr val="FFFFFF"/>
            </a:solidFill>
            <a:prstDash val="solid"/>
          </a:ln>
        </p:spPr>
        <p:txBody>
          <a:bodyPr/>
          <a:lstStyle/>
          <a:p>
            <a:endParaRPr lang="en-CN"/>
          </a:p>
        </p:txBody>
      </p:sp>
      <p:sp>
        <p:nvSpPr>
          <p:cNvPr id="24" name="Shape 22"/>
          <p:cNvSpPr/>
          <p:nvPr/>
        </p:nvSpPr>
        <p:spPr>
          <a:xfrm>
            <a:off x="1152144" y="1819656"/>
            <a:ext cx="151425" cy="151425"/>
          </a:xfrm>
          <a:prstGeom prst="rect">
            <a:avLst/>
          </a:prstGeom>
          <a:solidFill>
            <a:srgbClr val="FFFFFF"/>
          </a:solidFill>
          <a:ln w="3175">
            <a:solidFill>
              <a:srgbClr val="FFFFFF"/>
            </a:solidFill>
            <a:prstDash val="solid"/>
          </a:ln>
        </p:spPr>
        <p:txBody>
          <a:bodyPr/>
          <a:lstStyle/>
          <a:p>
            <a:endParaRPr lang="en-CN"/>
          </a:p>
        </p:txBody>
      </p:sp>
      <p:sp>
        <p:nvSpPr>
          <p:cNvPr id="25" name="Shape 23"/>
          <p:cNvSpPr/>
          <p:nvPr/>
        </p:nvSpPr>
        <p:spPr>
          <a:xfrm>
            <a:off x="1316736" y="1819656"/>
            <a:ext cx="151425" cy="151425"/>
          </a:xfrm>
          <a:prstGeom prst="rect">
            <a:avLst/>
          </a:prstGeom>
          <a:solidFill>
            <a:srgbClr val="DDEBF7"/>
          </a:solidFill>
          <a:ln w="3175">
            <a:solidFill>
              <a:srgbClr val="FFFFFF"/>
            </a:solidFill>
            <a:prstDash val="solid"/>
          </a:ln>
        </p:spPr>
        <p:txBody>
          <a:bodyPr/>
          <a:lstStyle/>
          <a:p>
            <a:endParaRPr lang="en-CN"/>
          </a:p>
        </p:txBody>
      </p:sp>
      <p:sp>
        <p:nvSpPr>
          <p:cNvPr id="26" name="Shape 24"/>
          <p:cNvSpPr/>
          <p:nvPr/>
        </p:nvSpPr>
        <p:spPr>
          <a:xfrm>
            <a:off x="1481328" y="1819656"/>
            <a:ext cx="151425" cy="151425"/>
          </a:xfrm>
          <a:prstGeom prst="rect">
            <a:avLst/>
          </a:prstGeom>
          <a:solidFill>
            <a:srgbClr val="6699CC"/>
          </a:solidFill>
          <a:ln w="3175">
            <a:solidFill>
              <a:srgbClr val="FFFFFF"/>
            </a:solidFill>
            <a:prstDash val="solid"/>
          </a:ln>
        </p:spPr>
        <p:txBody>
          <a:bodyPr/>
          <a:lstStyle/>
          <a:p>
            <a:endParaRPr lang="en-CN"/>
          </a:p>
        </p:txBody>
      </p:sp>
      <p:sp>
        <p:nvSpPr>
          <p:cNvPr id="27" name="Shape 25"/>
          <p:cNvSpPr/>
          <p:nvPr/>
        </p:nvSpPr>
        <p:spPr>
          <a:xfrm>
            <a:off x="822960" y="1984248"/>
            <a:ext cx="151425" cy="151425"/>
          </a:xfrm>
          <a:prstGeom prst="rect">
            <a:avLst/>
          </a:prstGeom>
          <a:solidFill>
            <a:srgbClr val="F8C8C6"/>
          </a:solidFill>
          <a:ln w="3175">
            <a:solidFill>
              <a:srgbClr val="FFFFFF"/>
            </a:solidFill>
            <a:prstDash val="solid"/>
          </a:ln>
        </p:spPr>
        <p:txBody>
          <a:bodyPr/>
          <a:lstStyle/>
          <a:p>
            <a:endParaRPr lang="en-CN"/>
          </a:p>
        </p:txBody>
      </p:sp>
      <p:sp>
        <p:nvSpPr>
          <p:cNvPr id="28" name="Shape 26"/>
          <p:cNvSpPr/>
          <p:nvPr/>
        </p:nvSpPr>
        <p:spPr>
          <a:xfrm>
            <a:off x="987552" y="1984248"/>
            <a:ext cx="151425" cy="151425"/>
          </a:xfrm>
          <a:prstGeom prst="rect">
            <a:avLst/>
          </a:prstGeom>
          <a:solidFill>
            <a:srgbClr val="FF3C38"/>
          </a:solidFill>
          <a:ln w="3175">
            <a:solidFill>
              <a:srgbClr val="FFFFFF"/>
            </a:solidFill>
            <a:prstDash val="solid"/>
          </a:ln>
        </p:spPr>
        <p:txBody>
          <a:bodyPr/>
          <a:lstStyle/>
          <a:p>
            <a:endParaRPr lang="en-CN"/>
          </a:p>
        </p:txBody>
      </p:sp>
      <p:sp>
        <p:nvSpPr>
          <p:cNvPr id="29" name="Shape 27"/>
          <p:cNvSpPr/>
          <p:nvPr/>
        </p:nvSpPr>
        <p:spPr>
          <a:xfrm>
            <a:off x="1152144" y="1984248"/>
            <a:ext cx="151425" cy="151425"/>
          </a:xfrm>
          <a:prstGeom prst="rect">
            <a:avLst/>
          </a:prstGeom>
          <a:solidFill>
            <a:srgbClr val="F8C8C6"/>
          </a:solidFill>
          <a:ln w="3175">
            <a:solidFill>
              <a:srgbClr val="FFFFFF"/>
            </a:solidFill>
            <a:prstDash val="solid"/>
          </a:ln>
        </p:spPr>
        <p:txBody>
          <a:bodyPr/>
          <a:lstStyle/>
          <a:p>
            <a:endParaRPr lang="en-CN"/>
          </a:p>
        </p:txBody>
      </p:sp>
      <p:sp>
        <p:nvSpPr>
          <p:cNvPr id="30" name="Shape 28"/>
          <p:cNvSpPr/>
          <p:nvPr/>
        </p:nvSpPr>
        <p:spPr>
          <a:xfrm>
            <a:off x="1316736" y="1984248"/>
            <a:ext cx="151425" cy="151425"/>
          </a:xfrm>
          <a:prstGeom prst="rect">
            <a:avLst/>
          </a:prstGeom>
          <a:solidFill>
            <a:srgbClr val="FFFFFF"/>
          </a:solidFill>
          <a:ln w="3175">
            <a:solidFill>
              <a:srgbClr val="FFFFFF"/>
            </a:solidFill>
            <a:prstDash val="solid"/>
          </a:ln>
        </p:spPr>
        <p:txBody>
          <a:bodyPr/>
          <a:lstStyle/>
          <a:p>
            <a:endParaRPr lang="en-CN"/>
          </a:p>
        </p:txBody>
      </p:sp>
      <p:sp>
        <p:nvSpPr>
          <p:cNvPr id="31" name="Shape 29"/>
          <p:cNvSpPr/>
          <p:nvPr/>
        </p:nvSpPr>
        <p:spPr>
          <a:xfrm>
            <a:off x="1481328" y="1984248"/>
            <a:ext cx="151425" cy="151425"/>
          </a:xfrm>
          <a:prstGeom prst="rect">
            <a:avLst/>
          </a:prstGeom>
          <a:solidFill>
            <a:srgbClr val="DDEBF7"/>
          </a:solidFill>
          <a:ln w="3175">
            <a:solidFill>
              <a:srgbClr val="FFFFFF"/>
            </a:solidFill>
            <a:prstDash val="solid"/>
          </a:ln>
        </p:spPr>
        <p:txBody>
          <a:bodyPr/>
          <a:lstStyle/>
          <a:p>
            <a:endParaRPr lang="en-CN"/>
          </a:p>
        </p:txBody>
      </p:sp>
      <p:sp>
        <p:nvSpPr>
          <p:cNvPr id="32" name="Text 30"/>
          <p:cNvSpPr/>
          <p:nvPr/>
        </p:nvSpPr>
        <p:spPr>
          <a:xfrm>
            <a:off x="1828800" y="1280160"/>
            <a:ext cx="1828800" cy="256032"/>
          </a:xfrm>
          <a:prstGeom prst="rect">
            <a:avLst/>
          </a:prstGeom>
          <a:noFill/>
          <a:ln/>
        </p:spPr>
        <p:txBody>
          <a:bodyPr wrap="square" lIns="381" tIns="381" rIns="381" bIns="381" rtlCol="0" anchor="t">
            <a:normAutofit/>
          </a:bodyPr>
          <a:lstStyle/>
          <a:p>
            <a:pPr marL="0" indent="0">
              <a:buNone/>
            </a:pPr>
            <a:r>
              <a:rPr lang="en-US" sz="1600" b="1" dirty="0">
                <a:solidFill>
                  <a:srgbClr val="1D2939"/>
                </a:solidFill>
                <a:latin typeface="Aptos" pitchFamily="34" charset="0"/>
                <a:ea typeface="Aptos" pitchFamily="34" charset="-122"/>
                <a:cs typeface="Aptos" pitchFamily="34" charset="-120"/>
              </a:rPr>
              <a:t>Gene signatures</a:t>
            </a:r>
            <a:endParaRPr lang="en-US" sz="1600" dirty="0"/>
          </a:p>
        </p:txBody>
      </p:sp>
      <p:sp>
        <p:nvSpPr>
          <p:cNvPr id="33" name="Text 31"/>
          <p:cNvSpPr/>
          <p:nvPr/>
        </p:nvSpPr>
        <p:spPr>
          <a:xfrm>
            <a:off x="1828800" y="1627632"/>
            <a:ext cx="3063240" cy="502920"/>
          </a:xfrm>
          <a:prstGeom prst="rect">
            <a:avLst/>
          </a:prstGeom>
          <a:noFill/>
          <a:ln/>
        </p:spPr>
        <p:txBody>
          <a:bodyPr wrap="square" lIns="381" tIns="381" rIns="381" bIns="381" rtlCol="0" anchor="t">
            <a:normAutofit/>
          </a:bodyPr>
          <a:lstStyle/>
          <a:p>
            <a:pPr marL="0" indent="0">
              <a:buNone/>
            </a:pPr>
            <a:r>
              <a:rPr lang="en-US" sz="1250" dirty="0">
                <a:solidFill>
                  <a:srgbClr val="667085"/>
                </a:solidFill>
                <a:latin typeface="Aptos" pitchFamily="34" charset="0"/>
                <a:ea typeface="Aptos" pitchFamily="34" charset="-122"/>
                <a:cs typeface="Aptos" pitchFamily="34" charset="-120"/>
              </a:rPr>
              <a:t>DE genes across tumor groups or treatment response.</a:t>
            </a:r>
            <a:endParaRPr lang="en-US" sz="1250" dirty="0"/>
          </a:p>
        </p:txBody>
      </p:sp>
      <p:sp>
        <p:nvSpPr>
          <p:cNvPr id="34" name="Shape 32"/>
          <p:cNvSpPr/>
          <p:nvPr/>
        </p:nvSpPr>
        <p:spPr>
          <a:xfrm>
            <a:off x="5715000" y="1325880"/>
            <a:ext cx="151425" cy="151425"/>
          </a:xfrm>
          <a:prstGeom prst="rect">
            <a:avLst/>
          </a:prstGeom>
          <a:solidFill>
            <a:srgbClr val="FF3C38"/>
          </a:solidFill>
          <a:ln w="3175">
            <a:solidFill>
              <a:srgbClr val="FFFFFF"/>
            </a:solidFill>
            <a:prstDash val="solid"/>
          </a:ln>
        </p:spPr>
        <p:txBody>
          <a:bodyPr/>
          <a:lstStyle/>
          <a:p>
            <a:endParaRPr lang="en-CN"/>
          </a:p>
        </p:txBody>
      </p:sp>
      <p:sp>
        <p:nvSpPr>
          <p:cNvPr id="35" name="Shape 33"/>
          <p:cNvSpPr/>
          <p:nvPr/>
        </p:nvSpPr>
        <p:spPr>
          <a:xfrm>
            <a:off x="5879592" y="1325880"/>
            <a:ext cx="151425" cy="151425"/>
          </a:xfrm>
          <a:prstGeom prst="rect">
            <a:avLst/>
          </a:prstGeom>
          <a:solidFill>
            <a:srgbClr val="FF3C38"/>
          </a:solidFill>
          <a:ln w="3175">
            <a:solidFill>
              <a:srgbClr val="FFFFFF"/>
            </a:solidFill>
            <a:prstDash val="solid"/>
          </a:ln>
        </p:spPr>
        <p:txBody>
          <a:bodyPr/>
          <a:lstStyle/>
          <a:p>
            <a:endParaRPr lang="en-CN"/>
          </a:p>
        </p:txBody>
      </p:sp>
      <p:sp>
        <p:nvSpPr>
          <p:cNvPr id="36" name="Shape 34"/>
          <p:cNvSpPr/>
          <p:nvPr/>
        </p:nvSpPr>
        <p:spPr>
          <a:xfrm>
            <a:off x="6044184" y="1325880"/>
            <a:ext cx="151425" cy="151425"/>
          </a:xfrm>
          <a:prstGeom prst="rect">
            <a:avLst/>
          </a:prstGeom>
          <a:solidFill>
            <a:srgbClr val="F8C8C6"/>
          </a:solidFill>
          <a:ln w="3175">
            <a:solidFill>
              <a:srgbClr val="FFFFFF"/>
            </a:solidFill>
            <a:prstDash val="solid"/>
          </a:ln>
        </p:spPr>
        <p:txBody>
          <a:bodyPr/>
          <a:lstStyle/>
          <a:p>
            <a:endParaRPr lang="en-CN"/>
          </a:p>
        </p:txBody>
      </p:sp>
      <p:sp>
        <p:nvSpPr>
          <p:cNvPr id="37" name="Shape 35"/>
          <p:cNvSpPr/>
          <p:nvPr/>
        </p:nvSpPr>
        <p:spPr>
          <a:xfrm>
            <a:off x="6208776" y="1325880"/>
            <a:ext cx="151425" cy="151425"/>
          </a:xfrm>
          <a:prstGeom prst="rect">
            <a:avLst/>
          </a:prstGeom>
          <a:solidFill>
            <a:srgbClr val="DDEBF7"/>
          </a:solidFill>
          <a:ln w="3175">
            <a:solidFill>
              <a:srgbClr val="FFFFFF"/>
            </a:solidFill>
            <a:prstDash val="solid"/>
          </a:ln>
        </p:spPr>
        <p:txBody>
          <a:bodyPr/>
          <a:lstStyle/>
          <a:p>
            <a:endParaRPr lang="en-CN"/>
          </a:p>
        </p:txBody>
      </p:sp>
      <p:sp>
        <p:nvSpPr>
          <p:cNvPr id="38" name="Shape 36"/>
          <p:cNvSpPr/>
          <p:nvPr/>
        </p:nvSpPr>
        <p:spPr>
          <a:xfrm>
            <a:off x="6373368" y="1325880"/>
            <a:ext cx="151425" cy="151425"/>
          </a:xfrm>
          <a:prstGeom prst="rect">
            <a:avLst/>
          </a:prstGeom>
          <a:solidFill>
            <a:srgbClr val="6699CC"/>
          </a:solidFill>
          <a:ln w="3175">
            <a:solidFill>
              <a:srgbClr val="FFFFFF"/>
            </a:solidFill>
            <a:prstDash val="solid"/>
          </a:ln>
        </p:spPr>
        <p:txBody>
          <a:bodyPr/>
          <a:lstStyle/>
          <a:p>
            <a:endParaRPr lang="en-CN"/>
          </a:p>
        </p:txBody>
      </p:sp>
      <p:sp>
        <p:nvSpPr>
          <p:cNvPr id="39" name="Shape 37"/>
          <p:cNvSpPr/>
          <p:nvPr/>
        </p:nvSpPr>
        <p:spPr>
          <a:xfrm>
            <a:off x="5715000" y="1490472"/>
            <a:ext cx="151425" cy="151425"/>
          </a:xfrm>
          <a:prstGeom prst="rect">
            <a:avLst/>
          </a:prstGeom>
          <a:solidFill>
            <a:srgbClr val="F8C8C6"/>
          </a:solidFill>
          <a:ln w="3175">
            <a:solidFill>
              <a:srgbClr val="FFFFFF"/>
            </a:solidFill>
            <a:prstDash val="solid"/>
          </a:ln>
        </p:spPr>
        <p:txBody>
          <a:bodyPr/>
          <a:lstStyle/>
          <a:p>
            <a:endParaRPr lang="en-CN"/>
          </a:p>
        </p:txBody>
      </p:sp>
      <p:sp>
        <p:nvSpPr>
          <p:cNvPr id="40" name="Shape 38"/>
          <p:cNvSpPr/>
          <p:nvPr/>
        </p:nvSpPr>
        <p:spPr>
          <a:xfrm>
            <a:off x="5879592" y="1490472"/>
            <a:ext cx="151425" cy="151425"/>
          </a:xfrm>
          <a:prstGeom prst="rect">
            <a:avLst/>
          </a:prstGeom>
          <a:solidFill>
            <a:srgbClr val="FF3C38"/>
          </a:solidFill>
          <a:ln w="3175">
            <a:solidFill>
              <a:srgbClr val="FFFFFF"/>
            </a:solidFill>
            <a:prstDash val="solid"/>
          </a:ln>
        </p:spPr>
        <p:txBody>
          <a:bodyPr/>
          <a:lstStyle/>
          <a:p>
            <a:endParaRPr lang="en-CN"/>
          </a:p>
        </p:txBody>
      </p:sp>
      <p:sp>
        <p:nvSpPr>
          <p:cNvPr id="41" name="Shape 39"/>
          <p:cNvSpPr/>
          <p:nvPr/>
        </p:nvSpPr>
        <p:spPr>
          <a:xfrm>
            <a:off x="6044184" y="1490472"/>
            <a:ext cx="151425" cy="151425"/>
          </a:xfrm>
          <a:prstGeom prst="rect">
            <a:avLst/>
          </a:prstGeom>
          <a:solidFill>
            <a:srgbClr val="F8C8C6"/>
          </a:solidFill>
          <a:ln w="3175">
            <a:solidFill>
              <a:srgbClr val="FFFFFF"/>
            </a:solidFill>
            <a:prstDash val="solid"/>
          </a:ln>
        </p:spPr>
        <p:txBody>
          <a:bodyPr/>
          <a:lstStyle/>
          <a:p>
            <a:endParaRPr lang="en-CN"/>
          </a:p>
        </p:txBody>
      </p:sp>
      <p:sp>
        <p:nvSpPr>
          <p:cNvPr id="42" name="Shape 40"/>
          <p:cNvSpPr/>
          <p:nvPr/>
        </p:nvSpPr>
        <p:spPr>
          <a:xfrm>
            <a:off x="6208776" y="1490472"/>
            <a:ext cx="151425" cy="151425"/>
          </a:xfrm>
          <a:prstGeom prst="rect">
            <a:avLst/>
          </a:prstGeom>
          <a:solidFill>
            <a:srgbClr val="DDEBF7"/>
          </a:solidFill>
          <a:ln w="3175">
            <a:solidFill>
              <a:srgbClr val="FFFFFF"/>
            </a:solidFill>
            <a:prstDash val="solid"/>
          </a:ln>
        </p:spPr>
        <p:txBody>
          <a:bodyPr/>
          <a:lstStyle/>
          <a:p>
            <a:endParaRPr lang="en-CN"/>
          </a:p>
        </p:txBody>
      </p:sp>
      <p:sp>
        <p:nvSpPr>
          <p:cNvPr id="43" name="Shape 41"/>
          <p:cNvSpPr/>
          <p:nvPr/>
        </p:nvSpPr>
        <p:spPr>
          <a:xfrm>
            <a:off x="6373368" y="1490472"/>
            <a:ext cx="151425" cy="151425"/>
          </a:xfrm>
          <a:prstGeom prst="rect">
            <a:avLst/>
          </a:prstGeom>
          <a:solidFill>
            <a:srgbClr val="6699CC"/>
          </a:solidFill>
          <a:ln w="3175">
            <a:solidFill>
              <a:srgbClr val="FFFFFF"/>
            </a:solidFill>
            <a:prstDash val="solid"/>
          </a:ln>
        </p:spPr>
        <p:txBody>
          <a:bodyPr/>
          <a:lstStyle/>
          <a:p>
            <a:endParaRPr lang="en-CN"/>
          </a:p>
        </p:txBody>
      </p:sp>
      <p:sp>
        <p:nvSpPr>
          <p:cNvPr id="44" name="Shape 42"/>
          <p:cNvSpPr/>
          <p:nvPr/>
        </p:nvSpPr>
        <p:spPr>
          <a:xfrm>
            <a:off x="5715000" y="1655064"/>
            <a:ext cx="151425" cy="151425"/>
          </a:xfrm>
          <a:prstGeom prst="rect">
            <a:avLst/>
          </a:prstGeom>
          <a:solidFill>
            <a:srgbClr val="FFFFFF"/>
          </a:solidFill>
          <a:ln w="3175">
            <a:solidFill>
              <a:srgbClr val="FFFFFF"/>
            </a:solidFill>
            <a:prstDash val="solid"/>
          </a:ln>
        </p:spPr>
        <p:txBody>
          <a:bodyPr/>
          <a:lstStyle/>
          <a:p>
            <a:endParaRPr lang="en-CN"/>
          </a:p>
        </p:txBody>
      </p:sp>
      <p:sp>
        <p:nvSpPr>
          <p:cNvPr id="45" name="Shape 43"/>
          <p:cNvSpPr/>
          <p:nvPr/>
        </p:nvSpPr>
        <p:spPr>
          <a:xfrm>
            <a:off x="5879592" y="1655064"/>
            <a:ext cx="151425" cy="151425"/>
          </a:xfrm>
          <a:prstGeom prst="rect">
            <a:avLst/>
          </a:prstGeom>
          <a:solidFill>
            <a:srgbClr val="F8C8C6"/>
          </a:solidFill>
          <a:ln w="3175">
            <a:solidFill>
              <a:srgbClr val="FFFFFF"/>
            </a:solidFill>
            <a:prstDash val="solid"/>
          </a:ln>
        </p:spPr>
        <p:txBody>
          <a:bodyPr/>
          <a:lstStyle/>
          <a:p>
            <a:endParaRPr lang="en-CN"/>
          </a:p>
        </p:txBody>
      </p:sp>
      <p:sp>
        <p:nvSpPr>
          <p:cNvPr id="46" name="Shape 44"/>
          <p:cNvSpPr/>
          <p:nvPr/>
        </p:nvSpPr>
        <p:spPr>
          <a:xfrm>
            <a:off x="6044184" y="1655064"/>
            <a:ext cx="151425" cy="151425"/>
          </a:xfrm>
          <a:prstGeom prst="rect">
            <a:avLst/>
          </a:prstGeom>
          <a:solidFill>
            <a:srgbClr val="FF3C38"/>
          </a:solidFill>
          <a:ln w="3175">
            <a:solidFill>
              <a:srgbClr val="FFFFFF"/>
            </a:solidFill>
            <a:prstDash val="solid"/>
          </a:ln>
        </p:spPr>
        <p:txBody>
          <a:bodyPr/>
          <a:lstStyle/>
          <a:p>
            <a:endParaRPr lang="en-CN"/>
          </a:p>
        </p:txBody>
      </p:sp>
      <p:sp>
        <p:nvSpPr>
          <p:cNvPr id="47" name="Shape 45"/>
          <p:cNvSpPr/>
          <p:nvPr/>
        </p:nvSpPr>
        <p:spPr>
          <a:xfrm>
            <a:off x="6208776" y="1655064"/>
            <a:ext cx="151425" cy="151425"/>
          </a:xfrm>
          <a:prstGeom prst="rect">
            <a:avLst/>
          </a:prstGeom>
          <a:solidFill>
            <a:srgbClr val="DDEBF7"/>
          </a:solidFill>
          <a:ln w="3175">
            <a:solidFill>
              <a:srgbClr val="FFFFFF"/>
            </a:solidFill>
            <a:prstDash val="solid"/>
          </a:ln>
        </p:spPr>
        <p:txBody>
          <a:bodyPr/>
          <a:lstStyle/>
          <a:p>
            <a:endParaRPr lang="en-CN"/>
          </a:p>
        </p:txBody>
      </p:sp>
      <p:sp>
        <p:nvSpPr>
          <p:cNvPr id="48" name="Shape 46"/>
          <p:cNvSpPr/>
          <p:nvPr/>
        </p:nvSpPr>
        <p:spPr>
          <a:xfrm>
            <a:off x="6373368" y="1655064"/>
            <a:ext cx="151425" cy="151425"/>
          </a:xfrm>
          <a:prstGeom prst="rect">
            <a:avLst/>
          </a:prstGeom>
          <a:solidFill>
            <a:srgbClr val="6699CC"/>
          </a:solidFill>
          <a:ln w="3175">
            <a:solidFill>
              <a:srgbClr val="FFFFFF"/>
            </a:solidFill>
            <a:prstDash val="solid"/>
          </a:ln>
        </p:spPr>
        <p:txBody>
          <a:bodyPr/>
          <a:lstStyle/>
          <a:p>
            <a:endParaRPr lang="en-CN"/>
          </a:p>
        </p:txBody>
      </p:sp>
      <p:sp>
        <p:nvSpPr>
          <p:cNvPr id="49" name="Shape 47"/>
          <p:cNvSpPr/>
          <p:nvPr/>
        </p:nvSpPr>
        <p:spPr>
          <a:xfrm>
            <a:off x="5715000" y="1819656"/>
            <a:ext cx="151425" cy="151425"/>
          </a:xfrm>
          <a:prstGeom prst="rect">
            <a:avLst/>
          </a:prstGeom>
          <a:solidFill>
            <a:srgbClr val="6699CC"/>
          </a:solidFill>
          <a:ln w="3175">
            <a:solidFill>
              <a:srgbClr val="FFFFFF"/>
            </a:solidFill>
            <a:prstDash val="solid"/>
          </a:ln>
        </p:spPr>
        <p:txBody>
          <a:bodyPr/>
          <a:lstStyle/>
          <a:p>
            <a:endParaRPr lang="en-CN"/>
          </a:p>
        </p:txBody>
      </p:sp>
      <p:sp>
        <p:nvSpPr>
          <p:cNvPr id="50" name="Shape 48"/>
          <p:cNvSpPr/>
          <p:nvPr/>
        </p:nvSpPr>
        <p:spPr>
          <a:xfrm>
            <a:off x="5879592" y="1819656"/>
            <a:ext cx="151425" cy="151425"/>
          </a:xfrm>
          <a:prstGeom prst="rect">
            <a:avLst/>
          </a:prstGeom>
          <a:solidFill>
            <a:srgbClr val="DDEBF7"/>
          </a:solidFill>
          <a:ln w="3175">
            <a:solidFill>
              <a:srgbClr val="FFFFFF"/>
            </a:solidFill>
            <a:prstDash val="solid"/>
          </a:ln>
        </p:spPr>
        <p:txBody>
          <a:bodyPr/>
          <a:lstStyle/>
          <a:p>
            <a:endParaRPr lang="en-CN"/>
          </a:p>
        </p:txBody>
      </p:sp>
      <p:sp>
        <p:nvSpPr>
          <p:cNvPr id="51" name="Shape 49"/>
          <p:cNvSpPr/>
          <p:nvPr/>
        </p:nvSpPr>
        <p:spPr>
          <a:xfrm>
            <a:off x="6044184" y="1819656"/>
            <a:ext cx="151425" cy="151425"/>
          </a:xfrm>
          <a:prstGeom prst="rect">
            <a:avLst/>
          </a:prstGeom>
          <a:solidFill>
            <a:srgbClr val="FFFFFF"/>
          </a:solidFill>
          <a:ln w="3175">
            <a:solidFill>
              <a:srgbClr val="FFFFFF"/>
            </a:solidFill>
            <a:prstDash val="solid"/>
          </a:ln>
        </p:spPr>
        <p:txBody>
          <a:bodyPr/>
          <a:lstStyle/>
          <a:p>
            <a:endParaRPr lang="en-CN"/>
          </a:p>
        </p:txBody>
      </p:sp>
      <p:sp>
        <p:nvSpPr>
          <p:cNvPr id="52" name="Shape 50"/>
          <p:cNvSpPr/>
          <p:nvPr/>
        </p:nvSpPr>
        <p:spPr>
          <a:xfrm>
            <a:off x="6208776" y="1819656"/>
            <a:ext cx="151425" cy="151425"/>
          </a:xfrm>
          <a:prstGeom prst="rect">
            <a:avLst/>
          </a:prstGeom>
          <a:solidFill>
            <a:srgbClr val="F8C8C6"/>
          </a:solidFill>
          <a:ln w="3175">
            <a:solidFill>
              <a:srgbClr val="FFFFFF"/>
            </a:solidFill>
            <a:prstDash val="solid"/>
          </a:ln>
        </p:spPr>
        <p:txBody>
          <a:bodyPr/>
          <a:lstStyle/>
          <a:p>
            <a:endParaRPr lang="en-CN"/>
          </a:p>
        </p:txBody>
      </p:sp>
      <p:sp>
        <p:nvSpPr>
          <p:cNvPr id="53" name="Shape 51"/>
          <p:cNvSpPr/>
          <p:nvPr/>
        </p:nvSpPr>
        <p:spPr>
          <a:xfrm>
            <a:off x="6373368" y="1819656"/>
            <a:ext cx="151425" cy="151425"/>
          </a:xfrm>
          <a:prstGeom prst="rect">
            <a:avLst/>
          </a:prstGeom>
          <a:solidFill>
            <a:srgbClr val="FF3C38"/>
          </a:solidFill>
          <a:ln w="3175">
            <a:solidFill>
              <a:srgbClr val="FFFFFF"/>
            </a:solidFill>
            <a:prstDash val="solid"/>
          </a:ln>
        </p:spPr>
        <p:txBody>
          <a:bodyPr/>
          <a:lstStyle/>
          <a:p>
            <a:endParaRPr lang="en-CN"/>
          </a:p>
        </p:txBody>
      </p:sp>
      <p:sp>
        <p:nvSpPr>
          <p:cNvPr id="54" name="Shape 52"/>
          <p:cNvSpPr/>
          <p:nvPr/>
        </p:nvSpPr>
        <p:spPr>
          <a:xfrm>
            <a:off x="5715000" y="1984248"/>
            <a:ext cx="151425" cy="151425"/>
          </a:xfrm>
          <a:prstGeom prst="rect">
            <a:avLst/>
          </a:prstGeom>
          <a:solidFill>
            <a:srgbClr val="DDEBF7"/>
          </a:solidFill>
          <a:ln w="3175">
            <a:solidFill>
              <a:srgbClr val="FFFFFF"/>
            </a:solidFill>
            <a:prstDash val="solid"/>
          </a:ln>
        </p:spPr>
        <p:txBody>
          <a:bodyPr/>
          <a:lstStyle/>
          <a:p>
            <a:endParaRPr lang="en-CN"/>
          </a:p>
        </p:txBody>
      </p:sp>
      <p:sp>
        <p:nvSpPr>
          <p:cNvPr id="55" name="Shape 53"/>
          <p:cNvSpPr/>
          <p:nvPr/>
        </p:nvSpPr>
        <p:spPr>
          <a:xfrm>
            <a:off x="5879592" y="1984248"/>
            <a:ext cx="151425" cy="151425"/>
          </a:xfrm>
          <a:prstGeom prst="rect">
            <a:avLst/>
          </a:prstGeom>
          <a:solidFill>
            <a:srgbClr val="6699CC"/>
          </a:solidFill>
          <a:ln w="3175">
            <a:solidFill>
              <a:srgbClr val="FFFFFF"/>
            </a:solidFill>
            <a:prstDash val="solid"/>
          </a:ln>
        </p:spPr>
        <p:txBody>
          <a:bodyPr/>
          <a:lstStyle/>
          <a:p>
            <a:endParaRPr lang="en-CN"/>
          </a:p>
        </p:txBody>
      </p:sp>
      <p:sp>
        <p:nvSpPr>
          <p:cNvPr id="56" name="Shape 54"/>
          <p:cNvSpPr/>
          <p:nvPr/>
        </p:nvSpPr>
        <p:spPr>
          <a:xfrm>
            <a:off x="6044184" y="1984248"/>
            <a:ext cx="151425" cy="151425"/>
          </a:xfrm>
          <a:prstGeom prst="rect">
            <a:avLst/>
          </a:prstGeom>
          <a:solidFill>
            <a:srgbClr val="FFFFFF"/>
          </a:solidFill>
          <a:ln w="3175">
            <a:solidFill>
              <a:srgbClr val="FFFFFF"/>
            </a:solidFill>
            <a:prstDash val="solid"/>
          </a:ln>
        </p:spPr>
        <p:txBody>
          <a:bodyPr/>
          <a:lstStyle/>
          <a:p>
            <a:endParaRPr lang="en-CN"/>
          </a:p>
        </p:txBody>
      </p:sp>
      <p:sp>
        <p:nvSpPr>
          <p:cNvPr id="57" name="Shape 55"/>
          <p:cNvSpPr/>
          <p:nvPr/>
        </p:nvSpPr>
        <p:spPr>
          <a:xfrm>
            <a:off x="6208776" y="1984248"/>
            <a:ext cx="151425" cy="151425"/>
          </a:xfrm>
          <a:prstGeom prst="rect">
            <a:avLst/>
          </a:prstGeom>
          <a:solidFill>
            <a:srgbClr val="F8C8C6"/>
          </a:solidFill>
          <a:ln w="3175">
            <a:solidFill>
              <a:srgbClr val="FFFFFF"/>
            </a:solidFill>
            <a:prstDash val="solid"/>
          </a:ln>
        </p:spPr>
        <p:txBody>
          <a:bodyPr/>
          <a:lstStyle/>
          <a:p>
            <a:endParaRPr lang="en-CN"/>
          </a:p>
        </p:txBody>
      </p:sp>
      <p:sp>
        <p:nvSpPr>
          <p:cNvPr id="58" name="Shape 56"/>
          <p:cNvSpPr/>
          <p:nvPr/>
        </p:nvSpPr>
        <p:spPr>
          <a:xfrm>
            <a:off x="6373368" y="1984248"/>
            <a:ext cx="151425" cy="151425"/>
          </a:xfrm>
          <a:prstGeom prst="rect">
            <a:avLst/>
          </a:prstGeom>
          <a:solidFill>
            <a:srgbClr val="FF3C38"/>
          </a:solidFill>
          <a:ln w="3175">
            <a:solidFill>
              <a:srgbClr val="FFFFFF"/>
            </a:solidFill>
            <a:prstDash val="solid"/>
          </a:ln>
        </p:spPr>
        <p:txBody>
          <a:bodyPr/>
          <a:lstStyle/>
          <a:p>
            <a:endParaRPr lang="en-CN"/>
          </a:p>
        </p:txBody>
      </p:sp>
      <p:sp>
        <p:nvSpPr>
          <p:cNvPr id="59" name="Text 57"/>
          <p:cNvSpPr/>
          <p:nvPr/>
        </p:nvSpPr>
        <p:spPr>
          <a:xfrm>
            <a:off x="6720840" y="1280160"/>
            <a:ext cx="1828800" cy="256032"/>
          </a:xfrm>
          <a:prstGeom prst="rect">
            <a:avLst/>
          </a:prstGeom>
          <a:noFill/>
          <a:ln/>
        </p:spPr>
        <p:txBody>
          <a:bodyPr wrap="square" lIns="381" tIns="381" rIns="381" bIns="381" rtlCol="0" anchor="t">
            <a:normAutofit/>
          </a:bodyPr>
          <a:lstStyle/>
          <a:p>
            <a:pPr marL="0" indent="0">
              <a:buNone/>
            </a:pPr>
            <a:r>
              <a:rPr lang="en-US" sz="1600" b="1" dirty="0">
                <a:solidFill>
                  <a:srgbClr val="1D2939"/>
                </a:solidFill>
                <a:latin typeface="Aptos" pitchFamily="34" charset="0"/>
                <a:ea typeface="Aptos" pitchFamily="34" charset="-122"/>
                <a:cs typeface="Aptos" pitchFamily="34" charset="-120"/>
              </a:rPr>
              <a:t>Tumor subtyping</a:t>
            </a:r>
            <a:endParaRPr lang="en-US" sz="1600" dirty="0"/>
          </a:p>
        </p:txBody>
      </p:sp>
      <p:sp>
        <p:nvSpPr>
          <p:cNvPr id="60" name="Text 58"/>
          <p:cNvSpPr/>
          <p:nvPr/>
        </p:nvSpPr>
        <p:spPr>
          <a:xfrm>
            <a:off x="6720840" y="1627632"/>
            <a:ext cx="3063240" cy="502920"/>
          </a:xfrm>
          <a:prstGeom prst="rect">
            <a:avLst/>
          </a:prstGeom>
          <a:noFill/>
          <a:ln/>
        </p:spPr>
        <p:txBody>
          <a:bodyPr wrap="square" lIns="381" tIns="381" rIns="381" bIns="381" rtlCol="0" anchor="t">
            <a:normAutofit/>
          </a:bodyPr>
          <a:lstStyle/>
          <a:p>
            <a:pPr marL="0" indent="0">
              <a:buNone/>
            </a:pPr>
            <a:r>
              <a:rPr lang="en-US" sz="1250" dirty="0">
                <a:solidFill>
                  <a:srgbClr val="667085"/>
                </a:solidFill>
                <a:latin typeface="Aptos" pitchFamily="34" charset="0"/>
                <a:ea typeface="Aptos" pitchFamily="34" charset="-122"/>
                <a:cs typeface="Aptos" pitchFamily="34" charset="-120"/>
              </a:rPr>
              <a:t>Patient clusters and subtype annotations.</a:t>
            </a:r>
            <a:endParaRPr lang="en-US" sz="1250" dirty="0"/>
          </a:p>
        </p:txBody>
      </p:sp>
      <p:sp>
        <p:nvSpPr>
          <p:cNvPr id="61" name="Shape 59"/>
          <p:cNvSpPr/>
          <p:nvPr/>
        </p:nvSpPr>
        <p:spPr>
          <a:xfrm>
            <a:off x="822960" y="3291840"/>
            <a:ext cx="151425" cy="151425"/>
          </a:xfrm>
          <a:prstGeom prst="rect">
            <a:avLst/>
          </a:prstGeom>
          <a:solidFill>
            <a:srgbClr val="FF3C38"/>
          </a:solidFill>
          <a:ln w="3175">
            <a:solidFill>
              <a:srgbClr val="FFFFFF"/>
            </a:solidFill>
            <a:prstDash val="solid"/>
          </a:ln>
        </p:spPr>
        <p:txBody>
          <a:bodyPr/>
          <a:lstStyle/>
          <a:p>
            <a:endParaRPr lang="en-CN"/>
          </a:p>
        </p:txBody>
      </p:sp>
      <p:sp>
        <p:nvSpPr>
          <p:cNvPr id="62" name="Shape 60"/>
          <p:cNvSpPr/>
          <p:nvPr/>
        </p:nvSpPr>
        <p:spPr>
          <a:xfrm>
            <a:off x="987552" y="3291840"/>
            <a:ext cx="151425" cy="151425"/>
          </a:xfrm>
          <a:prstGeom prst="rect">
            <a:avLst/>
          </a:prstGeom>
          <a:solidFill>
            <a:srgbClr val="F8C8C6"/>
          </a:solidFill>
          <a:ln w="3175">
            <a:solidFill>
              <a:srgbClr val="FFFFFF"/>
            </a:solidFill>
            <a:prstDash val="solid"/>
          </a:ln>
        </p:spPr>
        <p:txBody>
          <a:bodyPr/>
          <a:lstStyle/>
          <a:p>
            <a:endParaRPr lang="en-CN"/>
          </a:p>
        </p:txBody>
      </p:sp>
      <p:sp>
        <p:nvSpPr>
          <p:cNvPr id="63" name="Shape 61"/>
          <p:cNvSpPr/>
          <p:nvPr/>
        </p:nvSpPr>
        <p:spPr>
          <a:xfrm>
            <a:off x="1152144" y="3291840"/>
            <a:ext cx="151425" cy="151425"/>
          </a:xfrm>
          <a:prstGeom prst="rect">
            <a:avLst/>
          </a:prstGeom>
          <a:solidFill>
            <a:srgbClr val="FF3C38"/>
          </a:solidFill>
          <a:ln w="3175">
            <a:solidFill>
              <a:srgbClr val="FFFFFF"/>
            </a:solidFill>
            <a:prstDash val="solid"/>
          </a:ln>
        </p:spPr>
        <p:txBody>
          <a:bodyPr/>
          <a:lstStyle/>
          <a:p>
            <a:endParaRPr lang="en-CN"/>
          </a:p>
        </p:txBody>
      </p:sp>
      <p:sp>
        <p:nvSpPr>
          <p:cNvPr id="64" name="Shape 62"/>
          <p:cNvSpPr/>
          <p:nvPr/>
        </p:nvSpPr>
        <p:spPr>
          <a:xfrm>
            <a:off x="1316736" y="3291840"/>
            <a:ext cx="151425" cy="151425"/>
          </a:xfrm>
          <a:prstGeom prst="rect">
            <a:avLst/>
          </a:prstGeom>
          <a:solidFill>
            <a:srgbClr val="F8C8C6"/>
          </a:solidFill>
          <a:ln w="3175">
            <a:solidFill>
              <a:srgbClr val="FFFFFF"/>
            </a:solidFill>
            <a:prstDash val="solid"/>
          </a:ln>
        </p:spPr>
        <p:txBody>
          <a:bodyPr/>
          <a:lstStyle/>
          <a:p>
            <a:endParaRPr lang="en-CN"/>
          </a:p>
        </p:txBody>
      </p:sp>
      <p:sp>
        <p:nvSpPr>
          <p:cNvPr id="65" name="Shape 63"/>
          <p:cNvSpPr/>
          <p:nvPr/>
        </p:nvSpPr>
        <p:spPr>
          <a:xfrm>
            <a:off x="1481328" y="3291840"/>
            <a:ext cx="151425" cy="151425"/>
          </a:xfrm>
          <a:prstGeom prst="rect">
            <a:avLst/>
          </a:prstGeom>
          <a:solidFill>
            <a:srgbClr val="FFFFFF"/>
          </a:solidFill>
          <a:ln w="3175">
            <a:solidFill>
              <a:srgbClr val="FFFFFF"/>
            </a:solidFill>
            <a:prstDash val="solid"/>
          </a:ln>
        </p:spPr>
        <p:txBody>
          <a:bodyPr/>
          <a:lstStyle/>
          <a:p>
            <a:endParaRPr lang="en-CN"/>
          </a:p>
        </p:txBody>
      </p:sp>
      <p:sp>
        <p:nvSpPr>
          <p:cNvPr id="66" name="Shape 64"/>
          <p:cNvSpPr/>
          <p:nvPr/>
        </p:nvSpPr>
        <p:spPr>
          <a:xfrm>
            <a:off x="822960" y="3456432"/>
            <a:ext cx="151425" cy="151425"/>
          </a:xfrm>
          <a:prstGeom prst="rect">
            <a:avLst/>
          </a:prstGeom>
          <a:solidFill>
            <a:srgbClr val="F8C8C6"/>
          </a:solidFill>
          <a:ln w="3175">
            <a:solidFill>
              <a:srgbClr val="FFFFFF"/>
            </a:solidFill>
            <a:prstDash val="solid"/>
          </a:ln>
        </p:spPr>
        <p:txBody>
          <a:bodyPr/>
          <a:lstStyle/>
          <a:p>
            <a:endParaRPr lang="en-CN"/>
          </a:p>
        </p:txBody>
      </p:sp>
      <p:sp>
        <p:nvSpPr>
          <p:cNvPr id="67" name="Shape 65"/>
          <p:cNvSpPr/>
          <p:nvPr/>
        </p:nvSpPr>
        <p:spPr>
          <a:xfrm>
            <a:off x="987552" y="3456432"/>
            <a:ext cx="151425" cy="151425"/>
          </a:xfrm>
          <a:prstGeom prst="rect">
            <a:avLst/>
          </a:prstGeom>
          <a:solidFill>
            <a:srgbClr val="FF3C38"/>
          </a:solidFill>
          <a:ln w="3175">
            <a:solidFill>
              <a:srgbClr val="FFFFFF"/>
            </a:solidFill>
            <a:prstDash val="solid"/>
          </a:ln>
        </p:spPr>
        <p:txBody>
          <a:bodyPr/>
          <a:lstStyle/>
          <a:p>
            <a:endParaRPr lang="en-CN"/>
          </a:p>
        </p:txBody>
      </p:sp>
      <p:sp>
        <p:nvSpPr>
          <p:cNvPr id="68" name="Shape 66"/>
          <p:cNvSpPr/>
          <p:nvPr/>
        </p:nvSpPr>
        <p:spPr>
          <a:xfrm>
            <a:off x="1152144" y="3456432"/>
            <a:ext cx="151425" cy="151425"/>
          </a:xfrm>
          <a:prstGeom prst="rect">
            <a:avLst/>
          </a:prstGeom>
          <a:solidFill>
            <a:srgbClr val="F8C8C6"/>
          </a:solidFill>
          <a:ln w="3175">
            <a:solidFill>
              <a:srgbClr val="FFFFFF"/>
            </a:solidFill>
            <a:prstDash val="solid"/>
          </a:ln>
        </p:spPr>
        <p:txBody>
          <a:bodyPr/>
          <a:lstStyle/>
          <a:p>
            <a:endParaRPr lang="en-CN"/>
          </a:p>
        </p:txBody>
      </p:sp>
      <p:sp>
        <p:nvSpPr>
          <p:cNvPr id="69" name="Shape 67"/>
          <p:cNvSpPr/>
          <p:nvPr/>
        </p:nvSpPr>
        <p:spPr>
          <a:xfrm>
            <a:off x="1316736" y="3456432"/>
            <a:ext cx="151425" cy="151425"/>
          </a:xfrm>
          <a:prstGeom prst="rect">
            <a:avLst/>
          </a:prstGeom>
          <a:solidFill>
            <a:srgbClr val="FF3C38"/>
          </a:solidFill>
          <a:ln w="3175">
            <a:solidFill>
              <a:srgbClr val="FFFFFF"/>
            </a:solidFill>
            <a:prstDash val="solid"/>
          </a:ln>
        </p:spPr>
        <p:txBody>
          <a:bodyPr/>
          <a:lstStyle/>
          <a:p>
            <a:endParaRPr lang="en-CN"/>
          </a:p>
        </p:txBody>
      </p:sp>
      <p:sp>
        <p:nvSpPr>
          <p:cNvPr id="70" name="Shape 68"/>
          <p:cNvSpPr/>
          <p:nvPr/>
        </p:nvSpPr>
        <p:spPr>
          <a:xfrm>
            <a:off x="1481328" y="3456432"/>
            <a:ext cx="151425" cy="151425"/>
          </a:xfrm>
          <a:prstGeom prst="rect">
            <a:avLst/>
          </a:prstGeom>
          <a:solidFill>
            <a:srgbClr val="FFFFFF"/>
          </a:solidFill>
          <a:ln w="3175">
            <a:solidFill>
              <a:srgbClr val="FFFFFF"/>
            </a:solidFill>
            <a:prstDash val="solid"/>
          </a:ln>
        </p:spPr>
        <p:txBody>
          <a:bodyPr/>
          <a:lstStyle/>
          <a:p>
            <a:endParaRPr lang="en-CN"/>
          </a:p>
        </p:txBody>
      </p:sp>
      <p:sp>
        <p:nvSpPr>
          <p:cNvPr id="71" name="Shape 69"/>
          <p:cNvSpPr/>
          <p:nvPr/>
        </p:nvSpPr>
        <p:spPr>
          <a:xfrm>
            <a:off x="822960" y="3621024"/>
            <a:ext cx="151425" cy="151425"/>
          </a:xfrm>
          <a:prstGeom prst="rect">
            <a:avLst/>
          </a:prstGeom>
          <a:solidFill>
            <a:srgbClr val="DDEBF7"/>
          </a:solidFill>
          <a:ln w="3175">
            <a:solidFill>
              <a:srgbClr val="FFFFFF"/>
            </a:solidFill>
            <a:prstDash val="solid"/>
          </a:ln>
        </p:spPr>
        <p:txBody>
          <a:bodyPr/>
          <a:lstStyle/>
          <a:p>
            <a:endParaRPr lang="en-CN"/>
          </a:p>
        </p:txBody>
      </p:sp>
      <p:sp>
        <p:nvSpPr>
          <p:cNvPr id="72" name="Shape 70"/>
          <p:cNvSpPr/>
          <p:nvPr/>
        </p:nvSpPr>
        <p:spPr>
          <a:xfrm>
            <a:off x="987552" y="3621024"/>
            <a:ext cx="151425" cy="151425"/>
          </a:xfrm>
          <a:prstGeom prst="rect">
            <a:avLst/>
          </a:prstGeom>
          <a:solidFill>
            <a:srgbClr val="FFFFFF"/>
          </a:solidFill>
          <a:ln w="3175">
            <a:solidFill>
              <a:srgbClr val="FFFFFF"/>
            </a:solidFill>
            <a:prstDash val="solid"/>
          </a:ln>
        </p:spPr>
        <p:txBody>
          <a:bodyPr/>
          <a:lstStyle/>
          <a:p>
            <a:endParaRPr lang="en-CN"/>
          </a:p>
        </p:txBody>
      </p:sp>
      <p:sp>
        <p:nvSpPr>
          <p:cNvPr id="73" name="Shape 71"/>
          <p:cNvSpPr/>
          <p:nvPr/>
        </p:nvSpPr>
        <p:spPr>
          <a:xfrm>
            <a:off x="1152144" y="3621024"/>
            <a:ext cx="151425" cy="151425"/>
          </a:xfrm>
          <a:prstGeom prst="rect">
            <a:avLst/>
          </a:prstGeom>
          <a:solidFill>
            <a:srgbClr val="DDEBF7"/>
          </a:solidFill>
          <a:ln w="3175">
            <a:solidFill>
              <a:srgbClr val="FFFFFF"/>
            </a:solidFill>
            <a:prstDash val="solid"/>
          </a:ln>
        </p:spPr>
        <p:txBody>
          <a:bodyPr/>
          <a:lstStyle/>
          <a:p>
            <a:endParaRPr lang="en-CN"/>
          </a:p>
        </p:txBody>
      </p:sp>
      <p:sp>
        <p:nvSpPr>
          <p:cNvPr id="74" name="Shape 72"/>
          <p:cNvSpPr/>
          <p:nvPr/>
        </p:nvSpPr>
        <p:spPr>
          <a:xfrm>
            <a:off x="1316736" y="3621024"/>
            <a:ext cx="151425" cy="151425"/>
          </a:xfrm>
          <a:prstGeom prst="rect">
            <a:avLst/>
          </a:prstGeom>
          <a:solidFill>
            <a:srgbClr val="FFFFFF"/>
          </a:solidFill>
          <a:ln w="3175">
            <a:solidFill>
              <a:srgbClr val="FFFFFF"/>
            </a:solidFill>
            <a:prstDash val="solid"/>
          </a:ln>
        </p:spPr>
        <p:txBody>
          <a:bodyPr/>
          <a:lstStyle/>
          <a:p>
            <a:endParaRPr lang="en-CN"/>
          </a:p>
        </p:txBody>
      </p:sp>
      <p:sp>
        <p:nvSpPr>
          <p:cNvPr id="75" name="Shape 73"/>
          <p:cNvSpPr/>
          <p:nvPr/>
        </p:nvSpPr>
        <p:spPr>
          <a:xfrm>
            <a:off x="1481328" y="3621024"/>
            <a:ext cx="151425" cy="151425"/>
          </a:xfrm>
          <a:prstGeom prst="rect">
            <a:avLst/>
          </a:prstGeom>
          <a:solidFill>
            <a:srgbClr val="F8C8C6"/>
          </a:solidFill>
          <a:ln w="3175">
            <a:solidFill>
              <a:srgbClr val="FFFFFF"/>
            </a:solidFill>
            <a:prstDash val="solid"/>
          </a:ln>
        </p:spPr>
        <p:txBody>
          <a:bodyPr/>
          <a:lstStyle/>
          <a:p>
            <a:endParaRPr lang="en-CN"/>
          </a:p>
        </p:txBody>
      </p:sp>
      <p:sp>
        <p:nvSpPr>
          <p:cNvPr id="76" name="Shape 74"/>
          <p:cNvSpPr/>
          <p:nvPr/>
        </p:nvSpPr>
        <p:spPr>
          <a:xfrm>
            <a:off x="822960" y="3785616"/>
            <a:ext cx="151425" cy="151425"/>
          </a:xfrm>
          <a:prstGeom prst="rect">
            <a:avLst/>
          </a:prstGeom>
          <a:solidFill>
            <a:srgbClr val="6699CC"/>
          </a:solidFill>
          <a:ln w="3175">
            <a:solidFill>
              <a:srgbClr val="FFFFFF"/>
            </a:solidFill>
            <a:prstDash val="solid"/>
          </a:ln>
        </p:spPr>
        <p:txBody>
          <a:bodyPr/>
          <a:lstStyle/>
          <a:p>
            <a:endParaRPr lang="en-CN"/>
          </a:p>
        </p:txBody>
      </p:sp>
      <p:sp>
        <p:nvSpPr>
          <p:cNvPr id="77" name="Shape 75"/>
          <p:cNvSpPr/>
          <p:nvPr/>
        </p:nvSpPr>
        <p:spPr>
          <a:xfrm>
            <a:off x="987552" y="3785616"/>
            <a:ext cx="151425" cy="151425"/>
          </a:xfrm>
          <a:prstGeom prst="rect">
            <a:avLst/>
          </a:prstGeom>
          <a:solidFill>
            <a:srgbClr val="DDEBF7"/>
          </a:solidFill>
          <a:ln w="3175">
            <a:solidFill>
              <a:srgbClr val="FFFFFF"/>
            </a:solidFill>
            <a:prstDash val="solid"/>
          </a:ln>
        </p:spPr>
        <p:txBody>
          <a:bodyPr/>
          <a:lstStyle/>
          <a:p>
            <a:endParaRPr lang="en-CN"/>
          </a:p>
        </p:txBody>
      </p:sp>
      <p:sp>
        <p:nvSpPr>
          <p:cNvPr id="78" name="Shape 76"/>
          <p:cNvSpPr/>
          <p:nvPr/>
        </p:nvSpPr>
        <p:spPr>
          <a:xfrm>
            <a:off x="1152144" y="3785616"/>
            <a:ext cx="151425" cy="151425"/>
          </a:xfrm>
          <a:prstGeom prst="rect">
            <a:avLst/>
          </a:prstGeom>
          <a:solidFill>
            <a:srgbClr val="6699CC"/>
          </a:solidFill>
          <a:ln w="3175">
            <a:solidFill>
              <a:srgbClr val="FFFFFF"/>
            </a:solidFill>
            <a:prstDash val="solid"/>
          </a:ln>
        </p:spPr>
        <p:txBody>
          <a:bodyPr/>
          <a:lstStyle/>
          <a:p>
            <a:endParaRPr lang="en-CN"/>
          </a:p>
        </p:txBody>
      </p:sp>
      <p:sp>
        <p:nvSpPr>
          <p:cNvPr id="79" name="Shape 77"/>
          <p:cNvSpPr/>
          <p:nvPr/>
        </p:nvSpPr>
        <p:spPr>
          <a:xfrm>
            <a:off x="1316736" y="3785616"/>
            <a:ext cx="151425" cy="151425"/>
          </a:xfrm>
          <a:prstGeom prst="rect">
            <a:avLst/>
          </a:prstGeom>
          <a:solidFill>
            <a:srgbClr val="DDEBF7"/>
          </a:solidFill>
          <a:ln w="3175">
            <a:solidFill>
              <a:srgbClr val="FFFFFF"/>
            </a:solidFill>
            <a:prstDash val="solid"/>
          </a:ln>
        </p:spPr>
        <p:txBody>
          <a:bodyPr/>
          <a:lstStyle/>
          <a:p>
            <a:endParaRPr lang="en-CN"/>
          </a:p>
        </p:txBody>
      </p:sp>
      <p:sp>
        <p:nvSpPr>
          <p:cNvPr id="80" name="Shape 78"/>
          <p:cNvSpPr/>
          <p:nvPr/>
        </p:nvSpPr>
        <p:spPr>
          <a:xfrm>
            <a:off x="1481328" y="3785616"/>
            <a:ext cx="151425" cy="151425"/>
          </a:xfrm>
          <a:prstGeom prst="rect">
            <a:avLst/>
          </a:prstGeom>
          <a:solidFill>
            <a:srgbClr val="F8C8C6"/>
          </a:solidFill>
          <a:ln w="3175">
            <a:solidFill>
              <a:srgbClr val="FFFFFF"/>
            </a:solidFill>
            <a:prstDash val="solid"/>
          </a:ln>
        </p:spPr>
        <p:txBody>
          <a:bodyPr/>
          <a:lstStyle/>
          <a:p>
            <a:endParaRPr lang="en-CN"/>
          </a:p>
        </p:txBody>
      </p:sp>
      <p:sp>
        <p:nvSpPr>
          <p:cNvPr id="81" name="Shape 79"/>
          <p:cNvSpPr/>
          <p:nvPr/>
        </p:nvSpPr>
        <p:spPr>
          <a:xfrm>
            <a:off x="822960" y="3950208"/>
            <a:ext cx="151425" cy="151425"/>
          </a:xfrm>
          <a:prstGeom prst="rect">
            <a:avLst/>
          </a:prstGeom>
          <a:solidFill>
            <a:srgbClr val="FFFFFF"/>
          </a:solidFill>
          <a:ln w="3175">
            <a:solidFill>
              <a:srgbClr val="FFFFFF"/>
            </a:solidFill>
            <a:prstDash val="solid"/>
          </a:ln>
        </p:spPr>
        <p:txBody>
          <a:bodyPr/>
          <a:lstStyle/>
          <a:p>
            <a:endParaRPr lang="en-CN"/>
          </a:p>
        </p:txBody>
      </p:sp>
      <p:sp>
        <p:nvSpPr>
          <p:cNvPr id="82" name="Shape 80"/>
          <p:cNvSpPr/>
          <p:nvPr/>
        </p:nvSpPr>
        <p:spPr>
          <a:xfrm>
            <a:off x="987552" y="3950208"/>
            <a:ext cx="151425" cy="151425"/>
          </a:xfrm>
          <a:prstGeom prst="rect">
            <a:avLst/>
          </a:prstGeom>
          <a:solidFill>
            <a:srgbClr val="FFFFFF"/>
          </a:solidFill>
          <a:ln w="3175">
            <a:solidFill>
              <a:srgbClr val="FFFFFF"/>
            </a:solidFill>
            <a:prstDash val="solid"/>
          </a:ln>
        </p:spPr>
        <p:txBody>
          <a:bodyPr/>
          <a:lstStyle/>
          <a:p>
            <a:endParaRPr lang="en-CN"/>
          </a:p>
        </p:txBody>
      </p:sp>
      <p:sp>
        <p:nvSpPr>
          <p:cNvPr id="83" name="Shape 81"/>
          <p:cNvSpPr/>
          <p:nvPr/>
        </p:nvSpPr>
        <p:spPr>
          <a:xfrm>
            <a:off x="1152144" y="3950208"/>
            <a:ext cx="151425" cy="151425"/>
          </a:xfrm>
          <a:prstGeom prst="rect">
            <a:avLst/>
          </a:prstGeom>
          <a:solidFill>
            <a:srgbClr val="F8C8C6"/>
          </a:solidFill>
          <a:ln w="3175">
            <a:solidFill>
              <a:srgbClr val="FFFFFF"/>
            </a:solidFill>
            <a:prstDash val="solid"/>
          </a:ln>
        </p:spPr>
        <p:txBody>
          <a:bodyPr/>
          <a:lstStyle/>
          <a:p>
            <a:endParaRPr lang="en-CN"/>
          </a:p>
        </p:txBody>
      </p:sp>
      <p:sp>
        <p:nvSpPr>
          <p:cNvPr id="84" name="Shape 82"/>
          <p:cNvSpPr/>
          <p:nvPr/>
        </p:nvSpPr>
        <p:spPr>
          <a:xfrm>
            <a:off x="1316736" y="3950208"/>
            <a:ext cx="151425" cy="151425"/>
          </a:xfrm>
          <a:prstGeom prst="rect">
            <a:avLst/>
          </a:prstGeom>
          <a:solidFill>
            <a:srgbClr val="F8C8C6"/>
          </a:solidFill>
          <a:ln w="3175">
            <a:solidFill>
              <a:srgbClr val="FFFFFF"/>
            </a:solidFill>
            <a:prstDash val="solid"/>
          </a:ln>
        </p:spPr>
        <p:txBody>
          <a:bodyPr/>
          <a:lstStyle/>
          <a:p>
            <a:endParaRPr lang="en-CN"/>
          </a:p>
        </p:txBody>
      </p:sp>
      <p:sp>
        <p:nvSpPr>
          <p:cNvPr id="85" name="Shape 83"/>
          <p:cNvSpPr/>
          <p:nvPr/>
        </p:nvSpPr>
        <p:spPr>
          <a:xfrm>
            <a:off x="1481328" y="3950208"/>
            <a:ext cx="151425" cy="151425"/>
          </a:xfrm>
          <a:prstGeom prst="rect">
            <a:avLst/>
          </a:prstGeom>
          <a:solidFill>
            <a:srgbClr val="FF3C38"/>
          </a:solidFill>
          <a:ln w="3175">
            <a:solidFill>
              <a:srgbClr val="FFFFFF"/>
            </a:solidFill>
            <a:prstDash val="solid"/>
          </a:ln>
        </p:spPr>
        <p:txBody>
          <a:bodyPr/>
          <a:lstStyle/>
          <a:p>
            <a:endParaRPr lang="en-CN"/>
          </a:p>
        </p:txBody>
      </p:sp>
      <p:sp>
        <p:nvSpPr>
          <p:cNvPr id="86" name="Text 84"/>
          <p:cNvSpPr/>
          <p:nvPr/>
        </p:nvSpPr>
        <p:spPr>
          <a:xfrm>
            <a:off x="1828800" y="3246120"/>
            <a:ext cx="2011680" cy="256032"/>
          </a:xfrm>
          <a:prstGeom prst="rect">
            <a:avLst/>
          </a:prstGeom>
          <a:noFill/>
          <a:ln/>
        </p:spPr>
        <p:txBody>
          <a:bodyPr wrap="square" lIns="381" tIns="381" rIns="381" bIns="381" rtlCol="0" anchor="t">
            <a:normAutofit/>
          </a:bodyPr>
          <a:lstStyle/>
          <a:p>
            <a:pPr marL="0" indent="0">
              <a:buNone/>
            </a:pPr>
            <a:r>
              <a:rPr lang="en-US" sz="1600" b="1" dirty="0">
                <a:solidFill>
                  <a:srgbClr val="1D2939"/>
                </a:solidFill>
                <a:latin typeface="Aptos" pitchFamily="34" charset="0"/>
                <a:ea typeface="Aptos" pitchFamily="34" charset="-122"/>
                <a:cs typeface="Aptos" pitchFamily="34" charset="-120"/>
              </a:rPr>
              <a:t>Immune programs</a:t>
            </a:r>
            <a:endParaRPr lang="en-US" sz="1600" dirty="0"/>
          </a:p>
        </p:txBody>
      </p:sp>
      <p:sp>
        <p:nvSpPr>
          <p:cNvPr id="87" name="Text 85"/>
          <p:cNvSpPr/>
          <p:nvPr/>
        </p:nvSpPr>
        <p:spPr>
          <a:xfrm>
            <a:off x="1828800" y="3593592"/>
            <a:ext cx="3063240" cy="502920"/>
          </a:xfrm>
          <a:prstGeom prst="rect">
            <a:avLst/>
          </a:prstGeom>
          <a:noFill/>
          <a:ln/>
        </p:spPr>
        <p:txBody>
          <a:bodyPr wrap="square" lIns="381" tIns="381" rIns="381" bIns="381" rtlCol="0" anchor="t">
            <a:normAutofit/>
          </a:bodyPr>
          <a:lstStyle/>
          <a:p>
            <a:pPr marL="0" indent="0">
              <a:buNone/>
            </a:pPr>
            <a:r>
              <a:rPr lang="en-US" sz="1250" dirty="0">
                <a:solidFill>
                  <a:srgbClr val="667085"/>
                </a:solidFill>
                <a:latin typeface="Aptos" pitchFamily="34" charset="0"/>
                <a:ea typeface="Aptos" pitchFamily="34" charset="-122"/>
                <a:cs typeface="Aptos" pitchFamily="34" charset="-120"/>
              </a:rPr>
              <a:t>Checkpoint genes, infiltration scores, cytokines, or GO modules.</a:t>
            </a:r>
            <a:endParaRPr lang="en-US" sz="1250" dirty="0"/>
          </a:p>
        </p:txBody>
      </p:sp>
      <p:sp>
        <p:nvSpPr>
          <p:cNvPr id="88" name="Shape 86"/>
          <p:cNvSpPr/>
          <p:nvPr/>
        </p:nvSpPr>
        <p:spPr>
          <a:xfrm>
            <a:off x="5715000" y="3291840"/>
            <a:ext cx="151425" cy="151425"/>
          </a:xfrm>
          <a:prstGeom prst="rect">
            <a:avLst/>
          </a:prstGeom>
          <a:solidFill>
            <a:srgbClr val="FF3C38"/>
          </a:solidFill>
          <a:ln w="3175">
            <a:solidFill>
              <a:srgbClr val="FFFFFF"/>
            </a:solidFill>
            <a:prstDash val="solid"/>
          </a:ln>
        </p:spPr>
        <p:txBody>
          <a:bodyPr/>
          <a:lstStyle/>
          <a:p>
            <a:endParaRPr lang="en-CN"/>
          </a:p>
        </p:txBody>
      </p:sp>
      <p:sp>
        <p:nvSpPr>
          <p:cNvPr id="89" name="Shape 87"/>
          <p:cNvSpPr/>
          <p:nvPr/>
        </p:nvSpPr>
        <p:spPr>
          <a:xfrm>
            <a:off x="5879592" y="3291840"/>
            <a:ext cx="151425" cy="151425"/>
          </a:xfrm>
          <a:prstGeom prst="rect">
            <a:avLst/>
          </a:prstGeom>
          <a:solidFill>
            <a:srgbClr val="FF3C38"/>
          </a:solidFill>
          <a:ln w="3175">
            <a:solidFill>
              <a:srgbClr val="FFFFFF"/>
            </a:solidFill>
            <a:prstDash val="solid"/>
          </a:ln>
        </p:spPr>
        <p:txBody>
          <a:bodyPr/>
          <a:lstStyle/>
          <a:p>
            <a:endParaRPr lang="en-CN"/>
          </a:p>
        </p:txBody>
      </p:sp>
      <p:sp>
        <p:nvSpPr>
          <p:cNvPr id="90" name="Shape 88"/>
          <p:cNvSpPr/>
          <p:nvPr/>
        </p:nvSpPr>
        <p:spPr>
          <a:xfrm>
            <a:off x="6044184" y="3291840"/>
            <a:ext cx="151425" cy="151425"/>
          </a:xfrm>
          <a:prstGeom prst="rect">
            <a:avLst/>
          </a:prstGeom>
          <a:solidFill>
            <a:srgbClr val="DDEBF7"/>
          </a:solidFill>
          <a:ln w="3175">
            <a:solidFill>
              <a:srgbClr val="FFFFFF"/>
            </a:solidFill>
            <a:prstDash val="solid"/>
          </a:ln>
        </p:spPr>
        <p:txBody>
          <a:bodyPr/>
          <a:lstStyle/>
          <a:p>
            <a:endParaRPr lang="en-CN"/>
          </a:p>
        </p:txBody>
      </p:sp>
      <p:sp>
        <p:nvSpPr>
          <p:cNvPr id="91" name="Shape 89"/>
          <p:cNvSpPr/>
          <p:nvPr/>
        </p:nvSpPr>
        <p:spPr>
          <a:xfrm>
            <a:off x="6208776" y="3291840"/>
            <a:ext cx="151425" cy="151425"/>
          </a:xfrm>
          <a:prstGeom prst="rect">
            <a:avLst/>
          </a:prstGeom>
          <a:solidFill>
            <a:srgbClr val="6699CC"/>
          </a:solidFill>
          <a:ln w="3175">
            <a:solidFill>
              <a:srgbClr val="FFFFFF"/>
            </a:solidFill>
            <a:prstDash val="solid"/>
          </a:ln>
        </p:spPr>
        <p:txBody>
          <a:bodyPr/>
          <a:lstStyle/>
          <a:p>
            <a:endParaRPr lang="en-CN"/>
          </a:p>
        </p:txBody>
      </p:sp>
      <p:sp>
        <p:nvSpPr>
          <p:cNvPr id="92" name="Shape 90"/>
          <p:cNvSpPr/>
          <p:nvPr/>
        </p:nvSpPr>
        <p:spPr>
          <a:xfrm>
            <a:off x="6373368" y="3291840"/>
            <a:ext cx="151425" cy="151425"/>
          </a:xfrm>
          <a:prstGeom prst="rect">
            <a:avLst/>
          </a:prstGeom>
          <a:solidFill>
            <a:srgbClr val="FFFFFF"/>
          </a:solidFill>
          <a:ln w="3175">
            <a:solidFill>
              <a:srgbClr val="FFFFFF"/>
            </a:solidFill>
            <a:prstDash val="solid"/>
          </a:ln>
        </p:spPr>
        <p:txBody>
          <a:bodyPr/>
          <a:lstStyle/>
          <a:p>
            <a:endParaRPr lang="en-CN"/>
          </a:p>
        </p:txBody>
      </p:sp>
      <p:sp>
        <p:nvSpPr>
          <p:cNvPr id="93" name="Shape 91"/>
          <p:cNvSpPr/>
          <p:nvPr/>
        </p:nvSpPr>
        <p:spPr>
          <a:xfrm>
            <a:off x="5715000" y="3456432"/>
            <a:ext cx="151425" cy="151425"/>
          </a:xfrm>
          <a:prstGeom prst="rect">
            <a:avLst/>
          </a:prstGeom>
          <a:solidFill>
            <a:srgbClr val="FF3C38"/>
          </a:solidFill>
          <a:ln w="3175">
            <a:solidFill>
              <a:srgbClr val="FFFFFF"/>
            </a:solidFill>
            <a:prstDash val="solid"/>
          </a:ln>
        </p:spPr>
        <p:txBody>
          <a:bodyPr/>
          <a:lstStyle/>
          <a:p>
            <a:endParaRPr lang="en-CN"/>
          </a:p>
        </p:txBody>
      </p:sp>
      <p:sp>
        <p:nvSpPr>
          <p:cNvPr id="94" name="Shape 92"/>
          <p:cNvSpPr/>
          <p:nvPr/>
        </p:nvSpPr>
        <p:spPr>
          <a:xfrm>
            <a:off x="5879592" y="3456432"/>
            <a:ext cx="151425" cy="151425"/>
          </a:xfrm>
          <a:prstGeom prst="rect">
            <a:avLst/>
          </a:prstGeom>
          <a:solidFill>
            <a:srgbClr val="F8C8C6"/>
          </a:solidFill>
          <a:ln w="3175">
            <a:solidFill>
              <a:srgbClr val="FFFFFF"/>
            </a:solidFill>
            <a:prstDash val="solid"/>
          </a:ln>
        </p:spPr>
        <p:txBody>
          <a:bodyPr/>
          <a:lstStyle/>
          <a:p>
            <a:endParaRPr lang="en-CN"/>
          </a:p>
        </p:txBody>
      </p:sp>
      <p:sp>
        <p:nvSpPr>
          <p:cNvPr id="95" name="Shape 93"/>
          <p:cNvSpPr/>
          <p:nvPr/>
        </p:nvSpPr>
        <p:spPr>
          <a:xfrm>
            <a:off x="6044184" y="3456432"/>
            <a:ext cx="151425" cy="151425"/>
          </a:xfrm>
          <a:prstGeom prst="rect">
            <a:avLst/>
          </a:prstGeom>
          <a:solidFill>
            <a:srgbClr val="6699CC"/>
          </a:solidFill>
          <a:ln w="3175">
            <a:solidFill>
              <a:srgbClr val="FFFFFF"/>
            </a:solidFill>
            <a:prstDash val="solid"/>
          </a:ln>
        </p:spPr>
        <p:txBody>
          <a:bodyPr/>
          <a:lstStyle/>
          <a:p>
            <a:endParaRPr lang="en-CN"/>
          </a:p>
        </p:txBody>
      </p:sp>
      <p:sp>
        <p:nvSpPr>
          <p:cNvPr id="96" name="Shape 94"/>
          <p:cNvSpPr/>
          <p:nvPr/>
        </p:nvSpPr>
        <p:spPr>
          <a:xfrm>
            <a:off x="6208776" y="3456432"/>
            <a:ext cx="151425" cy="151425"/>
          </a:xfrm>
          <a:prstGeom prst="rect">
            <a:avLst/>
          </a:prstGeom>
          <a:solidFill>
            <a:srgbClr val="DDEBF7"/>
          </a:solidFill>
          <a:ln w="3175">
            <a:solidFill>
              <a:srgbClr val="FFFFFF"/>
            </a:solidFill>
            <a:prstDash val="solid"/>
          </a:ln>
        </p:spPr>
        <p:txBody>
          <a:bodyPr/>
          <a:lstStyle/>
          <a:p>
            <a:endParaRPr lang="en-CN"/>
          </a:p>
        </p:txBody>
      </p:sp>
      <p:sp>
        <p:nvSpPr>
          <p:cNvPr id="97" name="Shape 95"/>
          <p:cNvSpPr/>
          <p:nvPr/>
        </p:nvSpPr>
        <p:spPr>
          <a:xfrm>
            <a:off x="6373368" y="3456432"/>
            <a:ext cx="151425" cy="151425"/>
          </a:xfrm>
          <a:prstGeom prst="rect">
            <a:avLst/>
          </a:prstGeom>
          <a:solidFill>
            <a:srgbClr val="FFFFFF"/>
          </a:solidFill>
          <a:ln w="3175">
            <a:solidFill>
              <a:srgbClr val="FFFFFF"/>
            </a:solidFill>
            <a:prstDash val="solid"/>
          </a:ln>
        </p:spPr>
        <p:txBody>
          <a:bodyPr/>
          <a:lstStyle/>
          <a:p>
            <a:endParaRPr lang="en-CN"/>
          </a:p>
        </p:txBody>
      </p:sp>
      <p:sp>
        <p:nvSpPr>
          <p:cNvPr id="98" name="Shape 96"/>
          <p:cNvSpPr/>
          <p:nvPr/>
        </p:nvSpPr>
        <p:spPr>
          <a:xfrm>
            <a:off x="5715000" y="3621024"/>
            <a:ext cx="151425" cy="151425"/>
          </a:xfrm>
          <a:prstGeom prst="rect">
            <a:avLst/>
          </a:prstGeom>
          <a:solidFill>
            <a:srgbClr val="DDEBF7"/>
          </a:solidFill>
          <a:ln w="3175">
            <a:solidFill>
              <a:srgbClr val="FFFFFF"/>
            </a:solidFill>
            <a:prstDash val="solid"/>
          </a:ln>
        </p:spPr>
        <p:txBody>
          <a:bodyPr/>
          <a:lstStyle/>
          <a:p>
            <a:endParaRPr lang="en-CN"/>
          </a:p>
        </p:txBody>
      </p:sp>
      <p:sp>
        <p:nvSpPr>
          <p:cNvPr id="99" name="Shape 97"/>
          <p:cNvSpPr/>
          <p:nvPr/>
        </p:nvSpPr>
        <p:spPr>
          <a:xfrm>
            <a:off x="5879592" y="3621024"/>
            <a:ext cx="151425" cy="151425"/>
          </a:xfrm>
          <a:prstGeom prst="rect">
            <a:avLst/>
          </a:prstGeom>
          <a:solidFill>
            <a:srgbClr val="6699CC"/>
          </a:solidFill>
          <a:ln w="3175">
            <a:solidFill>
              <a:srgbClr val="FFFFFF"/>
            </a:solidFill>
            <a:prstDash val="solid"/>
          </a:ln>
        </p:spPr>
        <p:txBody>
          <a:bodyPr/>
          <a:lstStyle/>
          <a:p>
            <a:endParaRPr lang="en-CN"/>
          </a:p>
        </p:txBody>
      </p:sp>
      <p:sp>
        <p:nvSpPr>
          <p:cNvPr id="100" name="Shape 98"/>
          <p:cNvSpPr/>
          <p:nvPr/>
        </p:nvSpPr>
        <p:spPr>
          <a:xfrm>
            <a:off x="6044184" y="3621024"/>
            <a:ext cx="151425" cy="151425"/>
          </a:xfrm>
          <a:prstGeom prst="rect">
            <a:avLst/>
          </a:prstGeom>
          <a:solidFill>
            <a:srgbClr val="FF3C38"/>
          </a:solidFill>
          <a:ln w="3175">
            <a:solidFill>
              <a:srgbClr val="FFFFFF"/>
            </a:solidFill>
            <a:prstDash val="solid"/>
          </a:ln>
        </p:spPr>
        <p:txBody>
          <a:bodyPr/>
          <a:lstStyle/>
          <a:p>
            <a:endParaRPr lang="en-CN"/>
          </a:p>
        </p:txBody>
      </p:sp>
      <p:sp>
        <p:nvSpPr>
          <p:cNvPr id="101" name="Shape 99"/>
          <p:cNvSpPr/>
          <p:nvPr/>
        </p:nvSpPr>
        <p:spPr>
          <a:xfrm>
            <a:off x="6208776" y="3621024"/>
            <a:ext cx="151425" cy="151425"/>
          </a:xfrm>
          <a:prstGeom prst="rect">
            <a:avLst/>
          </a:prstGeom>
          <a:solidFill>
            <a:srgbClr val="FF3C38"/>
          </a:solidFill>
          <a:ln w="3175">
            <a:solidFill>
              <a:srgbClr val="FFFFFF"/>
            </a:solidFill>
            <a:prstDash val="solid"/>
          </a:ln>
        </p:spPr>
        <p:txBody>
          <a:bodyPr/>
          <a:lstStyle/>
          <a:p>
            <a:endParaRPr lang="en-CN"/>
          </a:p>
        </p:txBody>
      </p:sp>
      <p:sp>
        <p:nvSpPr>
          <p:cNvPr id="102" name="Shape 100"/>
          <p:cNvSpPr/>
          <p:nvPr/>
        </p:nvSpPr>
        <p:spPr>
          <a:xfrm>
            <a:off x="6373368" y="3621024"/>
            <a:ext cx="151425" cy="151425"/>
          </a:xfrm>
          <a:prstGeom prst="rect">
            <a:avLst/>
          </a:prstGeom>
          <a:solidFill>
            <a:srgbClr val="FFFFFF"/>
          </a:solidFill>
          <a:ln w="3175">
            <a:solidFill>
              <a:srgbClr val="FFFFFF"/>
            </a:solidFill>
            <a:prstDash val="solid"/>
          </a:ln>
        </p:spPr>
        <p:txBody>
          <a:bodyPr/>
          <a:lstStyle/>
          <a:p>
            <a:endParaRPr lang="en-CN"/>
          </a:p>
        </p:txBody>
      </p:sp>
      <p:sp>
        <p:nvSpPr>
          <p:cNvPr id="103" name="Shape 101"/>
          <p:cNvSpPr/>
          <p:nvPr/>
        </p:nvSpPr>
        <p:spPr>
          <a:xfrm>
            <a:off x="5715000" y="3785616"/>
            <a:ext cx="151425" cy="151425"/>
          </a:xfrm>
          <a:prstGeom prst="rect">
            <a:avLst/>
          </a:prstGeom>
          <a:solidFill>
            <a:srgbClr val="6699CC"/>
          </a:solidFill>
          <a:ln w="3175">
            <a:solidFill>
              <a:srgbClr val="FFFFFF"/>
            </a:solidFill>
            <a:prstDash val="solid"/>
          </a:ln>
        </p:spPr>
        <p:txBody>
          <a:bodyPr/>
          <a:lstStyle/>
          <a:p>
            <a:endParaRPr lang="en-CN"/>
          </a:p>
        </p:txBody>
      </p:sp>
      <p:sp>
        <p:nvSpPr>
          <p:cNvPr id="104" name="Shape 102"/>
          <p:cNvSpPr/>
          <p:nvPr/>
        </p:nvSpPr>
        <p:spPr>
          <a:xfrm>
            <a:off x="5879592" y="3785616"/>
            <a:ext cx="151425" cy="151425"/>
          </a:xfrm>
          <a:prstGeom prst="rect">
            <a:avLst/>
          </a:prstGeom>
          <a:solidFill>
            <a:srgbClr val="DDEBF7"/>
          </a:solidFill>
          <a:ln w="3175">
            <a:solidFill>
              <a:srgbClr val="FFFFFF"/>
            </a:solidFill>
            <a:prstDash val="solid"/>
          </a:ln>
        </p:spPr>
        <p:txBody>
          <a:bodyPr/>
          <a:lstStyle/>
          <a:p>
            <a:endParaRPr lang="en-CN"/>
          </a:p>
        </p:txBody>
      </p:sp>
      <p:sp>
        <p:nvSpPr>
          <p:cNvPr id="105" name="Shape 103"/>
          <p:cNvSpPr/>
          <p:nvPr/>
        </p:nvSpPr>
        <p:spPr>
          <a:xfrm>
            <a:off x="6044184" y="3785616"/>
            <a:ext cx="151425" cy="151425"/>
          </a:xfrm>
          <a:prstGeom prst="rect">
            <a:avLst/>
          </a:prstGeom>
          <a:solidFill>
            <a:srgbClr val="F8C8C6"/>
          </a:solidFill>
          <a:ln w="3175">
            <a:solidFill>
              <a:srgbClr val="FFFFFF"/>
            </a:solidFill>
            <a:prstDash val="solid"/>
          </a:ln>
        </p:spPr>
        <p:txBody>
          <a:bodyPr/>
          <a:lstStyle/>
          <a:p>
            <a:endParaRPr lang="en-CN"/>
          </a:p>
        </p:txBody>
      </p:sp>
      <p:sp>
        <p:nvSpPr>
          <p:cNvPr id="106" name="Shape 104"/>
          <p:cNvSpPr/>
          <p:nvPr/>
        </p:nvSpPr>
        <p:spPr>
          <a:xfrm>
            <a:off x="6208776" y="3785616"/>
            <a:ext cx="151425" cy="151425"/>
          </a:xfrm>
          <a:prstGeom prst="rect">
            <a:avLst/>
          </a:prstGeom>
          <a:solidFill>
            <a:srgbClr val="FF3C38"/>
          </a:solidFill>
          <a:ln w="3175">
            <a:solidFill>
              <a:srgbClr val="FFFFFF"/>
            </a:solidFill>
            <a:prstDash val="solid"/>
          </a:ln>
        </p:spPr>
        <p:txBody>
          <a:bodyPr/>
          <a:lstStyle/>
          <a:p>
            <a:endParaRPr lang="en-CN"/>
          </a:p>
        </p:txBody>
      </p:sp>
      <p:sp>
        <p:nvSpPr>
          <p:cNvPr id="107" name="Shape 105"/>
          <p:cNvSpPr/>
          <p:nvPr/>
        </p:nvSpPr>
        <p:spPr>
          <a:xfrm>
            <a:off x="6373368" y="3785616"/>
            <a:ext cx="151425" cy="151425"/>
          </a:xfrm>
          <a:prstGeom prst="rect">
            <a:avLst/>
          </a:prstGeom>
          <a:solidFill>
            <a:srgbClr val="FFFFFF"/>
          </a:solidFill>
          <a:ln w="3175">
            <a:solidFill>
              <a:srgbClr val="FFFFFF"/>
            </a:solidFill>
            <a:prstDash val="solid"/>
          </a:ln>
        </p:spPr>
        <p:txBody>
          <a:bodyPr/>
          <a:lstStyle/>
          <a:p>
            <a:endParaRPr lang="en-CN"/>
          </a:p>
        </p:txBody>
      </p:sp>
      <p:sp>
        <p:nvSpPr>
          <p:cNvPr id="108" name="Shape 106"/>
          <p:cNvSpPr/>
          <p:nvPr/>
        </p:nvSpPr>
        <p:spPr>
          <a:xfrm>
            <a:off x="5715000" y="3950208"/>
            <a:ext cx="151425" cy="151425"/>
          </a:xfrm>
          <a:prstGeom prst="rect">
            <a:avLst/>
          </a:prstGeom>
          <a:solidFill>
            <a:srgbClr val="FFFFFF"/>
          </a:solidFill>
          <a:ln w="3175">
            <a:solidFill>
              <a:srgbClr val="FFFFFF"/>
            </a:solidFill>
            <a:prstDash val="solid"/>
          </a:ln>
        </p:spPr>
        <p:txBody>
          <a:bodyPr/>
          <a:lstStyle/>
          <a:p>
            <a:endParaRPr lang="en-CN"/>
          </a:p>
        </p:txBody>
      </p:sp>
      <p:sp>
        <p:nvSpPr>
          <p:cNvPr id="109" name="Shape 107"/>
          <p:cNvSpPr/>
          <p:nvPr/>
        </p:nvSpPr>
        <p:spPr>
          <a:xfrm>
            <a:off x="5879592" y="3950208"/>
            <a:ext cx="151425" cy="151425"/>
          </a:xfrm>
          <a:prstGeom prst="rect">
            <a:avLst/>
          </a:prstGeom>
          <a:solidFill>
            <a:srgbClr val="FFFFFF"/>
          </a:solidFill>
          <a:ln w="3175">
            <a:solidFill>
              <a:srgbClr val="FFFFFF"/>
            </a:solidFill>
            <a:prstDash val="solid"/>
          </a:ln>
        </p:spPr>
        <p:txBody>
          <a:bodyPr/>
          <a:lstStyle/>
          <a:p>
            <a:endParaRPr lang="en-CN"/>
          </a:p>
        </p:txBody>
      </p:sp>
      <p:sp>
        <p:nvSpPr>
          <p:cNvPr id="110" name="Shape 108"/>
          <p:cNvSpPr/>
          <p:nvPr/>
        </p:nvSpPr>
        <p:spPr>
          <a:xfrm>
            <a:off x="6044184" y="3950208"/>
            <a:ext cx="151425" cy="151425"/>
          </a:xfrm>
          <a:prstGeom prst="rect">
            <a:avLst/>
          </a:prstGeom>
          <a:solidFill>
            <a:srgbClr val="FFFFFF"/>
          </a:solidFill>
          <a:ln w="3175">
            <a:solidFill>
              <a:srgbClr val="FFFFFF"/>
            </a:solidFill>
            <a:prstDash val="solid"/>
          </a:ln>
        </p:spPr>
        <p:txBody>
          <a:bodyPr/>
          <a:lstStyle/>
          <a:p>
            <a:endParaRPr lang="en-CN"/>
          </a:p>
        </p:txBody>
      </p:sp>
      <p:sp>
        <p:nvSpPr>
          <p:cNvPr id="111" name="Shape 109"/>
          <p:cNvSpPr/>
          <p:nvPr/>
        </p:nvSpPr>
        <p:spPr>
          <a:xfrm>
            <a:off x="6208776" y="3950208"/>
            <a:ext cx="151425" cy="151425"/>
          </a:xfrm>
          <a:prstGeom prst="rect">
            <a:avLst/>
          </a:prstGeom>
          <a:solidFill>
            <a:srgbClr val="FFFFFF"/>
          </a:solidFill>
          <a:ln w="3175">
            <a:solidFill>
              <a:srgbClr val="FFFFFF"/>
            </a:solidFill>
            <a:prstDash val="solid"/>
          </a:ln>
        </p:spPr>
        <p:txBody>
          <a:bodyPr/>
          <a:lstStyle/>
          <a:p>
            <a:endParaRPr lang="en-CN"/>
          </a:p>
        </p:txBody>
      </p:sp>
      <p:sp>
        <p:nvSpPr>
          <p:cNvPr id="112" name="Shape 110"/>
          <p:cNvSpPr/>
          <p:nvPr/>
        </p:nvSpPr>
        <p:spPr>
          <a:xfrm>
            <a:off x="6373368" y="3950208"/>
            <a:ext cx="151425" cy="151425"/>
          </a:xfrm>
          <a:prstGeom prst="rect">
            <a:avLst/>
          </a:prstGeom>
          <a:solidFill>
            <a:srgbClr val="FF3C38"/>
          </a:solidFill>
          <a:ln w="3175">
            <a:solidFill>
              <a:srgbClr val="FFFFFF"/>
            </a:solidFill>
            <a:prstDash val="solid"/>
          </a:ln>
        </p:spPr>
        <p:txBody>
          <a:bodyPr/>
          <a:lstStyle/>
          <a:p>
            <a:endParaRPr lang="en-CN"/>
          </a:p>
        </p:txBody>
      </p:sp>
      <p:sp>
        <p:nvSpPr>
          <p:cNvPr id="113" name="Text 111"/>
          <p:cNvSpPr/>
          <p:nvPr/>
        </p:nvSpPr>
        <p:spPr>
          <a:xfrm>
            <a:off x="6720840" y="3246120"/>
            <a:ext cx="2377440" cy="256032"/>
          </a:xfrm>
          <a:prstGeom prst="rect">
            <a:avLst/>
          </a:prstGeom>
          <a:noFill/>
          <a:ln/>
        </p:spPr>
        <p:txBody>
          <a:bodyPr wrap="square" lIns="381" tIns="381" rIns="381" bIns="381" rtlCol="0" anchor="t">
            <a:normAutofit/>
          </a:bodyPr>
          <a:lstStyle/>
          <a:p>
            <a:pPr marL="0" indent="0">
              <a:buNone/>
            </a:pPr>
            <a:r>
              <a:rPr lang="en-US" sz="1600" b="1" dirty="0">
                <a:solidFill>
                  <a:srgbClr val="1D2939"/>
                </a:solidFill>
                <a:latin typeface="Aptos" pitchFamily="34" charset="0"/>
                <a:ea typeface="Aptos" pitchFamily="34" charset="-122"/>
                <a:cs typeface="Aptos" pitchFamily="34" charset="-120"/>
              </a:rPr>
              <a:t>Single-cell markers</a:t>
            </a:r>
            <a:endParaRPr lang="en-US" sz="1600" dirty="0"/>
          </a:p>
        </p:txBody>
      </p:sp>
      <p:sp>
        <p:nvSpPr>
          <p:cNvPr id="114" name="Text 112"/>
          <p:cNvSpPr/>
          <p:nvPr/>
        </p:nvSpPr>
        <p:spPr>
          <a:xfrm>
            <a:off x="6720840" y="3593592"/>
            <a:ext cx="3063240" cy="502920"/>
          </a:xfrm>
          <a:prstGeom prst="rect">
            <a:avLst/>
          </a:prstGeom>
          <a:noFill/>
          <a:ln/>
        </p:spPr>
        <p:txBody>
          <a:bodyPr wrap="square" lIns="381" tIns="381" rIns="381" bIns="381" rtlCol="0" anchor="t">
            <a:normAutofit/>
          </a:bodyPr>
          <a:lstStyle/>
          <a:p>
            <a:pPr marL="0" indent="0">
              <a:buNone/>
            </a:pPr>
            <a:r>
              <a:rPr lang="en-US" sz="1250" dirty="0">
                <a:solidFill>
                  <a:srgbClr val="667085"/>
                </a:solidFill>
                <a:latin typeface="Aptos" pitchFamily="34" charset="0"/>
                <a:ea typeface="Aptos" pitchFamily="34" charset="-122"/>
                <a:cs typeface="Aptos" pitchFamily="34" charset="-120"/>
              </a:rPr>
              <a:t>Marker genes across cell clusters or states.</a:t>
            </a:r>
            <a:endParaRPr lang="en-US" sz="1250" dirty="0"/>
          </a:p>
        </p:txBody>
      </p:sp>
      <p:sp>
        <p:nvSpPr>
          <p:cNvPr id="115" name="Text 113"/>
          <p:cNvSpPr/>
          <p:nvPr/>
        </p:nvSpPr>
        <p:spPr>
          <a:xfrm>
            <a:off x="868680" y="5074920"/>
            <a:ext cx="5074920" cy="822960"/>
          </a:xfrm>
          <a:prstGeom prst="rect">
            <a:avLst/>
          </a:prstGeom>
          <a:solidFill>
            <a:srgbClr val="F0F6FF"/>
          </a:solidFill>
          <a:ln w="10160">
            <a:solidFill>
              <a:srgbClr val="D0D5DD"/>
            </a:solidFill>
          </a:ln>
        </p:spPr>
        <p:txBody>
          <a:bodyPr wrap="square" lIns="1651" tIns="1651" rIns="1651" bIns="1651" rtlCol="0" anchor="ctr">
            <a:normAutofit lnSpcReduction="10000"/>
          </a:bodyPr>
          <a:lstStyle/>
          <a:p>
            <a:pPr marL="0" indent="0">
              <a:buNone/>
            </a:pPr>
            <a:r>
              <a:rPr lang="en-US" sz="1400" b="1" dirty="0">
                <a:solidFill>
                  <a:srgbClr val="245B9E"/>
                </a:solidFill>
              </a:rPr>
              <a:t>Why useful
</a:t>
            </a:r>
            <a:r>
              <a:rPr lang="en-US" sz="1400" dirty="0">
                <a:solidFill>
                  <a:srgbClr val="1D2939"/>
                </a:solidFill>
              </a:rPr>
              <a:t>Rows can be genes, pathways, proteins, methylation sites, or cell states. Columns can be patients, samples, cells, spatial spots, or conditions.</a:t>
            </a:r>
            <a:endParaRPr lang="en-US" sz="1400" dirty="0"/>
          </a:p>
        </p:txBody>
      </p:sp>
      <p:sp>
        <p:nvSpPr>
          <p:cNvPr id="116" name="Text 114"/>
          <p:cNvSpPr/>
          <p:nvPr/>
        </p:nvSpPr>
        <p:spPr>
          <a:xfrm>
            <a:off x="6263640" y="5074920"/>
            <a:ext cx="4892040" cy="82296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Why common in papers
</a:t>
            </a:r>
            <a:r>
              <a:rPr lang="en-US" sz="1400" dirty="0">
                <a:solidFill>
                  <a:srgbClr val="1D2939"/>
                </a:solidFill>
              </a:rPr>
              <a:t>A heatmap can show expression magnitude, clustering structure, and clinical/sample annotations in one figure.</a:t>
            </a:r>
            <a:endParaRPr lang="en-US" sz="1400" dirty="0"/>
          </a:p>
        </p:txBody>
      </p:sp>
      <p:sp>
        <p:nvSpPr>
          <p:cNvPr id="117" name="Text 115"/>
          <p:cNvSpPr/>
          <p:nvPr/>
        </p:nvSpPr>
        <p:spPr>
          <a:xfrm>
            <a:off x="685800" y="6327648"/>
            <a:ext cx="10835640" cy="182880"/>
          </a:xfrm>
          <a:prstGeom prst="rect">
            <a:avLst/>
          </a:prstGeom>
          <a:noFill/>
          <a:ln/>
        </p:spPr>
        <p:txBody>
          <a:bodyPr wrap="square" lIns="0" tIns="0" rIns="0" bIns="0" rtlCol="0" anchor="ctr">
            <a:normAutofit/>
          </a:bodyPr>
          <a:lstStyle/>
          <a:p>
            <a:pPr marL="0" indent="0">
              <a:buNone/>
            </a:pPr>
            <a:r>
              <a:rPr lang="en-US" sz="750" dirty="0">
                <a:solidFill>
                  <a:srgbClr val="98A2B3"/>
                </a:solidFill>
              </a:rPr>
              <a:t>Examples/sources: Eisen et al., 1998; Gu et al., 2016; Seurat DoHeatmap documentation; Zhang et al., 2020 Figure 4.</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How to explain Figure 4 in one minute</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Use this short narration when presenting the heatmap.</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16</a:t>
            </a:r>
            <a:endParaRPr lang="en-US" sz="800" dirty="0"/>
          </a:p>
        </p:txBody>
      </p:sp>
      <p:pic>
        <p:nvPicPr>
          <p:cNvPr id="7" name="Image 0" descr="/mnt/data/fig4_assets/cgga_heatmap-1.png"/>
          <p:cNvPicPr>
            <a:picLocks noChangeAspect="1"/>
          </p:cNvPicPr>
          <p:nvPr/>
        </p:nvPicPr>
        <p:blipFill>
          <a:blip r:embed="rId3"/>
          <a:stretch>
            <a:fillRect/>
          </a:stretch>
        </p:blipFill>
        <p:spPr>
          <a:xfrm>
            <a:off x="594360" y="2016252"/>
            <a:ext cx="2788920" cy="2788920"/>
          </a:xfrm>
          <a:prstGeom prst="rect">
            <a:avLst/>
          </a:prstGeom>
        </p:spPr>
      </p:pic>
      <p:pic>
        <p:nvPicPr>
          <p:cNvPr id="8" name="Image 1" descr="/mnt/data/fig4_assets/tcga_heatmap-1.png"/>
          <p:cNvPicPr>
            <a:picLocks noChangeAspect="1"/>
          </p:cNvPicPr>
          <p:nvPr/>
        </p:nvPicPr>
        <p:blipFill>
          <a:blip r:embed="rId4"/>
          <a:stretch>
            <a:fillRect/>
          </a:stretch>
        </p:blipFill>
        <p:spPr>
          <a:xfrm>
            <a:off x="3611880" y="2016252"/>
            <a:ext cx="2788920" cy="2788920"/>
          </a:xfrm>
          <a:prstGeom prst="rect">
            <a:avLst/>
          </a:prstGeom>
        </p:spPr>
      </p:pic>
      <p:sp>
        <p:nvSpPr>
          <p:cNvPr id="9" name="Text 5"/>
          <p:cNvSpPr/>
          <p:nvPr/>
        </p:nvSpPr>
        <p:spPr>
          <a:xfrm>
            <a:off x="6812280" y="1234440"/>
            <a:ext cx="4343400" cy="77724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Step 1
</a:t>
            </a:r>
            <a:r>
              <a:rPr lang="en-US" sz="1400" dirty="0">
                <a:solidFill>
                  <a:srgbClr val="1D2939"/>
                </a:solidFill>
              </a:rPr>
              <a:t>Samples are ordered from low to high CD96 expression, so the horizontal axis is a CD96 gradient.</a:t>
            </a:r>
            <a:endParaRPr lang="en-US" sz="1400" dirty="0"/>
          </a:p>
        </p:txBody>
      </p:sp>
      <p:sp>
        <p:nvSpPr>
          <p:cNvPr id="10" name="Text 6"/>
          <p:cNvSpPr/>
          <p:nvPr/>
        </p:nvSpPr>
        <p:spPr>
          <a:xfrm>
            <a:off x="6812280" y="2240280"/>
            <a:ext cx="4343400" cy="777240"/>
          </a:xfrm>
          <a:prstGeom prst="rect">
            <a:avLst/>
          </a:prstGeom>
          <a:solidFill>
            <a:srgbClr val="FFF7ED"/>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Step 2
</a:t>
            </a:r>
            <a:r>
              <a:rPr lang="en-US" sz="1400" dirty="0">
                <a:solidFill>
                  <a:srgbClr val="1D2939"/>
                </a:solidFill>
              </a:rPr>
              <a:t>Rows are immune-response genes whose expression is significantly correlated with CD96.</a:t>
            </a:r>
            <a:endParaRPr lang="en-US" sz="1400" dirty="0"/>
          </a:p>
        </p:txBody>
      </p:sp>
      <p:sp>
        <p:nvSpPr>
          <p:cNvPr id="11" name="Text 7"/>
          <p:cNvSpPr/>
          <p:nvPr/>
        </p:nvSpPr>
        <p:spPr>
          <a:xfrm>
            <a:off x="6812280" y="3246120"/>
            <a:ext cx="4343400" cy="868680"/>
          </a:xfrm>
          <a:prstGeom prst="rect">
            <a:avLst/>
          </a:prstGeom>
          <a:solidFill>
            <a:srgbClr val="FEF3F2"/>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Step 3
</a:t>
            </a:r>
            <a:r>
              <a:rPr lang="en-US" sz="1400" dirty="0">
                <a:solidFill>
                  <a:srgbClr val="1D2939"/>
                </a:solidFill>
              </a:rPr>
              <a:t>Each color is a row-wise z-score: red means higher-than-average expression for that gene; blue means lower.</a:t>
            </a:r>
            <a:endParaRPr lang="en-US" sz="1400" dirty="0"/>
          </a:p>
        </p:txBody>
      </p:sp>
      <p:sp>
        <p:nvSpPr>
          <p:cNvPr id="12" name="Text 8"/>
          <p:cNvSpPr/>
          <p:nvPr/>
        </p:nvSpPr>
        <p:spPr>
          <a:xfrm>
            <a:off x="6812280" y="4434840"/>
            <a:ext cx="4343400" cy="96012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Conclusion
</a:t>
            </a:r>
            <a:r>
              <a:rPr lang="en-US" sz="1400" dirty="0">
                <a:solidFill>
                  <a:srgbClr val="1D2939"/>
                </a:solidFill>
              </a:rPr>
              <a:t>The red shift toward high-CD96 samples indicates that CD96 is associated with broad immune-response gene activity in both cohorts.</a:t>
            </a:r>
            <a:endParaRPr lang="en-US" sz="1400" dirty="0"/>
          </a:p>
        </p:txBody>
      </p:sp>
      <p:sp>
        <p:nvSpPr>
          <p:cNvPr id="13" name="Text 9"/>
          <p:cNvSpPr/>
          <p:nvPr/>
        </p:nvSpPr>
        <p:spPr>
          <a:xfrm>
            <a:off x="685800" y="6327648"/>
            <a:ext cx="10835640" cy="182880"/>
          </a:xfrm>
          <a:prstGeom prst="rect">
            <a:avLst/>
          </a:prstGeom>
          <a:noFill/>
          <a:ln/>
        </p:spPr>
        <p:txBody>
          <a:bodyPr wrap="square" lIns="0" tIns="0" rIns="0" bIns="0" rtlCol="0" anchor="ctr">
            <a:normAutofit/>
          </a:bodyPr>
          <a:lstStyle/>
          <a:p>
            <a:pPr marL="0" indent="0">
              <a:buNone/>
            </a:pPr>
            <a:r>
              <a:rPr lang="en-US" sz="750" dirty="0">
                <a:solidFill>
                  <a:srgbClr val="98A2B3"/>
                </a:solidFill>
              </a:rPr>
              <a:t>This interpretation follows the CD96 glioma article: CD96-related immune genes were visualized in CGGA and TCGA heatmaps.</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A"/>
          </a:solidFill>
          <a:ln w="12700">
            <a:solidFill>
              <a:srgbClr val="F7F8FA"/>
            </a:solidFill>
            <a:prstDash val="solid"/>
          </a:ln>
        </p:spPr>
        <p:txBody>
          <a:bodyPr/>
          <a:lstStyle/>
          <a:p>
            <a:endParaRPr lang="en-CN"/>
          </a:p>
        </p:txBody>
      </p:sp>
      <p:sp>
        <p:nvSpPr>
          <p:cNvPr id="3" name="Text 1"/>
          <p:cNvSpPr/>
          <p:nvPr/>
        </p:nvSpPr>
        <p:spPr>
          <a:xfrm>
            <a:off x="502920" y="256032"/>
            <a:ext cx="10881360" cy="41148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Deliverables and practical checks</a:t>
            </a:r>
            <a:endParaRPr lang="en-US" sz="2800" dirty="0"/>
          </a:p>
        </p:txBody>
      </p:sp>
      <p:sp>
        <p:nvSpPr>
          <p:cNvPr id="4" name="Text 2"/>
          <p:cNvSpPr/>
          <p:nvPr/>
        </p:nvSpPr>
        <p:spPr>
          <a:xfrm>
            <a:off x="521208" y="713232"/>
            <a:ext cx="10607040" cy="228600"/>
          </a:xfrm>
          <a:prstGeom prst="rect">
            <a:avLst/>
          </a:prstGeom>
          <a:noFill/>
          <a:ln/>
        </p:spPr>
        <p:txBody>
          <a:bodyPr wrap="square" lIns="0" tIns="0" rIns="0" bIns="0" rtlCol="0" anchor="ctr"/>
          <a:lstStyle/>
          <a:p>
            <a:pPr marL="0" indent="0">
              <a:buNone/>
            </a:pPr>
            <a:r>
              <a:rPr lang="en-US" sz="1050" dirty="0">
                <a:solidFill>
                  <a:srgbClr val="667085"/>
                </a:solidFill>
              </a:rPr>
              <a:t>Use the cleaned R script as the reproducible starting point.</a:t>
            </a:r>
            <a:endParaRPr lang="en-US" sz="1050" dirty="0"/>
          </a:p>
        </p:txBody>
      </p:sp>
      <p:sp>
        <p:nvSpPr>
          <p:cNvPr id="5" name="Shape 3"/>
          <p:cNvSpPr/>
          <p:nvPr/>
        </p:nvSpPr>
        <p:spPr>
          <a:xfrm>
            <a:off x="502920" y="978408"/>
            <a:ext cx="11109960" cy="0"/>
          </a:xfrm>
          <a:prstGeom prst="line">
            <a:avLst/>
          </a:prstGeom>
          <a:noFill/>
          <a:ln w="12700">
            <a:solidFill>
              <a:srgbClr val="D0D5DD"/>
            </a:solidFill>
            <a:prstDash val="solid"/>
          </a:ln>
        </p:spPr>
        <p:txBody>
          <a:bodyPr/>
          <a:lstStyle/>
          <a:p>
            <a:endParaRPr lang="en-CN"/>
          </a:p>
        </p:txBody>
      </p:sp>
      <p:sp>
        <p:nvSpPr>
          <p:cNvPr id="6" name="Text 4"/>
          <p:cNvSpPr/>
          <p:nvPr/>
        </p:nvSpPr>
        <p:spPr>
          <a:xfrm>
            <a:off x="502920" y="6519672"/>
            <a:ext cx="4114800" cy="164592"/>
          </a:xfrm>
          <a:prstGeom prst="rect">
            <a:avLst/>
          </a:prstGeom>
          <a:noFill/>
          <a:ln/>
        </p:spPr>
        <p:txBody>
          <a:bodyPr wrap="square" lIns="0" tIns="0" rIns="0" bIns="0" rtlCol="0" anchor="ctr"/>
          <a:lstStyle/>
          <a:p>
            <a:pPr marL="0" indent="0">
              <a:buNone/>
            </a:pPr>
            <a:r>
              <a:rPr lang="en-US" sz="800" dirty="0">
                <a:solidFill>
                  <a:srgbClr val="98A2B3"/>
                </a:solidFill>
              </a:rPr>
              <a:t>Figure 4 heatmap reproduction | 17</a:t>
            </a:r>
            <a:endParaRPr lang="en-US" sz="800" dirty="0"/>
          </a:p>
        </p:txBody>
      </p:sp>
      <p:sp>
        <p:nvSpPr>
          <p:cNvPr id="7" name="Text 5"/>
          <p:cNvSpPr/>
          <p:nvPr/>
        </p:nvSpPr>
        <p:spPr>
          <a:xfrm>
            <a:off x="777240" y="1234440"/>
            <a:ext cx="2743200" cy="320040"/>
          </a:xfrm>
          <a:prstGeom prst="rect">
            <a:avLst/>
          </a:prstGeom>
          <a:noFill/>
          <a:ln/>
        </p:spPr>
        <p:txBody>
          <a:bodyPr wrap="square" lIns="381" tIns="381" rIns="381" bIns="381" rtlCol="0" anchor="t">
            <a:normAutofit/>
          </a:bodyPr>
          <a:lstStyle/>
          <a:p>
            <a:pPr marL="0" indent="0">
              <a:buNone/>
            </a:pPr>
            <a:r>
              <a:rPr lang="en-US" sz="2000" b="1" dirty="0">
                <a:solidFill>
                  <a:srgbClr val="1D2939"/>
                </a:solidFill>
                <a:latin typeface="Aptos" pitchFamily="34" charset="0"/>
                <a:ea typeface="Aptos" pitchFamily="34" charset="-122"/>
                <a:cs typeface="Aptos" pitchFamily="34" charset="-120"/>
              </a:rPr>
              <a:t>Clean script</a:t>
            </a:r>
            <a:endParaRPr lang="en-US" sz="2000" dirty="0"/>
          </a:p>
        </p:txBody>
      </p:sp>
      <p:sp>
        <p:nvSpPr>
          <p:cNvPr id="8" name="Text 6"/>
          <p:cNvSpPr/>
          <p:nvPr/>
        </p:nvSpPr>
        <p:spPr>
          <a:xfrm>
            <a:off x="777240" y="1737360"/>
            <a:ext cx="4892040" cy="1874520"/>
          </a:xfrm>
          <a:prstGeom prst="rect">
            <a:avLst/>
          </a:prstGeom>
          <a:solidFill>
            <a:srgbClr val="111827"/>
          </a:solidFill>
          <a:ln w="7620">
            <a:solidFill>
              <a:srgbClr val="374151"/>
            </a:solidFill>
          </a:ln>
        </p:spPr>
        <p:txBody>
          <a:bodyPr wrap="square" lIns="1524" tIns="1524" rIns="1524" bIns="1524" rtlCol="0" anchor="t">
            <a:normAutofit/>
          </a:bodyPr>
          <a:lstStyle/>
          <a:p>
            <a:pPr marL="0" indent="0">
              <a:buNone/>
            </a:pPr>
            <a:r>
              <a:rPr lang="en-US" sz="1150" dirty="0">
                <a:solidFill>
                  <a:srgbClr val="E5E7EB"/>
                </a:solidFill>
                <a:latin typeface="Courier New" pitchFamily="34" charset="0"/>
                <a:ea typeface="Courier New" pitchFamily="34" charset="-122"/>
                <a:cs typeface="Courier New" pitchFamily="34" charset="-120"/>
              </a:rPr>
              <a:t>reproduce_figure4_cd96_heatmap.R</a:t>
            </a:r>
            <a:endParaRPr lang="en-US" sz="1150" dirty="0"/>
          </a:p>
          <a:p>
            <a:pPr marL="0" indent="0">
              <a:buNone/>
            </a:pPr>
            <a:endParaRPr lang="en-US" sz="1150" dirty="0"/>
          </a:p>
          <a:p>
            <a:pPr marL="0" indent="0">
              <a:buNone/>
            </a:pPr>
            <a:r>
              <a:rPr lang="en-US" sz="1150" dirty="0">
                <a:solidFill>
                  <a:srgbClr val="E5E7EB"/>
                </a:solidFill>
                <a:latin typeface="Courier New" pitchFamily="34" charset="0"/>
                <a:ea typeface="Courier New" pitchFamily="34" charset="-122"/>
                <a:cs typeface="Courier New" pitchFamily="34" charset="-120"/>
              </a:rPr>
              <a:t>Outputs:</a:t>
            </a:r>
            <a:endParaRPr lang="en-US" sz="1150" dirty="0"/>
          </a:p>
          <a:p>
            <a:pPr marL="0" indent="0">
              <a:buNone/>
            </a:pPr>
            <a:r>
              <a:rPr lang="en-US" sz="1150" dirty="0">
                <a:solidFill>
                  <a:srgbClr val="E5E7EB"/>
                </a:solidFill>
                <a:latin typeface="Courier New" pitchFamily="34" charset="0"/>
                <a:ea typeface="Courier New" pitchFamily="34" charset="-122"/>
                <a:cs typeface="Courier New" pitchFamily="34" charset="-120"/>
              </a:rPr>
              <a:t>  CGGA_correlationHeatmap_reproduced.pdf</a:t>
            </a:r>
            <a:endParaRPr lang="en-US" sz="1150" dirty="0"/>
          </a:p>
          <a:p>
            <a:pPr marL="0" indent="0">
              <a:buNone/>
            </a:pPr>
            <a:r>
              <a:rPr lang="en-US" sz="1150" dirty="0">
                <a:solidFill>
                  <a:srgbClr val="E5E7EB"/>
                </a:solidFill>
                <a:latin typeface="Courier New" pitchFamily="34" charset="0"/>
                <a:ea typeface="Courier New" pitchFamily="34" charset="-122"/>
                <a:cs typeface="Courier New" pitchFamily="34" charset="-120"/>
              </a:rPr>
              <a:t>  TCGA_correlationHeatmap_reproduced.pdf</a:t>
            </a:r>
            <a:endParaRPr lang="en-US" sz="1150" dirty="0"/>
          </a:p>
          <a:p>
            <a:pPr marL="0" indent="0">
              <a:buNone/>
            </a:pPr>
            <a:r>
              <a:rPr lang="en-US" sz="1150" dirty="0">
                <a:solidFill>
                  <a:srgbClr val="E5E7EB"/>
                </a:solidFill>
                <a:latin typeface="Courier New" pitchFamily="34" charset="0"/>
                <a:ea typeface="Courier New" pitchFamily="34" charset="-122"/>
                <a:cs typeface="Courier New" pitchFamily="34" charset="-120"/>
              </a:rPr>
              <a:t>  CGGA_CD96_correlations.csv</a:t>
            </a:r>
            <a:endParaRPr lang="en-US" sz="1150" dirty="0"/>
          </a:p>
          <a:p>
            <a:pPr marL="0" indent="0">
              <a:buNone/>
            </a:pPr>
            <a:r>
              <a:rPr lang="en-US" sz="1150" dirty="0">
                <a:solidFill>
                  <a:srgbClr val="E5E7EB"/>
                </a:solidFill>
                <a:latin typeface="Courier New" pitchFamily="34" charset="0"/>
                <a:ea typeface="Courier New" pitchFamily="34" charset="-122"/>
                <a:cs typeface="Courier New" pitchFamily="34" charset="-120"/>
              </a:rPr>
              <a:t>  TCGA_CD96_correlations.csv</a:t>
            </a:r>
            <a:endParaRPr lang="en-US" sz="1150" dirty="0"/>
          </a:p>
        </p:txBody>
      </p:sp>
      <p:sp>
        <p:nvSpPr>
          <p:cNvPr id="9" name="Text 7"/>
          <p:cNvSpPr/>
          <p:nvPr/>
        </p:nvSpPr>
        <p:spPr>
          <a:xfrm>
            <a:off x="6400800" y="1234440"/>
            <a:ext cx="3657600" cy="320040"/>
          </a:xfrm>
          <a:prstGeom prst="rect">
            <a:avLst/>
          </a:prstGeom>
          <a:noFill/>
          <a:ln/>
        </p:spPr>
        <p:txBody>
          <a:bodyPr wrap="square" lIns="381" tIns="381" rIns="381" bIns="381" rtlCol="0" anchor="t">
            <a:normAutofit/>
          </a:bodyPr>
          <a:lstStyle/>
          <a:p>
            <a:pPr marL="0" indent="0">
              <a:buNone/>
            </a:pPr>
            <a:r>
              <a:rPr lang="en-US" sz="2000" b="1" dirty="0">
                <a:solidFill>
                  <a:srgbClr val="1D2939"/>
                </a:solidFill>
                <a:latin typeface="Aptos" pitchFamily="34" charset="0"/>
                <a:ea typeface="Aptos" pitchFamily="34" charset="-122"/>
                <a:cs typeface="Aptos" pitchFamily="34" charset="-120"/>
              </a:rPr>
              <a:t>Checklist before running</a:t>
            </a:r>
            <a:endParaRPr lang="en-US" sz="2000" dirty="0"/>
          </a:p>
        </p:txBody>
      </p:sp>
      <p:sp>
        <p:nvSpPr>
          <p:cNvPr id="10" name="Text 8"/>
          <p:cNvSpPr/>
          <p:nvPr/>
        </p:nvSpPr>
        <p:spPr>
          <a:xfrm>
            <a:off x="6400800" y="1737360"/>
            <a:ext cx="4846320" cy="1828800"/>
          </a:xfrm>
          <a:prstGeom prst="rect">
            <a:avLst/>
          </a:prstGeom>
          <a:noFill/>
          <a:ln/>
        </p:spPr>
        <p:txBody>
          <a:bodyPr wrap="square" lIns="381" tIns="381" rIns="381" bIns="381" rtlCol="0" anchor="t">
            <a:normAutofit/>
          </a:bodyPr>
          <a:lstStyle/>
          <a:p>
            <a:pPr marL="0" indent="0">
              <a:buNone/>
            </a:pPr>
            <a:r>
              <a:rPr lang="en-US" sz="1400" dirty="0">
                <a:solidFill>
                  <a:srgbClr val="1D2939"/>
                </a:solidFill>
                <a:latin typeface="Aptos" pitchFamily="34" charset="0"/>
                <a:ea typeface="Aptos" pitchFamily="34" charset="-122"/>
                <a:cs typeface="Aptos" pitchFamily="34" charset="-120"/>
              </a:rPr>
              <a:t>Confirm sample IDs match between expression and clinical files.</a:t>
            </a:r>
            <a:endParaRPr lang="en-US" sz="1400" dirty="0"/>
          </a:p>
          <a:p>
            <a:pPr marL="0" indent="0">
              <a:buNone/>
            </a:pPr>
            <a:r>
              <a:rPr lang="en-US" sz="1400" dirty="0">
                <a:solidFill>
                  <a:srgbClr val="1D2939"/>
                </a:solidFill>
                <a:latin typeface="Aptos" pitchFamily="34" charset="0"/>
                <a:ea typeface="Aptos" pitchFamily="34" charset="-122"/>
                <a:cs typeface="Aptos" pitchFamily="34" charset="-120"/>
              </a:rPr>
              <a:t>Confirm CD96 is present after gene ID conversion.</a:t>
            </a:r>
            <a:endParaRPr lang="en-US" sz="1400" dirty="0"/>
          </a:p>
          <a:p>
            <a:pPr marL="0" indent="0">
              <a:buNone/>
            </a:pPr>
            <a:r>
              <a:rPr lang="en-US" sz="1400" dirty="0">
                <a:solidFill>
                  <a:srgbClr val="1D2939"/>
                </a:solidFill>
                <a:latin typeface="Aptos" pitchFamily="34" charset="0"/>
                <a:ea typeface="Aptos" pitchFamily="34" charset="-122"/>
                <a:cs typeface="Aptos" pitchFamily="34" charset="-120"/>
              </a:rPr>
              <a:t>Confirm the immune gene list uses gene symbols.</a:t>
            </a:r>
            <a:endParaRPr lang="en-US" sz="1400" dirty="0"/>
          </a:p>
          <a:p>
            <a:pPr marL="0" indent="0">
              <a:buNone/>
            </a:pPr>
            <a:r>
              <a:rPr lang="en-US" sz="1400" dirty="0">
                <a:solidFill>
                  <a:srgbClr val="1D2939"/>
                </a:solidFill>
                <a:latin typeface="Aptos" pitchFamily="34" charset="0"/>
                <a:ea typeface="Aptos" pitchFamily="34" charset="-122"/>
                <a:cs typeface="Aptos" pitchFamily="34" charset="-120"/>
              </a:rPr>
              <a:t>Keep clustering off if reproducing Figure 4.</a:t>
            </a:r>
            <a:endParaRPr lang="en-US" sz="1400" dirty="0"/>
          </a:p>
          <a:p>
            <a:pPr marL="0" indent="0">
              <a:buNone/>
            </a:pPr>
            <a:r>
              <a:rPr lang="en-US" sz="1400" dirty="0">
                <a:solidFill>
                  <a:srgbClr val="1D2939"/>
                </a:solidFill>
                <a:latin typeface="Aptos" pitchFamily="34" charset="0"/>
                <a:ea typeface="Aptos" pitchFamily="34" charset="-122"/>
                <a:cs typeface="Aptos" pitchFamily="34" charset="-120"/>
              </a:rPr>
              <a:t>Use row z-scores, not raw expression values, for colors.</a:t>
            </a:r>
            <a:endParaRPr lang="en-US" sz="1400" dirty="0"/>
          </a:p>
        </p:txBody>
      </p:sp>
      <p:sp>
        <p:nvSpPr>
          <p:cNvPr id="11" name="Text 9"/>
          <p:cNvSpPr/>
          <p:nvPr/>
        </p:nvSpPr>
        <p:spPr>
          <a:xfrm>
            <a:off x="914400" y="4343400"/>
            <a:ext cx="10332720" cy="868680"/>
          </a:xfrm>
          <a:prstGeom prst="rect">
            <a:avLst/>
          </a:prstGeom>
          <a:solidFill>
            <a:srgbClr val="F0F6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One-sentence summary
</a:t>
            </a:r>
            <a:r>
              <a:rPr lang="en-US" sz="1400" dirty="0">
                <a:solidFill>
                  <a:srgbClr val="1D2939"/>
                </a:solidFill>
              </a:rPr>
              <a:t>Figure 4 is a supervised correlation heatmap showing that immune-response genes tend to increase across samples ordered from low to high CD96 expression.</a:t>
            </a:r>
            <a:endParaRPr lang="en-US" sz="1400" dirty="0"/>
          </a:p>
        </p:txBody>
      </p:sp>
      <p:sp>
        <p:nvSpPr>
          <p:cNvPr id="12" name="Text 10"/>
          <p:cNvSpPr/>
          <p:nvPr/>
        </p:nvSpPr>
        <p:spPr>
          <a:xfrm>
            <a:off x="914400" y="5440680"/>
            <a:ext cx="10332720" cy="685800"/>
          </a:xfrm>
          <a:prstGeom prst="rect">
            <a:avLst/>
          </a:prstGeom>
          <a:solidFill>
            <a:srgbClr val="FFFFFF"/>
          </a:solidFill>
          <a:ln w="10160">
            <a:solidFill>
              <a:srgbClr val="D0D5DD"/>
            </a:solidFill>
          </a:ln>
        </p:spPr>
        <p:txBody>
          <a:bodyPr wrap="square" lIns="1651" tIns="1651" rIns="1651" bIns="1651" rtlCol="0" anchor="ctr">
            <a:normAutofit/>
          </a:bodyPr>
          <a:lstStyle/>
          <a:p>
            <a:pPr marL="0" indent="0">
              <a:buNone/>
            </a:pPr>
            <a:r>
              <a:rPr lang="en-US" sz="1400" b="1" dirty="0">
                <a:solidFill>
                  <a:srgbClr val="245B9E"/>
                </a:solidFill>
              </a:rPr>
              <a:t>Common troubleshooting
</a:t>
            </a:r>
            <a:r>
              <a:rPr lang="en-US" sz="1400" dirty="0">
                <a:solidFill>
                  <a:srgbClr val="1D2939"/>
                </a:solidFill>
              </a:rPr>
              <a:t>If the plot has too few genes, check gene identifiers and lower the rho cutoff only after confirming the input data are correctly matched.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3496</Words>
  <Application>Microsoft Macintosh PowerPoint</Application>
  <PresentationFormat>Widescreen</PresentationFormat>
  <Paragraphs>280</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Figure 4: CD96-related immune gene heatmap</dc:title>
  <dc:subject>Reproducing Figure 4 CD96-related immune gene heatmap</dc:subject>
  <dc:creator>OpenAI</dc:creator>
  <cp:lastModifiedBy>Zhong, Hua</cp:lastModifiedBy>
  <cp:revision>2</cp:revision>
  <dcterms:created xsi:type="dcterms:W3CDTF">2026-07-23T19:59:01Z</dcterms:created>
  <dcterms:modified xsi:type="dcterms:W3CDTF">2026-07-23T20:14:30Z</dcterms:modified>
</cp:coreProperties>
</file>