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5e1aadd07497b" /><Relationship Type="http://schemas.openxmlformats.org/officeDocument/2006/relationships/extended-properties" Target="/docProps/app.xml" Id="R6cc18af8c33647a2" /><Relationship Type="http://schemas.openxmlformats.org/officeDocument/2006/relationships/officeDocument" Target="/ppt/presentation.xml" Id="R435b5f349940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27fc4234974c63"/>
  </p:sldMasterIdLst>
  <p:notesMasterIdLst>
    <p:notesMasterId xmlns:r="http://schemas.openxmlformats.org/officeDocument/2006/relationships" r:id="Re2f712715ce04ca3"/>
  </p:notesMasterIdLst>
  <p:sldIdLst>
    <p:sldId xmlns:r="http://schemas.openxmlformats.org/officeDocument/2006/relationships" id="256" r:id="R4cf5c51403eb47a0"/>
    <p:sldId xmlns:r="http://schemas.openxmlformats.org/officeDocument/2006/relationships" id="257" r:id="Rc20425baa1a54f36"/>
    <p:sldId xmlns:r="http://schemas.openxmlformats.org/officeDocument/2006/relationships" id="258" r:id="Rf30e66fed7814197"/>
    <p:sldId xmlns:r="http://schemas.openxmlformats.org/officeDocument/2006/relationships" id="259" r:id="Rdf503076975b42dd"/>
    <p:sldId xmlns:r="http://schemas.openxmlformats.org/officeDocument/2006/relationships" id="260" r:id="R33a4e0404872430b"/>
    <p:sldId xmlns:r="http://schemas.openxmlformats.org/officeDocument/2006/relationships" id="261" r:id="Rc0a4aa0ef1464582"/>
    <p:sldId xmlns:r="http://schemas.openxmlformats.org/officeDocument/2006/relationships" id="262" r:id="R9c8f79065d32419d"/>
    <p:sldId xmlns:r="http://schemas.openxmlformats.org/officeDocument/2006/relationships" id="263" r:id="R23a8235f7c3f4b63"/>
    <p:sldId xmlns:r="http://schemas.openxmlformats.org/officeDocument/2006/relationships" id="264" r:id="R23a8544395cb496f"/>
    <p:sldId xmlns:r="http://schemas.openxmlformats.org/officeDocument/2006/relationships" id="265" r:id="R6340956ae0934a25"/>
    <p:sldId xmlns:r="http://schemas.openxmlformats.org/officeDocument/2006/relationships" id="266" r:id="R8fa3cd4819e8488c"/>
    <p:sldId xmlns:r="http://schemas.openxmlformats.org/officeDocument/2006/relationships" id="267" r:id="Re26b0fdc3bc94b55"/>
    <p:sldId xmlns:r="http://schemas.openxmlformats.org/officeDocument/2006/relationships" id="268" r:id="R7fbd580ff7cc4671"/>
    <p:sldId xmlns:r="http://schemas.openxmlformats.org/officeDocument/2006/relationships" id="269" r:id="R8907df6ec3fd408f"/>
    <p:sldId xmlns:r="http://schemas.openxmlformats.org/officeDocument/2006/relationships" id="270" r:id="Ree03de6f2d524137"/>
    <p:sldId xmlns:r="http://schemas.openxmlformats.org/officeDocument/2006/relationships" id="271" r:id="R26be628408b64b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b872705ff94a0d" /><Relationship Type="http://schemas.openxmlformats.org/officeDocument/2006/relationships/slideMaster" Target="/ppt/slideMasters/slideMaster1.xml" Id="R9d27fc4234974c63" /><Relationship Type="http://schemas.openxmlformats.org/officeDocument/2006/relationships/notesMaster" Target="/ppt/notesMasters/notesMaster1.xml" Id="Re2f712715ce04ca3" /><Relationship Type="http://schemas.openxmlformats.org/officeDocument/2006/relationships/presProps" Target="/ppt/presProps.xml" Id="R6f0195f3aaa64fb0" /><Relationship Type="http://schemas.openxmlformats.org/officeDocument/2006/relationships/tableStyles" Target="/ppt/tableStyles.xml" Id="R2314e3f76bc14ddf" /><Relationship Type="http://schemas.openxmlformats.org/officeDocument/2006/relationships/slide" Target="/ppt/slides/slide1.xml" Id="R4cf5c51403eb47a0" /><Relationship Type="http://schemas.openxmlformats.org/officeDocument/2006/relationships/slide" Target="/ppt/slides/slide2.xml" Id="Rc20425baa1a54f36" /><Relationship Type="http://schemas.openxmlformats.org/officeDocument/2006/relationships/slide" Target="/ppt/slides/slide3.xml" Id="Rf30e66fed7814197" /><Relationship Type="http://schemas.openxmlformats.org/officeDocument/2006/relationships/slide" Target="/ppt/slides/slide4.xml" Id="Rdf503076975b42dd" /><Relationship Type="http://schemas.openxmlformats.org/officeDocument/2006/relationships/slide" Target="/ppt/slides/slide5.xml" Id="R33a4e0404872430b" /><Relationship Type="http://schemas.openxmlformats.org/officeDocument/2006/relationships/slide" Target="/ppt/slides/slide6.xml" Id="Rc0a4aa0ef1464582" /><Relationship Type="http://schemas.openxmlformats.org/officeDocument/2006/relationships/slide" Target="/ppt/slides/slide7.xml" Id="R9c8f79065d32419d" /><Relationship Type="http://schemas.openxmlformats.org/officeDocument/2006/relationships/slide" Target="/ppt/slides/slide8.xml" Id="R23a8235f7c3f4b63" /><Relationship Type="http://schemas.openxmlformats.org/officeDocument/2006/relationships/slide" Target="/ppt/slides/slide9.xml" Id="R23a8544395cb496f" /><Relationship Type="http://schemas.openxmlformats.org/officeDocument/2006/relationships/slide" Target="/ppt/slides/slide10.xml" Id="R6340956ae0934a25" /><Relationship Type="http://schemas.openxmlformats.org/officeDocument/2006/relationships/slide" Target="/ppt/slides/slide11.xml" Id="R8fa3cd4819e8488c" /><Relationship Type="http://schemas.openxmlformats.org/officeDocument/2006/relationships/slide" Target="/ppt/slides/slide12.xml" Id="Re26b0fdc3bc94b55" /><Relationship Type="http://schemas.openxmlformats.org/officeDocument/2006/relationships/slide" Target="/ppt/slides/slide13.xml" Id="R7fbd580ff7cc4671" /><Relationship Type="http://schemas.openxmlformats.org/officeDocument/2006/relationships/slide" Target="/ppt/slides/slide14.xml" Id="R8907df6ec3fd408f" /><Relationship Type="http://schemas.openxmlformats.org/officeDocument/2006/relationships/slide" Target="/ppt/slides/slide15.xml" Id="Ree03de6f2d524137" /><Relationship Type="http://schemas.openxmlformats.org/officeDocument/2006/relationships/slide" Target="/ppt/slides/slide16.xml" Id="R26be628408b64b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8f72254ab34a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abe51dfce4c1c" /><Relationship Type="http://schemas.openxmlformats.org/officeDocument/2006/relationships/notesMaster" Target="/ppt/notesMasters/notesMaster1.xml" Id="R901d329e28e34e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dd9c72ca94c8f" /><Relationship Type="http://schemas.openxmlformats.org/officeDocument/2006/relationships/notesMaster" Target="/ppt/notesMasters/notesMaster1.xml" Id="Rbc9ea1932f074c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8aba564b6499e" /><Relationship Type="http://schemas.openxmlformats.org/officeDocument/2006/relationships/notesMaster" Target="/ppt/notesMasters/notesMaster1.xml" Id="R91fb5b24253e44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c6e529ff0148ac" /><Relationship Type="http://schemas.openxmlformats.org/officeDocument/2006/relationships/notesMaster" Target="/ppt/notesMasters/notesMaster1.xml" Id="Rc10adabcff5541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7be6ef81dd4d69" /><Relationship Type="http://schemas.openxmlformats.org/officeDocument/2006/relationships/notesMaster" Target="/ppt/notesMasters/notesMaster1.xml" Id="R3604f3430abd45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9dbab07f0e43f5" /><Relationship Type="http://schemas.openxmlformats.org/officeDocument/2006/relationships/notesMaster" Target="/ppt/notesMasters/notesMaster1.xml" Id="R77b5e52281c14f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a663f5f104374" /><Relationship Type="http://schemas.openxmlformats.org/officeDocument/2006/relationships/notesMaster" Target="/ppt/notesMasters/notesMaster1.xml" Id="R33cc17f99f0648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ac76672ad543ea" /><Relationship Type="http://schemas.openxmlformats.org/officeDocument/2006/relationships/notesMaster" Target="/ppt/notesMasters/notesMaster1.xml" Id="R36469e834a9b41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f05a19a0084d95" /><Relationship Type="http://schemas.openxmlformats.org/officeDocument/2006/relationships/notesMaster" Target="/ppt/notesMasters/notesMaster1.xml" Id="Rcc509f7f411743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ac44ad06374f64" /><Relationship Type="http://schemas.openxmlformats.org/officeDocument/2006/relationships/notesMaster" Target="/ppt/notesMasters/notesMaster1.xml" Id="Radeaaf37867d46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b6afe250a04e3a" /><Relationship Type="http://schemas.openxmlformats.org/officeDocument/2006/relationships/notesMaster" Target="/ppt/notesMasters/notesMaster1.xml" Id="R4e79c5a4013b4d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c877bca4c144f6" /><Relationship Type="http://schemas.openxmlformats.org/officeDocument/2006/relationships/notesMaster" Target="/ppt/notesMasters/notesMaster1.xml" Id="R41432888404c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155622eb3d47d1" /><Relationship Type="http://schemas.openxmlformats.org/officeDocument/2006/relationships/notesMaster" Target="/ppt/notesMasters/notesMaster1.xml" Id="R139fdc6a860e46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cad6f4b0904465" /><Relationship Type="http://schemas.openxmlformats.org/officeDocument/2006/relationships/notesMaster" Target="/ppt/notesMasters/notesMaster1.xml" Id="R0f077fb4ab004f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235c9ed7dd4bb1" /><Relationship Type="http://schemas.openxmlformats.org/officeDocument/2006/relationships/notesMaster" Target="/ppt/notesMasters/notesMaster1.xml" Id="Rc52308fbacdb45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b77abcc586427e" /><Relationship Type="http://schemas.openxmlformats.org/officeDocument/2006/relationships/notesMaster" Target="/ppt/notesMasters/notesMaster1.xml" Id="R4799e373c1884a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updated workflow now covers all four Figure 5 panels: GSVA-based T-cell immunity panels A-B and checkpoint correlation panels C-D.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  <a:p xmlns:a="http://schemas.openxmlformats.org/drawingml/2006/main">
            <a:r>
              <a:t>- https://doi.org/10.1186/1471-2105-14-7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two statistical questions: pathway-level association in A-B and gene-level co-expression in C-D.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A-B require full expression matrices because GSVA scores each pathway in every sample. C-D require only the selected checkpoint genes.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CGGA excerpt confirms a symbol-by-sample matrix. The full local file is required for GSVA; the excerpt is only sufficient for format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pathways are prespecified biological functions, not selected from the current enrichment tables. The GO:0002852 fallback is retained for historical replication but is biologically weak because it reduces the set to one gene.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GSVA is unsupervised: CD96 is not used to calculate the pathway score. CD96 enters only after scoring, for ordering and correlation.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https://doi.org/10.1186/1471-2105-14-7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Ordering does not affect the correlation coefficient; it only makes the heatmap trend interpretable. Spearman correlation evaluates whether pathway scores increase or decrease monotonically with CD96.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heatmap cells are GSVA scores, not individual gene-expression values. Each column is one tumor ordered by CD96 expression.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original tutorial hard-coded four stars in the cohort label. The revised workflow derives significance symbols for each pathway from its Spearman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panels use Pearson correlations across tumor samples. Circle size and color encode r in the lower triangle; numeric r values appear in the upper triangle.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CGGA file can remain on the analysis server. Only its path is passed to the script; it does not need to be uploaded to the presentation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TCGA easy input contains Ensembl version suffixes and a mix of sample barcodes. The revised code standardizes both dimensions before GSVA.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revised wrapper avoids failure when the local GSVA package uses the newer parameter-object API. It also documents gene-set coverage, an important reproducibility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https://bioconductor.org/packages/GSVA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 CGGA matrix is expected to reside locally. The script writes both presentation-ready graphics and the underlying numeric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checks are essential because GSVA will still return a score even for very small gene sets, and bulk-tumor co-expression can be driven by cellular composition.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emphasizing that the workflow is end-to-end and auditable, while retaining clear limitations for the obsolete GO term and bulk-expression correlations.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e0c6fd1b0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700f2b163a42f9" /><Relationship Type="http://schemas.openxmlformats.org/officeDocument/2006/relationships/slideLayout" Target="/ppt/slideLayouts/slideLayout1.xml" Id="R22fe9fe9cea14c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e9fe9cea14c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6b07e447548e4" /><Relationship Type="http://schemas.openxmlformats.org/officeDocument/2006/relationships/image" Target="/ppt/media/image.png" Id="R67fb827d7008461e" /><Relationship Type="http://schemas.openxmlformats.org/officeDocument/2006/relationships/notesSlide" Target="/ppt/notesSlides/notesSlide1.xml" Id="R450f8dbde2954f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419c80f0a4c7e" /><Relationship Type="http://schemas.openxmlformats.org/officeDocument/2006/relationships/notesSlide" Target="/ppt/notesSlides/notesSlide2.xml" Id="R9c23e6ecb43c47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e190aedf4696" /><Relationship Type="http://schemas.openxmlformats.org/officeDocument/2006/relationships/notesSlide" Target="/ppt/notesSlides/notesSlide3.xml" Id="R82d7997ccdda4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08cda0dbf465a" /><Relationship Type="http://schemas.openxmlformats.org/officeDocument/2006/relationships/notesSlide" Target="/ppt/notesSlides/notesSlide4.xml" Id="R9a7ca76b62fd48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0e65a217f4039" /><Relationship Type="http://schemas.openxmlformats.org/officeDocument/2006/relationships/notesSlide" Target="/ppt/notesSlides/notesSlide5.xml" Id="R340cf85db00c45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7b4bd333946a0" /><Relationship Type="http://schemas.openxmlformats.org/officeDocument/2006/relationships/notesSlide" Target="/ppt/notesSlides/notesSlide6.xml" Id="R1d49039c24af4c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629bcd7a14c4e" /><Relationship Type="http://schemas.openxmlformats.org/officeDocument/2006/relationships/notesSlide" Target="/ppt/notesSlides/notesSlide7.xml" Id="R6dfe789d9c8c45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e8ba4a8e8403c" /><Relationship Type="http://schemas.openxmlformats.org/officeDocument/2006/relationships/image" Target="/ppt/media/image2.png" Id="Rf48ccfe3f1c84630" /><Relationship Type="http://schemas.openxmlformats.org/officeDocument/2006/relationships/image" Target="/ppt/media/image3.png" Id="Rbbbfed86787e4587" /><Relationship Type="http://schemas.openxmlformats.org/officeDocument/2006/relationships/notesSlide" Target="/ppt/notesSlides/notesSlide8.xml" Id="R81d70a029f854f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b166136d84480" /><Relationship Type="http://schemas.openxmlformats.org/officeDocument/2006/relationships/notesSlide" Target="/ppt/notesSlides/notesSlide9.xml" Id="Rf0e370330b0e43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5a9395ec4368" /><Relationship Type="http://schemas.openxmlformats.org/officeDocument/2006/relationships/image" Target="/ppt/media/image4.png" Id="Rb29a6d6838c44ca5" /><Relationship Type="http://schemas.openxmlformats.org/officeDocument/2006/relationships/image" Target="/ppt/media/image5.png" Id="R9ad71b01d96c4d1a" /><Relationship Type="http://schemas.openxmlformats.org/officeDocument/2006/relationships/notesSlide" Target="/ppt/notesSlides/notesSlide10.xml" Id="Rd0c2cbb72b9d4f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8ee0ff784bd1" /><Relationship Type="http://schemas.openxmlformats.org/officeDocument/2006/relationships/notesSlide" Target="/ppt/notesSlides/notesSlide11.xml" Id="R59dd57ace7e24f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1a562ed3c49ee" /><Relationship Type="http://schemas.openxmlformats.org/officeDocument/2006/relationships/notesSlide" Target="/ppt/notesSlides/notesSlide12.xml" Id="Rac3c2d4b26de4a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c7ab509934fe9" /><Relationship Type="http://schemas.openxmlformats.org/officeDocument/2006/relationships/notesSlide" Target="/ppt/notesSlides/notesSlide13.xml" Id="Rbd89d911f22b4e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d6315102e4f65" /><Relationship Type="http://schemas.openxmlformats.org/officeDocument/2006/relationships/notesSlide" Target="/ppt/notesSlides/notesSlide14.xml" Id="Rf5383c2ddbb146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1647681c84814" /><Relationship Type="http://schemas.openxmlformats.org/officeDocument/2006/relationships/notesSlide" Target="/ppt/notesSlides/notesSlide15.xml" Id="R3dd638a49c5c4a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0eba965294fd1" /><Relationship Type="http://schemas.openxmlformats.org/officeDocument/2006/relationships/notesSlide" Target="/ppt/notesSlides/notesSlide16.xml" Id="Rd2575c5e98434c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6F10B-9102-40CF-AB5D-187CAF4C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1DC"/>
                </a:solidFill>
              </a:defRPr>
            </a:pPr>
            <a:r>
              <a:rPr sz="1200" b="1">
                <a:solidFill>
                  <a:srgbClr val="8FD1DC"/>
                </a:solidFill>
              </a:rPr>
              <a:t>FIGURE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D1FF2-0817-4F38-A218-8A488334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Complete reproduction of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CD96 immune-function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75CCC-296D-4951-A79A-62AB6525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8E2"/>
                </a:solidFill>
              </a:defRPr>
            </a:pPr>
            <a:r>
              <a:rPr sz="1875" b="0">
                <a:solidFill>
                  <a:srgbClr val="C9D8E2"/>
                </a:solidFill>
              </a:rPr>
              <a:t>GSVA heatmaps · correlation pies · checkpoint matrices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b827d7008461e"/>
          <a:stretch xmlns:a="http://schemas.openxmlformats.org/drawingml/2006/main"/>
        </p:blipFill>
        <p:spPr>
          <a:xfrm xmlns:a="http://schemas.openxmlformats.org/drawingml/2006/main">
            <a:off x="7858125" y="1762705"/>
            <a:ext cx="3714750" cy="314209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E1419-D4CA-4A85-8972-24C1F38C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1DC"/>
                </a:solidFill>
              </a:defRPr>
            </a:pPr>
            <a:r>
              <a:rPr sz="1350" b="1">
                <a:solidFill>
                  <a:srgbClr val="8FD1DC"/>
                </a:solidFill>
              </a:rPr>
              <a:t>CGGA discovery · TCGA validation</a:t>
            </a:r>
          </a:p>
        </p:txBody>
      </p:sp>
    </p:spTree>
    <p:extLst>
      <p:ext uri="{BB962C8B-B14F-4D97-AF65-F5344CB8AC3E}">
        <p14:creationId xmlns:p14="http://schemas.microsoft.com/office/powerpoint/2010/main" val="2128953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52120-7FB7-419D-A346-93CE89A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ANALYTICAL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0067F-497A-4E42-9345-837C6FB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Figure 5 combines pathway activity and gene co-expression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AE806-EB75-41C4-8CFB-A993F42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AFDB3-6BB5-4160-BDB0-D255EAE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CD96 expression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769C1-A543-4E38-890B-E694479A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97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F7E02-5970-4539-95F8-FBCD18C7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6F9E"/>
                </a:solidFill>
              </a:defRPr>
            </a:pPr>
            <a:r>
              <a:rPr sz="1950" b="1">
                <a:solidFill>
                  <a:srgbClr val="2E6F9E"/>
                </a:solidFill>
              </a:rPr>
              <a:t>7 immune GO</a:t>
            </a:r>
          </a:p>
          <a:p xmlns:a="http://schemas.openxmlformats.org/drawingml/2006/main">
            <a:pPr algn="ctr">
              <a:defRPr sz="1950" b="1">
                <a:solidFill>
                  <a:srgbClr val="2E6F9E"/>
                </a:solidFill>
              </a:defRPr>
            </a:pPr>
            <a:r>
              <a:rPr sz="1950" b="1">
                <a:solidFill>
                  <a:srgbClr val="2E6F9E"/>
                </a:solidFill>
              </a:rPr>
              <a:t>pathways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C9747-ED45-4DA7-9892-CABB2833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97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F1CD9-CD7F-443A-8D77-B0A2BBC9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5252"/>
                </a:solidFill>
              </a:defRPr>
            </a:pPr>
            <a:r>
              <a:rPr sz="1950" b="1">
                <a:solidFill>
                  <a:srgbClr val="C55252"/>
                </a:solidFill>
              </a:rPr>
              <a:t>Immune-checkpoint</a:t>
            </a:r>
          </a:p>
          <a:p xmlns:a="http://schemas.openxmlformats.org/drawingml/2006/main">
            <a:pPr algn="ctr">
              <a:defRPr sz="1950" b="1">
                <a:solidFill>
                  <a:srgbClr val="C55252"/>
                </a:solidFill>
              </a:defRPr>
            </a:pPr>
            <a:r>
              <a:rPr sz="1950" b="1">
                <a:solidFill>
                  <a:srgbClr val="C55252"/>
                </a:solidFill>
              </a:rPr>
              <a:t>genes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9EF84-252B-40BE-A0ED-926EF905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906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F4D6C-13C5-423B-B598-D7A6CC3B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813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AF93B-0378-45C0-8EC0-5F9E06AC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81375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Panels A-B ask whether sample-level pathway activity changes with CD96 expression.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DA608-B391-4D33-B39D-E4E5A33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BA6AD-1E26-4BF6-A756-30F9318C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52875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Panels C-D ask whether CD96 is co-expressed with other checkpoint markers.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B362E-F54C-4849-8FB0-82E3D15D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243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AA4D1-BB26-454B-BC7B-F40AFEE4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24375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CGGA and TCGA are analyzed separately to evaluate reproducibility.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FAA29-FC5A-4D37-ABB5-F6654ACE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ADAF1-A4C4-4DD9-BEAB-4AD97962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0111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A0CF76-A0F3-4945-BC22-1D503258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FOUR-PANEL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CEA2F-3747-40B7-BD61-D01ED0BA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Each panel has a distinct input and statistical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68E6F-ADD6-4762-A6FC-B0673E8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53486-5323-425D-AA78-4F0729DA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7FA6B-4FC0-44DB-9E79-E633786B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9E"/>
                </a:solidFill>
              </a:defRPr>
            </a:pPr>
            <a:r>
              <a:rPr sz="2250" b="1">
                <a:solidFill>
                  <a:srgbClr val="2E6F9E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F35AD-E5E4-4112-8735-3CC302C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CGGA GSVA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AD68A-7831-4C1D-A7BB-F3243843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BBE6E-BA06-4160-8EDD-69C75EF2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F1C15-F168-45C5-8CA1-5B71384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Full expression 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045AB-0F72-4603-97D5-61862AC4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Association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EC40F-29C0-4607-8E5B-A5A8CF3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Spearman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50CCB-7E22-41C8-8B0F-BAEE3A2A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0951C-BE32-49DA-82B9-597DAE75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9E"/>
                </a:solidFill>
              </a:defRPr>
            </a:pPr>
            <a:r>
              <a:rPr sz="2250" b="1">
                <a:solidFill>
                  <a:srgbClr val="2E6F9E"/>
                </a:solidFill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4C728-0FD6-460D-8852-86D0842D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TCGA GSVA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9633-2A3A-460D-8748-8FEC2DF7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73DD8-CBB3-406E-8BF2-2578A3B8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E7F6E-D387-40FC-BA8B-4BEA14C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Full expression matrix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7B817-6BC6-492B-A125-F7F23000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Association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B11A8-ADAC-4BE9-968F-889276C0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Spearman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F113B-3BF3-4384-9264-AA09292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7A4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05490-2EAC-4E6B-94C6-B29A5525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55252"/>
                </a:solidFill>
              </a:defRPr>
            </a:pPr>
            <a:r>
              <a:rPr sz="2250" b="1">
                <a:solidFill>
                  <a:srgbClr val="C55252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ACD5F-3DC6-486C-9049-BF491932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CGGA checkpoints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257FF-5FAB-410F-A884-E43800F8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6243A-F61E-42BD-A886-A9AEFBE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Input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E27A0-9685-4EC9-8C91-CCE15D08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7 gene expressions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16BF0-D1CA-4772-8581-77A0B7D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Association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23219-982B-4FB9-ADFD-8C3F70B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Pearson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66DE8-B15C-4F39-810E-75B34959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7A4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4E481-DC8A-44A0-B733-0A8F8A9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55252"/>
                </a:solidFill>
              </a:defRPr>
            </a:pPr>
            <a:r>
              <a:rPr sz="2250" b="1">
                <a:solidFill>
                  <a:srgbClr val="C55252"/>
                </a:solidFill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21858D-81F3-4B87-9A1A-4E4DBA2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TCGA checkpoints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375BA2-D2F2-4A0E-BD0E-AE0AC918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E5A5D-585C-4569-8C4F-96A80206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Input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A8BE9F-159E-4E4C-97DF-8DCCAEC6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7 gene expressions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A5FF0-D69D-4FF1-BDD1-402B64C3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Association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E8F59A-F068-4F03-875E-358071AD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Pearson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54A50-FABA-4957-8EFC-5238630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99BF9-C17C-44F7-B370-7A7507A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5591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74C4A-0560-4F56-9D3E-DD2122D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INPUT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82CC1-9B7E-4AD8-A232-A8E51149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The two expression matrices use different gene identifiers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8F99E-4661-4C1E-82E1-D68E6EA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5DA39-0E99-4889-BE1D-2513F965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D8E17-6685-42F7-ACB4-52247C91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6F9E"/>
                </a:solidFill>
              </a:defRPr>
            </a:pPr>
            <a:r>
              <a:rPr sz="2175" b="1">
                <a:solidFill>
                  <a:srgbClr val="2E6F9E"/>
                </a:solidFill>
              </a:rPr>
              <a:t>CGGA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CF5EB-3CD4-4DDF-9FBE-3A93DAB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Gene symbols × 325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AC2FE-7524-4C55-8784-E644DA0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11C51-02E0-4378-B752-A1A8443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9875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First column: A1BG, A2M, CD96…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A46EC-3E4E-41C0-9F61-B5E68F4A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8822C-BF41-4E13-AE1C-3C21A46A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Remaining columns: CGGA_1001…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E3AD0-AA52-4875-8929-5DF73779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D8D29-265E-4C45-93DD-B775DC0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57625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RSEM abundance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E7C7C-740A-44BB-BBC9-8484D37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AE3D8-CE0E-4820-B763-29381F95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No ID conversion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EB47E-8CFD-4C01-BBB3-FF89E14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373E-4568-4581-BD12-EEE5C4AB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55252"/>
                </a:solidFill>
              </a:defRPr>
            </a:pPr>
            <a:r>
              <a:rPr sz="2175" b="1">
                <a:solidFill>
                  <a:srgbClr val="C55252"/>
                </a:solidFill>
              </a:rPr>
              <a:t>TCGA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36C0C-6337-4C3C-9FA9-92A3A207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38375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Ensembl IDs × tumor samples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D1BA1-1EF2-4045-B9D9-FDBC53AC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6EE3C-ACC6-4C7C-80AD-4FEA7C8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9875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Remove Ensembl version suffix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E8B55-AC1E-47BE-B90E-32D7753C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DD54B-A032-4AAB-BA7A-8A6DCD0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Map Ensembl → gene symbol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77102-9F95-4F79-A51B-7F447774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5762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F5935-B3C8-483F-B868-D91C55FC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57625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Retain sample type 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03486-AF43-41B9-BACA-6B964359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81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F1A7D-14FE-46E6-97AA-2DDFE9F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403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Collapse duplicated symbols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89DC5-3D39-4517-B0A1-3BCC0220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Rows must represent genes; columns must represent individual tumors.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493EB1-1612-4A70-B20D-21A01C87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5D0473-F261-4D35-A67E-71BC24A2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1886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FA72D-B789-43CD-B3B1-A20E8193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GENE 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C25CD-1F4D-4043-97C3-75B30BDF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Seven prespecified GO terms define T-cell immune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9800-A08F-4AEC-BF29-7EFACFD3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30866-FF0C-4754-B6E4-FAF8D34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F9E"/>
                </a:solidFill>
              </a:defRPr>
            </a:pPr>
            <a:r>
              <a:rPr sz="1575" b="1">
                <a:solidFill>
                  <a:srgbClr val="2E6F9E"/>
                </a:solidFill>
              </a:rPr>
              <a:t>GO:0042088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DFAA4-DCBD-4E51-84ED-DEA9B3E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T-helper 1 immune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61BF6-61D7-47B8-ABF1-BC159A4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F48BE-C6BC-4746-B119-597F47A8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F9E"/>
                </a:solidFill>
              </a:defRPr>
            </a:pPr>
            <a:r>
              <a:rPr sz="1575" b="1">
                <a:solidFill>
                  <a:srgbClr val="2E6F9E"/>
                </a:solidFill>
              </a:rPr>
              <a:t>GO:0042092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28C90-CBCA-4E6E-8131-4728CC59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Type 2 immune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054D8-DE0D-4CD8-8948-D3E8F41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52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4DEB7-5AD7-4B55-8B8E-119BA2D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F9E"/>
                </a:solidFill>
              </a:defRPr>
            </a:pPr>
            <a:r>
              <a:rPr sz="1575" b="1">
                <a:solidFill>
                  <a:srgbClr val="2E6F9E"/>
                </a:solidFill>
              </a:rPr>
              <a:t>GO:2000556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349D4-9C68-4908-9BE4-1DC77BCA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Th1 cytokine 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5B426-3581-40B1-B43F-F829C338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718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05298-F438-468C-9121-B5043265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F9E"/>
                </a:solidFill>
              </a:defRPr>
            </a:pPr>
            <a:r>
              <a:rPr sz="1575" b="1">
                <a:solidFill>
                  <a:srgbClr val="2E6F9E"/>
                </a:solidFill>
              </a:rPr>
              <a:t>GO:2000553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F7F57-5C06-4A9B-A6AD-B95EDEA8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Th2 cytokine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3D9D5-9B6F-4DA2-89C0-B75C6C0B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90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6EBC3-AFE0-4606-B609-F6B3B43E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F9E"/>
                </a:solidFill>
              </a:defRPr>
            </a:pPr>
            <a:r>
              <a:rPr sz="1575" b="1">
                <a:solidFill>
                  <a:srgbClr val="2E6F9E"/>
                </a:solidFill>
              </a:rPr>
              <a:t>GO:0002860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976CB-44F7-464A-B30F-8EF2B9AE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528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NK cytotoxicity against tumor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2E2D8-FD30-4397-B4E7-8887E574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231DC-6F4E-4426-89EC-4B85B8C3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0AD47"/>
                </a:solidFill>
              </a:defRPr>
            </a:pPr>
            <a:r>
              <a:rPr sz="1575" b="1">
                <a:solidFill>
                  <a:srgbClr val="70AD47"/>
                </a:solidFill>
              </a:rPr>
              <a:t>GO:0002842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F2484-255F-49DB-A6A2-AF17AA4A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T-cell response to tumor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79637-B0FD-46F9-BBA1-F735177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2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9524E-C05E-4C82-8B05-2919E620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0AD47"/>
                </a:solidFill>
              </a:defRPr>
            </a:pPr>
            <a:r>
              <a:rPr sz="1575" b="1">
                <a:solidFill>
                  <a:srgbClr val="70AD47"/>
                </a:solidFill>
              </a:rPr>
              <a:t>GO:0002852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8D2DA-F741-4E2C-A154-B994B3B6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911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T-cell cytotoxicity against tumor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1DE61-F3FC-4CC0-B8A8-4B3B5EA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483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EB130-9A93-4722-89F9-4497D229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381250" cy="2667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2E5"/>
          </a:solidFill>
          <a:ln xmlns:a="http://schemas.openxmlformats.org/drawingml/2006/main" w="9525">
            <a:solidFill>
              <a:srgbClr val="DFC48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240AF-9949-42F8-9771-F5223CFA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57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Gene-set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3A58D-C872-4C9E-97C8-C8A8929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Current GO annotations are retrieved locally from org.Hs.eg.db.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0F679-294D-4BDF-BC2E-D730DB1C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908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5252"/>
                </a:solidFill>
              </a:defRPr>
            </a:pPr>
            <a:r>
              <a:rPr sz="1500" b="1">
                <a:solidFill>
                  <a:srgbClr val="C55252"/>
                </a:solidFill>
              </a:rPr>
              <a:t>Historical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DFE9C-20A5-45D7-8E91-BFAC10CC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5282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If GO:0002852 is unavailable, use MUC4 as in the supplied code.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6C7DD-7A97-47AB-B2FD-654386BE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D93DF6-A715-4BBA-8056-D841F7F3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5027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92300-3A17-4C88-AF92-F2A9B98D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GSVA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B5B6F-5A5F-43A0-B575-C22C85B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GSVA converts gene expression into sample-level pathway scores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083C3-59A0-4AB7-A7F4-7C66D542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76BE-61F1-4DCC-A077-DAFF106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Gene-expression ranks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60B8D-06B6-43B0-898C-DDC7633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E3D30-001A-47E5-81CC-85C3A5BC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6F9E"/>
                </a:solidFill>
              </a:defRPr>
            </a:pPr>
            <a:r>
              <a:rPr sz="1875" b="1">
                <a:solidFill>
                  <a:srgbClr val="2E6F9E"/>
                </a:solidFill>
              </a:rPr>
              <a:t>Gene-set enrichment</a:t>
            </a:r>
          </a:p>
          <a:p xmlns:a="http://schemas.openxmlformats.org/drawingml/2006/main">
            <a:pPr algn="ctr">
              <a:defRPr sz="1875" b="1">
                <a:solidFill>
                  <a:srgbClr val="2E6F9E"/>
                </a:solidFill>
              </a:defRPr>
            </a:pPr>
            <a:r>
              <a:rPr sz="1875" b="1">
                <a:solidFill>
                  <a:srgbClr val="2E6F9E"/>
                </a:solidFill>
              </a:rPr>
              <a:t>within each 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C3BAC-002D-4803-A74C-E32C9C6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0B7DD-A2C5-475A-BE2B-8E39B25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55252"/>
                </a:solidFill>
              </a:defRPr>
            </a:pPr>
            <a:r>
              <a:rPr sz="1875" b="1">
                <a:solidFill>
                  <a:srgbClr val="C55252"/>
                </a:solidFill>
              </a:rPr>
              <a:t>GSVA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833B8-0E0C-4F3E-9B04-B0516D7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000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648A3-287E-4524-A5AD-B0DB561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498FB-6651-4B29-8A3F-DE8E03B0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0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For each tumor, GSVA contrasts expression ranks inside versus outside a pathway gene 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882B7-5470-43BF-8E41-69EB2728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94134-AFDE-41CE-943E-9277CAC4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05250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Positive score: coordinated pathway genes are relatively high in that sample.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CC593-5FED-48EC-A022-20BF5872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0242C-4C84-4C59-BD89-440E8585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Negative score: pathway genes are relatively low—not a negative expression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93506-3AAC-4195-AD83-1DCDC158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Output: 7 pathways × N tumors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B0695-EC07-4683-930F-5FD8DFE4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3005A-98BC-4A4F-879B-4AB2DE34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6503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57660-07C7-4AD8-968D-BCD2ECE1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ORDERING AND ASSOCIATION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8F6A8-A099-4B7A-8458-BD72371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Sample ordering makes the CD96 gradient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45B40-B33B-44FE-95D5-4B812337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6FE3C-FBF4-4B06-831D-813BBACC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715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49A34-D378-47F7-8DD5-AE84BF10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52959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cd96 &lt;- expr["CD96", ]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ord &lt;- order(cd96)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expr &lt;- expr[, ord]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scores &lt;- run_gsva_compatible(expr, go_sets)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cor.test(scores[pathway, ], cd96[ord],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         method = "spearman")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B005F-834B-4F46-BCC9-D2016084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4191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877B6-73EE-4A53-B130-24608E73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09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F9E"/>
                </a:solidFill>
              </a:defRPr>
            </a:pPr>
            <a:r>
              <a:rPr sz="1725" b="1">
                <a:solidFill>
                  <a:srgbClr val="2E6F9E"/>
                </a:solidFill>
              </a:rPr>
              <a:t>1 · Order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5A2CE-6D4C-48D8-A372-6CE27FEF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907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Left = low CD96; right = high CD96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5D66F-D67F-42DB-A64D-1228616F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191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42879-518D-46CC-92BE-FEDF4D8C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F9E"/>
                </a:solidFill>
              </a:defRPr>
            </a:pPr>
            <a:r>
              <a:rPr sz="1725" b="1">
                <a:solidFill>
                  <a:srgbClr val="2E6F9E"/>
                </a:solidFill>
              </a:rPr>
              <a:t>2 · Keep pathway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A1640-77F7-4167-9CEF-35FBDA65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Do not cluster columns after ordering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1DD73-DA93-49CC-9A50-216BC197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9625"/>
            <a:ext cx="4191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D1EB3-3D5B-46BB-AC04-C2D8510C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62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3 · Test monotonic trend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18160-A9D7-4948-9FA2-100F8E69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43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Spearman rho is robust to non-normal expression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E8896-7DF5-40F5-AD59-88FA1A30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08AAF-FBAE-4455-A4A3-77C2DDCF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128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BDDBE-C15D-430F-9AD5-D66F07D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GSVA HEATMAPS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BB454-1E62-47DD-A171-23158B7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Panels A-B display pathway activity across ordered tumors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5A2E2-1377-4DFF-BF92-91532CE5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ccfe3f1c84630"/>
          <a:stretch xmlns:a="http://schemas.openxmlformats.org/drawingml/2006/main"/>
        </p:blipFill>
        <p:spPr>
          <a:xfrm xmlns:a="http://schemas.openxmlformats.org/drawingml/2006/main">
            <a:off x="523875" y="1778000"/>
            <a:ext cx="5381625" cy="3587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fed86787e4587"/>
          <a:stretch xmlns:a="http://schemas.openxmlformats.org/drawingml/2006/main"/>
        </p:blipFill>
        <p:spPr>
          <a:xfrm xmlns:a="http://schemas.openxmlformats.org/drawingml/2006/main">
            <a:off x="6286500" y="1778000"/>
            <a:ext cx="5381625" cy="358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29847-B341-4F3C-8B90-678B8E7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57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F9E"/>
                </a:solidFill>
              </a:defRPr>
            </a:pPr>
            <a:r>
              <a:rPr sz="1650" b="1">
                <a:solidFill>
                  <a:srgbClr val="2E6F9E"/>
                </a:solidFill>
              </a:rPr>
              <a:t>CGGA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05D9F-E3A8-4CE0-BAC0-D1EA938E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57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5252"/>
                </a:solidFill>
              </a:defRPr>
            </a:pPr>
            <a:r>
              <a:rPr sz="1650" b="1">
                <a:solidFill>
                  <a:srgbClr val="C55252"/>
                </a:solidFill>
              </a:rPr>
              <a:t>TCGA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84564-2D91-4DE8-9E10-A5A07AFE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Blue = lower GSVA activity · Red = higher GSVA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D1455-BAEE-4F06-B0D8-90EC07CB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0A7F1-1EDF-4C33-B47E-607B8485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5094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2E274-F70F-4638-AECD-8EE49BA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CORRELATION PIES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1D2B4-EE2D-4D04-8770-CF353A75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The pie summarizes strength, direction, and significance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AECD3-9391-4A6C-BF70-310541DD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256CD-5AF3-452D-8A4E-3AB92239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62CA6-A235-45AD-BF06-75F0059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55252"/>
                </a:solidFill>
              </a:defRPr>
            </a:pPr>
            <a:r>
              <a:rPr sz="1875" b="1">
                <a:solidFill>
                  <a:srgbClr val="C55252"/>
                </a:solidFill>
              </a:rPr>
              <a:t>Positive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E49DE-7101-4B87-96F3-3E4A10DD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Red · clockwise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FE57C-5720-4E74-A916-74649BAB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filled fraction = |ρ|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EDD6D-DB0B-4AEF-B657-93A30A5E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B78"/>
                </a:solidFill>
              </a:defRPr>
            </a:pPr>
            <a:r>
              <a:rPr sz="1575" b="0">
                <a:solidFill>
                  <a:srgbClr val="5D6B78"/>
                </a:solidFill>
              </a:rPr>
              <a:t>white fraction = 1 − |ρ|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32E50-E4F6-4632-94E2-A49000CA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DAA5C-E1BC-459A-82E0-02C1DEF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0AD47"/>
                </a:solidFill>
              </a:defRPr>
            </a:pPr>
            <a:r>
              <a:rPr sz="1875" b="1">
                <a:solidFill>
                  <a:srgbClr val="70AD47"/>
                </a:solidFill>
              </a:rPr>
              <a:t>Negative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6801C-B843-478C-9F01-E0AD39F8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Green · counterclockwise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70EF5-43BA-4DCF-B022-77159038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9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filled fraction = |ρ|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E298B-39F9-4399-92E7-F61A56E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B78"/>
                </a:solidFill>
              </a:defRPr>
            </a:pPr>
            <a:r>
              <a:rPr sz="1575" b="0">
                <a:solidFill>
                  <a:srgbClr val="5D6B78"/>
                </a:solidFill>
              </a:rPr>
              <a:t>white fraction = 1 − |ρ|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593D3-93EB-43DF-B93B-FED6DA77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D56F8-7305-461E-A281-EEF42DD6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6F9E"/>
                </a:solidFill>
              </a:defRPr>
            </a:pPr>
            <a:r>
              <a:rPr sz="1875" b="1">
                <a:solidFill>
                  <a:srgbClr val="2E6F9E"/>
                </a:solidFill>
              </a:rPr>
              <a:t>P-value stars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0A302-98F7-48EA-BFD7-7109C8BE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1809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*       P &lt; 0.05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**     P &lt; 0.01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***   P &lt; 0.001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**** P &lt; 0.0001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8E063-B4EE-49D3-BEE1-86139505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B78"/>
                </a:solidFill>
              </a:defRPr>
            </a:pPr>
            <a:r>
              <a:rPr sz="1350" b="1">
                <a:solidFill>
                  <a:srgbClr val="5D6B78"/>
                </a:solidFill>
              </a:rPr>
              <a:t>The revised code calculates stars; they are not hard-coded.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3023B-D155-4D99-B458-7353A45E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93C0B-253B-497B-A1E2-F8896FB3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8229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89180-AE54-4A24-BDAE-E6592B07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CHECKPOINT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5AE53-BF83-46C8-B9F3-BA07747F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Panels C-D test checkpoint co-expression directly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D86ED-0AE5-44B0-BFB4-EEF64C08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a6d6838c44ca5"/>
          <a:stretch xmlns:a="http://schemas.openxmlformats.org/drawingml/2006/main"/>
        </p:blipFill>
        <p:spPr>
          <a:xfrm xmlns:a="http://schemas.openxmlformats.org/drawingml/2006/main">
            <a:off x="1362075" y="1381125"/>
            <a:ext cx="3657600" cy="457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71b01d96c4d1a"/>
          <a:stretch xmlns:a="http://schemas.openxmlformats.org/drawingml/2006/main"/>
        </p:blipFill>
        <p:spPr>
          <a:xfrm xmlns:a="http://schemas.openxmlformats.org/drawingml/2006/main">
            <a:off x="7172325" y="1381125"/>
            <a:ext cx="365760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383FF-FF1D-47E5-A87C-0FEA49D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19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F9E"/>
                </a:solidFill>
              </a:defRPr>
            </a:pPr>
            <a:r>
              <a:rPr sz="1650" b="1">
                <a:solidFill>
                  <a:srgbClr val="2E6F9E"/>
                </a:solidFill>
              </a:rPr>
              <a:t>CGGA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1BA7B-7EE2-40FD-9A4D-B7A5791D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19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5252"/>
                </a:solidFill>
              </a:defRPr>
            </a:pPr>
            <a:r>
              <a:rPr sz="1650" b="1">
                <a:solidFill>
                  <a:srgbClr val="C55252"/>
                </a:solidFill>
              </a:rPr>
              <a:t>TCGA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B993E-D129-40A1-BEC3-BD84C2BA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88A4F-A4E8-498F-B0CD-1CA76508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31000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BB647-2D10-4AF0-A822-6EF9A218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CODE · CGGA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C246F-1868-4EA0-BBB3-FE07D12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The loader handles the full CGGA matrix without ID conversion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9D010-1FDE-4023-ABE6-6A3B2702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188CB-CEC3-464D-BEA4-16CD4A70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95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0297-58C0-473C-BF00-A160E4C5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65341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read_cgga &lt;- function(path) {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x &lt;- read.table(path, sep = "\t", header = TRUE,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                row.names = 1, check.names = FALSE)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x[] &lt;- lapply(x, as.numeric)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rownames(x) &lt;- trimws(rownames(x))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collapse_duplicate_genes(as.matrix(x))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cgga_expr &lt;- read_cgga(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"CGGA.mRNAseq_325.RSEM-genes.20190909.txt"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86C2A-163B-40F3-8228-38474562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3337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6A89B-F684-46C2-B4B4-D48FBB34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F9E"/>
                </a:solidFill>
              </a:defRPr>
            </a:pPr>
            <a:r>
              <a:rPr sz="1725" b="1">
                <a:solidFill>
                  <a:srgbClr val="2E6F9E"/>
                </a:solidFill>
              </a:rPr>
              <a:t>Validated from the excerpt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DE163-1B9A-4659-9A98-EB83D8A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A7B8"/>
                </a:solidFill>
              </a:defRPr>
            </a:pPr>
            <a:r>
              <a:rPr sz="1425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BF5FC-4623-4436-A30B-B9A6054D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812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Gene symbols in row names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7906F-324B-4CD3-8ED9-2624D15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A7B8"/>
                </a:solidFill>
              </a:defRPr>
            </a:pPr>
            <a:r>
              <a:rPr sz="1425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BB202-77C1-4ED1-803D-45C86FCC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05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325 CGGA sample columns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0B594-487D-4F01-AD97-C25F4885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A7B8"/>
                </a:solidFill>
              </a:defRPr>
            </a:pPr>
            <a:r>
              <a:rPr sz="1425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6A601-37CF-4BDE-92DC-C2698F1F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290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Tab-delimited numeric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F2C85-F466-4D11-8AB8-C32911B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528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A7B8"/>
                </a:solidFill>
              </a:defRPr>
            </a:pPr>
            <a:r>
              <a:rPr sz="1425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C9163-A399-486B-B646-DE2D586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5287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Full file remains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C5E7A-1D47-4D58-AF0F-75B2882E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55252"/>
                </a:solidFill>
              </a:defRPr>
            </a:pPr>
            <a:r>
              <a:rPr sz="1425" b="1">
                <a:solidFill>
                  <a:srgbClr val="C55252"/>
                </a:solidFill>
              </a:rPr>
              <a:t>The six-line excerpt cannot run GSVA because most pathway genes are absent.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32EEA-6CA0-4744-A2FF-1A7245E7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8F6F-8F7D-4B6E-94D8-831EE91C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66280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89FD0-20B7-457D-B32E-A32E1C51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CODE · TCGA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078EB-C8E1-497B-9499-9A542C15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The TCGA loader standardizes IDs and tumor samples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D819D-3E54-46CB-AF45-59D8FB5F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5F43D-4924-4F9A-A2D0-01C20676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80DAD-639F-4209-9017-833ED96C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643890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ensembl &lt;- sub("\\..*$", "", rownames(x))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map &lt;- AnnotationDbi::select(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org.Hs.eg.db, keys = ensembl,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keytype = "ENSEMBL", columns = "SYMBOL"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sample_type &lt;- substr(colnames(x), 14, 15)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x &lt;- x[, sample_type == "01"]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rownames(x) &lt;- map$SYMBOL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x &lt;- collapse_duplicate_genes(x)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539C9-6711-4F09-96E6-49B507BF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352425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0BB0C-8806-42E8-BFAB-2D73DACF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Why every step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97D38-B1D9-4FB2-B638-E312BC1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A7B8"/>
                </a:solidFill>
              </a:defRPr>
            </a:pPr>
            <a:r>
              <a:rPr sz="135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9CB3F-324F-450A-A2D7-86E4280A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336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Versions prevent direct ID matching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0A5AA-1702-4515-8BBF-0B12B99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A7B8"/>
                </a:solidFill>
              </a:defRPr>
            </a:pPr>
            <a:r>
              <a:rPr sz="135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06A55-2E03-4D67-9ECC-A1DC9BC0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Some Ensembl IDs lack symbols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00031-ADA1-4544-8785-EAA30FB7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A7B8"/>
                </a:solidFill>
              </a:defRPr>
            </a:pPr>
            <a:r>
              <a:rPr sz="135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3349D-DBCE-410D-975D-C58A5385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8137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Barcode 01 identifies primary tumor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790AF-3FB0-4907-BE0C-DDDA5CFB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A7B8"/>
                </a:solidFill>
              </a:defRPr>
            </a:pPr>
            <a:r>
              <a:rPr sz="135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35EF5-5CCE-4BA3-8816-1396DF95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Multiple IDs can map to one symbol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B2D13-709B-4ABA-B29A-0AD3130C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9E"/>
                </a:solidFill>
              </a:defRPr>
            </a:pPr>
            <a:r>
              <a:rPr sz="1500" b="1">
                <a:solidFill>
                  <a:srgbClr val="2E6F9E"/>
                </a:solidFill>
              </a:rPr>
              <a:t>TCGA input is already log2(FPKM + 1).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7AE82-2F58-45B1-992E-14E05F8F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64345-C992-4464-9EB3-44AA0CD1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1050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813F04-2369-4BC4-9088-1BB8AF2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CODE · GSVA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A87C3-239A-442A-A12D-80D4E7F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The script supports both old and current GSVA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FD2B0-35C9-4FB6-9601-CA6ABF22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99C6C-5334-413F-A528-40683222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667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F4D32-CEC6-4772-A243-419190D8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62484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if (packageVersion("GSVA") &gt;= "1.50.0") {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param &lt;- gsvaParam(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  exprData = expr, geneSets = go_sets,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  kcdf = "Gaussian", minSize = 1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scores &lt;- gsva(param, verbose = FALSE)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} else {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scores &lt;- gsva(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  expr, go_sets, method = "gsva",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  kcdf = "Gaussian", min.sz = 1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  )</a:t>
            </a:r>
          </a:p>
          <a:p xmlns:a="http://schemas.openxmlformats.org/drawingml/2006/main">
            <a:pPr algn="l">
              <a:defRPr sz="1350" b="0">
                <a:solidFill>
                  <a:srgbClr val="E8F0F4"/>
                </a:solidFill>
              </a:defRPr>
            </a:pPr>
            <a:r>
              <a:rPr sz="1350" b="0">
                <a:solidFill>
                  <a:srgbClr val="E8F0F4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5B955-BAA5-4552-8EAB-281A2E6B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3714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C7DAB-9599-477C-8604-E60BF8A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F9E"/>
                </a:solidFill>
              </a:defRPr>
            </a:pPr>
            <a:r>
              <a:rPr sz="1650" b="1">
                <a:solidFill>
                  <a:srgbClr val="2E6F9E"/>
                </a:solidFill>
              </a:rPr>
              <a:t>Automatic scale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941A6-E7B7-4AA3-8AAD-0A68AC0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Large non-negative RSEM values are transformed as log2(x + 1).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7F98D-F503-46DE-A424-95370F35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43250"/>
            <a:ext cx="3714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9F2E5"/>
          </a:solidFill>
          <a:ln xmlns:a="http://schemas.openxmlformats.org/drawingml/2006/main" w="9525">
            <a:solidFill>
              <a:srgbClr val="DFC4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9FED0-33B1-4E0C-ADA7-36066FE6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Gene-set overlap is audited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F19CF-1068-487D-809F-E5D17331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The output table reports annotation size and the number of genes found in each cohort.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4811E-0CF1-4FF2-B3C9-38DAF804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38518-8324-4FD9-98C9-A33EEAD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00706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0D028-B39A-4D37-8090-7A3ACAA1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RUN AND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B797C-1EA8-4CA1-B80F-E026DD11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One command generates the complete figure and audit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A19D7-FE8E-4FE5-97D6-D821430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B5FC1-F860-4C2C-99C6-1089DEBD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CAAC4-606F-45E4-B167-41C1984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4394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Rscript Figure5_CD96_correlation_analysis.R \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  CGGA.mRNAseq_325.RSEM-genes.20190909.txt \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  easy_input_expr.csv easy_input_GO.txt \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  corrgram_CGGA.txt corrgram_TCGA.txt \</a:t>
            </a:r>
          </a:p>
          <a:p xmlns:a="http://schemas.openxmlformats.org/drawingml/2006/main">
            <a:pPr algn="l">
              <a:defRPr sz="1425" b="0">
                <a:solidFill>
                  <a:srgbClr val="E8F0F4"/>
                </a:solidFill>
              </a:defRPr>
            </a:pPr>
            <a:r>
              <a:rPr sz="1425" b="0">
                <a:solidFill>
                  <a:srgbClr val="E8F0F4"/>
                </a:solidFill>
              </a:rPr>
              <a:t>  Figure5_outputs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C9EE0-983A-4B59-8AC9-0A2FAE73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Primary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62C54-1421-4323-9B51-5A33598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052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F9E"/>
                </a:solidFill>
              </a:defRPr>
            </a:pPr>
            <a:r>
              <a:rPr sz="1575" b="1">
                <a:solidFill>
                  <a:srgbClr val="2E6F9E"/>
                </a:solidFill>
              </a:rPr>
              <a:t>Figure5_complete_reproduction.pdf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FB4BB-9631-40D2-9BE2-0A0F3CED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Audit outputs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A4CBA-D28E-4150-8AA6-4018D637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CGGA/TCGA GSVA matrices · pathway rho/P/FDR tables · checkpoint r matrices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06785-FE86-478B-80A4-104DF831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Reproducibility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50DF0-77AF-44E6-8765-1D171924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958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Every plotted value is preserved in a CSV file.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3AB04-CB3A-4B74-BD38-01C979E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56993-53D9-4DA9-BBDC-EB69F9F0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75265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5B0C1-1307-496F-AA76-C89BCB0E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QUALITY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038E0-94F0-4BD0-8699-0F3A77F4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Four checks prevent a visually correct but invalid figure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6A212-1BBF-4F9F-9824-0B888F94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E7186-90C7-42F7-B5F9-4BAEBCF0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6F9E"/>
                </a:solidFill>
              </a:defRPr>
            </a:pPr>
            <a:r>
              <a:rPr sz="1950" b="1">
                <a:solidFill>
                  <a:srgbClr val="2E6F9E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AD37D-EADF-4511-A696-E22D9B0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716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Gene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FE61F-9195-4108-A4EC-A6E9E568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5257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Confirm CD96 and all seven gene sets overlap the expression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FEDA4-84F5-46C2-AE28-02D39B7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F4346-A004-469F-8F20-E1D8DE32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6F9E"/>
                </a:solidFill>
              </a:defRPr>
            </a:pPr>
            <a:r>
              <a:rPr sz="1950" b="1">
                <a:solidFill>
                  <a:srgbClr val="2E6F9E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CAD4C-1B4C-45D4-AEC4-B9953EEF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Sample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2B456-495F-4A94-B4E1-A562453E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Use tumors only and remove duplicate sample identifiers.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0AFA0-B387-4A30-A3F7-1FE11C5D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5C9C2-7E05-425B-9F54-3C449F5A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55252"/>
                </a:solidFill>
              </a:defRPr>
            </a:pPr>
            <a:r>
              <a:rPr sz="1950" b="1">
                <a:solidFill>
                  <a:srgbClr val="C5525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88B33-8900-4169-92FB-7C60369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Pathway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8B122-0BC7-489A-9904-71AA7FD5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Flag single-gene or very small GO sets, especially GO:0002852.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7EB9C-4271-45FA-8F8F-735E9CC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C99B1-CEE6-4790-BFA5-D005DC0A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6F9E"/>
                </a:solidFill>
              </a:defRPr>
            </a:pPr>
            <a:r>
              <a:rPr sz="1950" b="1">
                <a:solidFill>
                  <a:srgbClr val="2E6F9E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05375-82C2-4856-84F4-553AD35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92014-58F2-49C5-8C3A-BE083A0F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Association can reflect immune-cell abundance; it is not causal regulation.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73838-C4C4-4D34-8071-B7055401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C676D-9997-461D-90B5-047B04B4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207E9-299C-4BB4-9D14-303B162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840382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42AE2-5D94-4D44-9FDD-E5E2904C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A4B41-3D1E-405F-B9B1-52AD1F94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Figure 5 is now reproducible from raw matrices to final panels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1CB07-E867-4462-88B4-8B05DFCB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37B3B-342B-40BB-A3FE-56FD329A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CE78A-9FBD-4849-8C8A-9E08ECEC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F9E"/>
                </a:solidFill>
              </a:defRPr>
            </a:pPr>
            <a:r>
              <a:rPr sz="2100" b="1">
                <a:solidFill>
                  <a:srgbClr val="2E6F9E"/>
                </a:solidFill>
              </a:rPr>
              <a:t>A-B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7DEC3-270B-4332-98F2-F49A76ED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14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Full expression → GO gene sets → GSVA → CD96 ordering → Spearman pies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A39D2-3829-4400-9515-56E1ABA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4A6A9-4AB4-41A9-8B5E-50884BC1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5252"/>
                </a:solidFill>
              </a:defRPr>
            </a:pPr>
            <a:r>
              <a:rPr sz="2100" b="1">
                <a:solidFill>
                  <a:srgbClr val="C55252"/>
                </a:solidFill>
              </a:rPr>
              <a:t>C-D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BBC29-C020-498F-9C0C-EDD2C9FA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Checkpoint expression → Pearson correlation matrices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B3AAD-E3D8-43E1-8820-DCD6B726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E99B4-646A-4EFB-A30B-29B664DE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Reproducibility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40297-B6A0-4051-8A2E-2D67A42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The revised script exports the complete figure plus every underlying score and coefficient.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545A0-42CD-4D6C-AC75-8F577241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6B78"/>
                </a:solidFill>
              </a:defRPr>
            </a:pPr>
            <a:r>
              <a:rPr sz="1500" b="1">
                <a:solidFill>
                  <a:srgbClr val="5D6B78"/>
                </a:solidFill>
              </a:rPr>
              <a:t>CGGA full matrix is used locally; the uploaded excerpt validates format only.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45B66-C81E-4148-B5D7-B3A66330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5 · COMPLETE REPRODUCTION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44583-D029-46B1-B1A1-5B0C96F8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4483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2026-07-31T16:20:08.3150000Z</dcterms:created>
  <dcterms:modified xsi:type="dcterms:W3CDTF">2026-07-31T16:20:08.3150000Z</dcterms:modified>
</coreProperties>
</file>