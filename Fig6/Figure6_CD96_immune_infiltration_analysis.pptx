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1bd5343fdd41db" /><Relationship Type="http://schemas.openxmlformats.org/officeDocument/2006/relationships/extended-properties" Target="/docProps/app.xml" Id="R75048147c18f4cc1" /><Relationship Type="http://schemas.openxmlformats.org/officeDocument/2006/relationships/officeDocument" Target="/ppt/presentation.xml" Id="R6f3ad534db404b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64ed8f2698417d"/>
  </p:sldMasterIdLst>
  <p:notesMasterIdLst>
    <p:notesMasterId xmlns:r="http://schemas.openxmlformats.org/officeDocument/2006/relationships" r:id="R085289fdb0994816"/>
  </p:notesMasterIdLst>
  <p:sldIdLst>
    <p:sldId xmlns:r="http://schemas.openxmlformats.org/officeDocument/2006/relationships" id="256" r:id="R7fc7313d39174899"/>
    <p:sldId xmlns:r="http://schemas.openxmlformats.org/officeDocument/2006/relationships" id="257" r:id="R2f5ee9d8762c4988"/>
    <p:sldId xmlns:r="http://schemas.openxmlformats.org/officeDocument/2006/relationships" id="258" r:id="R52341bc71a1f4cf0"/>
    <p:sldId xmlns:r="http://schemas.openxmlformats.org/officeDocument/2006/relationships" id="259" r:id="R66b3ea4cab4c42c1"/>
    <p:sldId xmlns:r="http://schemas.openxmlformats.org/officeDocument/2006/relationships" id="260" r:id="R013b1199062146d4"/>
    <p:sldId xmlns:r="http://schemas.openxmlformats.org/officeDocument/2006/relationships" id="261" r:id="Rbb81f3ab558042cb"/>
    <p:sldId xmlns:r="http://schemas.openxmlformats.org/officeDocument/2006/relationships" id="262" r:id="Rc7de2f4d00de4da6"/>
    <p:sldId xmlns:r="http://schemas.openxmlformats.org/officeDocument/2006/relationships" id="263" r:id="Rb91579ffa2f24d44"/>
    <p:sldId xmlns:r="http://schemas.openxmlformats.org/officeDocument/2006/relationships" id="264" r:id="R1c20cf457a5b4be6"/>
    <p:sldId xmlns:r="http://schemas.openxmlformats.org/officeDocument/2006/relationships" id="265" r:id="R0821c23605d74778"/>
    <p:sldId xmlns:r="http://schemas.openxmlformats.org/officeDocument/2006/relationships" id="266" r:id="Red0695d2ceef4814"/>
    <p:sldId xmlns:r="http://schemas.openxmlformats.org/officeDocument/2006/relationships" id="267" r:id="R13e33e071c8b48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86a00fd02a4dbf" /><Relationship Type="http://schemas.openxmlformats.org/officeDocument/2006/relationships/slideMaster" Target="/ppt/slideMasters/slideMaster1.xml" Id="Rf264ed8f2698417d" /><Relationship Type="http://schemas.openxmlformats.org/officeDocument/2006/relationships/notesMaster" Target="/ppt/notesMasters/notesMaster1.xml" Id="R085289fdb0994816" /><Relationship Type="http://schemas.openxmlformats.org/officeDocument/2006/relationships/presProps" Target="/ppt/presProps.xml" Id="R151bcfa4d3e04ce1" /><Relationship Type="http://schemas.openxmlformats.org/officeDocument/2006/relationships/tableStyles" Target="/ppt/tableStyles.xml" Id="R9f30f45a22ce43df" /><Relationship Type="http://schemas.openxmlformats.org/officeDocument/2006/relationships/slide" Target="/ppt/slides/slide1.xml" Id="R7fc7313d39174899" /><Relationship Type="http://schemas.openxmlformats.org/officeDocument/2006/relationships/slide" Target="/ppt/slides/slide2.xml" Id="R2f5ee9d8762c4988" /><Relationship Type="http://schemas.openxmlformats.org/officeDocument/2006/relationships/slide" Target="/ppt/slides/slide3.xml" Id="R52341bc71a1f4cf0" /><Relationship Type="http://schemas.openxmlformats.org/officeDocument/2006/relationships/slide" Target="/ppt/slides/slide4.xml" Id="R66b3ea4cab4c42c1" /><Relationship Type="http://schemas.openxmlformats.org/officeDocument/2006/relationships/slide" Target="/ppt/slides/slide5.xml" Id="R013b1199062146d4" /><Relationship Type="http://schemas.openxmlformats.org/officeDocument/2006/relationships/slide" Target="/ppt/slides/slide6.xml" Id="Rbb81f3ab558042cb" /><Relationship Type="http://schemas.openxmlformats.org/officeDocument/2006/relationships/slide" Target="/ppt/slides/slide7.xml" Id="Rc7de2f4d00de4da6" /><Relationship Type="http://schemas.openxmlformats.org/officeDocument/2006/relationships/slide" Target="/ppt/slides/slide8.xml" Id="Rb91579ffa2f24d44" /><Relationship Type="http://schemas.openxmlformats.org/officeDocument/2006/relationships/slide" Target="/ppt/slides/slide9.xml" Id="R1c20cf457a5b4be6" /><Relationship Type="http://schemas.openxmlformats.org/officeDocument/2006/relationships/slide" Target="/ppt/slides/slide10.xml" Id="R0821c23605d74778" /><Relationship Type="http://schemas.openxmlformats.org/officeDocument/2006/relationships/slide" Target="/ppt/slides/slide11.xml" Id="Red0695d2ceef4814" /><Relationship Type="http://schemas.openxmlformats.org/officeDocument/2006/relationships/slide" Target="/ppt/slides/slide12.xml" Id="R13e33e071c8b48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cb48ccce804a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48394d6eed4690" /><Relationship Type="http://schemas.openxmlformats.org/officeDocument/2006/relationships/notesMaster" Target="/ppt/notesMasters/notesMaster1.xml" Id="Re3ac2a5b38f843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0043e00e2b4535" /><Relationship Type="http://schemas.openxmlformats.org/officeDocument/2006/relationships/notesMaster" Target="/ppt/notesMasters/notesMaster1.xml" Id="R98e21e27a70540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531e5b77fd451b" /><Relationship Type="http://schemas.openxmlformats.org/officeDocument/2006/relationships/notesMaster" Target="/ppt/notesMasters/notesMaster1.xml" Id="Ra85e46b078bc48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607fdd1cb44254" /><Relationship Type="http://schemas.openxmlformats.org/officeDocument/2006/relationships/notesMaster" Target="/ppt/notesMasters/notesMaster1.xml" Id="R5d3de97b0efc4e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e1d9fc49d148fd" /><Relationship Type="http://schemas.openxmlformats.org/officeDocument/2006/relationships/notesMaster" Target="/ppt/notesMasters/notesMaster1.xml" Id="R42eff4b2c34244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90492c17704342" /><Relationship Type="http://schemas.openxmlformats.org/officeDocument/2006/relationships/notesMaster" Target="/ppt/notesMasters/notesMaster1.xml" Id="R6f93dc8938c347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6fda8d226e46f6" /><Relationship Type="http://schemas.openxmlformats.org/officeDocument/2006/relationships/notesMaster" Target="/ppt/notesMasters/notesMaster1.xml" Id="R6408323c789145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8b3de619d64c5e" /><Relationship Type="http://schemas.openxmlformats.org/officeDocument/2006/relationships/notesMaster" Target="/ppt/notesMasters/notesMaster1.xml" Id="Reae9873f019e41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8a6b5469ef447f" /><Relationship Type="http://schemas.openxmlformats.org/officeDocument/2006/relationships/notesMaster" Target="/ppt/notesMasters/notesMaster1.xml" Id="R2422a2f10f2843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5034f4a8e9483a" /><Relationship Type="http://schemas.openxmlformats.org/officeDocument/2006/relationships/notesMaster" Target="/ppt/notesMasters/notesMaster1.xml" Id="Rad5524e828e84e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84ccdceff74341" /><Relationship Type="http://schemas.openxmlformats.org/officeDocument/2006/relationships/notesMaster" Target="/ppt/notesMasters/notesMaster1.xml" Id="Rba560b275e3e4d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d058235ac54cfe" /><Relationship Type="http://schemas.openxmlformats.org/officeDocument/2006/relationships/notesMaster" Target="/ppt/notesMasters/notesMaster1.xml" Id="R28b28810335d47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Figure 6 as a tumor-microenvironment analysis testing whether CD96 expression tracks inferred immune-cell abundance.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https://doi.org/10.3389/fbioe.2020.00592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outcome is inferred immune infiltration, not directly counted immune cells. The analysis is performed separately for glioblastoma and lower-grade glioma.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https://doi.org/10.3389/fbioe.2020.00592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TIMER uses bulk transcriptomic patterns to infer the relative abundance of major immune populations. The values are computational estimates rather than flow-cytometry measurements.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https://doi.org/10.1158/0008-5472.CAN-17-0307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Purity adjustment attempts to separate the CD96-infiltration association from the mechanical dilution effect created by varying tumor-cell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https://doi.org/10.1158/0008-5472.CAN-17-0307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TIMER reports purity-adjusted Spearman rho. The rank transformation reduces sensitivity to non-normal distributions and tests monotonic rather than strictly linear relationships.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upper row is GBM and the lower row is LGG. The purity column is a direct correlation with purity; immune-cell columns report purity-adjusted partial correlations.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https://doi.org/10.3389/fbioe.2020.00592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GBM partial correlations range from approximately -0.192 to 0.101. Statistical significance for some cell types does not imply a strong biological association.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https://doi.org/10.3389/fbioe.2020.00592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LGG shows consistent positive associations with B cells, CD8+ T cells, CD4+ T cells, macrophages, neutrophils, and dendritic cells. The strongest is dendritic-cell infiltration.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https://doi.org/10.3389/fbioe.2020.00592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comparison is descriptive. A formal interaction test would be needed to establish that the correlations differ statistically between GBM and LGG.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careful interpretation is that CD96 is a marker of an immune-rich or inflammatory LGG microenvironment. The data do not establish direction of effect.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limitations should accompany any presentation of the results. In particular, cell-origin ambiguity is central because CD96 is an immune receptor.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central result: the CD96 association with immune infiltration is strongly context-dependent and most evident in lower-grade glioma.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https://doi.org/10.3389/fbioe.2020.00592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4caa340a747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6c900be8f944fe" /><Relationship Type="http://schemas.openxmlformats.org/officeDocument/2006/relationships/slideLayout" Target="/ppt/slideLayouts/slideLayout1.xml" Id="Rcb859c5cba6643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859c5cba6643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3f0dc9c064d4c" /><Relationship Type="http://schemas.openxmlformats.org/officeDocument/2006/relationships/image" Target="/ppt/media/image.png" Id="Rd606da76e4f24a7e" /><Relationship Type="http://schemas.openxmlformats.org/officeDocument/2006/relationships/notesSlide" Target="/ppt/notesSlides/notesSlide1.xml" Id="Rf037c62e86d544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0f4e4dd934b71" /><Relationship Type="http://schemas.openxmlformats.org/officeDocument/2006/relationships/notesSlide" Target="/ppt/notesSlides/notesSlide2.xml" Id="R0ecf495495884f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f65039ddd42d6" /><Relationship Type="http://schemas.openxmlformats.org/officeDocument/2006/relationships/notesSlide" Target="/ppt/notesSlides/notesSlide3.xml" Id="R08c145fb359149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e8703336f45d1" /><Relationship Type="http://schemas.openxmlformats.org/officeDocument/2006/relationships/notesSlide" Target="/ppt/notesSlides/notesSlide4.xml" Id="R28aafeaa3e6644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a97af5713457e" /><Relationship Type="http://schemas.openxmlformats.org/officeDocument/2006/relationships/notesSlide" Target="/ppt/notesSlides/notesSlide5.xml" Id="R1f2e670dd5194b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30c77e5734b82" /><Relationship Type="http://schemas.openxmlformats.org/officeDocument/2006/relationships/image" Target="/ppt/media/image2.png" Id="R066dca67de2540f9" /><Relationship Type="http://schemas.openxmlformats.org/officeDocument/2006/relationships/notesSlide" Target="/ppt/notesSlides/notesSlide6.xml" Id="R699b1988128b4b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a74cf2b96422b" /><Relationship Type="http://schemas.openxmlformats.org/officeDocument/2006/relationships/image" Target="/ppt/media/image3.png" Id="Rdf9fa52ed86745bf" /><Relationship Type="http://schemas.openxmlformats.org/officeDocument/2006/relationships/notesSlide" Target="/ppt/notesSlides/notesSlide7.xml" Id="Rf1b8048fc2fa45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cef6a385745a4" /><Relationship Type="http://schemas.openxmlformats.org/officeDocument/2006/relationships/image" Target="/ppt/media/image4.png" Id="R7e2ae162e7f34af6" /><Relationship Type="http://schemas.openxmlformats.org/officeDocument/2006/relationships/notesSlide" Target="/ppt/notesSlides/notesSlide8.xml" Id="R8e35928c7b4140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ec3159f71428c" /><Relationship Type="http://schemas.openxmlformats.org/officeDocument/2006/relationships/notesSlide" Target="/ppt/notesSlides/notesSlide9.xml" Id="R8e27f4cc637149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f04121d6f41c8" /><Relationship Type="http://schemas.openxmlformats.org/officeDocument/2006/relationships/notesSlide" Target="/ppt/notesSlides/notesSlide10.xml" Id="Re93c822444f649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afc8340cb4b9c" /><Relationship Type="http://schemas.openxmlformats.org/officeDocument/2006/relationships/notesSlide" Target="/ppt/notesSlides/notesSlide11.xml" Id="R839bd2a6834841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59e5acd7e49ec" /><Relationship Type="http://schemas.openxmlformats.org/officeDocument/2006/relationships/notesSlide" Target="/ppt/notesSlides/notesSlide12.xml" Id="R6b9c8da84b2c44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E874A9-5DB1-494A-8D76-08BC093E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1DC"/>
                </a:solidFill>
              </a:defRPr>
            </a:pPr>
            <a:r>
              <a:rPr sz="1200" b="1">
                <a:solidFill>
                  <a:srgbClr val="8FD1DC"/>
                </a:solidFill>
              </a:rPr>
              <a:t>FIGURE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1D515-FF9A-441D-A62F-842988D9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66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CD96 expression and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immune infiltration in glioma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6687D-7DC3-46F4-978F-0D4FEC5B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8E2"/>
                </a:solidFill>
              </a:defRPr>
            </a:pPr>
            <a:r>
              <a:rPr sz="1800" b="0">
                <a:solidFill>
                  <a:srgbClr val="C9D8E2"/>
                </a:solidFill>
              </a:rPr>
              <a:t>TIMER analysis · purity-adjusted correlations · GBM versus LGG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6da76e4f24a7e"/>
          <a:stretch xmlns:a="http://schemas.openxmlformats.org/drawingml/2006/main"/>
        </p:blipFill>
        <p:spPr>
          <a:xfrm xmlns:a="http://schemas.openxmlformats.org/drawingml/2006/main">
            <a:off x="7334250" y="2076188"/>
            <a:ext cx="4333875" cy="1467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425D6-F256-4E4C-8A3C-C2AF8670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1DC"/>
                </a:solidFill>
              </a:defRPr>
            </a:pPr>
            <a:r>
              <a:rPr sz="1350" b="1">
                <a:solidFill>
                  <a:srgbClr val="8FD1DC"/>
                </a:solidFill>
              </a:rPr>
              <a:t>Association is strong in LGG but weak in GBM</a:t>
            </a:r>
          </a:p>
        </p:txBody>
      </p:sp>
    </p:spTree>
    <p:extLst>
      <p:ext uri="{BB962C8B-B14F-4D97-AF65-F5344CB8AC3E}">
        <p14:creationId xmlns:p14="http://schemas.microsoft.com/office/powerpoint/2010/main" val="10272948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E02E37-1F32-4BB4-9DBA-9C473B89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BIOLOGICAL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4D156-4A6F-4C42-8460-560C9B55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Figure 6 asks whether CD96 tracks immune-cell abundance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C9A8D-6EBC-4733-B389-A5472212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C73AB-9C20-4B65-A6ED-3D8267F7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Bulk-tumor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CD96 expression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DA213-75CF-48B9-9C1C-215BF9DE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955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6F9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16664-0A2C-4719-98A8-072B7A0C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6F9E"/>
                </a:solidFill>
              </a:defRPr>
            </a:pPr>
            <a:r>
              <a:rPr sz="1875" b="1">
                <a:solidFill>
                  <a:srgbClr val="2E6F9E"/>
                </a:solidFill>
              </a:rPr>
              <a:t>TIMER immune</a:t>
            </a:r>
          </a:p>
          <a:p xmlns:a="http://schemas.openxmlformats.org/drawingml/2006/main">
            <a:pPr algn="ctr">
              <a:defRPr sz="1875" b="1">
                <a:solidFill>
                  <a:srgbClr val="2E6F9E"/>
                </a:solidFill>
              </a:defRPr>
            </a:pPr>
            <a:r>
              <a:rPr sz="1875" b="1">
                <a:solidFill>
                  <a:srgbClr val="2E6F9E"/>
                </a:solidFill>
              </a:rPr>
              <a:t>deconvolution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01370-371C-4A24-AF39-557558A7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6F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0DFCF-864A-4521-A8BE-D529E62C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55252"/>
                </a:solidFill>
              </a:defRPr>
            </a:pPr>
            <a:r>
              <a:rPr sz="1875" b="1">
                <a:solidFill>
                  <a:srgbClr val="C55252"/>
                </a:solidFill>
              </a:rPr>
              <a:t>Six inferred</a:t>
            </a:r>
          </a:p>
          <a:p xmlns:a="http://schemas.openxmlformats.org/drawingml/2006/main">
            <a:pPr algn="ctr">
              <a:defRPr sz="1875" b="1">
                <a:solidFill>
                  <a:srgbClr val="C55252"/>
                </a:solidFill>
              </a:defRPr>
            </a:pPr>
            <a:r>
              <a:rPr sz="1875" b="1">
                <a:solidFill>
                  <a:srgbClr val="C55252"/>
                </a:solidFill>
              </a:rPr>
              <a:t>immune populations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2CFB5-A0E9-4F28-9B57-5DD2DD6E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90875"/>
            <a:ext cx="1000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69246-274D-4375-AAF9-D2112931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1D6EC-DFA7-4C0A-80FD-283B12EB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29000"/>
            <a:ext cx="8801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Does CD96 increase as immune infiltration increases across tumors?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A8B2D-66A7-44DF-8D9E-8C8D317B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82F7B-14A1-49A2-8821-6538E4CB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00500"/>
            <a:ext cx="8801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Are associations preserved after accounting for tumor purity?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E6CA2-C648-4EA4-AF63-3D44F343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71F8C-FE13-497F-9BC5-DE58BDC9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0"/>
            <a:ext cx="8801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Do the patterns differ between GBM and LGG?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09552-1CE4-4791-99D4-9DCFC46A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6 · CD96 AND IMMUNE INFILTRATION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CA081-3D6D-4ECC-94AB-355A205B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29632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4D8336-A217-444F-87EB-B07FBBCA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DECONVOLUTION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DB466-0F65-45B7-8C4B-AC4BBE4D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TIMER estimates immune infiltration from bulk RNA profiles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9C17E-89BE-4295-A7E4-465EEA9B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8FE9D-3AFB-456E-A7CA-8C5A33ED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527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6F9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8ED99-C602-4AE3-B127-A1AF952B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19526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A3B05-A11D-4977-A5A8-6BB0A11F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860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A7B8"/>
                </a:solidFill>
              </a:defRPr>
            </a:pPr>
            <a:r>
              <a:rPr sz="1200" b="1">
                <a:solidFill>
                  <a:srgbClr val="55A7B8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E6739-F461-482F-AC9A-EF4C4B2E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Bulk RNA-seq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F4421-E108-4075-B6B9-32B723C0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66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Mixed tumor and</a:t>
            </a:r>
          </a:p>
          <a:p xmlns:a="http://schemas.openxmlformats.org/drawingml/2006/main">
            <a:pPr algn="ctr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non-tumor cells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481FA-92CD-41FF-A071-E1A43A5E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527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6F9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20965-9DF5-41EE-87B7-5B82E4AF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19526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12099-CF36-4EA4-BEBE-4874F998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A7B8"/>
                </a:solidFill>
              </a:defRPr>
            </a:pPr>
            <a:r>
              <a:rPr sz="1200" b="1">
                <a:solidFill>
                  <a:srgbClr val="55A7B8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B1633-15EF-4443-B160-B31FB0E8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Reference signals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FFA71-C696-44EB-85DD-E7182DBE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166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Cell-type-specific</a:t>
            </a:r>
          </a:p>
          <a:p xmlns:a="http://schemas.openxmlformats.org/drawingml/2006/main">
            <a:pPr algn="ctr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expression patterns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44C70-FF11-4028-AD67-F16DE92B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527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6F9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95527-BE7D-45B8-A43E-CF3E3A42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43125"/>
            <a:ext cx="19526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D28CA-5235-4E4D-9129-FF674F3B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2860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A7B8"/>
                </a:solidFill>
              </a:defRPr>
            </a:pPr>
            <a:r>
              <a:rPr sz="1200" b="1">
                <a:solidFill>
                  <a:srgbClr val="55A7B8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821365-DEE7-4D07-B5CC-A9C91B4D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193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Deconvolution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0E753-107C-4B5C-B747-DF4362EB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5625"/>
            <a:ext cx="166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Separate overlapping</a:t>
            </a:r>
          </a:p>
          <a:p xmlns:a="http://schemas.openxmlformats.org/drawingml/2006/main">
            <a:pPr algn="ctr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transcript signals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0C929-44A7-4AE1-8C3C-F49682E5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19526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3F5"/>
          </a:solidFill>
          <a:ln xmlns:a="http://schemas.openxmlformats.org/drawingml/2006/main" w="9525">
            <a:solidFill>
              <a:srgbClr val="A8CD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D602F-13D1-4964-A020-4F6A968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A7B8"/>
                </a:solidFill>
              </a:defRPr>
            </a:pPr>
            <a:r>
              <a:rPr sz="1200" b="1">
                <a:solidFill>
                  <a:srgbClr val="55A7B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F30B03-41B0-4345-8142-8E49FC5F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193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Infiltration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474F5D-1B46-4D02-8D7F-077A5964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95625"/>
            <a:ext cx="166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Relative abundance</a:t>
            </a:r>
          </a:p>
          <a:p xmlns:a="http://schemas.openxmlformats.org/drawingml/2006/main">
            <a:pPr algn="ctr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per tumor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0ACF0-AFDA-4D18-B425-65817F2E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Cell types evaluated: B cells, CD8+ T cells, CD4+ T cells, macrophages, neutrophils, and dendritic cells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5B391-0967-4E8D-B1CF-E8709EB5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6 · CD96 AND IMMUNE INFILTRATION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220643-3988-45E9-A546-82A48413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8069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FA8803-34E8-473E-ADD6-FE0D2DC6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PURITY ADJUSTMENT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8B2F1-109D-4291-9953-7C89D510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Tumor purity is a major confounder in bulk expression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D8330-4261-4E02-B227-C4BDD5A9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80EC0-38F0-43BD-9340-842A48D0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C22CD-6337-4C09-8E5A-DD986A91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Observed CD96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994D7-BCF8-472E-8C7D-4E05372E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257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212B"/>
                </a:solidFill>
              </a:defRPr>
            </a:pPr>
            <a:r>
              <a:rPr sz="1800" b="0">
                <a:solidFill>
                  <a:srgbClr val="17212B"/>
                </a:solidFill>
              </a:rPr>
              <a:t>Tumor cells</a:t>
            </a:r>
          </a:p>
          <a:p xmlns:a="http://schemas.openxmlformats.org/drawingml/2006/main">
            <a:pPr algn="ctr">
              <a:defRPr sz="1800" b="0">
                <a:solidFill>
                  <a:srgbClr val="17212B"/>
                </a:solidFill>
              </a:defRPr>
            </a:pPr>
            <a:r>
              <a:rPr sz="1800" b="0">
                <a:solidFill>
                  <a:srgbClr val="17212B"/>
                </a:solidFill>
              </a:rPr>
              <a:t>+ immune cells</a:t>
            </a:r>
          </a:p>
          <a:p xmlns:a="http://schemas.openxmlformats.org/drawingml/2006/main">
            <a:pPr algn="ctr">
              <a:defRPr sz="1800" b="0">
                <a:solidFill>
                  <a:srgbClr val="17212B"/>
                </a:solidFill>
              </a:defRPr>
            </a:pPr>
            <a:r>
              <a:rPr sz="1800" b="0">
                <a:solidFill>
                  <a:srgbClr val="17212B"/>
                </a:solidFill>
              </a:rPr>
              <a:t>+ stromal cells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912CF-AE98-4754-96D6-4963E87C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9F2E5"/>
          </a:solidFill>
          <a:ln xmlns:a="http://schemas.openxmlformats.org/drawingml/2006/main" w="9525">
            <a:solidFill>
              <a:srgbClr val="DFC4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DC3F2-5D09-4A18-A3AA-9254DF4A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09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5A54A"/>
                </a:solidFill>
              </a:defRPr>
            </a:pPr>
            <a:r>
              <a:rPr sz="1800" b="1">
                <a:solidFill>
                  <a:srgbClr val="D5A54A"/>
                </a:solidFill>
              </a:rPr>
              <a:t>Tumor purity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97B0D-8969-4585-8D21-3D200312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33625"/>
            <a:ext cx="257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High purity</a:t>
            </a:r>
          </a:p>
          <a:p xmlns:a="http://schemas.openxmlformats.org/drawingml/2006/main">
            <a:pPr algn="ctr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= more tumor cells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Low purity</a:t>
            </a:r>
          </a:p>
          <a:p xmlns:a="http://schemas.openxmlformats.org/drawingml/2006/main">
            <a:pPr algn="ctr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= more non-tumor cells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8C34B-8AC9-4A4F-A165-31103D07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3F5"/>
          </a:solidFill>
          <a:ln xmlns:a="http://schemas.openxmlformats.org/drawingml/2006/main" w="9525">
            <a:solidFill>
              <a:srgbClr val="A8CD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81163-BA8F-4B82-B0DF-739BA8AD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09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6F9E"/>
                </a:solidFill>
              </a:defRPr>
            </a:pPr>
            <a:r>
              <a:rPr sz="1800" b="1">
                <a:solidFill>
                  <a:srgbClr val="2E6F9E"/>
                </a:solidFill>
              </a:rPr>
              <a:t>Partial correlation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8B8CE-9DEF-4AA6-9BD7-E6FD93B3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28875"/>
            <a:ext cx="257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Association between</a:t>
            </a:r>
          </a:p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CD96 and infiltration</a:t>
            </a:r>
          </a:p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after conditioning on</a:t>
            </a:r>
          </a:p>
          <a:p xmlns:a="http://schemas.openxmlformats.org/drawingml/2006/main">
            <a:pPr algn="ctr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purity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6D508-9546-4DCC-8944-F64F09B3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5252"/>
                </a:solidFill>
              </a:defRPr>
            </a:pPr>
            <a:r>
              <a:rPr sz="1650" b="1">
                <a:solidFill>
                  <a:srgbClr val="C55252"/>
                </a:solidFill>
              </a:rPr>
              <a:t>Without adjustment, CD96–infiltration correlation may simply reflect changing tumor-cell fraction.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6D5CB-E77B-4301-A106-51748201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6 · CD96 AND IMMUNE INFILTRATION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3B524-0049-4CB0-BAD0-B6EF5139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9974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7302C3-E1D0-40FA-AFF8-37920136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STATISTICAL PRINCIPLE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9F019-3598-4EF7-A599-E7B9BD71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Partial Spearman correlation tests a monotonic association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C8551-976A-434C-BCB2-CE971061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2AF9E-5086-4A7A-9469-03E32456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Rank CD96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4B9C4-0B0C-4824-B657-CB3DC170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002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6F9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E6256-D76C-48FD-B82C-8067E7F9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266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E6F9E"/>
                </a:solidFill>
              </a:defRPr>
            </a:pPr>
            <a:r>
              <a:rPr sz="1950" b="1">
                <a:solidFill>
                  <a:srgbClr val="2E6F9E"/>
                </a:solidFill>
              </a:rPr>
              <a:t>Remove the purity</a:t>
            </a:r>
          </a:p>
          <a:p xmlns:a="http://schemas.openxmlformats.org/drawingml/2006/main">
            <a:pPr algn="ctr">
              <a:defRPr sz="1950" b="1">
                <a:solidFill>
                  <a:srgbClr val="2E6F9E"/>
                </a:solidFill>
              </a:defRPr>
            </a:pPr>
            <a:r>
              <a:rPr sz="1950" b="1">
                <a:solidFill>
                  <a:srgbClr val="2E6F9E"/>
                </a:solidFill>
              </a:rPr>
              <a:t>component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4E802-8601-4FC5-A87B-BEEECC33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002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6F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DFED8-E034-4CD7-AB78-4D1A3E08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66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5252"/>
                </a:solidFill>
              </a:defRPr>
            </a:pPr>
            <a:r>
              <a:rPr sz="1950" b="1">
                <a:solidFill>
                  <a:srgbClr val="C55252"/>
                </a:solidFill>
              </a:rPr>
              <a:t>Correlate residual</a:t>
            </a:r>
          </a:p>
          <a:p xmlns:a="http://schemas.openxmlformats.org/drawingml/2006/main">
            <a:pPr algn="ctr">
              <a:defRPr sz="1950" b="1">
                <a:solidFill>
                  <a:srgbClr val="C55252"/>
                </a:solidFill>
              </a:defRPr>
            </a:pPr>
            <a:r>
              <a:rPr sz="1950" b="1">
                <a:solidFill>
                  <a:srgbClr val="C55252"/>
                </a:solidFill>
              </a:rPr>
              <a:t>rank signals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3BE41-C946-49A4-AE8C-3120F541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38500"/>
            <a:ext cx="8667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2E"/>
          </a:solidFill>
          <a:ln xmlns:a="http://schemas.openxmlformats.org/drawingml/2006/main" w="9525">
            <a:solidFill>
              <a:srgbClr val="1421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5261B-7365-4E51-8A51-EF01FA05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390900"/>
            <a:ext cx="82486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F0F4"/>
                </a:solidFill>
              </a:defRPr>
            </a:pPr>
            <a:r>
              <a:rPr sz="1575" b="0">
                <a:solidFill>
                  <a:srgbClr val="E8F0F4"/>
                </a:solidFill>
              </a:rPr>
              <a:t>r(X,Y | P) = cor( residuals[X ~ P],</a:t>
            </a:r>
          </a:p>
          <a:p xmlns:a="http://schemas.openxmlformats.org/drawingml/2006/main">
            <a:pPr algn="l">
              <a:defRPr sz="1575" b="0">
                <a:solidFill>
                  <a:srgbClr val="E8F0F4"/>
                </a:solidFill>
              </a:defRPr>
            </a:pPr>
            <a:r>
              <a:rPr sz="1575" b="0">
                <a:solidFill>
                  <a:srgbClr val="E8F0F4"/>
                </a:solidFill>
              </a:rPr>
              <a:t>                    residuals[Y ~ P]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8F0F4"/>
                </a:solidFill>
              </a:defRPr>
            </a:pPr>
            <a:r>
              <a:rPr sz="1575" b="0">
                <a:solidFill>
                  <a:srgbClr val="E8F0F4"/>
                </a:solidFill>
              </a:rPr>
              <a:t>X = ranked CD96 expression</a:t>
            </a:r>
          </a:p>
          <a:p xmlns:a="http://schemas.openxmlformats.org/drawingml/2006/main">
            <a:pPr algn="l">
              <a:defRPr sz="1575" b="0">
                <a:solidFill>
                  <a:srgbClr val="E8F0F4"/>
                </a:solidFill>
              </a:defRPr>
            </a:pPr>
            <a:r>
              <a:rPr sz="1575" b="0">
                <a:solidFill>
                  <a:srgbClr val="E8F0F4"/>
                </a:solidFill>
              </a:rPr>
              <a:t>Y = ranked infiltration estimate</a:t>
            </a:r>
          </a:p>
          <a:p xmlns:a="http://schemas.openxmlformats.org/drawingml/2006/main">
            <a:pPr algn="l">
              <a:defRPr sz="1575" b="0">
                <a:solidFill>
                  <a:srgbClr val="E8F0F4"/>
                </a:solidFill>
              </a:defRPr>
            </a:pPr>
            <a:r>
              <a:rPr sz="1575" b="0">
                <a:solidFill>
                  <a:srgbClr val="E8F0F4"/>
                </a:solidFill>
              </a:rPr>
              <a:t>P = tumor purity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0CA6C-97CC-4118-A089-B6BA156B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A positive partial rho means higher CD96 accompanies higher infiltration at comparable purity.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1DB3B-E5AA-4322-9213-FF73FCD6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6 · CD96 AND IMMUNE INFILTRATION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C1657-DE5E-4E2A-975A-0C3B6CAD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462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54D6D9-9976-4DF1-BE42-E5CDCA22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READING THE PLOT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C81B4-7269-45E5-9350-AAF4E88E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Each mini-panel shows one cell type within one tumor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FDFC0-BE36-4452-A30E-FC73B722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dca67de2540f9"/>
          <a:stretch xmlns:a="http://schemas.openxmlformats.org/drawingml/2006/main"/>
        </p:blipFill>
        <p:spPr>
          <a:xfrm xmlns:a="http://schemas.openxmlformats.org/drawingml/2006/main">
            <a:off x="619125" y="1965375"/>
            <a:ext cx="7239000" cy="245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808F0-7517-4A09-9560-7C88FD74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238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2176B-D7C6-44E6-AA1B-56E648B5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621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Black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383AC-9C0A-4F77-9DE1-762E8C9B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478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Individual tumor samples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79B97-CD86-4246-8A73-4EDD970B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3238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0DF4E-355D-483E-9D5D-E0E77494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051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6F9E"/>
                </a:solidFill>
              </a:defRPr>
            </a:pPr>
            <a:r>
              <a:rPr sz="1575" b="1">
                <a:solidFill>
                  <a:srgbClr val="2E6F9E"/>
                </a:solidFill>
              </a:rPr>
              <a:t>Blue curve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EB32D-4888-424F-95B8-7EA0F721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908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Smoothed expression trend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46877-1E2B-456B-8072-8041DF10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238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BA3B6-30B0-418E-8E4C-51FB0A9E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481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B78"/>
                </a:solidFill>
              </a:defRPr>
            </a:pPr>
            <a:r>
              <a:rPr sz="1575" b="1">
                <a:solidFill>
                  <a:srgbClr val="5D6B78"/>
                </a:solidFill>
              </a:rPr>
              <a:t>Gray band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64F07-7F3D-42A6-B49E-CB09021B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338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Uncertainty around the trend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06367-4541-4B92-B032-E441D992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5252"/>
                </a:solidFill>
              </a:defRPr>
            </a:pPr>
            <a:r>
              <a:rPr sz="1650" b="1">
                <a:solidFill>
                  <a:srgbClr val="C55252"/>
                </a:solidFill>
              </a:rPr>
              <a:t>Red annotation = partial rho and P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BC4B7-F105-4479-9D45-DE85CA5B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6 · CD96 AND IMMUNE INFILTRATION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DA4D6-CCFD-436F-924E-9D987D53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91814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60900E-DE52-4555-8016-2BCB5712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GBM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B0B6B-9AED-4B15-A338-E46AC033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GBM shows weak or negligible immune associations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4B429-AB17-4F6E-AFB5-70565791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fa52ed86745bf"/>
          <a:stretch xmlns:a="http://schemas.openxmlformats.org/drawingml/2006/main"/>
        </p:blipFill>
        <p:spPr>
          <a:xfrm xmlns:a="http://schemas.openxmlformats.org/drawingml/2006/main">
            <a:off x="523875" y="1595438"/>
            <a:ext cx="11144250" cy="1666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2AF05-7111-4CF6-9F6E-FD070103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AF606-F307-4267-A207-6FC17655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Largest magnitude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FF60A-CB7D-46A0-9333-FAF12A06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55252"/>
                </a:solidFill>
              </a:defRPr>
            </a:pPr>
            <a:r>
              <a:rPr sz="1875" b="1">
                <a:solidFill>
                  <a:srgbClr val="C55252"/>
                </a:solidFill>
              </a:rPr>
              <a:t>Neutrophils</a:t>
            </a:r>
          </a:p>
          <a:p xmlns:a="http://schemas.openxmlformats.org/drawingml/2006/main">
            <a:pPr algn="ctr">
              <a:defRPr sz="1875" b="1">
                <a:solidFill>
                  <a:srgbClr val="C55252"/>
                </a:solidFill>
              </a:defRPr>
            </a:pPr>
            <a:r>
              <a:rPr sz="1875" b="1">
                <a:solidFill>
                  <a:srgbClr val="C55252"/>
                </a:solidFill>
              </a:rPr>
              <a:t>ρ = −0.192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12008-5E5D-4276-803D-B8B283C5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92C83-B151-4A6E-A418-EC742955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00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Positive association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E37F5-FDDE-4C69-B59F-2FF11858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62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6F9E"/>
                </a:solidFill>
              </a:defRPr>
            </a:pPr>
            <a:r>
              <a:rPr sz="1875" b="1">
                <a:solidFill>
                  <a:srgbClr val="2E6F9E"/>
                </a:solidFill>
              </a:rPr>
              <a:t>B cells</a:t>
            </a:r>
          </a:p>
          <a:p xmlns:a="http://schemas.openxmlformats.org/drawingml/2006/main">
            <a:pPr algn="ctr">
              <a:defRPr sz="1875" b="1">
                <a:solidFill>
                  <a:srgbClr val="2E6F9E"/>
                </a:solidFill>
              </a:defRPr>
            </a:pPr>
            <a:r>
              <a:rPr sz="1875" b="1">
                <a:solidFill>
                  <a:srgbClr val="2E6F9E"/>
                </a:solidFill>
              </a:rPr>
              <a:t>ρ = 0.101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58AE3-9FA3-4D66-8B39-C49BDA0D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57625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5"/>
          </a:solidFill>
          <a:ln xmlns:a="http://schemas.openxmlformats.org/drawingml/2006/main" w="9525">
            <a:solidFill>
              <a:srgbClr val="A8CD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620E4-CAE9-44CF-B889-2E173B31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Essentially null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D30EB-E443-4B16-BD42-E6D9E7C2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62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D6B78"/>
                </a:solidFill>
              </a:defRPr>
            </a:pPr>
            <a:r>
              <a:rPr sz="1875" b="1">
                <a:solidFill>
                  <a:srgbClr val="5D6B78"/>
                </a:solidFill>
              </a:rPr>
              <a:t>Dendritic cells</a:t>
            </a:r>
          </a:p>
          <a:p xmlns:a="http://schemas.openxmlformats.org/drawingml/2006/main">
            <a:pPr algn="ctr">
              <a:defRPr sz="1875" b="1">
                <a:solidFill>
                  <a:srgbClr val="5D6B78"/>
                </a:solidFill>
              </a:defRPr>
            </a:pPr>
            <a:r>
              <a:rPr sz="1875" b="1">
                <a:solidFill>
                  <a:srgbClr val="5D6B78"/>
                </a:solidFill>
              </a:rPr>
              <a:t>ρ = −0.003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89654-8AC6-4630-881D-7778B1EB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Even statistically significant GBM correlations are small in magnitude.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AF6AB-AD6A-4410-B959-87DEBE2E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6 · CD96 AND IMMUNE INFILTRATION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6DA8D-B39B-4ADF-9207-498A5371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63443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246FAB-FBEA-4F43-A1C2-BB7F86BE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LGG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5B9E3-1B23-47FD-B5C5-1714D22E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LGG shows broad positive immune infiltration signals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5F7FD-2509-4660-B617-8C9C59F5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ae162e7f34af6"/>
          <a:stretch xmlns:a="http://schemas.openxmlformats.org/drawingml/2006/main"/>
        </p:blipFill>
        <p:spPr>
          <a:xfrm xmlns:a="http://schemas.openxmlformats.org/drawingml/2006/main">
            <a:off x="523875" y="1595438"/>
            <a:ext cx="11144250" cy="1666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92291-3F68-46A2-B6E3-37C5F131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8FB3F-1430-41E1-8EDB-6CE9366C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Dendritic cells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556E5-3322-4F04-A8C6-BB9603B6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6F9E"/>
                </a:solidFill>
              </a:defRPr>
            </a:pPr>
            <a:r>
              <a:rPr sz="2100" b="1">
                <a:solidFill>
                  <a:srgbClr val="2E6F9E"/>
                </a:solidFill>
              </a:rPr>
              <a:t>ρ = 0.509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0CB7D-E1DD-4C00-921E-106CBCD6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03080-764B-47F8-B0B4-2E64B865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00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Neutrophils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AFF66-22A2-4A36-AB60-AC78F730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2912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6F9E"/>
                </a:solidFill>
              </a:defRPr>
            </a:pPr>
            <a:r>
              <a:rPr sz="2100" b="1">
                <a:solidFill>
                  <a:srgbClr val="2E6F9E"/>
                </a:solidFill>
              </a:rPr>
              <a:t>ρ = 0.491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4B18C-5764-486E-91CB-D21010F8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57625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07247-FA93-423D-BD06-A10A10A1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CD8+ T cells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4AFE4-D937-4FF0-AE88-7988EED5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2912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6F9E"/>
                </a:solidFill>
              </a:defRPr>
            </a:pPr>
            <a:r>
              <a:rPr sz="2100" b="1">
                <a:solidFill>
                  <a:srgbClr val="2E6F9E"/>
                </a:solidFill>
              </a:rPr>
              <a:t>ρ = 0.437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537A7-AA11-4775-8BCB-531B1D8C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All six immune-cell estimates are positively associated with CD96 in LGG.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D026D-372F-455E-B004-C5808422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6 · CD96 AND IMMUNE INFILTRATION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F01F8-3F62-46A1-A32A-14947F8E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05109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8356C4-1535-43A1-90EB-1BD63B0E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GBM VERSUS LGG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E7FA7-E8F7-4C1A-8CC3-B3AAE2CB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The CD96–immune relationship differs sharply by grade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BA0DE-0ACF-4854-8420-8B403C9F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CECFF-86FD-482C-BE92-8A1DB2E9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F3AD8-DE7F-43F2-8151-29B151CF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514475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Cell 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FAFE1-BDF3-487A-94E9-A1F6AA6B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76375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6B111-28E5-4C41-A7FD-918C276E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14475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GBM 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D2195-9B9F-4312-981E-C3928DCD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76375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C84E5-BE64-42A5-8D2C-6D3ED8DF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14475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LGG 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35E65-933E-443C-9F68-58CBEED4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76375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81165-1605-41F4-9916-7B170688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14475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Contrast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49020-E02E-4D4B-8598-6D06C2D7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71675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5F64F-7FB0-4AA2-A68B-AFAE39C8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09775"/>
            <a:ext cx="2362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B cell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6C58F-2C6D-450F-BBD0-E1E6A0A3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71675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153BB-C7F7-44B6-93D0-2B585FF6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9775"/>
            <a:ext cx="1314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55252"/>
                </a:solidFill>
              </a:defRPr>
            </a:pPr>
            <a:r>
              <a:rPr sz="1500" b="0">
                <a:solidFill>
                  <a:srgbClr val="C55252"/>
                </a:solidFill>
              </a:rPr>
              <a:t>0.101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A05A2-D502-499F-9291-DFA65A33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71675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5EF24-EEE0-4A28-B500-BAA5CBEC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09775"/>
            <a:ext cx="1314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E6F9E"/>
                </a:solidFill>
              </a:defRPr>
            </a:pPr>
            <a:r>
              <a:rPr sz="1500" b="0">
                <a:solidFill>
                  <a:srgbClr val="2E6F9E"/>
                </a:solidFill>
              </a:rPr>
              <a:t>0.355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0ED3A-D23A-4ECB-B960-66961098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2857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9EC37-D979-4CE3-BA07-6519459E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9775"/>
            <a:ext cx="2743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Stronger in LGG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DD265F-2762-45D5-9529-05316436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9555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86C76C-CB8F-4BCE-A0F8-2C7B2AE6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33650"/>
            <a:ext cx="2362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CD8+ T cell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8F2063-5190-4620-8CE5-0F76D24F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9555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23977-3E6B-4DCD-9415-C40660F9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33650"/>
            <a:ext cx="1314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55252"/>
                </a:solidFill>
              </a:defRPr>
            </a:pPr>
            <a:r>
              <a:rPr sz="1500" b="0">
                <a:solidFill>
                  <a:srgbClr val="C55252"/>
                </a:solidFill>
              </a:rPr>
              <a:t>−0.157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FBCD61-30C8-436E-B71B-348DFB1F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9555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0E5DF6-0AAF-4B41-A062-B70F2951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33650"/>
            <a:ext cx="1314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E6F9E"/>
                </a:solidFill>
              </a:defRPr>
            </a:pPr>
            <a:r>
              <a:rPr sz="1500" b="0">
                <a:solidFill>
                  <a:srgbClr val="2E6F9E"/>
                </a:solidFill>
              </a:rPr>
              <a:t>0.437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69599B-40CE-460D-8D26-996DCDE1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2857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43BA6B-9E56-4103-B560-924E4C02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33650"/>
            <a:ext cx="2743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Direction reversal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982486-1EE0-4DC3-9E9A-1FB2301C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19425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BA35DE-216B-4661-A765-6ED59E4B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57525"/>
            <a:ext cx="2362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CD4+ T cell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589D81-2911-4609-B254-6B9DC061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19425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8CF2CB-2E45-4D00-954A-BD116799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57525"/>
            <a:ext cx="1314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55252"/>
                </a:solidFill>
              </a:defRPr>
            </a:pPr>
            <a:r>
              <a:rPr sz="1500" b="0">
                <a:solidFill>
                  <a:srgbClr val="C55252"/>
                </a:solidFill>
              </a:rPr>
              <a:t>−0.100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096E44-2F58-4386-B45D-4E61D3BB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19425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4183F9-D7FE-4035-AD4A-D1984DB0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57525"/>
            <a:ext cx="1314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E6F9E"/>
                </a:solidFill>
              </a:defRPr>
            </a:pPr>
            <a:r>
              <a:rPr sz="1500" b="0">
                <a:solidFill>
                  <a:srgbClr val="2E6F9E"/>
                </a:solidFill>
              </a:rPr>
              <a:t>0.361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847270-91A1-489A-90C5-6F65C0A5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19425"/>
            <a:ext cx="2857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3701A8-24C5-4C92-8D74-B7C4D202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57525"/>
            <a:ext cx="2743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Direction reversal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AAFE17-4B93-4617-8D67-15F8702A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4330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EF0157-973C-48AA-8C81-AB8EAF69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81400"/>
            <a:ext cx="2362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Macrophage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CA7294-025F-4C64-8EAA-D984B6AF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4330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DD7AD6-1860-44B2-9DAF-F4DA8D69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81400"/>
            <a:ext cx="1314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55252"/>
                </a:solidFill>
              </a:defRPr>
            </a:pPr>
            <a:r>
              <a:rPr sz="1500" b="0">
                <a:solidFill>
                  <a:srgbClr val="C55252"/>
                </a:solidFill>
              </a:rPr>
              <a:t>−0.084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F4D75A-CDAF-43A6-A923-6FFD6E7A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4330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C216A6-47B5-4DF2-A10E-9A3E8BBD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81400"/>
            <a:ext cx="1314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E6F9E"/>
                </a:solidFill>
              </a:defRPr>
            </a:pPr>
            <a:r>
              <a:rPr sz="1500" b="0">
                <a:solidFill>
                  <a:srgbClr val="2E6F9E"/>
                </a:solidFill>
              </a:rPr>
              <a:t>0.435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195BC2-7D19-4583-A4FD-D24F9370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43300"/>
            <a:ext cx="2857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BA9A89-8690-47AA-9B06-69A09A7F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81400"/>
            <a:ext cx="2743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Direction reversal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BD8392-5121-4563-AE2F-5C28F875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67175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00810E-FFE5-4B7E-8EF4-5A9FAF78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05275"/>
            <a:ext cx="2362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Neutrophil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83AB66-AD68-422B-8844-644B5760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67175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462F3B-8765-447C-A01B-E37E7942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05275"/>
            <a:ext cx="1314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55252"/>
                </a:solidFill>
              </a:defRPr>
            </a:pPr>
            <a:r>
              <a:rPr sz="1500" b="0">
                <a:solidFill>
                  <a:srgbClr val="C55252"/>
                </a:solidFill>
              </a:rPr>
              <a:t>−0.192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67ED2B-9614-44AA-8B70-3DDCA06D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67175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2EACDF-3FC7-4C21-9B52-5C0D68C6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05275"/>
            <a:ext cx="1314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E6F9E"/>
                </a:solidFill>
              </a:defRPr>
            </a:pPr>
            <a:r>
              <a:rPr sz="1500" b="0">
                <a:solidFill>
                  <a:srgbClr val="2E6F9E"/>
                </a:solidFill>
              </a:rPr>
              <a:t>0.491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A17AEE-52B0-4D9E-BB0D-0DC09C25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67175"/>
            <a:ext cx="2857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24EDD3-3324-4123-BE04-5B0A55DE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05275"/>
            <a:ext cx="2743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Direction reversal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4C08D2-99CE-49CE-B7CF-1BDAA6E4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9105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87828E-F800-4A7E-82A4-6478FF20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29150"/>
            <a:ext cx="2362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Dendritic cell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4902FC-4D37-488E-B9CC-9872E486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9105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6CD4AE-7B34-4348-A598-38D72C64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29150"/>
            <a:ext cx="1314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55252"/>
                </a:solidFill>
              </a:defRPr>
            </a:pPr>
            <a:r>
              <a:rPr sz="1500" b="0">
                <a:solidFill>
                  <a:srgbClr val="C55252"/>
                </a:solidFill>
              </a:rPr>
              <a:t>−0.003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275A6B-9806-4207-A347-4F5C1539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9105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6E475D-DEF5-4FC3-8930-2AD6AD64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29150"/>
            <a:ext cx="1314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E6F9E"/>
                </a:solidFill>
              </a:defRPr>
            </a:pPr>
            <a:r>
              <a:rPr sz="1500" b="0">
                <a:solidFill>
                  <a:srgbClr val="2E6F9E"/>
                </a:solidFill>
              </a:rPr>
              <a:t>0.509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E4A75E-38B5-4E0C-8BE8-286E2FCD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91050"/>
            <a:ext cx="2857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05DA39-7A30-463D-9D2F-797C30A4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29150"/>
            <a:ext cx="2743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Near-null → strong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27DDA9C-CA4C-45D9-8DD1-8934054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The pattern suggests tumor-grade-specific microenvironmental context.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877A2A-0BCA-4661-AF2B-D669ED9B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6 · CD96 AND IMMUNE INFILTRATION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F83D4A-17C6-4801-A750-6B1F0C47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905008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17837A-B097-46FA-9E42-E38A67FA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BIOLOGICAL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7484C-0DCE-47D3-AE87-97BCB060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CD96 may mark immune-rich LGG rather than drive infiltration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F9B2C-6F74-472A-B7AA-67D035B1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3023F-1012-4A9A-9A0D-9366EC4F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42803-C4EE-4765-9D3C-116291D9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621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6F9E"/>
                </a:solidFill>
              </a:defRPr>
            </a:pPr>
            <a:r>
              <a:rPr sz="1800" b="1">
                <a:solidFill>
                  <a:srgbClr val="2E6F9E"/>
                </a:solidFill>
              </a:rPr>
              <a:t>Supported by Figure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A0687-B6F3-4AEC-AB31-0204FDED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87FE5-F5D0-4754-AE30-D1993EAE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33625"/>
            <a:ext cx="3848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CD96 co-varies with multiple immune populations in LGG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D2276-4F0C-4AC8-A58A-AE36DBAB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A7F81-2BD1-47B7-BC77-BA390BDD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48000"/>
            <a:ext cx="3848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The strongest signals involve dendritic cells and neutrophils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6DA84-DC36-4855-AA69-49BC7A6D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92BDF-94FA-4A90-8D98-C8B23C1E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62375"/>
            <a:ext cx="3848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The association persists after purity adjustment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C53B2-B955-437E-B806-FA544FBD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9ECEC"/>
          </a:solidFill>
          <a:ln xmlns:a="http://schemas.openxmlformats.org/drawingml/2006/main" w="9525">
            <a:solidFill>
              <a:srgbClr val="D7A4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23F7A-F3E3-4390-B9DF-AB2ECA2F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5252"/>
                </a:solidFill>
              </a:defRPr>
            </a:pPr>
            <a:r>
              <a:rPr sz="1800" b="1">
                <a:solidFill>
                  <a:srgbClr val="C55252"/>
                </a:solidFill>
              </a:rPr>
              <a:t>Not established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D33C5-C86C-4DE4-9BDE-1F5332D2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79700-9815-46CA-908F-A9F3316B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33625"/>
            <a:ext cx="3848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CD96 recruits immune cells into tumors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95DFC-BCE3-49C3-8B24-94D22A2A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87B4C-1E8C-4DA9-ACFE-18C5B596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48000"/>
            <a:ext cx="3848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A specific immune cell is the source of CD96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077E9-C0D0-4F98-9640-D1EC2CBF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62375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B8"/>
                </a:solidFill>
              </a:defRPr>
            </a:pPr>
            <a:r>
              <a:rPr sz="1500" b="1">
                <a:solidFill>
                  <a:srgbClr val="55A7B8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38250-6769-41E6-84C0-A101DE2F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62375"/>
            <a:ext cx="3848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CD96 blockade will improve clinical outcomes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515A13-4B6A-4A89-904A-E29B0E2E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Bulk-tumor correlation is compatible with immune-cell admixture and shared inflammatory activation.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F38FEF-B358-4491-A3CC-020B401B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6 · CD96 AND IMMUNE INFILTRATION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2F78C3-BAFA-4998-A475-F42DF822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78932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345449-2E73-4C61-A6B8-29A45D43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CAVEATS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2DC6D-A12E-427D-8DD1-970B9641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Deconvolution and observational correlation impose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BAD9A-A45A-495A-AE13-64A49991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64758-D802-4C35-9BF5-C12C982E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6F9E"/>
                </a:solidFill>
              </a:defRPr>
            </a:pPr>
            <a:r>
              <a:rPr sz="1800" b="1">
                <a:solidFill>
                  <a:srgbClr val="2E6F9E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9FF80-33B5-498A-A0DB-BFC09D01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428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Estimated cells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811A7-924E-4E22-8DB7-296F0796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097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TIMER infers abundance from bulk RNA; estimates depend on reference signatures.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48931-2A09-4020-B88F-25F85FEB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F87F8-A8DF-4D2E-98B3-C5577AAD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6F9E"/>
                </a:solidFill>
              </a:defRPr>
            </a:pPr>
            <a:r>
              <a:rPr sz="1800" b="1">
                <a:solidFill>
                  <a:srgbClr val="2E6F9E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7EA1C-F3AA-44CC-8898-6430EE68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50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Residual confounding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31343-5252-4705-B3BB-6684BB9F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60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Purity adjustment does not control grade, subtype, treatment, or molecular alterations.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8C337-1ADE-4447-9C80-804F99A6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C2B03-9F91-4724-B28A-99ABF345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5252"/>
                </a:solidFill>
              </a:defRPr>
            </a:pPr>
            <a:r>
              <a:rPr sz="1800" b="1">
                <a:solidFill>
                  <a:srgbClr val="C55252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82210-2374-496B-915F-02F48677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813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Non-independence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63D26-0AA3-4D94-BC99-C8E980DD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623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CD96 expression may itself originate from infiltrating immune cells.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75AC2-4CF0-40AF-81BB-B0FBFA5C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C8BBB-759C-4972-9B3D-AFC3E02A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6F9E"/>
                </a:solidFill>
              </a:defRPr>
            </a:pPr>
            <a:r>
              <a:rPr sz="1800" b="1">
                <a:solidFill>
                  <a:srgbClr val="2E6F9E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A3128-E235-40B9-AB0B-B0B88436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576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Curve 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6080A-B21B-4FAB-966E-A512020E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386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The blue smoother can look nonlinear even though the reported statistic is rank correlation.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953FE-EF05-49E1-AC07-D8E277D2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D0FB4-7809-4F90-B314-17994CD5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6F9E"/>
                </a:solidFill>
              </a:defRPr>
            </a:pPr>
            <a:r>
              <a:rPr sz="1800" b="1">
                <a:solidFill>
                  <a:srgbClr val="2E6F9E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8B46C-F65B-4C17-9AF2-8C8BFB10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339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Cross-group claims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ED7564-E058-42DA-9FD4-73185BCE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149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GBM-versus-LGG differences require formal interaction testing.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C1CCC-A99C-4DD8-9E16-CA0EC97C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C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C6F446-BFA6-4D0C-9A8A-9F462034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6 · CD96 AND IMMUNE INFILTRATION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D35293-96AD-468C-9CB6-B8BEE026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714169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C23382-E2FA-47DB-A647-F5F60964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TAKE-HOME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8E82E-EF8F-4202-9923-F0FA0B65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Figure 6 identifies an LGG-specific immune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5A2BE-383F-4794-A214-23C2314D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A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EF5AA-B651-4E4A-B23C-1D0FF37B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BD5D6-CE79-4F09-BCD5-81129D98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6F9E"/>
                </a:solidFill>
              </a:defRPr>
            </a:pPr>
            <a:r>
              <a:rPr sz="2100" b="1">
                <a:solidFill>
                  <a:srgbClr val="2E6F9E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420B1-40FA-4D8D-AC7B-3E2BADA0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TIMER estimates six immune populations from bulk tumor expression.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415C9-E6AC-49E2-B84F-81985978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D9FCD-D075-43E3-AC36-7E8E9DDB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56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6F9E"/>
                </a:solidFill>
              </a:defRPr>
            </a:pPr>
            <a:r>
              <a:rPr sz="2100" b="1">
                <a:solidFill>
                  <a:srgbClr val="2E6F9E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E3B4B-4652-49CC-833B-1F04E3F9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Purity-adjusted correlations are weak in GBM but consistently positive in LGG.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AC9D3-F290-45D4-86B8-B65FD761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47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3F5"/>
          </a:solidFill>
          <a:ln xmlns:a="http://schemas.openxmlformats.org/drawingml/2006/main" w="9525">
            <a:solidFill>
              <a:srgbClr val="A8CD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2865E-5082-4B8E-89EA-E8044DF5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55252"/>
                </a:solidFill>
              </a:defRPr>
            </a:pPr>
            <a:r>
              <a:rPr sz="2100" b="1">
                <a:solidFill>
                  <a:srgbClr val="C55252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D75B2-FDFF-4A83-AABD-2CBE9BDC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The results support CD96 as an immune-microenvironment marker—not a proven causal driver.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BE526-FCB1-4578-A869-BD6ED891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FIGURE 6 · CD96 AND IMMUNE INFILTRATION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73EFA-B3C9-4518-BCE3-F54D4937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8"/>
                </a:solidFill>
              </a:defRPr>
            </a:pPr>
            <a:r>
              <a:rPr sz="825" b="1">
                <a:solidFill>
                  <a:srgbClr val="5D6B7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76864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2026-07-31T16:59:53.2320000Z</dcterms:created>
  <dcterms:modified xsi:type="dcterms:W3CDTF">2026-07-31T16:59:53.2320000Z</dcterms:modified>
</coreProperties>
</file>