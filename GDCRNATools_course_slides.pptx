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858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GDCRNATools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41732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F3F2"/>
                </a:solidFill>
              </a:rPr>
              <a:t>Integrative analysis of lncRNA, miRNA, and mRNA data in GDC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" y="2423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Course module: TCGA/GDC RNA-seq data → differential expression → ceRNA network → enrichment → survival plots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26680" y="123444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36408" y="1362456"/>
            <a:ext cx="119786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GDC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55480" y="196596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5208" y="2093976"/>
            <a:ext cx="128930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RNA classes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333756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3465576"/>
            <a:ext cx="1243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Network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0" y="41605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02368" y="4288536"/>
            <a:ext cx="1243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Biology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1691640"/>
            <a:ext cx="338328" cy="411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75520" y="2788920"/>
            <a:ext cx="-640080" cy="54864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26880" y="3767328"/>
            <a:ext cx="347472" cy="6400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68096" y="5989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E3E0"/>
                </a:solidFill>
              </a:rPr>
              <a:t>English lecture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What students should be able to do after this module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1325880"/>
            <a:ext cx="59436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Explain why lncRNA–miRNA–mRNA integration is useful in cancer studies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Install and load GDCRNATools from Bioconductor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Download / organize GDC RNA-seq, miRNA-seq, and clinical data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Run differential expression, ceRNA network, enrichment, and survival analyses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Export results for Cytoscape and interpret key outputs carefully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29844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426464"/>
            <a:ext cx="10149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Install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66760" y="2029968"/>
            <a:ext cx="1627632" cy="566928"/>
          </a:xfrm>
          <a:prstGeom prst="roundRect">
            <a:avLst>
              <a:gd name="adj" fmla="val 16129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2157984"/>
            <a:ext cx="14081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Prepare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72600" y="2761488"/>
            <a:ext cx="1325880" cy="566928"/>
          </a:xfrm>
          <a:prstGeom prst="roundRect">
            <a:avLst>
              <a:gd name="adj" fmla="val 16129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2889504"/>
            <a:ext cx="110642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Analyze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3584448"/>
            <a:ext cx="1508760" cy="566928"/>
          </a:xfrm>
          <a:prstGeom prst="roundRect">
            <a:avLst>
              <a:gd name="adj" fmla="val 16129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3712464"/>
            <a:ext cx="12893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Interpret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4370832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4498848"/>
            <a:ext cx="10149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41080" y="1755648"/>
            <a:ext cx="0" cy="256032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72600" y="2487168"/>
            <a:ext cx="0" cy="256032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3310128"/>
            <a:ext cx="0" cy="256032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4133088"/>
            <a:ext cx="0" cy="219456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Sources: Bioconductor GDCRNATools package page; GDCRNATools vignette.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GDCRNATools?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guided R/Bioconductor workflow for GDC RNA data integration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30352" y="1325880"/>
            <a:ext cx="475488" cy="47548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99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Package purpose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65960"/>
            <a:ext cx="61722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F2937"/>
                </a:solidFill>
              </a:rPr>
              <a:t>Downloads, organizes, and analyzes RNA expression data from the Genomic Data Commons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Designed for integrative analysis of protein-coding genes, long non-coding RNAs, and microRNAs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Emphasizes lncRNA–mRNA competing endogenous RNA (ceRNA) network analysis in cancer</a:t>
            </a:r>
            <a:endParaRPr lang="en-US" sz="1550" dirty="0"/>
          </a:p>
          <a:p>
            <a:r>
              <a:rPr lang="en-US" sz="1550" dirty="0">
                <a:solidFill>
                  <a:srgbClr val="1F2937"/>
                </a:solidFill>
              </a:rPr>
              <a:t>Includes visualization functions and Shiny apps for local interactive plots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635240" y="182880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4968" y="1956816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lncRNA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35440" y="182880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45168" y="1956816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miRNA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30768" y="333756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3465576"/>
            <a:ext cx="11521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mRNA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10312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19488" y="2496312"/>
            <a:ext cx="-429768" cy="813816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32520" y="3310128"/>
            <a:ext cx="-429768" cy="-813816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60920" y="4800600"/>
            <a:ext cx="3611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ceRNA concept: transcripts can communicate by sharing miRNA regulators.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Bioconductor describes GDCRNATools as a package for downloading, organizing, and integrative analyzing RNA expression data in GDC, with ceRNA network support.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start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Input data, software, and practical requirements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057400" cy="685800"/>
          </a:xfrm>
          <a:prstGeom prst="roundRect">
            <a:avLst>
              <a:gd name="adj" fmla="val 13333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45336"/>
            <a:ext cx="18379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 + Bioconductor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545336"/>
            <a:ext cx="17007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GDC project ID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06440" y="14173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1545336"/>
            <a:ext cx="1883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RNA + miRNA counts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58200" y="1417320"/>
            <a:ext cx="2148840" cy="685800"/>
          </a:xfrm>
          <a:prstGeom prst="roundRect">
            <a:avLst>
              <a:gd name="adj" fmla="val 13333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1545336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Clinical metadata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1755648"/>
            <a:ext cx="530352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1755648"/>
            <a:ext cx="484632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1755648"/>
            <a:ext cx="52120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274320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28803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(!requireNamespace("BiocManager", quietly = TRUE))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install.packages("BiocManager")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BiocManager::install("GDCRNATools")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library(GDCRNATools)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4663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Use a stable R/Bioconductor environment for reproducibility.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Keep raw downloads, metadata, and processed matrices in separate folders.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For teaching, start with a small TCGA cancer project or built-in example data.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Bioconductor installation instructions: BiocManager::install("GDCRNATools").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 workflow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From GDC data to interpretable RNA regulatory networks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Download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76272" y="2203704"/>
            <a:ext cx="33832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Metadata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05072" y="2203704"/>
            <a:ext cx="33832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Normalize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33872" y="2203704"/>
            <a:ext cx="33832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DE analysis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62672" y="2203704"/>
            <a:ext cx="33832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ceRNA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491472" y="2203704"/>
            <a:ext cx="338328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75520" y="1874520"/>
            <a:ext cx="1444752" cy="658368"/>
          </a:xfrm>
          <a:prstGeom prst="roundRect">
            <a:avLst>
              <a:gd name="adj" fmla="val 13889"/>
            </a:avLst>
          </a:prstGeom>
          <a:solidFill>
            <a:srgbClr val="E8EEF5"/>
          </a:solidFill>
          <a:ln w="15240">
            <a:solidFill>
              <a:srgbClr val="15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5248" y="2002536"/>
            <a:ext cx="122529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Biology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Typical functions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3931920" cy="2103120"/>
          </a:xfrm>
          <a:prstGeom prst="roundRect">
            <a:avLst>
              <a:gd name="adj" fmla="val 260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65760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gdcRNADownload()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gdcRNAMerge()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gdcParseMetadata()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gdcVoomNormalization()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gdcDEAnalysis()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gdcCEAnalysis()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gdcEnrichAnalysis()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gdcKMPlot()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166360" y="3337560"/>
            <a:ext cx="6080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The package can handle download and preparation steps, but you can also start from matrices created by other tools.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The cleanest course exercise is to use one cancer type and one clear contrast: Primary Tumor vs Solid Tissue Normal.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Final outputs can be figures, tables, Cytoscape files, and reproducible R scripts.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vignette lists core functions for metadata parsing, normalization, differential expression, ceRNA, enrichment, survival, and visualization.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Download and merge GDC RNA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Build count matrices and metadata for downstream analysis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760720" cy="4206240"/>
          </a:xfrm>
          <a:prstGeom prst="roundRect">
            <a:avLst>
              <a:gd name="adj" fmla="val 130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54480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RNA-seq and miRNA-seq data from one GDC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project &lt;- "TCGA-CHOL"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gdcRNADownload(project.id = project,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data.type  = "RNAseq")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gdcRNADownload(project.id = project,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data.type  = "miRNAs")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rnaCounts &lt;- gdcRNAMerge(metadata = metaRNA)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mirCounts &lt;- gdcRNAMerge(metadata = metaMIR)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52360" y="150876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1636776"/>
            <a:ext cx="1883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GDC files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251460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2642616"/>
            <a:ext cx="1883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Metadata table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52360" y="352044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3648456"/>
            <a:ext cx="1883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Count matrix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52360" y="4526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4654296"/>
            <a:ext cx="188366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Analysis ready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2148840"/>
            <a:ext cx="0" cy="338328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03920" y="3154680"/>
            <a:ext cx="0" cy="338328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03920" y="4160520"/>
            <a:ext cx="0" cy="338328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90372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Teaching tip: If GDC download is slow, provide pre-downloaded count matrices and metadata to students.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vignette provides automatic download and merge examples for RNA and miRNA expression data.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Parse metadata and filter samples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Match expression columns to clinical/sample annotations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6304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metaRNA &lt;- gdcParseMetadata(project.id = project,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data.type  = "RNAseq",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write.meta = FALSE)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metaRNA &lt;- gdcFilterDuplicate(metaRNA)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metaRNA &lt;- gdcFilterSampleType(metaRNA)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matched &lt;- gdcMatchSamples(metaRNA, rnaCounts)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table(metaRNA$sample_type)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Why metadata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4572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Sample barcode tells tumor/normal type and patient identity.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Duplicate aliquots can bias group comparisons.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RNA, miRNA, and clinical data must be aligned before joint analysis.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Always check sample sizes after every filtering step.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5349240"/>
            <a:ext cx="3291840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5166360"/>
            <a:ext cx="365760" cy="3657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5166360"/>
            <a:ext cx="365760" cy="365760"/>
          </a:xfrm>
          <a:prstGeom prst="ellipse">
            <a:avLst/>
          </a:prstGeom>
          <a:solidFill>
            <a:srgbClr val="F5B642"/>
          </a:solidFill>
          <a:ln w="12700">
            <a:solidFill>
              <a:srgbClr val="F5B6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5166360"/>
            <a:ext cx="365760" cy="365760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4A"/>
                </a:solidFill>
              </a:rPr>
              <a:t>raw → filtered → matched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Normalize counts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Prepare RNA and miRNA matrices for modeling and visualization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54480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TMM normalization + voom transformation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rnaExpr &lt;- gdcVoomNormalization(counts = rnaCounts,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    filter = FALSE)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mirExpr &lt;- gdcVoomNormalization(counts = mirCounts,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    filter = FALSE)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5303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Normalization reduces library-size and mean–variance effects.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For class demos, show before/after boxplots if time allows.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Keep raw count matrices; normalized matrices are for analysis/plots.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A"/>
                </a:solidFill>
              </a:rPr>
              <a:t>Before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0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A"/>
                </a:solidFill>
              </a:rPr>
              <a:t>After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2286000"/>
            <a:ext cx="320040" cy="146304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737360"/>
            <a:ext cx="320040" cy="2011680"/>
          </a:xfrm>
          <a:prstGeom prst="rect">
            <a:avLst/>
          </a:prstGeom>
          <a:solidFill>
            <a:srgbClr val="F26D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606040"/>
            <a:ext cx="320040" cy="1143000"/>
          </a:xfrm>
          <a:prstGeom prst="rect">
            <a:avLst/>
          </a:prstGeom>
          <a:solidFill>
            <a:srgbClr val="F5B6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5480" y="2194560"/>
            <a:ext cx="320040" cy="155448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2176272"/>
            <a:ext cx="320040" cy="1572768"/>
          </a:xfrm>
          <a:prstGeom prst="rect">
            <a:avLst/>
          </a:prstGeom>
          <a:solidFill>
            <a:srgbClr val="F26D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69880" y="2212848"/>
            <a:ext cx="320040" cy="1536192"/>
          </a:xfrm>
          <a:prstGeom prst="rect">
            <a:avLst/>
          </a:prstGeom>
          <a:solidFill>
            <a:srgbClr val="F5B6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2880360"/>
            <a:ext cx="640080" cy="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41248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4A"/>
                </a:solidFill>
              </a:rPr>
              <a:t>Comparable distributions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uses gdcVoomNormalization for TMM normalization and voom transformation.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Differential expression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Identify deregulated lncRNAs, mRNAs, and miRNAs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5989320" cy="3886200"/>
          </a:xfrm>
          <a:prstGeom prst="roundRect">
            <a:avLst>
              <a:gd name="adj" fmla="val 141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56692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DEGAll &lt;- gdcDEAnalysis(counts     = rnaCounts,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group      = metaRNA$sample_type,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comparison = "PrimaryTumor-SolidTissueNormal",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method     = "limma")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deLNC &lt;- gdcDEReport(DEGAll, gene.type = "long_non_coding")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dePC  &lt;- gdcDEReport(DEGAll, gene.type = "protein_coding")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gdcVolcanoPlot(DEGAll)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406640" y="4983480"/>
            <a:ext cx="3383280" cy="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4983480"/>
            <a:ext cx="0" cy="-324612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4389120"/>
            <a:ext cx="109728" cy="10972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3474720"/>
            <a:ext cx="109728" cy="10972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3840480"/>
            <a:ext cx="109728" cy="10972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2743200"/>
            <a:ext cx="109728" cy="10972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7000" y="2240280"/>
            <a:ext cx="109728" cy="10972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514600"/>
            <a:ext cx="109728" cy="10972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103120"/>
            <a:ext cx="109728" cy="10972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4206240"/>
            <a:ext cx="109728" cy="10972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3749040"/>
            <a:ext cx="109728" cy="10972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600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-log10(P)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52578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log2FC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562356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E8EEF5"/>
          </a:solidFill>
          <a:ln w="12700">
            <a:solidFill>
              <a:srgbClr val="15324A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5733288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324A"/>
                </a:solidFill>
              </a:rPr>
              <a:t>DE genes/miRNAs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Bioconductor notes limma, edgeR, and DESeq2 can be used for differential expression in GDCRNATools.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Build a ceRNA network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Use DE lncRNAs and mRNAs plus miRNA target evidence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806440" cy="4297680"/>
          </a:xfrm>
          <a:prstGeom prst="roundRect">
            <a:avLst>
              <a:gd name="adj" fmla="val 127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ceOutput &lt;- gdcCEAnalysis(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lnc         = rownames(deLNC),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pc          = rownames(dePC),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lnc.targets = "starBase",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pc.targets  = "starBase",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rna.expr    = rnaExpr,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mir.expr    = mirExpr)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ceKeep &lt;- ceOutput[ceOutput$hyperPValue &lt; 0.01 &amp;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ceOutput$corPValue   &lt; 0.01, ]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7360920" y="14630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0648" y="1591056"/>
            <a:ext cx="11521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lncRNA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281160" y="205740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0888" y="2185416"/>
            <a:ext cx="832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miR-1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283464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2962656"/>
            <a:ext cx="1060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mRNA 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36576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3785616"/>
            <a:ext cx="1060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mRNA 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32520" y="1719072"/>
            <a:ext cx="548640" cy="50292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331720"/>
            <a:ext cx="-457200" cy="630936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2514600"/>
            <a:ext cx="0" cy="1124712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355848"/>
            <a:ext cx="914400" cy="54864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32320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</a:rPr>
              <a:t>Evidence 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5056632"/>
            <a:ext cx="37947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shared miRNAs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lncRNA–mRNA correlation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regulation similarity</a:t>
            </a:r>
            <a:endParaRPr lang="en-US" sz="1150" dirty="0"/>
          </a:p>
          <a:p>
            <a:r>
              <a:rPr lang="en-US" sz="1150" dirty="0">
                <a:solidFill>
                  <a:srgbClr val="1F2937"/>
                </a:solidFill>
              </a:rPr>
              <a:t>partial correlation sensitivity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incorporates lncRNA–miRNA and mRNA–miRNA interaction databases including spongeScan, starBase, miRcode, and miRTarBase.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 — Export network for Cytoscape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Turn statistical results into a graph for biological interpretation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760720" cy="3977640"/>
          </a:xfrm>
          <a:prstGeom prst="roundRect">
            <a:avLst>
              <a:gd name="adj" fmla="val 137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63040"/>
            <a:ext cx="54406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edges &lt;- gdcExportNetwork(ceNetwork = ceKeep,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net = "edges")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nodes &lt;- gdcExportNetwork(ceNetwork = ceKeep,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net = "nodes")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write.table(edges, "ceRNA_edges.txt", sep="	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quote=FALSE, row.names=FALSE)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write.table(nodes, "ceRNA_nodes.txt", sep="	",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quote=FALSE, row.names=FALSE)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315200" y="150876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4928" y="163677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edges.txt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81160" y="150876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0888" y="163677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nodes.txt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2788920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916936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Cytoscape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42062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EFEAFB"/>
          </a:solidFill>
          <a:ln w="15240">
            <a:solidFill>
              <a:srgbClr val="6B4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433425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hub RNAs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81160" y="4206240"/>
            <a:ext cx="1417320" cy="594360"/>
          </a:xfrm>
          <a:prstGeom prst="roundRect">
            <a:avLst>
              <a:gd name="adj" fmla="val 15385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4334256"/>
            <a:ext cx="1197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modules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1828800"/>
            <a:ext cx="-182880" cy="932688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2103120"/>
            <a:ext cx="228600" cy="658368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13648" y="3456432"/>
            <a:ext cx="-566928" cy="73152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28048" y="3456432"/>
            <a:ext cx="118872" cy="73152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766560" y="5330952"/>
            <a:ext cx="4480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Interpretation questions: Which RNAs are hubs? Are they DE? Are they survival-associated? Are pathways coherent?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 — Functional enrichment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Translate gene lists into biological processes and pathways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5448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enrich &lt;- gdcEnrichAnalysis(gene = rownames(dePC),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type = "GO",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organism = "hsa")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gdcEnrichPlot(enrich, category = "BP")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cell 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1517904"/>
            <a:ext cx="2377440" cy="29260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ECM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49640" y="2139696"/>
            <a:ext cx="1920240" cy="292608"/>
          </a:xfrm>
          <a:prstGeom prst="rect">
            <a:avLst/>
          </a:prstGeom>
          <a:solidFill>
            <a:srgbClr val="F5B642"/>
          </a:solidFill>
          <a:ln w="12700">
            <a:solidFill>
              <a:srgbClr val="F5B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16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immune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761488"/>
            <a:ext cx="1554480" cy="292608"/>
          </a:xfrm>
          <a:prstGeom prst="rect">
            <a:avLst/>
          </a:prstGeom>
          <a:solidFill>
            <a:srgbClr val="F26D5B"/>
          </a:solidFill>
          <a:ln w="12700">
            <a:solidFill>
              <a:srgbClr val="F26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438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metabolism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9640" y="3383280"/>
            <a:ext cx="1143000" cy="292608"/>
          </a:xfrm>
          <a:prstGeom prst="rect">
            <a:avLst/>
          </a:prstGeom>
          <a:solidFill>
            <a:srgbClr val="6B4FB3"/>
          </a:solidFill>
          <a:ln w="12700">
            <a:solidFill>
              <a:srgbClr val="6B4F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160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324A"/>
                </a:solidFill>
              </a:rPr>
              <a:t>Example enrichment plot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343400"/>
            <a:ext cx="53949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Use enrichment to explain network biology, not to prove mechanism.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Report databases and cutoffs clearly.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For final projects, compare tumor-specific and survival-associated genes.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supports GO, KEGG, and DO enrichment using clusterProfiler and DOSE-related packages.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 — Survival analysis and KM plots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Connect RNA expression patterns to clinical outcomes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715000" cy="4297680"/>
          </a:xfrm>
          <a:prstGeom prst="roundRect">
            <a:avLst>
              <a:gd name="adj" fmla="val 127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surv &lt;- gdcSurvivalAnalysis(gene     = rownames(dePC),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rna.expr = rnaExpr,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               metadata = metaRNA)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gdcKMPlot(gene = "GENE1",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rna.expr = rnaExpr,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metadata = metaRNA)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shinyKMPlot(gene = rownames(dePC),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rna.expr = rnaExpr,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metadata = metaRNA)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0" y="4892040"/>
            <a:ext cx="3291840" cy="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4892040"/>
            <a:ext cx="0" cy="-3017520"/>
          </a:xfrm>
          <a:prstGeom prst="line">
            <a:avLst/>
          </a:prstGeom>
          <a:noFill/>
          <a:ln w="12700">
            <a:solidFill>
              <a:srgbClr val="5B6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286000"/>
            <a:ext cx="548640" cy="0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286000"/>
            <a:ext cx="0" cy="365760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651760"/>
            <a:ext cx="822960" cy="0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2651760"/>
            <a:ext cx="0" cy="457200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108960"/>
            <a:ext cx="1097280" cy="0"/>
          </a:xfrm>
          <a:prstGeom prst="line">
            <a:avLst/>
          </a:prstGeom>
          <a:noFill/>
          <a:ln w="30480">
            <a:solidFill>
              <a:srgbClr val="0F8B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2468880"/>
            <a:ext cx="822960" cy="0"/>
          </a:xfrm>
          <a:prstGeom prst="line">
            <a:avLst/>
          </a:prstGeom>
          <a:noFill/>
          <a:ln w="30480">
            <a:solidFill>
              <a:srgbClr val="F26D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468880"/>
            <a:ext cx="0" cy="685800"/>
          </a:xfrm>
          <a:prstGeom prst="line">
            <a:avLst/>
          </a:prstGeom>
          <a:noFill/>
          <a:ln w="30480">
            <a:solidFill>
              <a:srgbClr val="F26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154680"/>
            <a:ext cx="731520" cy="0"/>
          </a:xfrm>
          <a:prstGeom prst="line">
            <a:avLst/>
          </a:prstGeom>
          <a:noFill/>
          <a:ln w="30480">
            <a:solidFill>
              <a:srgbClr val="F26D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3154680"/>
            <a:ext cx="0" cy="594360"/>
          </a:xfrm>
          <a:prstGeom prst="line">
            <a:avLst/>
          </a:prstGeom>
          <a:noFill/>
          <a:ln w="30480">
            <a:solidFill>
              <a:srgbClr val="F26D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3749040"/>
            <a:ext cx="822960" cy="0"/>
          </a:xfrm>
          <a:prstGeom prst="line">
            <a:avLst/>
          </a:prstGeom>
          <a:noFill/>
          <a:ln w="30480">
            <a:solidFill>
              <a:srgbClr val="F26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8B8D"/>
                </a:solidFill>
              </a:rPr>
              <a:t>High expression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55480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6D5B"/>
                </a:solidFill>
              </a:rPr>
              <a:t>Low expression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5349240"/>
            <a:ext cx="3657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Use caution: TCGA survival endpoints vary by cancer type and event numbers.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30352" y="61264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7B8190"/>
                </a:solidFill>
              </a:rPr>
              <a:t>GDCRNATools supports univariate CoxPH and Kaplan–Meier survival analyses and Shiny KM visualization.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Mini-lab exercise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60–90 minute class workflow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27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Install/load package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1764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Confirm library(GDCRNATools) works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84048" cy="384048"/>
          </a:xfrm>
          <a:prstGeom prst="ellipse">
            <a:avLst/>
          </a:prstGeom>
          <a:solidFill>
            <a:srgbClr val="F5B6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527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0912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Load example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0912" y="1764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rnaCounts + mirCounts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84048" cy="384048"/>
          </a:xfrm>
          <a:prstGeom prst="ellipse">
            <a:avLst/>
          </a:prstGeom>
          <a:solidFill>
            <a:srgbClr val="F26D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5270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59952" y="14173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Normalize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9952" y="1764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gdcVoomNormalization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384048" cy="384048"/>
          </a:xfrm>
          <a:prstGeom prst="ellipse">
            <a:avLst/>
          </a:prstGeom>
          <a:solidFill>
            <a:srgbClr val="6B4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93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187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Run 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37307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tumor vs normal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80560" y="338328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493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Build ceRNA network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10912" y="37307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filter by P-value/correlation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3383280"/>
            <a:ext cx="384048" cy="384048"/>
          </a:xfrm>
          <a:prstGeom prst="ellipse">
            <a:avLst/>
          </a:prstGeom>
          <a:solidFill>
            <a:srgbClr val="1532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3493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59952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4A"/>
                </a:solidFill>
              </a:rPr>
              <a:t>Interpret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73075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top RNAs + pathway/survival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194560" y="553212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568756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Deliverable: one figure + one result paragraph describing a putative lncRNA–miRNA–mRNA regulatory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issues and best practices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How to avoid frustrating errors during a teaching demo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5760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GDC download errors: retry later or provide pre-downloaded matrices.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Barcode mismatch: check sample names before merging expression and metadata.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Few normal samples: use tumor subgroups or paired design only when appropriate.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Large network: filter by DE, correlation, hypergeometric P-value, and biological relevance.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Reproducibility: save sessionInfo(), package versions, and all filtering decisions.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141732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0648" y="1545336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224028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42248" y="2368296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Check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3063240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0648" y="3191256"/>
            <a:ext cx="12893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Document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23960" y="3886200"/>
            <a:ext cx="1234440" cy="502920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4014216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Rerun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3568" y="4681728"/>
            <a:ext cx="17830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4754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iterate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0" y="493776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5074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sessionInfo()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saveRDS(object, "analysis_object.rds")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GDCRNATools course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take-home messages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How to present GDCRNATools to new users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6675120" cy="4069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F2937"/>
                </a:solidFill>
              </a:rPr>
              <a:t>GDCRNATools is useful when your question involves coordinated lncRNA, miRNA, and mRNA regulation in cancer.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A good workflow starts with clean metadata and matched expression matrices.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ceRNA networks are hypothesis-generating: validate hubs with survival, enrichment, literature, and independent data.</a:t>
            </a:r>
            <a:endParaRPr lang="en-US" sz="1600" dirty="0"/>
          </a:p>
          <a:p>
            <a:r>
              <a:rPr lang="en-US" sz="1600" dirty="0">
                <a:solidFill>
                  <a:srgbClr val="1F2937"/>
                </a:solidFill>
              </a:rPr>
              <a:t>For manuscripts, report project ID, data type, method choices, thresholds, and version information.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75320" y="1325880"/>
            <a:ext cx="1325880" cy="548640"/>
          </a:xfrm>
          <a:prstGeom prst="roundRect">
            <a:avLst>
              <a:gd name="adj" fmla="val 16667"/>
            </a:avLst>
          </a:prstGeom>
          <a:solidFill>
            <a:srgbClr val="DDF3F2"/>
          </a:solidFill>
          <a:ln w="1524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5048" y="1453896"/>
            <a:ext cx="1106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1325880" cy="5486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5240">
            <a:solidFill>
              <a:srgbClr val="F5B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2459736"/>
            <a:ext cx="1106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Statistics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3337560"/>
            <a:ext cx="1325880" cy="548640"/>
          </a:xfrm>
          <a:prstGeom prst="roundRect">
            <a:avLst>
              <a:gd name="adj" fmla="val 16667"/>
            </a:avLst>
          </a:prstGeom>
          <a:solidFill>
            <a:srgbClr val="FDE8E4"/>
          </a:solidFill>
          <a:ln w="15240">
            <a:solidFill>
              <a:srgbClr val="F26D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3465576"/>
            <a:ext cx="1106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Network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4343400"/>
            <a:ext cx="1325880" cy="548640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4471416"/>
            <a:ext cx="11064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Biology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42832" y="1892808"/>
            <a:ext cx="0" cy="41148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42832" y="2898648"/>
            <a:ext cx="0" cy="41148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42832" y="3904488"/>
            <a:ext cx="0" cy="411480"/>
          </a:xfrm>
          <a:prstGeom prst="line">
            <a:avLst/>
          </a:prstGeom>
          <a:noFill/>
          <a:ln w="19050">
            <a:solidFill>
              <a:srgbClr val="5B677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86384" y="5623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4A"/>
                </a:solidFill>
              </a:rPr>
              <a:t>Course close: Students should understand both the commands and the biological interpretation.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2552"/>
            <a:ext cx="12191695" cy="155448"/>
          </a:xfrm>
          <a:prstGeom prst="rect">
            <a:avLst/>
          </a:prstGeom>
          <a:solidFill>
            <a:srgbClr val="15324A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77A"/>
                </a:solidFill>
              </a:rPr>
              <a:t>Sources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30352" y="41148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suggested reading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Use these for citation and further learning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04241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F2937"/>
                </a:solidFill>
              </a:rPr>
              <a:t>Li R. et al. GDCRNATools: an R/Bioconductor package for integrative analysis of lncRNA, miRNA and mRNA data in GDC. Bioinformatics. 2018;34:2515–2517. DOI: 10.1093/bioinformatics/bty124.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Bioconductor package page: GDCRNATools version 1.30.0, Bioconductor release 3.22.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GDCRNATools vignette / package documentation: function examples for download, metadata, normalization, DE, ceRNA, enrichment, and survival analysis.</a:t>
            </a:r>
            <a:endParaRPr lang="en-US" sz="1450" dirty="0"/>
          </a:p>
          <a:p>
            <a:r>
              <a:rPr lang="en-US" sz="1450" dirty="0">
                <a:solidFill>
                  <a:srgbClr val="1F2937"/>
                </a:solidFill>
              </a:rPr>
              <a:t>GDC Data Portal: source of TCGA, TARGET, and other cancer genomics data.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56692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58064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citation("GDCRNATools")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GDCRNATools: Integrative Analysis of lncRNA, miRNA, and mRNA Data in GDC</dc:title>
  <dc:subject>GDCRNATools course slides</dc:subject>
  <dc:creator>OpenAI</dc:creator>
  <cp:lastModifiedBy>OpenAI</cp:lastModifiedBy>
  <cp:revision>1</cp:revision>
  <dcterms:created xsi:type="dcterms:W3CDTF">2026-07-17T01:03:49Z</dcterms:created>
  <dcterms:modified xsi:type="dcterms:W3CDTF">2026-07-17T01:03:49Z</dcterms:modified>
</cp:coreProperties>
</file>