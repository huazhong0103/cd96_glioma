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424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Good morning everyone. Today I will introduce Gene Ontology, usually called GO, and explain how it is used in biomedical research.</a:t>
            </a:r>
          </a:p>
          <a:p>
            <a:pPr>
              <a:defRPr sz="1200"/>
            </a:pPr>
            <a:r>
              <a:t>The main idea of GO is simple but powerful: it gives us a standardized vocabulary to describe gene product functions across organisms and datasets.</a:t>
            </a:r>
          </a:p>
          <a:p>
            <a:pPr>
              <a:defRPr sz="1200"/>
            </a:pPr>
            <a:r>
              <a:t>In this talk, we will cover the three GO aspects, how GO annotations work, how GO enrichment analysis is performed, and how GO results can help interpret omics studies such as RNA-seq, single-cell RNA-seq, proteomics, and GWAS.</a:t>
            </a:r>
          </a:p>
          <a:p>
            <a:pPr>
              <a:defRPr sz="1200"/>
            </a:pPr>
            <a:r>
              <a:t>By the end of this presentation, you should be able to explain what a GO term means, understand a basic GO enrichment result table, and recognize both the strengths and limitations of GO analysis.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The need for GO becomes clear when we think about a typical omics experiment.</a:t>
            </a:r>
          </a:p>
          <a:p>
            <a:pPr>
              <a:defRPr sz="1200"/>
            </a:pPr>
            <a:r>
              <a:t>For example, after RNA-seq analysis we may obtain 800 differentially expressed genes. Reading 800 gene symbols one by one is not practical, and it does not automatically tell us which biological themes are important.</a:t>
            </a:r>
          </a:p>
          <a:p>
            <a:pPr>
              <a:defRPr sz="1200"/>
            </a:pPr>
            <a:r>
              <a:t>GO helps solve this problem by providing standardized biological language. Instead of saying one gene is involved in “immune activation” and another paper saying “immune response,” GO gives us defined terms that can be used consistently.</a:t>
            </a:r>
          </a:p>
          <a:p>
            <a:pPr>
              <a:defRPr sz="1200"/>
            </a:pPr>
            <a:r>
              <a:t>This is why GO is so widely used in biomedical research. It helps us move from a gene list to biological interpretation.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A useful way to define GO is this: GO is a structured and species-independent representation of biological knowledge about gene products.</a:t>
            </a:r>
          </a:p>
          <a:p>
            <a:pPr>
              <a:defRPr sz="1200"/>
            </a:pPr>
            <a:r>
              <a:t>The word gene product is important. GO can annotate proteins and functional RNAs, not just gene symbols.</a:t>
            </a:r>
          </a:p>
          <a:p>
            <a:pPr>
              <a:defRPr sz="1200"/>
            </a:pPr>
            <a:r>
              <a:t>A GO annotation links a gene product to a GO term, and this link is supported by evidence. Evidence can come from direct experiments, sequence similarity, phylogenetic inference, or computational prediction.</a:t>
            </a:r>
          </a:p>
          <a:p>
            <a:pPr>
              <a:defRPr sz="1200"/>
            </a:pPr>
            <a:r>
              <a:t>Also remember what GO is not. GO does not directly describe whether a gene is upregulated in a disease, or whether a mutation causes cancer. Instead, GO describes the normal molecular activity, cellular location, and biological processes associated with the gene product.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GO is divided into three main aspects.</a:t>
            </a:r>
          </a:p>
          <a:p>
            <a:pPr>
              <a:defRPr sz="1200"/>
            </a:pPr>
            <a:r>
              <a:t>Molecular Function describes what a gene product does at the biochemical or molecular level. Examples include protein kinase activity or DNA-binding transcription factor activity.</a:t>
            </a:r>
          </a:p>
          <a:p>
            <a:pPr>
              <a:defRPr sz="1200"/>
            </a:pPr>
            <a:r>
              <a:t>Cellular Component describes where the gene product is located or active, such as the nucleus, mitochondrion, plasma membrane, or ribosome.</a:t>
            </a:r>
          </a:p>
          <a:p>
            <a:pPr>
              <a:defRPr sz="1200"/>
            </a:pPr>
            <a:r>
              <a:t>Biological Process describes larger biological programs that are accomplished by multiple molecular functions, such as cell cycle, immune response, DNA repair, or apoptosis.</a:t>
            </a:r>
          </a:p>
          <a:p>
            <a:pPr>
              <a:defRPr sz="1200"/>
            </a:pPr>
            <a:r>
              <a:t>When interpreting results, it is important not to mix these categories. Molecular function asks “what activity,” cellular component asks “where,” and biological process asks “what broader process.”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GO terms are organized as a directed acyclic graph, often called a DAG. This is different from a simple hierarchy.</a:t>
            </a:r>
          </a:p>
          <a:p>
            <a:pPr>
              <a:defRPr sz="1200"/>
            </a:pPr>
            <a:r>
              <a:t>In a DAG, a specific term can have more than one parent. For example, T cell activation may be part of immune system process and also related to response pathways.</a:t>
            </a:r>
          </a:p>
          <a:p>
            <a:pPr>
              <a:defRPr sz="1200"/>
            </a:pPr>
            <a:r>
              <a:t>This graph structure matters because annotations can propagate from specific child terms to broader parent terms. If a gene is annotated to a specific process, it is also indirectly associated with broader parent processes.</a:t>
            </a:r>
          </a:p>
          <a:p>
            <a:pPr>
              <a:defRPr sz="1200"/>
            </a:pPr>
            <a:r>
              <a:t>For interpretation, more specific terms often provide more biological insight, while broad terms are useful for summaries but may be less informative.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A GO term by itself is only a concept. A GO annotation is the statement that connects a gene product to a GO term.</a:t>
            </a:r>
          </a:p>
          <a:p>
            <a:pPr>
              <a:defRPr sz="1200"/>
            </a:pPr>
            <a:r>
              <a:t>A standard annotation includes the gene product, the GO term, a reference, and an evidence code. Evidence codes are extremely important because not all annotations have the same level of support.</a:t>
            </a:r>
          </a:p>
          <a:p>
            <a:pPr>
              <a:defRPr sz="1200"/>
            </a:pPr>
            <a:r>
              <a:t>Some annotations are based on direct experiments. Others are inferred from sequence similarity, phylogenetic relationships, or computational pipelines.</a:t>
            </a:r>
          </a:p>
          <a:p>
            <a:pPr>
              <a:defRPr sz="1200"/>
            </a:pPr>
            <a:r>
              <a:t>When using GO results in biomedical research, we should be aware of the evidence supporting the annotations, especially if we are making mechanistic claims.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One of the most common uses of GO is enrichment analysis.</a:t>
            </a:r>
          </a:p>
          <a:p>
            <a:pPr>
              <a:defRPr sz="1200"/>
            </a:pPr>
            <a:r>
              <a:t>The basic question is: given a set of genes from an experiment, which GO terms are statistically over-represented or enriched?</a:t>
            </a:r>
          </a:p>
          <a:p>
            <a:pPr>
              <a:defRPr sz="1200"/>
            </a:pPr>
            <a:r>
              <a:t>There are two major strategies. The first is over-representation analysis, where we start with a selected list of genes such as differentially expressed genes. The second is gene set enrichment analysis, where we rank all genes and test whether genes from a GO term are concentrated near the top or bottom of the ranked list.</a:t>
            </a:r>
          </a:p>
          <a:p>
            <a:pPr>
              <a:defRPr sz="1200"/>
            </a:pPr>
            <a:r>
              <a:t>Both methods can be useful, but they answer slightly different questions.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This slide shows where GO analysis fits into a biomedical project.</a:t>
            </a:r>
          </a:p>
          <a:p>
            <a:pPr>
              <a:defRPr sz="1200"/>
            </a:pPr>
            <a:r>
              <a:t>The workflow begins with an experiment such as RNA-seq, proteomics, single-cell sequencing, or GWAS. Then we calculate a gene-level statistic, such as fold change, p value, or association score.</a:t>
            </a:r>
          </a:p>
          <a:p>
            <a:pPr>
              <a:defRPr sz="1200"/>
            </a:pPr>
            <a:r>
              <a:t>Next, we define either a selected gene set or a ranked list of genes. GO enrichment analysis converts this list into biological themes. Finally, we interpret those themes in the context of the disease or biological question.</a:t>
            </a:r>
          </a:p>
          <a:p>
            <a:pPr>
              <a:defRPr sz="1200"/>
            </a:pPr>
            <a:r>
              <a:t>This is why GO is useful across many types of biomedical studies, even when the original data types are very different.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GO is not limited to one type of analysis. It is used broadly across biomedical research.</a:t>
            </a:r>
          </a:p>
          <a:p>
            <a:pPr>
              <a:defRPr sz="1200"/>
            </a:pPr>
            <a:r>
              <a:t>In transcriptomics, GO helps interpret differentially expressed genes. In single-cell studies, it can help describe cell clusters or cell states. In proteomics, it summarizes protein lists and can highlight cellular components or molecular functions.</a:t>
            </a:r>
          </a:p>
          <a:p>
            <a:pPr>
              <a:defRPr sz="1200"/>
            </a:pPr>
            <a:r>
              <a:t>In genetic studies such as GWAS or TWAS, GO helps interpret disease-associated genes. In drug discovery, it can support target prioritization and mechanism-of-action analysis. And in translational research, GO can help connect biomarkers to biological pathways.</a:t>
            </a:r>
          </a:p>
          <a:p>
            <a:pPr>
              <a:defRPr sz="1200"/>
            </a:pPr>
            <a:r>
              <a:t>The key point is that GO provides a common functional language across many experimental platforms.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Here is a typical cancer RNA-seq example.</a:t>
            </a:r>
          </a:p>
          <a:p>
            <a:pPr>
              <a:defRPr sz="1200"/>
            </a:pPr>
            <a:r>
              <a:t>Suppose we compare tumor and normal tissue and obtain differentially expressed genes. A GO Biological Process enrichment analysis may reveal terms related to cell division, DNA replication, immune response, extracellular matrix organization, or angiogenesis.</a:t>
            </a:r>
          </a:p>
          <a:p>
            <a:pPr>
              <a:defRPr sz="1200"/>
            </a:pPr>
            <a:r>
              <a:t>These terms help us interpret the gene list at the pathway or process level. Instead of saying “many genes changed,” we can say the tumor shows enrichment of proliferative and microenvironment-related processes.</a:t>
            </a:r>
          </a:p>
          <a:p>
            <a:pPr>
              <a:defRPr sz="1200"/>
            </a:pPr>
            <a:r>
              <a:t>However, we should be careful not to overclaim causality. GO enrichment tells us which functions are over-represented, not necessarily which mechanisms are driving the disease.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In single-cell RNA-seq, GO can be used to interpret marker genes from clusters or differential genes between cell states.</a:t>
            </a:r>
          </a:p>
          <a:p>
            <a:pPr>
              <a:defRPr sz="1200"/>
            </a:pPr>
            <a:r>
              <a:t>For example, T cell clusters may show enrichment of T cell activation, macrophage clusters may show inflammatory response, tumor cell clusters may show cell cycle or hypoxia, and fibroblast clusters may show extracellular matrix organization.</a:t>
            </a:r>
          </a:p>
          <a:p>
            <a:pPr>
              <a:defRPr sz="1200"/>
            </a:pPr>
            <a:r>
              <a:t>But we need to be careful. GO enrichment is not a replacement for cell-type annotation using known marker genes. It is better used as supporting evidence to describe functional states.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There are many tools for GO analysis.</a:t>
            </a:r>
          </a:p>
          <a:p>
            <a:pPr>
              <a:defRPr sz="1200"/>
            </a:pPr>
            <a:r>
              <a:t>For web-based teaching, students can start with the official Gene Ontology enrichment tool, AmiGO, PANTHER, DAVID, Enrichr, or Metascape. These tools are accessible and easy to demonstrate.</a:t>
            </a:r>
          </a:p>
          <a:p>
            <a:pPr>
              <a:defRPr sz="1200"/>
            </a:pPr>
            <a:r>
              <a:t>For reproducible research in R, clusterProfiler is one of the most widely used packages. Other useful tools include topGO, gprofiler2, enrichplot, and organism annotation packages such as org.Hs.eg.db for human genes.</a:t>
            </a:r>
          </a:p>
          <a:p>
            <a:pPr>
              <a:defRPr sz="1200"/>
            </a:pPr>
            <a:r>
              <a:t>The common outputs include enrichment tables, dot plots, bar plots, gene-term networks, and GO DAG visualizations.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This slide gives a simple R example using clusterProfiler.</a:t>
            </a:r>
          </a:p>
          <a:p>
            <a:pPr>
              <a:defRPr sz="1200"/>
            </a:pPr>
            <a:r>
              <a:t>The first step is to prepare a gene vector. In real research, this list would usually come from differential expression, proteomics, GWAS, or another analysis.</a:t>
            </a:r>
          </a:p>
          <a:p>
            <a:pPr>
              <a:defRPr sz="1200"/>
            </a:pPr>
            <a:r>
              <a:t>The second step is ID conversion. This is often where beginners make mistakes. Many GO tools expect Entrez IDs, Ensembl IDs, or UniProt IDs, so gene identifiers must match the database.</a:t>
            </a:r>
          </a:p>
          <a:p>
            <a:pPr>
              <a:defRPr sz="1200"/>
            </a:pPr>
            <a:r>
              <a:t>Then we run enrichGO, specify the ontology aspect, and use Benjamini-Hochberg correction for multiple testing.</a:t>
            </a:r>
          </a:p>
          <a:p>
            <a:pPr>
              <a:defRPr sz="1200"/>
            </a:pPr>
            <a:r>
              <a:t>Finally, dotplot gives a simple visual summary. In a real project, we would inspect the genes inside each term and interpret the results in the biological context.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GO analysis is powerful, but it is easy to misuse.</a:t>
            </a:r>
          </a:p>
          <a:p>
            <a:pPr>
              <a:defRPr sz="1200"/>
            </a:pPr>
            <a:r>
              <a:t>Good interpretation means looking beyond the top p value. We should examine which genes are driving the term, whether the term is specific or broad, and whether the result makes biological sense in the study context.</a:t>
            </a:r>
          </a:p>
          <a:p>
            <a:pPr>
              <a:defRPr sz="1200"/>
            </a:pPr>
            <a:r>
              <a:t>Common pitfalls include using an inappropriate background gene universe, over-interpreting very broad terms, ignoring redundancy among related GO terms, and treating enrichment as proof of causality.</a:t>
            </a:r>
          </a:p>
          <a:p>
            <a:pPr>
              <a:defRPr sz="1200"/>
            </a:pPr>
            <a:r>
              <a:t>A good rule is to use GO as a hypothesis-generating and interpretation tool, not as final mechanistic proof.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When GO analysis is included in a manuscript, the methods section should be specific enough for another researcher to reproduce the analysis.</a:t>
            </a:r>
          </a:p>
          <a:p>
            <a:pPr>
              <a:defRPr sz="1200"/>
            </a:pPr>
            <a:r>
              <a:t>At minimum, report where the gene list came from, what threshold was used, what background gene universe was used, which GO aspect was tested, which software or database version was used, and how multiple testing was corrected.</a:t>
            </a:r>
          </a:p>
          <a:p>
            <a:pPr>
              <a:defRPr sz="1200"/>
            </a:pPr>
            <a:r>
              <a:t>In the results section, avoid simply listing terms. Instead, connect the terms to biological interpretation, and mention key genes driving the enrichment when appropriate.</a:t>
            </a:r>
          </a:p>
          <a:p>
            <a:pPr>
              <a:defRPr sz="1200"/>
            </a:pPr>
            <a:r>
              <a:t>Clear reporting makes GO analysis more credible and easier for readers to evaluate.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a:pPr>
            <a:r>
              <a:t>To summarize, Gene Ontology is a standardized vocabulary for gene product function. It helps researchers organize biological knowledge, compare results across studies, and interpret large gene lists.</a:t>
            </a:r>
          </a:p>
          <a:p>
            <a:pPr>
              <a:defRPr sz="1200"/>
            </a:pPr>
            <a:r>
              <a:t>The three key aspects are Molecular Function, Cellular Component, and Biological Process. Enrichment analysis uses these annotations to identify biological themes from omics results.</a:t>
            </a:r>
          </a:p>
          <a:p>
            <a:pPr>
              <a:defRPr sz="1200"/>
            </a:pPr>
            <a:r>
              <a:t>The final point is important: GO does not replace biological expertise. It helps organize and summarize biological knowledge, but interpretation still requires careful thinking about the experiment, disease, and statistical design.</a:t>
            </a:r>
          </a:p>
          <a:p>
            <a:pPr>
              <a:defRPr sz="1200"/>
            </a:pPr>
            <a:r>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48640" y="640080"/>
            <a:ext cx="1371600" cy="1371600"/>
          </a:xfrm>
          <a:prstGeom prst="ellipse">
            <a:avLst/>
          </a:prstGeom>
          <a:solidFill>
            <a:srgbClr val="E0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332720" y="457200"/>
            <a:ext cx="1097280" cy="1097280"/>
          </a:xfrm>
          <a:prstGeom prst="ellipse">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875520" y="5212080"/>
            <a:ext cx="1371600" cy="1371600"/>
          </a:xfrm>
          <a:prstGeom prst="ellipse">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82880" y="5303520"/>
            <a:ext cx="1005840" cy="1005840"/>
          </a:xfrm>
          <a:prstGeom prst="ellipse">
            <a:avLst/>
          </a:prstGeom>
          <a:solidFill>
            <a:srgbClr val="F3E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05840" y="1097280"/>
            <a:ext cx="10149840" cy="1143000"/>
          </a:xfrm>
          <a:prstGeom prst="roundRect">
            <a:avLst/>
          </a:prstGeom>
          <a:solidFill>
            <a:srgbClr val="162C49"/>
          </a:solidFill>
          <a:ln>
            <a:solidFill>
              <a:srgbClr val="162C49"/>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4000" b="1">
                <a:solidFill>
                  <a:srgbClr val="FFFFFF"/>
                </a:solidFill>
              </a:rPr>
              <a:t>Gene Ontology (GO)</a:t>
            </a:r>
          </a:p>
        </p:txBody>
      </p:sp>
      <p:sp>
        <p:nvSpPr>
          <p:cNvPr id="7" name="Rounded Rectangle 6"/>
          <p:cNvSpPr/>
          <p:nvPr/>
        </p:nvSpPr>
        <p:spPr>
          <a:xfrm>
            <a:off x="1920240" y="2423160"/>
            <a:ext cx="8321040" cy="68580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2200" b="1">
                <a:solidFill>
                  <a:srgbClr val="162C49"/>
                </a:solidFill>
              </a:rPr>
              <a:t>Concepts, Enrichment Analysis, and Applications in Biomedical Research</a:t>
            </a:r>
          </a:p>
        </p:txBody>
      </p:sp>
      <p:sp>
        <p:nvSpPr>
          <p:cNvPr id="8" name="Rounded Rectangle 7"/>
          <p:cNvSpPr/>
          <p:nvPr/>
        </p:nvSpPr>
        <p:spPr>
          <a:xfrm>
            <a:off x="1097280" y="3840480"/>
            <a:ext cx="3246120" cy="10515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600" b="1">
                <a:solidFill>
                  <a:srgbClr val="226AB3"/>
                </a:solidFill>
              </a:rPr>
              <a:t>Molecular Function
What does a gene product do?</a:t>
            </a:r>
          </a:p>
        </p:txBody>
      </p:sp>
      <p:sp>
        <p:nvSpPr>
          <p:cNvPr id="9" name="Rounded Rectangle 8"/>
          <p:cNvSpPr/>
          <p:nvPr/>
        </p:nvSpPr>
        <p:spPr>
          <a:xfrm>
            <a:off x="4754880" y="3840480"/>
            <a:ext cx="3246120" cy="105156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600" b="1">
                <a:solidFill>
                  <a:srgbClr val="4CAF50"/>
                </a:solidFill>
              </a:rPr>
              <a:t>Cellular Component
Where does it act?</a:t>
            </a:r>
          </a:p>
        </p:txBody>
      </p:sp>
      <p:sp>
        <p:nvSpPr>
          <p:cNvPr id="10" name="Rounded Rectangle 9"/>
          <p:cNvSpPr/>
          <p:nvPr/>
        </p:nvSpPr>
        <p:spPr>
          <a:xfrm>
            <a:off x="8412480" y="3840480"/>
            <a:ext cx="3246120" cy="105156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600" b="1">
                <a:solidFill>
                  <a:srgbClr val="F57C00"/>
                </a:solidFill>
              </a:rPr>
              <a:t>Biological Process
What larger process is it part of?</a:t>
            </a:r>
          </a:p>
        </p:txBody>
      </p:sp>
      <p:sp>
        <p:nvSpPr>
          <p:cNvPr id="11" name="Rectangle 10"/>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13" name="TextBox 12"/>
          <p:cNvSpPr txBox="1"/>
          <p:nvPr/>
        </p:nvSpPr>
        <p:spPr>
          <a:xfrm>
            <a:off x="11460175" y="6656832"/>
            <a:ext cx="457200" cy="137160"/>
          </a:xfrm>
          <a:prstGeom prst="rect">
            <a:avLst/>
          </a:prstGeom>
          <a:noFill/>
        </p:spPr>
        <p:txBody>
          <a:bodyPr wrap="none">
            <a:spAutoFit/>
          </a:bodyPr>
          <a:lstStyle/>
          <a:p>
            <a:pPr algn="r"/>
            <a:r>
              <a:rPr sz="900">
                <a:solidFill>
                  <a:srgbClr val="FFFFFF"/>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Why do we need Gene Ontology?</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2</a:t>
            </a:r>
          </a:p>
        </p:txBody>
      </p:sp>
      <p:sp>
        <p:nvSpPr>
          <p:cNvPr id="8" name="Rounded Rectangle 7"/>
          <p:cNvSpPr/>
          <p:nvPr/>
        </p:nvSpPr>
        <p:spPr>
          <a:xfrm>
            <a:off x="640080" y="1234440"/>
            <a:ext cx="5394960" cy="448056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F57C00"/>
                </a:solidFill>
              </a:rPr>
              <a:t>The problem</a:t>
            </a:r>
          </a:p>
          <a:p>
            <a:pPr>
              <a:spcAft>
                <a:spcPts val="400"/>
              </a:spcAft>
              <a:defRPr sz="1600">
                <a:solidFill>
                  <a:srgbClr val="2D3037"/>
                </a:solidFill>
              </a:defRPr>
            </a:pPr>
            <a:r>
              <a:t>Modern experiments generate long gene lists.</a:t>
            </a:r>
          </a:p>
          <a:p>
            <a:pPr>
              <a:spcAft>
                <a:spcPts val="400"/>
              </a:spcAft>
              <a:defRPr sz="1600">
                <a:solidFill>
                  <a:srgbClr val="2D3037"/>
                </a:solidFill>
              </a:defRPr>
            </a:pPr>
            <a:r>
              <a:t>A list of hundreds or thousands of genes is hard to interpret manually.</a:t>
            </a:r>
          </a:p>
          <a:p>
            <a:pPr>
              <a:spcAft>
                <a:spcPts val="400"/>
              </a:spcAft>
              <a:defRPr sz="1600">
                <a:solidFill>
                  <a:srgbClr val="2D3037"/>
                </a:solidFill>
              </a:defRPr>
            </a:pPr>
            <a:r>
              <a:t>Gene names alone do not reveal biological mechanisms.</a:t>
            </a:r>
          </a:p>
          <a:p>
            <a:pPr>
              <a:spcAft>
                <a:spcPts val="400"/>
              </a:spcAft>
              <a:defRPr sz="1600">
                <a:solidFill>
                  <a:srgbClr val="2D3037"/>
                </a:solidFill>
              </a:defRPr>
            </a:pPr>
            <a:r>
              <a:t>Different databases and papers may describe similar functions with different wording.</a:t>
            </a:r>
          </a:p>
        </p:txBody>
      </p:sp>
      <p:sp>
        <p:nvSpPr>
          <p:cNvPr id="9" name="Rounded Rectangle 8"/>
          <p:cNvSpPr/>
          <p:nvPr/>
        </p:nvSpPr>
        <p:spPr>
          <a:xfrm>
            <a:off x="6263640" y="1234440"/>
            <a:ext cx="5303520" cy="44805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The GO solution</a:t>
            </a:r>
          </a:p>
          <a:p>
            <a:pPr>
              <a:spcAft>
                <a:spcPts val="400"/>
              </a:spcAft>
              <a:defRPr sz="1600">
                <a:solidFill>
                  <a:srgbClr val="2D3037"/>
                </a:solidFill>
              </a:defRPr>
            </a:pPr>
            <a:r>
              <a:t>Use controlled, standardized terms for gene product function.</a:t>
            </a:r>
          </a:p>
          <a:p>
            <a:pPr>
              <a:spcAft>
                <a:spcPts val="400"/>
              </a:spcAft>
              <a:defRPr sz="1600">
                <a:solidFill>
                  <a:srgbClr val="2D3037"/>
                </a:solidFill>
              </a:defRPr>
            </a:pPr>
            <a:r>
              <a:t>Organize terms in a structured ontology.</a:t>
            </a:r>
          </a:p>
          <a:p>
            <a:pPr>
              <a:spcAft>
                <a:spcPts val="400"/>
              </a:spcAft>
              <a:defRPr sz="1600">
                <a:solidFill>
                  <a:srgbClr val="2D3037"/>
                </a:solidFill>
              </a:defRPr>
            </a:pPr>
            <a:r>
              <a:t>Connect genes to functional annotations with evidence codes.</a:t>
            </a:r>
          </a:p>
          <a:p>
            <a:pPr>
              <a:spcAft>
                <a:spcPts val="400"/>
              </a:spcAft>
              <a:defRPr sz="1600">
                <a:solidFill>
                  <a:srgbClr val="2D3037"/>
                </a:solidFill>
              </a:defRPr>
            </a:pPr>
            <a:r>
              <a:t>Enable functional enrichment and cross-study comparison.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What is GO?</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3</a:t>
            </a:r>
          </a:p>
        </p:txBody>
      </p:sp>
      <p:sp>
        <p:nvSpPr>
          <p:cNvPr id="8" name="Rounded Rectangle 7"/>
          <p:cNvSpPr/>
          <p:nvPr/>
        </p:nvSpPr>
        <p:spPr>
          <a:xfrm>
            <a:off x="822960" y="1325880"/>
            <a:ext cx="10515600" cy="5943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2000" b="1">
                <a:solidFill>
                  <a:srgbClr val="162C49"/>
                </a:solidFill>
              </a:rPr>
              <a:t>Gene Ontology is a structured, species-agnostic representation of biological knowledge about gene products.</a:t>
            </a:r>
          </a:p>
        </p:txBody>
      </p:sp>
      <p:sp>
        <p:nvSpPr>
          <p:cNvPr id="9" name="Rounded Rectangle 8"/>
          <p:cNvSpPr/>
          <p:nvPr/>
        </p:nvSpPr>
        <p:spPr>
          <a:xfrm>
            <a:off x="868680" y="2743200"/>
            <a:ext cx="2148840" cy="114300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800" b="1">
                <a:solidFill>
                  <a:srgbClr val="226AB3"/>
                </a:solidFill>
              </a:rPr>
              <a:t>Gene product</a:t>
            </a:r>
          </a:p>
          <a:p>
            <a:pPr algn="ctr"/>
            <a:r>
              <a:rPr sz="1400">
                <a:solidFill>
                  <a:srgbClr val="2D3037"/>
                </a:solidFill>
              </a:rPr>
              <a:t>protein / RNA</a:t>
            </a:r>
          </a:p>
        </p:txBody>
      </p:sp>
      <p:sp>
        <p:nvSpPr>
          <p:cNvPr id="10" name="Right Arrow 9"/>
          <p:cNvSpPr/>
          <p:nvPr/>
        </p:nvSpPr>
        <p:spPr>
          <a:xfrm>
            <a:off x="3081528" y="3127248"/>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57600" y="2743200"/>
            <a:ext cx="2148840" cy="114300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800" b="1">
                <a:solidFill>
                  <a:srgbClr val="4CAF50"/>
                </a:solidFill>
              </a:rPr>
              <a:t>GO term</a:t>
            </a:r>
          </a:p>
          <a:p>
            <a:pPr algn="ctr"/>
            <a:r>
              <a:rPr sz="1400">
                <a:solidFill>
                  <a:srgbClr val="2D3037"/>
                </a:solidFill>
              </a:rPr>
              <a:t>defined function</a:t>
            </a:r>
          </a:p>
        </p:txBody>
      </p:sp>
      <p:sp>
        <p:nvSpPr>
          <p:cNvPr id="12" name="Right Arrow 11"/>
          <p:cNvSpPr/>
          <p:nvPr/>
        </p:nvSpPr>
        <p:spPr>
          <a:xfrm>
            <a:off x="5870448" y="3127248"/>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46520" y="2743200"/>
            <a:ext cx="2148840" cy="114300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800" b="1">
                <a:solidFill>
                  <a:srgbClr val="F57C00"/>
                </a:solidFill>
              </a:rPr>
              <a:t>Evidence</a:t>
            </a:r>
          </a:p>
          <a:p>
            <a:pPr algn="ctr"/>
            <a:r>
              <a:rPr sz="1400">
                <a:solidFill>
                  <a:srgbClr val="2D3037"/>
                </a:solidFill>
              </a:rPr>
              <a:t>experiment / prediction</a:t>
            </a:r>
          </a:p>
        </p:txBody>
      </p:sp>
      <p:sp>
        <p:nvSpPr>
          <p:cNvPr id="14" name="Right Arrow 13"/>
          <p:cNvSpPr/>
          <p:nvPr/>
        </p:nvSpPr>
        <p:spPr>
          <a:xfrm>
            <a:off x="8659367" y="3127248"/>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235439" y="2743200"/>
            <a:ext cx="2148840" cy="114300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800" b="1">
                <a:solidFill>
                  <a:srgbClr val="6F42C1"/>
                </a:solidFill>
              </a:rPr>
              <a:t>Annotation</a:t>
            </a:r>
          </a:p>
          <a:p>
            <a:pPr algn="ctr"/>
            <a:r>
              <a:rPr sz="1400">
                <a:solidFill>
                  <a:srgbClr val="2D3037"/>
                </a:solidFill>
              </a:rPr>
              <a:t>gene ↔ function</a:t>
            </a:r>
          </a:p>
        </p:txBody>
      </p:sp>
      <p:sp>
        <p:nvSpPr>
          <p:cNvPr id="16" name="Rounded Rectangle 15"/>
          <p:cNvSpPr/>
          <p:nvPr/>
        </p:nvSpPr>
        <p:spPr>
          <a:xfrm>
            <a:off x="1097280" y="4754880"/>
            <a:ext cx="9966960" cy="777240"/>
          </a:xfrm>
          <a:prstGeom prst="roundRect">
            <a:avLst/>
          </a:prstGeom>
          <a:solidFill>
            <a:srgbClr val="FFFAE6"/>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F57C00"/>
                </a:solidFill>
              </a:rPr>
              <a:t>GO does not usually describe</a:t>
            </a:r>
          </a:p>
          <a:p>
            <a:pPr>
              <a:spcAft>
                <a:spcPts val="400"/>
              </a:spcAft>
              <a:defRPr sz="1400">
                <a:solidFill>
                  <a:srgbClr val="2D3037"/>
                </a:solidFill>
              </a:defRPr>
            </a:pPr>
            <a:r>
              <a:t>mutant phenotypes, disease states, or expression level changes directly; it describes normal gene product function and location.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The three GO aspects</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4</a:t>
            </a:r>
          </a:p>
        </p:txBody>
      </p:sp>
      <p:sp>
        <p:nvSpPr>
          <p:cNvPr id="8" name="Rounded Rectangle 7"/>
          <p:cNvSpPr/>
          <p:nvPr/>
        </p:nvSpPr>
        <p:spPr>
          <a:xfrm>
            <a:off x="685800" y="1417320"/>
            <a:ext cx="3429000" cy="452628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lIns="152400" tIns="152400" rIns="127000" rtlCol="0" anchor="ctr"/>
          <a:lstStyle/>
          <a:p>
            <a:pPr algn="ctr"/>
            <a:r>
              <a:rPr sz="1900" b="1">
                <a:solidFill>
                  <a:srgbClr val="226AB3"/>
                </a:solidFill>
              </a:rPr>
              <a:t>Molecular Function (MF)</a:t>
            </a:r>
          </a:p>
          <a:p>
            <a:pPr algn="ctr"/>
            <a:r>
              <a:rPr sz="1500" i="1">
                <a:solidFill>
                  <a:srgbClr val="5C6470"/>
                </a:solidFill>
              </a:rPr>
              <a:t>Activity at the molecular level</a:t>
            </a:r>
          </a:p>
          <a:p>
            <a:pPr>
              <a:spcBef>
                <a:spcPts val="1200"/>
              </a:spcBef>
            </a:pPr>
            <a:r>
              <a:rPr sz="1500" b="1">
                <a:solidFill>
                  <a:srgbClr val="2D3037"/>
                </a:solidFill>
              </a:rPr>
              <a:t>Examples:</a:t>
            </a:r>
          </a:p>
          <a:p>
            <a:pPr>
              <a:spcAft>
                <a:spcPts val="500"/>
              </a:spcAft>
              <a:defRPr sz="1500">
                <a:solidFill>
                  <a:srgbClr val="2D3037"/>
                </a:solidFill>
              </a:defRPr>
            </a:pPr>
            <a:r>
              <a:t>protein kinase activity</a:t>
            </a:r>
          </a:p>
          <a:p>
            <a:pPr>
              <a:spcAft>
                <a:spcPts val="500"/>
              </a:spcAft>
              <a:defRPr sz="1500">
                <a:solidFill>
                  <a:srgbClr val="2D3037"/>
                </a:solidFill>
              </a:defRPr>
            </a:pPr>
            <a:r>
              <a:t>DNA-binding transcription factor activity</a:t>
            </a:r>
          </a:p>
          <a:p>
            <a:pPr>
              <a:spcAft>
                <a:spcPts val="500"/>
              </a:spcAft>
              <a:defRPr sz="1500">
                <a:solidFill>
                  <a:srgbClr val="2D3037"/>
                </a:solidFill>
              </a:defRPr>
            </a:pPr>
            <a:r>
              <a:t>transporter activity</a:t>
            </a:r>
          </a:p>
        </p:txBody>
      </p:sp>
      <p:sp>
        <p:nvSpPr>
          <p:cNvPr id="9" name="Rounded Rectangle 8"/>
          <p:cNvSpPr/>
          <p:nvPr/>
        </p:nvSpPr>
        <p:spPr>
          <a:xfrm>
            <a:off x="4480560" y="1417320"/>
            <a:ext cx="3429000" cy="452628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lIns="152400" tIns="152400" rIns="127000" rtlCol="0" anchor="ctr"/>
          <a:lstStyle/>
          <a:p>
            <a:pPr algn="ctr"/>
            <a:r>
              <a:rPr sz="1900" b="1">
                <a:solidFill>
                  <a:srgbClr val="4CAF50"/>
                </a:solidFill>
              </a:rPr>
              <a:t>Cellular Component (CC)</a:t>
            </a:r>
          </a:p>
          <a:p>
            <a:pPr algn="ctr"/>
            <a:r>
              <a:rPr sz="1500" i="1">
                <a:solidFill>
                  <a:srgbClr val="5C6470"/>
                </a:solidFill>
              </a:rPr>
              <a:t>Where the gene product acts</a:t>
            </a:r>
          </a:p>
          <a:p>
            <a:pPr>
              <a:spcBef>
                <a:spcPts val="1200"/>
              </a:spcBef>
            </a:pPr>
            <a:r>
              <a:rPr sz="1500" b="1">
                <a:solidFill>
                  <a:srgbClr val="2D3037"/>
                </a:solidFill>
              </a:rPr>
              <a:t>Examples:</a:t>
            </a:r>
          </a:p>
          <a:p>
            <a:pPr>
              <a:spcAft>
                <a:spcPts val="500"/>
              </a:spcAft>
              <a:defRPr sz="1500">
                <a:solidFill>
                  <a:srgbClr val="2D3037"/>
                </a:solidFill>
              </a:defRPr>
            </a:pPr>
            <a:r>
              <a:t>nucleus</a:t>
            </a:r>
          </a:p>
          <a:p>
            <a:pPr>
              <a:spcAft>
                <a:spcPts val="500"/>
              </a:spcAft>
              <a:defRPr sz="1500">
                <a:solidFill>
                  <a:srgbClr val="2D3037"/>
                </a:solidFill>
              </a:defRPr>
            </a:pPr>
            <a:r>
              <a:t>mitochondrial matrix</a:t>
            </a:r>
          </a:p>
          <a:p>
            <a:pPr>
              <a:spcAft>
                <a:spcPts val="500"/>
              </a:spcAft>
              <a:defRPr sz="1500">
                <a:solidFill>
                  <a:srgbClr val="2D3037"/>
                </a:solidFill>
              </a:defRPr>
            </a:pPr>
            <a:r>
              <a:t>plasma membrane</a:t>
            </a:r>
          </a:p>
          <a:p>
            <a:pPr>
              <a:spcAft>
                <a:spcPts val="500"/>
              </a:spcAft>
              <a:defRPr sz="1500">
                <a:solidFill>
                  <a:srgbClr val="2D3037"/>
                </a:solidFill>
              </a:defRPr>
            </a:pPr>
            <a:r>
              <a:t>ribosome</a:t>
            </a:r>
          </a:p>
        </p:txBody>
      </p:sp>
      <p:sp>
        <p:nvSpPr>
          <p:cNvPr id="10" name="Rounded Rectangle 9"/>
          <p:cNvSpPr/>
          <p:nvPr/>
        </p:nvSpPr>
        <p:spPr>
          <a:xfrm>
            <a:off x="8275320" y="1417320"/>
            <a:ext cx="3429000" cy="452628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lIns="152400" tIns="152400" rIns="127000" rtlCol="0" anchor="ctr"/>
          <a:lstStyle/>
          <a:p>
            <a:pPr algn="ctr"/>
            <a:r>
              <a:rPr sz="1900" b="1">
                <a:solidFill>
                  <a:srgbClr val="F57C00"/>
                </a:solidFill>
              </a:rPr>
              <a:t>Biological Process (BP)</a:t>
            </a:r>
          </a:p>
          <a:p>
            <a:pPr algn="ctr"/>
            <a:r>
              <a:rPr sz="1500" i="1">
                <a:solidFill>
                  <a:srgbClr val="5C6470"/>
                </a:solidFill>
              </a:rPr>
              <a:t>Larger biological program</a:t>
            </a:r>
          </a:p>
          <a:p>
            <a:pPr>
              <a:spcBef>
                <a:spcPts val="1200"/>
              </a:spcBef>
            </a:pPr>
            <a:r>
              <a:rPr sz="1500" b="1">
                <a:solidFill>
                  <a:srgbClr val="2D3037"/>
                </a:solidFill>
              </a:rPr>
              <a:t>Examples:</a:t>
            </a:r>
          </a:p>
          <a:p>
            <a:pPr>
              <a:spcAft>
                <a:spcPts val="500"/>
              </a:spcAft>
              <a:defRPr sz="1500">
                <a:solidFill>
                  <a:srgbClr val="2D3037"/>
                </a:solidFill>
              </a:defRPr>
            </a:pPr>
            <a:r>
              <a:t>cell cycle</a:t>
            </a:r>
          </a:p>
          <a:p>
            <a:pPr>
              <a:spcAft>
                <a:spcPts val="500"/>
              </a:spcAft>
              <a:defRPr sz="1500">
                <a:solidFill>
                  <a:srgbClr val="2D3037"/>
                </a:solidFill>
              </a:defRPr>
            </a:pPr>
            <a:r>
              <a:t>immune response</a:t>
            </a:r>
          </a:p>
          <a:p>
            <a:pPr>
              <a:spcAft>
                <a:spcPts val="500"/>
              </a:spcAft>
              <a:defRPr sz="1500">
                <a:solidFill>
                  <a:srgbClr val="2D3037"/>
                </a:solidFill>
              </a:defRPr>
            </a:pPr>
            <a:r>
              <a:t>apoptotic process</a:t>
            </a:r>
          </a:p>
          <a:p>
            <a:pPr>
              <a:spcAft>
                <a:spcPts val="500"/>
              </a:spcAft>
              <a:defRPr sz="1500">
                <a:solidFill>
                  <a:srgbClr val="2D3037"/>
                </a:solidFill>
              </a:defRPr>
            </a:pPr>
            <a:r>
              <a:t>DNA repair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411480" y="448056"/>
            <a:ext cx="11155680" cy="548640"/>
          </a:xfrm>
          <a:prstGeom prst="rect">
            <a:avLst/>
          </a:prstGeom>
          <a:noFill/>
        </p:spPr>
        <p:txBody>
          <a:bodyPr wrap="none">
            <a:spAutoFit/>
          </a:bodyPr>
          <a:lstStyle/>
          <a:p>
            <a:r>
              <a:rPr sz="2600" b="1">
                <a:solidFill>
                  <a:srgbClr val="162C49"/>
                </a:solidFill>
              </a:rPr>
              <a:t>GO is structured as a graph</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5</a:t>
            </a:r>
          </a:p>
        </p:txBody>
      </p:sp>
      <p:cxnSp>
        <p:nvCxnSpPr>
          <p:cNvPr id="8" name="Connector 7"/>
          <p:cNvCxnSpPr/>
          <p:nvPr/>
        </p:nvCxnSpPr>
        <p:spPr>
          <a:xfrm flipH="1">
            <a:off x="4389121" y="1828800"/>
            <a:ext cx="2011680" cy="59436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1" y="1828800"/>
            <a:ext cx="1554480" cy="59436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474721" y="3017520"/>
            <a:ext cx="914400" cy="64008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389121" y="3017520"/>
            <a:ext cx="1005840" cy="64008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955281" y="3017520"/>
            <a:ext cx="0" cy="64008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474721" y="4251960"/>
            <a:ext cx="2834640" cy="50292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94961" y="4251960"/>
            <a:ext cx="914400" cy="50292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858001" y="4251960"/>
            <a:ext cx="1097280" cy="502920"/>
          </a:xfrm>
          <a:prstGeom prst="line">
            <a:avLst/>
          </a:prstGeom>
          <a:ln w="19050">
            <a:solidFill>
              <a:srgbClr val="AAB4B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86401" y="1234440"/>
            <a:ext cx="1737360" cy="685800"/>
          </a:xfrm>
          <a:prstGeom prst="round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biological
process</a:t>
            </a:r>
          </a:p>
        </p:txBody>
      </p:sp>
      <p:sp>
        <p:nvSpPr>
          <p:cNvPr id="17" name="Rounded Rectangle 16"/>
          <p:cNvSpPr/>
          <p:nvPr/>
        </p:nvSpPr>
        <p:spPr>
          <a:xfrm>
            <a:off x="3566161" y="2423160"/>
            <a:ext cx="1737360" cy="685800"/>
          </a:xfrm>
          <a:prstGeom prst="roundRect">
            <a:avLst/>
          </a:prstGeom>
          <a:solidFill>
            <a:srgbClr val="226AB3"/>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immune
system process</a:t>
            </a:r>
          </a:p>
        </p:txBody>
      </p:sp>
      <p:sp>
        <p:nvSpPr>
          <p:cNvPr id="18" name="Rounded Rectangle 17"/>
          <p:cNvSpPr/>
          <p:nvPr/>
        </p:nvSpPr>
        <p:spPr>
          <a:xfrm>
            <a:off x="7132321" y="2423160"/>
            <a:ext cx="1737360" cy="685800"/>
          </a:xfrm>
          <a:prstGeom prst="roundRect">
            <a:avLst/>
          </a:prstGeom>
          <a:solidFill>
            <a:srgbClr val="226AB3"/>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response to
stimulus</a:t>
            </a:r>
          </a:p>
        </p:txBody>
      </p:sp>
      <p:sp>
        <p:nvSpPr>
          <p:cNvPr id="19" name="Rounded Rectangle 18"/>
          <p:cNvSpPr/>
          <p:nvPr/>
        </p:nvSpPr>
        <p:spPr>
          <a:xfrm>
            <a:off x="2743201" y="3657600"/>
            <a:ext cx="1737360" cy="6858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inflammatory
response</a:t>
            </a:r>
          </a:p>
        </p:txBody>
      </p:sp>
      <p:sp>
        <p:nvSpPr>
          <p:cNvPr id="20" name="Rounded Rectangle 19"/>
          <p:cNvSpPr/>
          <p:nvPr/>
        </p:nvSpPr>
        <p:spPr>
          <a:xfrm>
            <a:off x="4663441" y="3657600"/>
            <a:ext cx="1737360" cy="6858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adaptive immune
response</a:t>
            </a:r>
          </a:p>
        </p:txBody>
      </p:sp>
      <p:sp>
        <p:nvSpPr>
          <p:cNvPr id="21" name="Rounded Rectangle 20"/>
          <p:cNvSpPr/>
          <p:nvPr/>
        </p:nvSpPr>
        <p:spPr>
          <a:xfrm>
            <a:off x="7132321" y="3657600"/>
            <a:ext cx="1737360" cy="6858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response to
cytokine</a:t>
            </a:r>
          </a:p>
        </p:txBody>
      </p:sp>
      <p:sp>
        <p:nvSpPr>
          <p:cNvPr id="22" name="Rounded Rectangle 21"/>
          <p:cNvSpPr/>
          <p:nvPr/>
        </p:nvSpPr>
        <p:spPr>
          <a:xfrm>
            <a:off x="5669281" y="4754880"/>
            <a:ext cx="1737360" cy="685800"/>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tIns="76200" rtlCol="0" anchor="ctr"/>
          <a:lstStyle/>
          <a:p>
            <a:pPr algn="ctr"/>
            <a:r>
              <a:rPr sz="1300" b="1">
                <a:solidFill>
                  <a:srgbClr val="FFFFFF"/>
                </a:solidFill>
              </a:rPr>
              <a:t>T cell activation</a:t>
            </a:r>
          </a:p>
        </p:txBody>
      </p:sp>
      <p:sp>
        <p:nvSpPr>
          <p:cNvPr id="23" name="Rounded Rectangle 22"/>
          <p:cNvSpPr/>
          <p:nvPr/>
        </p:nvSpPr>
        <p:spPr>
          <a:xfrm>
            <a:off x="228601" y="1845474"/>
            <a:ext cx="2148840" cy="2599048"/>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dirty="0">
                <a:solidFill>
                  <a:srgbClr val="162C49"/>
                </a:solidFill>
              </a:rPr>
              <a:t>Key point</a:t>
            </a:r>
          </a:p>
          <a:p>
            <a:pPr>
              <a:spcAft>
                <a:spcPts val="400"/>
              </a:spcAft>
              <a:defRPr sz="1400">
                <a:solidFill>
                  <a:srgbClr val="2D3037"/>
                </a:solidFill>
              </a:defRPr>
            </a:pPr>
            <a:r>
              <a:rPr dirty="0"/>
              <a:t>GO is not a simple list.</a:t>
            </a:r>
          </a:p>
          <a:p>
            <a:pPr>
              <a:spcAft>
                <a:spcPts val="400"/>
              </a:spcAft>
              <a:defRPr sz="1400">
                <a:solidFill>
                  <a:srgbClr val="2D3037"/>
                </a:solidFill>
              </a:defRPr>
            </a:pPr>
            <a:r>
              <a:rPr dirty="0"/>
              <a:t>It is a directed acyclic graph.</a:t>
            </a:r>
          </a:p>
          <a:p>
            <a:pPr>
              <a:spcAft>
                <a:spcPts val="400"/>
              </a:spcAft>
              <a:defRPr sz="1400">
                <a:solidFill>
                  <a:srgbClr val="2D3037"/>
                </a:solidFill>
              </a:defRPr>
            </a:pPr>
            <a:r>
              <a:rPr dirty="0"/>
              <a:t>A specific term can have multiple parent terms.</a:t>
            </a:r>
          </a:p>
          <a:p>
            <a:pPr>
              <a:spcAft>
                <a:spcPts val="400"/>
              </a:spcAft>
              <a:defRPr sz="1400">
                <a:solidFill>
                  <a:srgbClr val="2D3037"/>
                </a:solidFill>
              </a:defRPr>
            </a:pPr>
            <a:r>
              <a:rPr dirty="0"/>
              <a:t>Annotations can propagate upward to broader parent terms.</a:t>
            </a:r>
          </a:p>
        </p:txBody>
      </p:sp>
      <p:sp>
        <p:nvSpPr>
          <p:cNvPr id="24" name="Rounded Rectangle 23"/>
          <p:cNvSpPr/>
          <p:nvPr/>
        </p:nvSpPr>
        <p:spPr>
          <a:xfrm>
            <a:off x="9418323" y="1869948"/>
            <a:ext cx="2377435" cy="2295144"/>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dirty="0">
                <a:solidFill>
                  <a:srgbClr val="226AB3"/>
                </a:solidFill>
              </a:rPr>
              <a:t>Why it matters</a:t>
            </a:r>
          </a:p>
          <a:p>
            <a:pPr>
              <a:spcAft>
                <a:spcPts val="400"/>
              </a:spcAft>
              <a:defRPr sz="1400">
                <a:solidFill>
                  <a:srgbClr val="2D3037"/>
                </a:solidFill>
              </a:defRPr>
            </a:pPr>
            <a:r>
              <a:rPr dirty="0"/>
              <a:t>Specific terms are more informative.</a:t>
            </a:r>
          </a:p>
          <a:p>
            <a:pPr>
              <a:spcAft>
                <a:spcPts val="400"/>
              </a:spcAft>
              <a:defRPr sz="1400">
                <a:solidFill>
                  <a:srgbClr val="2D3037"/>
                </a:solidFill>
              </a:defRPr>
            </a:pPr>
            <a:r>
              <a:rPr dirty="0"/>
              <a:t>Broad terms summarize biology.</a:t>
            </a:r>
          </a:p>
          <a:p>
            <a:pPr>
              <a:spcAft>
                <a:spcPts val="400"/>
              </a:spcAft>
              <a:defRPr sz="1400">
                <a:solidFill>
                  <a:srgbClr val="2D3037"/>
                </a:solidFill>
              </a:defRPr>
            </a:pPr>
            <a:r>
              <a:rPr dirty="0"/>
              <a:t>Parent-child structure affects enrichment interpretation.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GO annotations: gene products linked to terms</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6</a:t>
            </a:r>
          </a:p>
        </p:txBody>
      </p:sp>
      <p:sp>
        <p:nvSpPr>
          <p:cNvPr id="8" name="Rounded Rectangle 7"/>
          <p:cNvSpPr/>
          <p:nvPr/>
        </p:nvSpPr>
        <p:spPr>
          <a:xfrm>
            <a:off x="685800" y="1234440"/>
            <a:ext cx="5440680" cy="44805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A GO annotation minimally includes</a:t>
            </a:r>
          </a:p>
          <a:p>
            <a:pPr>
              <a:spcAft>
                <a:spcPts val="400"/>
              </a:spcAft>
              <a:defRPr sz="1600">
                <a:solidFill>
                  <a:srgbClr val="2D3037"/>
                </a:solidFill>
              </a:defRPr>
            </a:pPr>
            <a:r>
              <a:t>Gene product identifier</a:t>
            </a:r>
          </a:p>
          <a:p>
            <a:pPr>
              <a:spcAft>
                <a:spcPts val="400"/>
              </a:spcAft>
              <a:defRPr sz="1600">
                <a:solidFill>
                  <a:srgbClr val="2D3037"/>
                </a:solidFill>
              </a:defRPr>
            </a:pPr>
            <a:r>
              <a:t>GO term identifier and name</a:t>
            </a:r>
          </a:p>
          <a:p>
            <a:pPr>
              <a:spcAft>
                <a:spcPts val="400"/>
              </a:spcAft>
              <a:defRPr sz="1600">
                <a:solidFill>
                  <a:srgbClr val="2D3037"/>
                </a:solidFill>
              </a:defRPr>
            </a:pPr>
            <a:r>
              <a:t>Evidence code</a:t>
            </a:r>
          </a:p>
          <a:p>
            <a:pPr>
              <a:spcAft>
                <a:spcPts val="400"/>
              </a:spcAft>
              <a:defRPr sz="1600">
                <a:solidFill>
                  <a:srgbClr val="2D3037"/>
                </a:solidFill>
              </a:defRPr>
            </a:pPr>
            <a:r>
              <a:t>Reference source, often a PMID or GO reference</a:t>
            </a:r>
          </a:p>
          <a:p>
            <a:pPr>
              <a:spcAft>
                <a:spcPts val="400"/>
              </a:spcAft>
              <a:defRPr sz="1600">
                <a:solidFill>
                  <a:srgbClr val="2D3037"/>
                </a:solidFill>
              </a:defRPr>
            </a:pPr>
            <a:r>
              <a:t>Optional qualifiers and annotation extensions</a:t>
            </a:r>
          </a:p>
        </p:txBody>
      </p:sp>
      <p:sp>
        <p:nvSpPr>
          <p:cNvPr id="9" name="Rounded Rectangle 8"/>
          <p:cNvSpPr/>
          <p:nvPr/>
        </p:nvSpPr>
        <p:spPr>
          <a:xfrm>
            <a:off x="6400800" y="1325880"/>
            <a:ext cx="4892040" cy="2194560"/>
          </a:xfrm>
          <a:prstGeom prst="roundRect">
            <a:avLst/>
          </a:prstGeom>
          <a:solidFill>
            <a:srgbClr val="FAFAFA"/>
          </a:solidFill>
          <a:ln>
            <a:solidFill>
              <a:srgbClr val="AAB4BE"/>
            </a:solidFill>
          </a:ln>
        </p:spPr>
        <p:style>
          <a:lnRef idx="1">
            <a:schemeClr val="accent1"/>
          </a:lnRef>
          <a:fillRef idx="3">
            <a:schemeClr val="accent1"/>
          </a:fillRef>
          <a:effectRef idx="2">
            <a:schemeClr val="accent1"/>
          </a:effectRef>
          <a:fontRef idx="minor">
            <a:schemeClr val="lt1"/>
          </a:fontRef>
        </p:style>
        <p:txBody>
          <a:bodyPr lIns="127000" tIns="127000" rtlCol="0" anchor="ctr"/>
          <a:lstStyle/>
          <a:p>
            <a:pPr algn="ctr"/>
            <a:r>
              <a:rPr sz="1700" b="1">
                <a:solidFill>
                  <a:srgbClr val="6F42C1"/>
                </a:solidFill>
              </a:rPr>
              <a:t>Example annotation</a:t>
            </a:r>
          </a:p>
          <a:p>
            <a:pPr>
              <a:spcAft>
                <a:spcPts val="400"/>
              </a:spcAft>
              <a:defRPr sz="1400">
                <a:solidFill>
                  <a:srgbClr val="2D3037"/>
                </a:solidFill>
              </a:defRPr>
            </a:pPr>
            <a:r>
              <a:t>TP53 → DNA-binding transcription factor activity</a:t>
            </a:r>
          </a:p>
          <a:p>
            <a:pPr>
              <a:spcAft>
                <a:spcPts val="400"/>
              </a:spcAft>
              <a:defRPr sz="1400">
                <a:solidFill>
                  <a:srgbClr val="2D3037"/>
                </a:solidFill>
              </a:defRPr>
            </a:pPr>
            <a:r>
              <a:t>Aspect: Molecular Function</a:t>
            </a:r>
          </a:p>
          <a:p>
            <a:pPr>
              <a:spcAft>
                <a:spcPts val="400"/>
              </a:spcAft>
              <a:defRPr sz="1400">
                <a:solidFill>
                  <a:srgbClr val="2D3037"/>
                </a:solidFill>
              </a:defRPr>
            </a:pPr>
            <a:r>
              <a:t>Evidence: experimental / curated</a:t>
            </a:r>
          </a:p>
          <a:p>
            <a:pPr>
              <a:spcAft>
                <a:spcPts val="400"/>
              </a:spcAft>
              <a:defRPr sz="1400">
                <a:solidFill>
                  <a:srgbClr val="2D3037"/>
                </a:solidFill>
              </a:defRPr>
            </a:pPr>
            <a:r>
              <a:t>Reference: literature or GO reference</a:t>
            </a:r>
          </a:p>
        </p:txBody>
      </p:sp>
      <p:sp>
        <p:nvSpPr>
          <p:cNvPr id="10" name="Rounded Rectangle 9"/>
          <p:cNvSpPr/>
          <p:nvPr/>
        </p:nvSpPr>
        <p:spPr>
          <a:xfrm>
            <a:off x="6400800" y="3794760"/>
            <a:ext cx="4892040" cy="150876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6F42C1"/>
                </a:solidFill>
              </a:rPr>
              <a:t>Evidence codes tell you</a:t>
            </a:r>
          </a:p>
          <a:p>
            <a:pPr>
              <a:spcAft>
                <a:spcPts val="400"/>
              </a:spcAft>
              <a:defRPr sz="1400">
                <a:solidFill>
                  <a:srgbClr val="2D3037"/>
                </a:solidFill>
              </a:defRPr>
            </a:pPr>
            <a:r>
              <a:t>Was the annotation experimentally supported?</a:t>
            </a:r>
          </a:p>
          <a:p>
            <a:pPr>
              <a:spcAft>
                <a:spcPts val="400"/>
              </a:spcAft>
              <a:defRPr sz="1400">
                <a:solidFill>
                  <a:srgbClr val="2D3037"/>
                </a:solidFill>
              </a:defRPr>
            </a:pPr>
            <a:r>
              <a:t>Was it inferred computationally?</a:t>
            </a:r>
          </a:p>
          <a:p>
            <a:pPr>
              <a:spcAft>
                <a:spcPts val="400"/>
              </a:spcAft>
              <a:defRPr sz="1400">
                <a:solidFill>
                  <a:srgbClr val="2D3037"/>
                </a:solidFill>
              </a:defRPr>
            </a:pPr>
            <a:r>
              <a:t>Was it reviewed by an expert curator?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GO enrichment analysis: from gene list to biology</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7</a:t>
            </a:r>
          </a:p>
        </p:txBody>
      </p:sp>
      <p:sp>
        <p:nvSpPr>
          <p:cNvPr id="8" name="Rounded Rectangle 7"/>
          <p:cNvSpPr/>
          <p:nvPr/>
        </p:nvSpPr>
        <p:spPr>
          <a:xfrm>
            <a:off x="777240" y="1920240"/>
            <a:ext cx="2331720" cy="10515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400" b="1">
                <a:solidFill>
                  <a:srgbClr val="226AB3"/>
                </a:solidFill>
              </a:rPr>
              <a:t>Gene list
DE genes
GWAS genes
protein hits</a:t>
            </a:r>
          </a:p>
        </p:txBody>
      </p:sp>
      <p:sp>
        <p:nvSpPr>
          <p:cNvPr id="9" name="Right Arrow 8"/>
          <p:cNvSpPr/>
          <p:nvPr/>
        </p:nvSpPr>
        <p:spPr>
          <a:xfrm>
            <a:off x="3154680" y="2331720"/>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611880" y="1920240"/>
            <a:ext cx="2331720" cy="105156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400" b="1">
                <a:solidFill>
                  <a:srgbClr val="4CAF50"/>
                </a:solidFill>
              </a:rPr>
              <a:t>Background
all tested genes
or expressed genes</a:t>
            </a:r>
          </a:p>
        </p:txBody>
      </p:sp>
      <p:sp>
        <p:nvSpPr>
          <p:cNvPr id="11" name="Right Arrow 10"/>
          <p:cNvSpPr/>
          <p:nvPr/>
        </p:nvSpPr>
        <p:spPr>
          <a:xfrm>
            <a:off x="5989320" y="2331720"/>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46520" y="1920240"/>
            <a:ext cx="2331720" cy="105156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400" b="1">
                <a:solidFill>
                  <a:srgbClr val="F57C00"/>
                </a:solidFill>
              </a:rPr>
              <a:t>Statistical test
over-representation
or GSEA</a:t>
            </a:r>
          </a:p>
        </p:txBody>
      </p:sp>
      <p:sp>
        <p:nvSpPr>
          <p:cNvPr id="13" name="Right Arrow 12"/>
          <p:cNvSpPr/>
          <p:nvPr/>
        </p:nvSpPr>
        <p:spPr>
          <a:xfrm>
            <a:off x="8823960" y="2331720"/>
            <a:ext cx="502920" cy="32004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81160" y="1920240"/>
            <a:ext cx="2331720" cy="105156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400" b="1">
                <a:solidFill>
                  <a:srgbClr val="6F42C1"/>
                </a:solidFill>
              </a:rPr>
              <a:t>GO results
terms, p values, FDR
biological themes</a:t>
            </a:r>
          </a:p>
        </p:txBody>
      </p:sp>
      <p:sp>
        <p:nvSpPr>
          <p:cNvPr id="15" name="Rounded Rectangle 14"/>
          <p:cNvSpPr/>
          <p:nvPr/>
        </p:nvSpPr>
        <p:spPr>
          <a:xfrm>
            <a:off x="777240" y="3749039"/>
            <a:ext cx="5303520" cy="164592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162C49"/>
                </a:solidFill>
              </a:rPr>
              <a:t>Over-representation analysis</a:t>
            </a:r>
          </a:p>
          <a:p>
            <a:pPr>
              <a:spcAft>
                <a:spcPts val="400"/>
              </a:spcAft>
              <a:defRPr sz="1500">
                <a:solidFill>
                  <a:srgbClr val="2D3037"/>
                </a:solidFill>
              </a:defRPr>
            </a:pPr>
            <a:r>
              <a:t>Uses a selected gene list, such as significant DE genes.</a:t>
            </a:r>
          </a:p>
          <a:p>
            <a:pPr>
              <a:spcAft>
                <a:spcPts val="400"/>
              </a:spcAft>
              <a:defRPr sz="1500">
                <a:solidFill>
                  <a:srgbClr val="2D3037"/>
                </a:solidFill>
              </a:defRPr>
            </a:pPr>
            <a:r>
              <a:t>Asks whether a GO term appears more often than expected.</a:t>
            </a:r>
          </a:p>
        </p:txBody>
      </p:sp>
      <p:sp>
        <p:nvSpPr>
          <p:cNvPr id="16" name="Rounded Rectangle 15"/>
          <p:cNvSpPr/>
          <p:nvPr/>
        </p:nvSpPr>
        <p:spPr>
          <a:xfrm>
            <a:off x="6309360" y="3749039"/>
            <a:ext cx="5074920" cy="164592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162C49"/>
                </a:solidFill>
              </a:rPr>
              <a:t>Gene set enrichment analysis</a:t>
            </a:r>
          </a:p>
          <a:p>
            <a:pPr>
              <a:spcAft>
                <a:spcPts val="400"/>
              </a:spcAft>
              <a:defRPr sz="1500">
                <a:solidFill>
                  <a:srgbClr val="2D3037"/>
                </a:solidFill>
              </a:defRPr>
            </a:pPr>
            <a:r>
              <a:t>Uses a ranked gene list, such as all genes ranked by statistic.</a:t>
            </a:r>
          </a:p>
          <a:p>
            <a:pPr>
              <a:spcAft>
                <a:spcPts val="400"/>
              </a:spcAft>
              <a:defRPr sz="1500">
                <a:solidFill>
                  <a:srgbClr val="2D3037"/>
                </a:solidFill>
              </a:defRPr>
            </a:pPr>
            <a:r>
              <a:t>Asks whether GO genes concentrate at the top or bottom of the ranking.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A typical GO workflow in biomedical research</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8</a:t>
            </a:r>
          </a:p>
        </p:txBody>
      </p:sp>
      <p:sp>
        <p:nvSpPr>
          <p:cNvPr id="8" name="Oval 7"/>
          <p:cNvSpPr/>
          <p:nvPr/>
        </p:nvSpPr>
        <p:spPr>
          <a:xfrm>
            <a:off x="1371600" y="1371600"/>
            <a:ext cx="548640" cy="548640"/>
          </a:xfrm>
          <a:prstGeom prst="ellipse">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1</a:t>
            </a:r>
          </a:p>
        </p:txBody>
      </p:sp>
      <p:sp>
        <p:nvSpPr>
          <p:cNvPr id="9" name="Rounded Rectangle 8"/>
          <p:cNvSpPr/>
          <p:nvPr/>
        </p:nvSpPr>
        <p:spPr>
          <a:xfrm>
            <a:off x="731520" y="2057400"/>
            <a:ext cx="1828800" cy="128016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300" b="1">
                <a:solidFill>
                  <a:srgbClr val="2D3037"/>
                </a:solidFill>
              </a:rPr>
              <a:t>Experiment
RNA-seq, proteomics, scRNA-seq, GWAS</a:t>
            </a:r>
          </a:p>
        </p:txBody>
      </p:sp>
      <p:sp>
        <p:nvSpPr>
          <p:cNvPr id="10" name="Right Arrow 9"/>
          <p:cNvSpPr/>
          <p:nvPr/>
        </p:nvSpPr>
        <p:spPr>
          <a:xfrm>
            <a:off x="2606039" y="2514600"/>
            <a:ext cx="411480" cy="22860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11880" y="1371600"/>
            <a:ext cx="548640" cy="548640"/>
          </a:xfrm>
          <a:prstGeom prst="ellipse">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2</a:t>
            </a:r>
          </a:p>
        </p:txBody>
      </p:sp>
      <p:sp>
        <p:nvSpPr>
          <p:cNvPr id="12" name="Rounded Rectangle 11"/>
          <p:cNvSpPr/>
          <p:nvPr/>
        </p:nvSpPr>
        <p:spPr>
          <a:xfrm>
            <a:off x="2971800" y="2057400"/>
            <a:ext cx="1828800" cy="128016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300" b="1">
                <a:solidFill>
                  <a:srgbClr val="2D3037"/>
                </a:solidFill>
              </a:rPr>
              <a:t>Gene statistic
log2FC, p value, score, PIP</a:t>
            </a:r>
          </a:p>
        </p:txBody>
      </p:sp>
      <p:sp>
        <p:nvSpPr>
          <p:cNvPr id="13" name="Right Arrow 12"/>
          <p:cNvSpPr/>
          <p:nvPr/>
        </p:nvSpPr>
        <p:spPr>
          <a:xfrm>
            <a:off x="4846320" y="2514600"/>
            <a:ext cx="411480" cy="22860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852160" y="1371600"/>
            <a:ext cx="548640" cy="548640"/>
          </a:xfrm>
          <a:prstGeom prst="ellipse">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3</a:t>
            </a:r>
          </a:p>
        </p:txBody>
      </p:sp>
      <p:sp>
        <p:nvSpPr>
          <p:cNvPr id="15" name="Rounded Rectangle 14"/>
          <p:cNvSpPr/>
          <p:nvPr/>
        </p:nvSpPr>
        <p:spPr>
          <a:xfrm>
            <a:off x="5212080" y="2057400"/>
            <a:ext cx="1828800" cy="128016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300" b="1">
                <a:solidFill>
                  <a:srgbClr val="2D3037"/>
                </a:solidFill>
              </a:rPr>
              <a:t>Gene set
significant or ranked genes</a:t>
            </a:r>
          </a:p>
        </p:txBody>
      </p:sp>
      <p:sp>
        <p:nvSpPr>
          <p:cNvPr id="16" name="Right Arrow 15"/>
          <p:cNvSpPr/>
          <p:nvPr/>
        </p:nvSpPr>
        <p:spPr>
          <a:xfrm>
            <a:off x="7086600" y="2514600"/>
            <a:ext cx="411480" cy="22860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092440" y="1371600"/>
            <a:ext cx="548640" cy="548640"/>
          </a:xfrm>
          <a:prstGeom prst="ellipse">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4</a:t>
            </a:r>
          </a:p>
        </p:txBody>
      </p:sp>
      <p:sp>
        <p:nvSpPr>
          <p:cNvPr id="18" name="Rounded Rectangle 17"/>
          <p:cNvSpPr/>
          <p:nvPr/>
        </p:nvSpPr>
        <p:spPr>
          <a:xfrm>
            <a:off x="7452360" y="2057400"/>
            <a:ext cx="1828800" cy="128016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300" b="1">
                <a:solidFill>
                  <a:srgbClr val="2D3037"/>
                </a:solidFill>
              </a:rPr>
              <a:t>GO enrichment
BP / MF / CC results</a:t>
            </a:r>
          </a:p>
        </p:txBody>
      </p:sp>
      <p:sp>
        <p:nvSpPr>
          <p:cNvPr id="19" name="Right Arrow 18"/>
          <p:cNvSpPr/>
          <p:nvPr/>
        </p:nvSpPr>
        <p:spPr>
          <a:xfrm>
            <a:off x="9326880" y="2514600"/>
            <a:ext cx="411480" cy="228600"/>
          </a:xfrm>
          <a:prstGeom prst="rightArrow">
            <a:avLst/>
          </a:prstGeom>
          <a:solidFill>
            <a:srgbClr val="AA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332720" y="1371600"/>
            <a:ext cx="548640" cy="548640"/>
          </a:xfrm>
          <a:prstGeom prst="ellipse">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5</a:t>
            </a:r>
          </a:p>
        </p:txBody>
      </p:sp>
      <p:sp>
        <p:nvSpPr>
          <p:cNvPr id="21" name="Rounded Rectangle 20"/>
          <p:cNvSpPr/>
          <p:nvPr/>
        </p:nvSpPr>
        <p:spPr>
          <a:xfrm>
            <a:off x="9692640" y="2057400"/>
            <a:ext cx="1828800" cy="1280160"/>
          </a:xfrm>
          <a:prstGeom prst="roundRect">
            <a:avLst/>
          </a:prstGeom>
          <a:solidFill>
            <a:srgbClr val="F6F8FA"/>
          </a:solidFill>
          <a:ln>
            <a:solidFill>
              <a:srgbClr val="AAB4BE"/>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300" b="1">
                <a:solidFill>
                  <a:srgbClr val="2D3037"/>
                </a:solidFill>
              </a:rPr>
              <a:t>Interpretation
mechanism, biomarker, hypothesis</a:t>
            </a:r>
          </a:p>
        </p:txBody>
      </p:sp>
      <p:sp>
        <p:nvSpPr>
          <p:cNvPr id="22" name="Rounded Rectangle 21"/>
          <p:cNvSpPr/>
          <p:nvPr/>
        </p:nvSpPr>
        <p:spPr>
          <a:xfrm>
            <a:off x="822960" y="4114800"/>
            <a:ext cx="5212080" cy="141732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Example: RNA-seq</a:t>
            </a:r>
          </a:p>
          <a:p>
            <a:pPr>
              <a:spcAft>
                <a:spcPts val="400"/>
              </a:spcAft>
              <a:defRPr sz="1400">
                <a:solidFill>
                  <a:srgbClr val="2D3037"/>
                </a:solidFill>
              </a:defRPr>
            </a:pPr>
            <a:r>
              <a:t>Tumor vs normal comparison → DE genes → GO terms such as cell cycle, immune response, extracellular matrix organization.</a:t>
            </a:r>
          </a:p>
        </p:txBody>
      </p:sp>
      <p:sp>
        <p:nvSpPr>
          <p:cNvPr id="23" name="Rounded Rectangle 22"/>
          <p:cNvSpPr/>
          <p:nvPr/>
        </p:nvSpPr>
        <p:spPr>
          <a:xfrm>
            <a:off x="6309360" y="4114800"/>
            <a:ext cx="5074920" cy="141732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4CAF50"/>
                </a:solidFill>
              </a:rPr>
              <a:t>Example: GWAS/TWAS</a:t>
            </a:r>
          </a:p>
          <a:p>
            <a:pPr>
              <a:spcAft>
                <a:spcPts val="400"/>
              </a:spcAft>
              <a:defRPr sz="1400">
                <a:solidFill>
                  <a:srgbClr val="2D3037"/>
                </a:solidFill>
              </a:defRPr>
            </a:pPr>
            <a:r>
              <a:t>Disease-associated genes → GO terms such as synaptic signaling, lipid metabolism, or immune regulation.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Major biomedical applications of GO</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9</a:t>
            </a:r>
          </a:p>
        </p:txBody>
      </p:sp>
      <p:sp>
        <p:nvSpPr>
          <p:cNvPr id="8" name="Rounded Rectangle 7"/>
          <p:cNvSpPr/>
          <p:nvPr/>
        </p:nvSpPr>
        <p:spPr>
          <a:xfrm>
            <a:off x="731520" y="1234440"/>
            <a:ext cx="3246120" cy="150876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226AB3"/>
                </a:solidFill>
              </a:rPr>
              <a:t>Transcriptomics
Interpret DE genes
pathway-level changes</a:t>
            </a:r>
          </a:p>
        </p:txBody>
      </p:sp>
      <p:sp>
        <p:nvSpPr>
          <p:cNvPr id="9" name="Rounded Rectangle 8"/>
          <p:cNvSpPr/>
          <p:nvPr/>
        </p:nvSpPr>
        <p:spPr>
          <a:xfrm>
            <a:off x="4526280" y="1234440"/>
            <a:ext cx="3246120" cy="150876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4CAF50"/>
                </a:solidFill>
              </a:rPr>
              <a:t>Single-cell omics
Annotate cell states
compare clusters</a:t>
            </a:r>
          </a:p>
        </p:txBody>
      </p:sp>
      <p:sp>
        <p:nvSpPr>
          <p:cNvPr id="10" name="Rounded Rectangle 9"/>
          <p:cNvSpPr/>
          <p:nvPr/>
        </p:nvSpPr>
        <p:spPr>
          <a:xfrm>
            <a:off x="8321040" y="1234440"/>
            <a:ext cx="3246120" cy="150876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F57C00"/>
                </a:solidFill>
              </a:rPr>
              <a:t>Proteomics
Functional summary of protein hits
subcellular localization</a:t>
            </a:r>
          </a:p>
        </p:txBody>
      </p:sp>
      <p:sp>
        <p:nvSpPr>
          <p:cNvPr id="11" name="Rounded Rectangle 10"/>
          <p:cNvSpPr/>
          <p:nvPr/>
        </p:nvSpPr>
        <p:spPr>
          <a:xfrm>
            <a:off x="731520" y="3383280"/>
            <a:ext cx="3246120" cy="150876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6F42C1"/>
                </a:solidFill>
              </a:rPr>
              <a:t>Genetic studies
Interpret GWAS/TWAS genes
disease mechanisms</a:t>
            </a:r>
          </a:p>
        </p:txBody>
      </p:sp>
      <p:sp>
        <p:nvSpPr>
          <p:cNvPr id="12" name="Rounded Rectangle 11"/>
          <p:cNvSpPr/>
          <p:nvPr/>
        </p:nvSpPr>
        <p:spPr>
          <a:xfrm>
            <a:off x="4526280" y="3383280"/>
            <a:ext cx="3246120" cy="1508760"/>
          </a:xfrm>
          <a:prstGeom prst="roundRect">
            <a:avLst/>
          </a:prstGeom>
          <a:solidFill>
            <a:srgbClr val="FFEBEE"/>
          </a:solidFill>
          <a:ln>
            <a:solidFill>
              <a:srgbClr val="C62828"/>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C62828"/>
                </a:solidFill>
              </a:rPr>
              <a:t>Drug discovery
Target prioritization
mechanism of action</a:t>
            </a:r>
          </a:p>
        </p:txBody>
      </p:sp>
      <p:sp>
        <p:nvSpPr>
          <p:cNvPr id="13" name="Rounded Rectangle 12"/>
          <p:cNvSpPr/>
          <p:nvPr/>
        </p:nvSpPr>
        <p:spPr>
          <a:xfrm>
            <a:off x="8321040" y="3383280"/>
            <a:ext cx="3246120" cy="1508760"/>
          </a:xfrm>
          <a:prstGeom prst="roundRect">
            <a:avLst/>
          </a:prstGeom>
          <a:solidFill>
            <a:srgbClr val="E0F7FA"/>
          </a:solidFill>
          <a:ln>
            <a:solidFill>
              <a:srgbClr val="26A69A"/>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26A69A"/>
                </a:solidFill>
              </a:rPr>
              <a:t>Clinical translation
Biomarker interpretation
risk pathways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Application example: cancer RNA-seq</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10</a:t>
            </a:r>
          </a:p>
        </p:txBody>
      </p:sp>
      <p:sp>
        <p:nvSpPr>
          <p:cNvPr id="8" name="Rounded Rectangle 7"/>
          <p:cNvSpPr/>
          <p:nvPr/>
        </p:nvSpPr>
        <p:spPr>
          <a:xfrm>
            <a:off x="685800" y="1234440"/>
            <a:ext cx="5120640" cy="452628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Question</a:t>
            </a:r>
          </a:p>
          <a:p>
            <a:pPr>
              <a:spcAft>
                <a:spcPts val="400"/>
              </a:spcAft>
              <a:defRPr sz="1600">
                <a:solidFill>
                  <a:srgbClr val="2D3037"/>
                </a:solidFill>
              </a:defRPr>
            </a:pPr>
            <a:r>
              <a:t>Which biological programs are altered in tumor tissue?</a:t>
            </a:r>
          </a:p>
          <a:p>
            <a:pPr>
              <a:spcAft>
                <a:spcPts val="400"/>
              </a:spcAft>
              <a:defRPr sz="1600">
                <a:solidFill>
                  <a:srgbClr val="2D3037"/>
                </a:solidFill>
              </a:defRPr>
            </a:pPr>
            <a:r>
              <a:t>Start with differential expression results.</a:t>
            </a:r>
          </a:p>
          <a:p>
            <a:pPr>
              <a:spcAft>
                <a:spcPts val="400"/>
              </a:spcAft>
              <a:defRPr sz="1600">
                <a:solidFill>
                  <a:srgbClr val="2D3037"/>
                </a:solidFill>
              </a:defRPr>
            </a:pPr>
            <a:r>
              <a:t>Separate upregulated and downregulated genes if useful.</a:t>
            </a:r>
          </a:p>
          <a:p>
            <a:pPr>
              <a:spcAft>
                <a:spcPts val="400"/>
              </a:spcAft>
              <a:defRPr sz="1600">
                <a:solidFill>
                  <a:srgbClr val="2D3037"/>
                </a:solidFill>
              </a:defRPr>
            </a:pPr>
            <a:r>
              <a:t>Run GO Biological Process enrichment.</a:t>
            </a:r>
          </a:p>
          <a:p>
            <a:pPr>
              <a:spcAft>
                <a:spcPts val="400"/>
              </a:spcAft>
              <a:defRPr sz="1600">
                <a:solidFill>
                  <a:srgbClr val="2D3037"/>
                </a:solidFill>
              </a:defRPr>
            </a:pPr>
            <a:r>
              <a:t>Interpret the top terms in the context of tumor biology.</a:t>
            </a:r>
          </a:p>
        </p:txBody>
      </p:sp>
      <p:sp>
        <p:nvSpPr>
          <p:cNvPr id="9" name="Rectangle 8"/>
          <p:cNvSpPr/>
          <p:nvPr/>
        </p:nvSpPr>
        <p:spPr>
          <a:xfrm>
            <a:off x="6400800" y="1234440"/>
            <a:ext cx="44805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600" b="1">
                <a:solidFill>
                  <a:srgbClr val="162C49"/>
                </a:solidFill>
              </a:rPr>
              <a:t>Example enriched GO terms</a:t>
            </a:r>
          </a:p>
        </p:txBody>
      </p:sp>
      <p:sp>
        <p:nvSpPr>
          <p:cNvPr id="10" name="Rectangle 9"/>
          <p:cNvSpPr/>
          <p:nvPr/>
        </p:nvSpPr>
        <p:spPr>
          <a:xfrm>
            <a:off x="6400800" y="1874519"/>
            <a:ext cx="2194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200" b="0">
                <a:solidFill>
                  <a:srgbClr val="2D3037"/>
                </a:solidFill>
              </a:rPr>
              <a:t>cell division</a:t>
            </a:r>
          </a:p>
        </p:txBody>
      </p:sp>
      <p:sp>
        <p:nvSpPr>
          <p:cNvPr id="11" name="Rectangle 10"/>
          <p:cNvSpPr/>
          <p:nvPr/>
        </p:nvSpPr>
        <p:spPr>
          <a:xfrm>
            <a:off x="8732520" y="1938527"/>
            <a:ext cx="2194560" cy="15544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732520" y="1938527"/>
            <a:ext cx="2194560" cy="15544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441448"/>
            <a:ext cx="2194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200" b="0">
                <a:solidFill>
                  <a:srgbClr val="2D3037"/>
                </a:solidFill>
              </a:rPr>
              <a:t>DNA replication</a:t>
            </a:r>
          </a:p>
        </p:txBody>
      </p:sp>
      <p:sp>
        <p:nvSpPr>
          <p:cNvPr id="14" name="Rectangle 13"/>
          <p:cNvSpPr/>
          <p:nvPr/>
        </p:nvSpPr>
        <p:spPr>
          <a:xfrm>
            <a:off x="8732520" y="2505456"/>
            <a:ext cx="2194560" cy="15544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732520" y="2505456"/>
            <a:ext cx="1853184" cy="15544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3008376"/>
            <a:ext cx="2194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200" b="0">
                <a:solidFill>
                  <a:srgbClr val="2D3037"/>
                </a:solidFill>
              </a:rPr>
              <a:t>immune response</a:t>
            </a:r>
          </a:p>
        </p:txBody>
      </p:sp>
      <p:sp>
        <p:nvSpPr>
          <p:cNvPr id="17" name="Rectangle 16"/>
          <p:cNvSpPr/>
          <p:nvPr/>
        </p:nvSpPr>
        <p:spPr>
          <a:xfrm>
            <a:off x="8732520" y="3072384"/>
            <a:ext cx="2194560" cy="15544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732520" y="3072384"/>
            <a:ext cx="1511807" cy="15544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0" y="3575303"/>
            <a:ext cx="2194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200" b="0">
                <a:solidFill>
                  <a:srgbClr val="2D3037"/>
                </a:solidFill>
              </a:rPr>
              <a:t>extracellular matrix organization</a:t>
            </a:r>
          </a:p>
        </p:txBody>
      </p:sp>
      <p:sp>
        <p:nvSpPr>
          <p:cNvPr id="20" name="Rectangle 19"/>
          <p:cNvSpPr/>
          <p:nvPr/>
        </p:nvSpPr>
        <p:spPr>
          <a:xfrm>
            <a:off x="8732520" y="3639311"/>
            <a:ext cx="2194560" cy="15544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32520" y="3639311"/>
            <a:ext cx="1316736" cy="15544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0" y="4142231"/>
            <a:ext cx="21945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200" b="0">
                <a:solidFill>
                  <a:srgbClr val="2D3037"/>
                </a:solidFill>
              </a:rPr>
              <a:t>angiogenesis</a:t>
            </a:r>
          </a:p>
        </p:txBody>
      </p:sp>
      <p:sp>
        <p:nvSpPr>
          <p:cNvPr id="23" name="Rectangle 22"/>
          <p:cNvSpPr/>
          <p:nvPr/>
        </p:nvSpPr>
        <p:spPr>
          <a:xfrm>
            <a:off x="8732520" y="4206240"/>
            <a:ext cx="2194560" cy="15544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32520" y="4206240"/>
            <a:ext cx="975360" cy="155448"/>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400800" y="5166360"/>
            <a:ext cx="4526280" cy="64008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500" b="1">
                <a:solidFill>
                  <a:srgbClr val="F57C00"/>
                </a:solidFill>
              </a:rPr>
              <a:t>Interpretation: tumor biology often appears as coordinated functional themes, not isolated genes.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Application example: single-cell RNA-seq</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11</a:t>
            </a:r>
          </a:p>
        </p:txBody>
      </p:sp>
      <p:sp>
        <p:nvSpPr>
          <p:cNvPr id="8" name="Oval 7"/>
          <p:cNvSpPr/>
          <p:nvPr/>
        </p:nvSpPr>
        <p:spPr>
          <a:xfrm>
            <a:off x="1828800" y="1828800"/>
            <a:ext cx="1417320" cy="1005840"/>
          </a:xfrm>
          <a:prstGeom prst="ellipse">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tIns="101600" rtlCol="0" anchor="ctr"/>
          <a:lstStyle/>
          <a:p>
            <a:pPr algn="ctr"/>
            <a:r>
              <a:rPr sz="1200" b="1">
                <a:solidFill>
                  <a:srgbClr val="226AB3"/>
                </a:solidFill>
              </a:rPr>
              <a:t>Cluster 1
T cells</a:t>
            </a:r>
          </a:p>
        </p:txBody>
      </p:sp>
      <p:sp>
        <p:nvSpPr>
          <p:cNvPr id="9" name="Oval 8"/>
          <p:cNvSpPr/>
          <p:nvPr/>
        </p:nvSpPr>
        <p:spPr>
          <a:xfrm>
            <a:off x="3840480" y="2834640"/>
            <a:ext cx="1417320" cy="1005840"/>
          </a:xfrm>
          <a:prstGeom prst="ellipse">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tIns="101600" rtlCol="0" anchor="ctr"/>
          <a:lstStyle/>
          <a:p>
            <a:pPr algn="ctr"/>
            <a:r>
              <a:rPr sz="1200" b="1">
                <a:solidFill>
                  <a:srgbClr val="4CAF50"/>
                </a:solidFill>
              </a:rPr>
              <a:t>Cluster 2
Macrophages</a:t>
            </a:r>
          </a:p>
        </p:txBody>
      </p:sp>
      <p:sp>
        <p:nvSpPr>
          <p:cNvPr id="10" name="Oval 9"/>
          <p:cNvSpPr/>
          <p:nvPr/>
        </p:nvSpPr>
        <p:spPr>
          <a:xfrm>
            <a:off x="6126480" y="1645920"/>
            <a:ext cx="1417320" cy="1005840"/>
          </a:xfrm>
          <a:prstGeom prst="ellipse">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tIns="101600" rtlCol="0" anchor="ctr"/>
          <a:lstStyle/>
          <a:p>
            <a:pPr algn="ctr"/>
            <a:r>
              <a:rPr sz="1200" b="1">
                <a:solidFill>
                  <a:srgbClr val="F57C00"/>
                </a:solidFill>
              </a:rPr>
              <a:t>Cluster 3
Tumor cells</a:t>
            </a:r>
          </a:p>
        </p:txBody>
      </p:sp>
      <p:sp>
        <p:nvSpPr>
          <p:cNvPr id="11" name="Oval 10"/>
          <p:cNvSpPr/>
          <p:nvPr/>
        </p:nvSpPr>
        <p:spPr>
          <a:xfrm>
            <a:off x="7772400" y="3200400"/>
            <a:ext cx="1417320" cy="1005840"/>
          </a:xfrm>
          <a:prstGeom prst="ellipse">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tIns="101600" rtlCol="0" anchor="ctr"/>
          <a:lstStyle/>
          <a:p>
            <a:pPr algn="ctr"/>
            <a:r>
              <a:rPr sz="1200" b="1">
                <a:solidFill>
                  <a:srgbClr val="6F42C1"/>
                </a:solidFill>
              </a:rPr>
              <a:t>Cluster 4
Fibroblasts</a:t>
            </a:r>
          </a:p>
        </p:txBody>
      </p:sp>
      <p:sp>
        <p:nvSpPr>
          <p:cNvPr id="12" name="Rounded Rectangle 11"/>
          <p:cNvSpPr/>
          <p:nvPr/>
        </p:nvSpPr>
        <p:spPr>
          <a:xfrm>
            <a:off x="685800" y="4389120"/>
            <a:ext cx="5303520" cy="141732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How GO helps</a:t>
            </a:r>
          </a:p>
          <a:p>
            <a:pPr>
              <a:spcAft>
                <a:spcPts val="400"/>
              </a:spcAft>
              <a:defRPr sz="1400">
                <a:solidFill>
                  <a:srgbClr val="2D3037"/>
                </a:solidFill>
              </a:defRPr>
            </a:pPr>
            <a:r>
              <a:t>Summarize marker genes for each cluster.</a:t>
            </a:r>
          </a:p>
          <a:p>
            <a:pPr>
              <a:spcAft>
                <a:spcPts val="400"/>
              </a:spcAft>
              <a:defRPr sz="1400">
                <a:solidFill>
                  <a:srgbClr val="2D3037"/>
                </a:solidFill>
              </a:defRPr>
            </a:pPr>
            <a:r>
              <a:t>Describe cell states such as activation, proliferation, hypoxia, or interferon response.</a:t>
            </a:r>
          </a:p>
        </p:txBody>
      </p:sp>
      <p:sp>
        <p:nvSpPr>
          <p:cNvPr id="13" name="Rounded Rectangle 12"/>
          <p:cNvSpPr/>
          <p:nvPr/>
        </p:nvSpPr>
        <p:spPr>
          <a:xfrm>
            <a:off x="6309360" y="4389120"/>
            <a:ext cx="5074920" cy="1417320"/>
          </a:xfrm>
          <a:prstGeom prst="roundRect">
            <a:avLst/>
          </a:prstGeom>
          <a:solidFill>
            <a:srgbClr val="FFFAE6"/>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F57C00"/>
                </a:solidFill>
              </a:rPr>
              <a:t>Important caution</a:t>
            </a:r>
          </a:p>
          <a:p>
            <a:pPr>
              <a:spcAft>
                <a:spcPts val="400"/>
              </a:spcAft>
              <a:defRPr sz="1400">
                <a:solidFill>
                  <a:srgbClr val="2D3037"/>
                </a:solidFill>
              </a:defRPr>
            </a:pPr>
            <a:r>
              <a:t>GO terms do not replace marker-gene annotation.</a:t>
            </a:r>
          </a:p>
          <a:p>
            <a:pPr>
              <a:spcAft>
                <a:spcPts val="400"/>
              </a:spcAft>
              <a:defRPr sz="1400">
                <a:solidFill>
                  <a:srgbClr val="2D3037"/>
                </a:solidFill>
              </a:defRPr>
            </a:pPr>
            <a:r>
              <a:t>Use GO as supporting evidence, not as the only cell-type label.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Common GO analysis tools</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12</a:t>
            </a:r>
          </a:p>
        </p:txBody>
      </p:sp>
      <p:sp>
        <p:nvSpPr>
          <p:cNvPr id="8" name="Rounded Rectangle 7"/>
          <p:cNvSpPr/>
          <p:nvPr/>
        </p:nvSpPr>
        <p:spPr>
          <a:xfrm>
            <a:off x="685800" y="1234440"/>
            <a:ext cx="3383280" cy="452628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Web tools</a:t>
            </a:r>
          </a:p>
          <a:p>
            <a:pPr>
              <a:spcAft>
                <a:spcPts val="400"/>
              </a:spcAft>
              <a:defRPr sz="1500">
                <a:solidFill>
                  <a:srgbClr val="2D3037"/>
                </a:solidFill>
              </a:defRPr>
            </a:pPr>
            <a:r>
              <a:t>GO enrichment analysis at geneontology.org</a:t>
            </a:r>
          </a:p>
          <a:p>
            <a:pPr>
              <a:spcAft>
                <a:spcPts val="400"/>
              </a:spcAft>
              <a:defRPr sz="1500">
                <a:solidFill>
                  <a:srgbClr val="2D3037"/>
                </a:solidFill>
              </a:defRPr>
            </a:pPr>
            <a:r>
              <a:t>AmiGO for browsing GO terms and annotations</a:t>
            </a:r>
          </a:p>
          <a:p>
            <a:pPr>
              <a:spcAft>
                <a:spcPts val="400"/>
              </a:spcAft>
              <a:defRPr sz="1500">
                <a:solidFill>
                  <a:srgbClr val="2D3037"/>
                </a:solidFill>
              </a:defRPr>
            </a:pPr>
            <a:r>
              <a:t>PANTHER, DAVID, Enrichr, Metascape</a:t>
            </a:r>
          </a:p>
        </p:txBody>
      </p:sp>
      <p:sp>
        <p:nvSpPr>
          <p:cNvPr id="9" name="Rounded Rectangle 8"/>
          <p:cNvSpPr/>
          <p:nvPr/>
        </p:nvSpPr>
        <p:spPr>
          <a:xfrm>
            <a:off x="4434840" y="1234440"/>
            <a:ext cx="3383280" cy="452628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4CAF50"/>
                </a:solidFill>
              </a:rPr>
              <a:t>R packages</a:t>
            </a:r>
          </a:p>
          <a:p>
            <a:pPr>
              <a:spcAft>
                <a:spcPts val="400"/>
              </a:spcAft>
              <a:defRPr sz="1500">
                <a:solidFill>
                  <a:srgbClr val="2D3037"/>
                </a:solidFill>
              </a:defRPr>
            </a:pPr>
            <a:r>
              <a:t>clusterProfiler</a:t>
            </a:r>
          </a:p>
          <a:p>
            <a:pPr>
              <a:spcAft>
                <a:spcPts val="400"/>
              </a:spcAft>
              <a:defRPr sz="1500">
                <a:solidFill>
                  <a:srgbClr val="2D3037"/>
                </a:solidFill>
              </a:defRPr>
            </a:pPr>
            <a:r>
              <a:t>org.Hs.eg.db and organism annotation packages</a:t>
            </a:r>
          </a:p>
          <a:p>
            <a:pPr>
              <a:spcAft>
                <a:spcPts val="400"/>
              </a:spcAft>
              <a:defRPr sz="1500">
                <a:solidFill>
                  <a:srgbClr val="2D3037"/>
                </a:solidFill>
              </a:defRPr>
            </a:pPr>
            <a:r>
              <a:t>topGO</a:t>
            </a:r>
          </a:p>
          <a:p>
            <a:pPr>
              <a:spcAft>
                <a:spcPts val="400"/>
              </a:spcAft>
              <a:defRPr sz="1500">
                <a:solidFill>
                  <a:srgbClr val="2D3037"/>
                </a:solidFill>
              </a:defRPr>
            </a:pPr>
            <a:r>
              <a:t>gprofiler2</a:t>
            </a:r>
          </a:p>
          <a:p>
            <a:pPr>
              <a:spcAft>
                <a:spcPts val="400"/>
              </a:spcAft>
              <a:defRPr sz="1500">
                <a:solidFill>
                  <a:srgbClr val="2D3037"/>
                </a:solidFill>
              </a:defRPr>
            </a:pPr>
            <a:r>
              <a:t>GOplot / enrichplot</a:t>
            </a:r>
          </a:p>
        </p:txBody>
      </p:sp>
      <p:sp>
        <p:nvSpPr>
          <p:cNvPr id="10" name="Rounded Rectangle 9"/>
          <p:cNvSpPr/>
          <p:nvPr/>
        </p:nvSpPr>
        <p:spPr>
          <a:xfrm>
            <a:off x="8183879" y="1234440"/>
            <a:ext cx="3246120" cy="452628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F57C00"/>
                </a:solidFill>
              </a:rPr>
              <a:t>Common outputs</a:t>
            </a:r>
          </a:p>
          <a:p>
            <a:pPr>
              <a:spcAft>
                <a:spcPts val="400"/>
              </a:spcAft>
              <a:defRPr sz="1500">
                <a:solidFill>
                  <a:srgbClr val="2D3037"/>
                </a:solidFill>
              </a:defRPr>
            </a:pPr>
            <a:r>
              <a:t>Enrichment table</a:t>
            </a:r>
          </a:p>
          <a:p>
            <a:pPr>
              <a:spcAft>
                <a:spcPts val="400"/>
              </a:spcAft>
              <a:defRPr sz="1500">
                <a:solidFill>
                  <a:srgbClr val="2D3037"/>
                </a:solidFill>
              </a:defRPr>
            </a:pPr>
            <a:r>
              <a:t>Bar plot or dot plot</a:t>
            </a:r>
          </a:p>
          <a:p>
            <a:pPr>
              <a:spcAft>
                <a:spcPts val="400"/>
              </a:spcAft>
              <a:defRPr sz="1500">
                <a:solidFill>
                  <a:srgbClr val="2D3037"/>
                </a:solidFill>
              </a:defRPr>
            </a:pPr>
            <a:r>
              <a:t>Gene-term network</a:t>
            </a:r>
          </a:p>
          <a:p>
            <a:pPr>
              <a:spcAft>
                <a:spcPts val="400"/>
              </a:spcAft>
              <a:defRPr sz="1500">
                <a:solidFill>
                  <a:srgbClr val="2D3037"/>
                </a:solidFill>
              </a:defRPr>
            </a:pPr>
            <a:r>
              <a:t>GO DAG or enrichment map</a:t>
            </a:r>
          </a:p>
          <a:p>
            <a:pPr>
              <a:spcAft>
                <a:spcPts val="400"/>
              </a:spcAft>
              <a:defRPr sz="1500">
                <a:solidFill>
                  <a:srgbClr val="2D3037"/>
                </a:solidFill>
              </a:defRPr>
            </a:pPr>
            <a:r>
              <a:t>Leading genes per term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GO analysis in R: minimal example</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13</a:t>
            </a:r>
          </a:p>
        </p:txBody>
      </p:sp>
      <p:sp>
        <p:nvSpPr>
          <p:cNvPr id="8" name="Rectangle 7"/>
          <p:cNvSpPr/>
          <p:nvPr/>
        </p:nvSpPr>
        <p:spPr>
          <a:xfrm>
            <a:off x="685800" y="978408"/>
            <a:ext cx="64008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l"/>
            <a:r>
              <a:rPr sz="1300" b="1">
                <a:solidFill>
                  <a:srgbClr val="226AB3"/>
                </a:solidFill>
              </a:rPr>
              <a:t>Minimal R example with clusterProfiler</a:t>
            </a:r>
          </a:p>
        </p:txBody>
      </p:sp>
      <p:sp>
        <p:nvSpPr>
          <p:cNvPr id="9" name="Rounded Rectangle 8"/>
          <p:cNvSpPr/>
          <p:nvPr/>
        </p:nvSpPr>
        <p:spPr>
          <a:xfrm>
            <a:off x="685800" y="1234440"/>
            <a:ext cx="6400800" cy="4754880"/>
          </a:xfrm>
          <a:prstGeom prst="roundRect">
            <a:avLst/>
          </a:prstGeom>
          <a:solidFill>
            <a:srgbClr val="FAFAFA"/>
          </a:solidFill>
          <a:ln>
            <a:solidFill>
              <a:srgbClr val="BEBEBE"/>
            </a:solidFill>
          </a:ln>
        </p:spPr>
        <p:style>
          <a:lnRef idx="1">
            <a:schemeClr val="accent1"/>
          </a:lnRef>
          <a:fillRef idx="3">
            <a:schemeClr val="accent1"/>
          </a:fillRef>
          <a:effectRef idx="2">
            <a:schemeClr val="accent1"/>
          </a:effectRef>
          <a:fontRef idx="minor">
            <a:schemeClr val="lt1"/>
          </a:fontRef>
        </p:style>
        <p:txBody>
          <a:bodyPr wrap="square" lIns="127000" tIns="101600" rIns="101600" rtlCol="0" anchor="ctr"/>
          <a:lstStyle/>
          <a:p>
            <a:pPr algn="ctr"/>
            <a:r>
              <a:rPr sz="1200">
                <a:solidFill>
                  <a:srgbClr val="3C3C3C"/>
                </a:solidFill>
                <a:latin typeface="Courier New"/>
              </a:rPr>
              <a:t>library(clusterProfiler)
library(org.Hs.eg.db)
# Example: vector of significant gene symbols
genes &lt;- c("TP53", "EGFR", "CDK1", "MKI67", "CCNB1")
# Convert symbols to Entrez IDs
gene.df &lt;- bitr(genes,
                fromType = "SYMBOL",
                toType = "ENTREZID",
                OrgDb = org.Hs.eg.db)
# GO Biological Process enrichment
ego &lt;- enrichGO(gene          = gene.df$ENTREZID,
                OrgDb         = org.Hs.eg.db,
                ont           = "BP",
                pAdjustMethod = "BH",
                pvalueCutoff  = 0.05,
                qvalueCutoff  = 0.05,
                readable      = TRUE)
dotplot(ego, showCategory = 10)</a:t>
            </a:r>
          </a:p>
        </p:txBody>
      </p:sp>
      <p:sp>
        <p:nvSpPr>
          <p:cNvPr id="10" name="Rounded Rectangle 9"/>
          <p:cNvSpPr/>
          <p:nvPr/>
        </p:nvSpPr>
        <p:spPr>
          <a:xfrm>
            <a:off x="7360920" y="1371600"/>
            <a:ext cx="3977639" cy="434340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6F42C1"/>
                </a:solidFill>
              </a:rPr>
              <a:t>Explain each step</a:t>
            </a:r>
          </a:p>
          <a:p>
            <a:pPr>
              <a:spcAft>
                <a:spcPts val="400"/>
              </a:spcAft>
              <a:defRPr sz="1500">
                <a:solidFill>
                  <a:srgbClr val="2D3037"/>
                </a:solidFill>
              </a:defRPr>
            </a:pPr>
            <a:r>
              <a:t>Start with a gene list.</a:t>
            </a:r>
          </a:p>
          <a:p>
            <a:pPr>
              <a:spcAft>
                <a:spcPts val="400"/>
              </a:spcAft>
              <a:defRPr sz="1500">
                <a:solidFill>
                  <a:srgbClr val="2D3037"/>
                </a:solidFill>
              </a:defRPr>
            </a:pPr>
            <a:r>
              <a:t>Convert gene symbols to database IDs.</a:t>
            </a:r>
          </a:p>
          <a:p>
            <a:pPr>
              <a:spcAft>
                <a:spcPts val="400"/>
              </a:spcAft>
              <a:defRPr sz="1500">
                <a:solidFill>
                  <a:srgbClr val="2D3037"/>
                </a:solidFill>
              </a:defRPr>
            </a:pPr>
            <a:r>
              <a:t>Choose ontology aspect: BP, MF, or CC.</a:t>
            </a:r>
          </a:p>
          <a:p>
            <a:pPr>
              <a:spcAft>
                <a:spcPts val="400"/>
              </a:spcAft>
              <a:defRPr sz="1500">
                <a:solidFill>
                  <a:srgbClr val="2D3037"/>
                </a:solidFill>
              </a:defRPr>
            </a:pPr>
            <a:r>
              <a:t>Use multiple testing correction.</a:t>
            </a:r>
          </a:p>
          <a:p>
            <a:pPr>
              <a:spcAft>
                <a:spcPts val="400"/>
              </a:spcAft>
              <a:defRPr sz="1500">
                <a:solidFill>
                  <a:srgbClr val="2D3037"/>
                </a:solidFill>
              </a:defRPr>
            </a:pPr>
            <a:r>
              <a:t>Visualize and interpret top terms.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How to interpret GO results carefully</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14</a:t>
            </a:r>
          </a:p>
        </p:txBody>
      </p:sp>
      <p:sp>
        <p:nvSpPr>
          <p:cNvPr id="8" name="Rounded Rectangle 7"/>
          <p:cNvSpPr/>
          <p:nvPr/>
        </p:nvSpPr>
        <p:spPr>
          <a:xfrm>
            <a:off x="685800" y="1234440"/>
            <a:ext cx="5303520" cy="466344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4CAF50"/>
                </a:solidFill>
              </a:rPr>
              <a:t>Good interpretation</a:t>
            </a:r>
          </a:p>
          <a:p>
            <a:pPr>
              <a:spcAft>
                <a:spcPts val="400"/>
              </a:spcAft>
              <a:defRPr sz="1500">
                <a:solidFill>
                  <a:srgbClr val="2D3037"/>
                </a:solidFill>
              </a:defRPr>
            </a:pPr>
            <a:r>
              <a:t>Use GO terms to identify biological themes.</a:t>
            </a:r>
          </a:p>
          <a:p>
            <a:pPr>
              <a:spcAft>
                <a:spcPts val="400"/>
              </a:spcAft>
              <a:defRPr sz="1500">
                <a:solidFill>
                  <a:srgbClr val="2D3037"/>
                </a:solidFill>
              </a:defRPr>
            </a:pPr>
            <a:r>
              <a:t>Check which genes drive each term.</a:t>
            </a:r>
          </a:p>
          <a:p>
            <a:pPr>
              <a:spcAft>
                <a:spcPts val="400"/>
              </a:spcAft>
              <a:defRPr sz="1500">
                <a:solidFill>
                  <a:srgbClr val="2D3037"/>
                </a:solidFill>
              </a:defRPr>
            </a:pPr>
            <a:r>
              <a:t>Report ontology aspect and statistical method.</a:t>
            </a:r>
          </a:p>
          <a:p>
            <a:pPr>
              <a:spcAft>
                <a:spcPts val="400"/>
              </a:spcAft>
              <a:defRPr sz="1500">
                <a:solidFill>
                  <a:srgbClr val="2D3037"/>
                </a:solidFill>
              </a:defRPr>
            </a:pPr>
            <a:r>
              <a:t>Use adjusted p values rather than raw p values.</a:t>
            </a:r>
          </a:p>
          <a:p>
            <a:pPr>
              <a:spcAft>
                <a:spcPts val="400"/>
              </a:spcAft>
              <a:defRPr sz="1500">
                <a:solidFill>
                  <a:srgbClr val="2D3037"/>
                </a:solidFill>
              </a:defRPr>
            </a:pPr>
            <a:r>
              <a:t>Relate results to the study design and disease context.</a:t>
            </a:r>
          </a:p>
        </p:txBody>
      </p:sp>
      <p:sp>
        <p:nvSpPr>
          <p:cNvPr id="9" name="Rounded Rectangle 8"/>
          <p:cNvSpPr/>
          <p:nvPr/>
        </p:nvSpPr>
        <p:spPr>
          <a:xfrm>
            <a:off x="6309360" y="1234440"/>
            <a:ext cx="5074920" cy="4663440"/>
          </a:xfrm>
          <a:prstGeom prst="roundRect">
            <a:avLst/>
          </a:prstGeom>
          <a:solidFill>
            <a:srgbClr val="FFEBEE"/>
          </a:solidFill>
          <a:ln>
            <a:solidFill>
              <a:srgbClr val="C62828"/>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C62828"/>
                </a:solidFill>
              </a:rPr>
              <a:t>Common pitfalls</a:t>
            </a:r>
          </a:p>
          <a:p>
            <a:pPr>
              <a:spcAft>
                <a:spcPts val="400"/>
              </a:spcAft>
              <a:defRPr sz="1500">
                <a:solidFill>
                  <a:srgbClr val="2D3037"/>
                </a:solidFill>
              </a:defRPr>
            </a:pPr>
            <a:r>
              <a:t>Using the wrong background gene universe.</a:t>
            </a:r>
          </a:p>
          <a:p>
            <a:pPr>
              <a:spcAft>
                <a:spcPts val="400"/>
              </a:spcAft>
              <a:defRPr sz="1500">
                <a:solidFill>
                  <a:srgbClr val="2D3037"/>
                </a:solidFill>
              </a:defRPr>
            </a:pPr>
            <a:r>
              <a:t>Over-interpreting broad terms such as metabolic process.</a:t>
            </a:r>
          </a:p>
          <a:p>
            <a:pPr>
              <a:spcAft>
                <a:spcPts val="400"/>
              </a:spcAft>
              <a:defRPr sz="1500">
                <a:solidFill>
                  <a:srgbClr val="2D3037"/>
                </a:solidFill>
              </a:defRPr>
            </a:pPr>
            <a:r>
              <a:t>Ignoring redundancy among related GO terms.</a:t>
            </a:r>
          </a:p>
          <a:p>
            <a:pPr>
              <a:spcAft>
                <a:spcPts val="400"/>
              </a:spcAft>
              <a:defRPr sz="1500">
                <a:solidFill>
                  <a:srgbClr val="2D3037"/>
                </a:solidFill>
              </a:defRPr>
            </a:pPr>
            <a:r>
              <a:t>Confusing enrichment with causality.</a:t>
            </a:r>
          </a:p>
          <a:p>
            <a:pPr>
              <a:spcAft>
                <a:spcPts val="400"/>
              </a:spcAft>
              <a:defRPr sz="1500">
                <a:solidFill>
                  <a:srgbClr val="2D3037"/>
                </a:solidFill>
              </a:defRPr>
            </a:pPr>
            <a:r>
              <a:t>Not checking gene identifier mapping.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Reporting GO analysis in a manuscript</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15</a:t>
            </a:r>
          </a:p>
        </p:txBody>
      </p:sp>
      <p:sp>
        <p:nvSpPr>
          <p:cNvPr id="8" name="Rounded Rectangle 7"/>
          <p:cNvSpPr/>
          <p:nvPr/>
        </p:nvSpPr>
        <p:spPr>
          <a:xfrm>
            <a:off x="685800" y="1234440"/>
            <a:ext cx="5303520" cy="475488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What to report</a:t>
            </a:r>
          </a:p>
          <a:p>
            <a:pPr>
              <a:spcAft>
                <a:spcPts val="400"/>
              </a:spcAft>
              <a:defRPr sz="1400">
                <a:solidFill>
                  <a:srgbClr val="2D3037"/>
                </a:solidFill>
              </a:defRPr>
            </a:pPr>
            <a:r>
              <a:t>Source of gene list and selection threshold</a:t>
            </a:r>
          </a:p>
          <a:p>
            <a:pPr>
              <a:spcAft>
                <a:spcPts val="400"/>
              </a:spcAft>
              <a:defRPr sz="1400">
                <a:solidFill>
                  <a:srgbClr val="2D3037"/>
                </a:solidFill>
              </a:defRPr>
            </a:pPr>
            <a:r>
              <a:t>Background gene universe</a:t>
            </a:r>
          </a:p>
          <a:p>
            <a:pPr>
              <a:spcAft>
                <a:spcPts val="400"/>
              </a:spcAft>
              <a:defRPr sz="1400">
                <a:solidFill>
                  <a:srgbClr val="2D3037"/>
                </a:solidFill>
              </a:defRPr>
            </a:pPr>
            <a:r>
              <a:t>GO aspect: BP, MF, or CC</a:t>
            </a:r>
          </a:p>
          <a:p>
            <a:pPr>
              <a:spcAft>
                <a:spcPts val="400"/>
              </a:spcAft>
              <a:defRPr sz="1400">
                <a:solidFill>
                  <a:srgbClr val="2D3037"/>
                </a:solidFill>
              </a:defRPr>
            </a:pPr>
            <a:r>
              <a:t>Software or database version</a:t>
            </a:r>
          </a:p>
          <a:p>
            <a:pPr>
              <a:spcAft>
                <a:spcPts val="400"/>
              </a:spcAft>
              <a:defRPr sz="1400">
                <a:solidFill>
                  <a:srgbClr val="2D3037"/>
                </a:solidFill>
              </a:defRPr>
            </a:pPr>
            <a:r>
              <a:t>Statistical test and multiple-testing method</a:t>
            </a:r>
          </a:p>
          <a:p>
            <a:pPr>
              <a:spcAft>
                <a:spcPts val="400"/>
              </a:spcAft>
              <a:defRPr sz="1400">
                <a:solidFill>
                  <a:srgbClr val="2D3037"/>
                </a:solidFill>
              </a:defRPr>
            </a:pPr>
            <a:r>
              <a:t>Top terms with adjusted p values and gene counts</a:t>
            </a:r>
          </a:p>
          <a:p>
            <a:pPr>
              <a:spcAft>
                <a:spcPts val="400"/>
              </a:spcAft>
              <a:defRPr sz="1400">
                <a:solidFill>
                  <a:srgbClr val="2D3037"/>
                </a:solidFill>
              </a:defRPr>
            </a:pPr>
            <a:r>
              <a:t>Key genes contributing to biological interpretation</a:t>
            </a:r>
          </a:p>
        </p:txBody>
      </p:sp>
      <p:sp>
        <p:nvSpPr>
          <p:cNvPr id="9" name="Rounded Rectangle 8"/>
          <p:cNvSpPr/>
          <p:nvPr/>
        </p:nvSpPr>
        <p:spPr>
          <a:xfrm>
            <a:off x="6309360" y="1234440"/>
            <a:ext cx="5074920" cy="4754880"/>
          </a:xfrm>
          <a:prstGeom prst="roundRect">
            <a:avLst/>
          </a:prstGeom>
          <a:solidFill>
            <a:srgbClr val="FFF3E0"/>
          </a:solidFill>
          <a:ln>
            <a:solidFill>
              <a:srgbClr val="F57C0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F57C00"/>
                </a:solidFill>
              </a:rPr>
              <a:t>Example wording</a:t>
            </a:r>
          </a:p>
          <a:p>
            <a:pPr>
              <a:spcAft>
                <a:spcPts val="400"/>
              </a:spcAft>
              <a:defRPr sz="1400">
                <a:solidFill>
                  <a:srgbClr val="2D3037"/>
                </a:solidFill>
              </a:defRPr>
            </a:pPr>
            <a:r>
              <a:t>GO Biological Process enrichment analysis of upregulated genes revealed enrichment of cell-cycle and DNA-replication terms, suggesting increased proliferative activity in tumor samples.</a:t>
            </a:r>
          </a:p>
          <a:p>
            <a:pPr>
              <a:spcAft>
                <a:spcPts val="400"/>
              </a:spcAft>
              <a:defRPr sz="1400">
                <a:solidFill>
                  <a:srgbClr val="2D3037"/>
                </a:solidFill>
              </a:defRPr>
            </a:pPr>
            <a:r>
              <a:t>The analysis used all expressed genes as the background and Benjamini-Hochberg FDR correction.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4008"/>
            <a:ext cx="7315200" cy="228600"/>
          </a:xfrm>
          <a:prstGeom prst="rect">
            <a:avLst/>
          </a:prstGeom>
          <a:noFill/>
        </p:spPr>
        <p:txBody>
          <a:bodyPr wrap="none">
            <a:spAutoFit/>
          </a:bodyPr>
          <a:lstStyle/>
          <a:p>
            <a:r>
              <a:rPr sz="1100" b="1">
                <a:solidFill>
                  <a:srgbClr val="FFFFFF"/>
                </a:solidFill>
              </a:rPr>
              <a:t>Gene Ontology in Biomedical Research</a:t>
            </a:r>
          </a:p>
        </p:txBody>
      </p:sp>
      <p:sp>
        <p:nvSpPr>
          <p:cNvPr id="4" name="TextBox 3"/>
          <p:cNvSpPr txBox="1"/>
          <p:nvPr/>
        </p:nvSpPr>
        <p:spPr>
          <a:xfrm>
            <a:off x="548640" y="566928"/>
            <a:ext cx="11155680" cy="548640"/>
          </a:xfrm>
          <a:prstGeom prst="rect">
            <a:avLst/>
          </a:prstGeom>
          <a:noFill/>
        </p:spPr>
        <p:txBody>
          <a:bodyPr wrap="none">
            <a:spAutoFit/>
          </a:bodyPr>
          <a:lstStyle/>
          <a:p>
            <a:r>
              <a:rPr sz="2600" b="1">
                <a:solidFill>
                  <a:srgbClr val="162C49"/>
                </a:solidFill>
              </a:rPr>
              <a:t>Summary and recommended resources</a:t>
            </a:r>
          </a:p>
        </p:txBody>
      </p:sp>
      <p:sp>
        <p:nvSpPr>
          <p:cNvPr id="5" name="Rectangle 4"/>
          <p:cNvSpPr/>
          <p:nvPr/>
        </p:nvSpPr>
        <p:spPr>
          <a:xfrm>
            <a:off x="0" y="6601968"/>
            <a:ext cx="12191695" cy="256032"/>
          </a:xfrm>
          <a:prstGeom prst="rect">
            <a:avLst/>
          </a:prstGeom>
          <a:solidFill>
            <a:srgbClr val="162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656832"/>
            <a:ext cx="7315200" cy="137160"/>
          </a:xfrm>
          <a:prstGeom prst="rect">
            <a:avLst/>
          </a:prstGeom>
          <a:noFill/>
        </p:spPr>
        <p:txBody>
          <a:bodyPr wrap="none">
            <a:spAutoFit/>
          </a:bodyPr>
          <a:lstStyle/>
          <a:p>
            <a:r>
              <a:rPr sz="900">
                <a:solidFill>
                  <a:srgbClr val="FFFFFF"/>
                </a:solidFill>
              </a:rPr>
              <a:t>GO: standardized language for gene function</a:t>
            </a:r>
          </a:p>
        </p:txBody>
      </p:sp>
      <p:sp>
        <p:nvSpPr>
          <p:cNvPr id="7" name="TextBox 6"/>
          <p:cNvSpPr txBox="1"/>
          <p:nvPr/>
        </p:nvSpPr>
        <p:spPr>
          <a:xfrm>
            <a:off x="11460175" y="6656832"/>
            <a:ext cx="457200" cy="137160"/>
          </a:xfrm>
          <a:prstGeom prst="rect">
            <a:avLst/>
          </a:prstGeom>
          <a:noFill/>
        </p:spPr>
        <p:txBody>
          <a:bodyPr wrap="none">
            <a:spAutoFit/>
          </a:bodyPr>
          <a:lstStyle/>
          <a:p>
            <a:pPr algn="r"/>
            <a:r>
              <a:rPr sz="900">
                <a:solidFill>
                  <a:srgbClr val="FFFFFF"/>
                </a:solidFill>
              </a:rPr>
              <a:t>16</a:t>
            </a:r>
          </a:p>
        </p:txBody>
      </p:sp>
      <p:sp>
        <p:nvSpPr>
          <p:cNvPr id="8" name="Rounded Rectangle 7"/>
          <p:cNvSpPr/>
          <p:nvPr/>
        </p:nvSpPr>
        <p:spPr>
          <a:xfrm>
            <a:off x="685800" y="1143000"/>
            <a:ext cx="5212080" cy="2834640"/>
          </a:xfrm>
          <a:prstGeom prst="roundRect">
            <a:avLst/>
          </a:prstGeom>
          <a:solidFill>
            <a:srgbClr val="E8F5E9"/>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4CAF50"/>
                </a:solidFill>
              </a:rPr>
              <a:t>Take-home messages</a:t>
            </a:r>
          </a:p>
          <a:p>
            <a:pPr>
              <a:spcAft>
                <a:spcPts val="400"/>
              </a:spcAft>
              <a:defRPr sz="1500">
                <a:solidFill>
                  <a:srgbClr val="2D3037"/>
                </a:solidFill>
              </a:defRPr>
            </a:pPr>
            <a:r>
              <a:t>GO provides a standardized vocabulary for gene product function.</a:t>
            </a:r>
          </a:p>
          <a:p>
            <a:pPr>
              <a:spcAft>
                <a:spcPts val="400"/>
              </a:spcAft>
              <a:defRPr sz="1500">
                <a:solidFill>
                  <a:srgbClr val="2D3037"/>
                </a:solidFill>
              </a:defRPr>
            </a:pPr>
            <a:r>
              <a:t>The three aspects are Molecular Function, Cellular Component, and Biological Process.</a:t>
            </a:r>
          </a:p>
          <a:p>
            <a:pPr>
              <a:spcAft>
                <a:spcPts val="400"/>
              </a:spcAft>
              <a:defRPr sz="1500">
                <a:solidFill>
                  <a:srgbClr val="2D3037"/>
                </a:solidFill>
              </a:defRPr>
            </a:pPr>
            <a:r>
              <a:t>GO enrichment converts gene lists into interpretable biological themes.</a:t>
            </a:r>
          </a:p>
          <a:p>
            <a:pPr>
              <a:spcAft>
                <a:spcPts val="400"/>
              </a:spcAft>
              <a:defRPr sz="1500">
                <a:solidFill>
                  <a:srgbClr val="2D3037"/>
                </a:solidFill>
              </a:defRPr>
            </a:pPr>
            <a:r>
              <a:t>GO is widely useful, but results require careful interpretation.</a:t>
            </a:r>
          </a:p>
        </p:txBody>
      </p:sp>
      <p:sp>
        <p:nvSpPr>
          <p:cNvPr id="9" name="Rounded Rectangle 8"/>
          <p:cNvSpPr/>
          <p:nvPr/>
        </p:nvSpPr>
        <p:spPr>
          <a:xfrm>
            <a:off x="6217920" y="1143000"/>
            <a:ext cx="5257800" cy="2834640"/>
          </a:xfrm>
          <a:prstGeom prst="roundRect">
            <a:avLst/>
          </a:prstGeom>
          <a:solidFill>
            <a:srgbClr val="E0F2FF"/>
          </a:solidFill>
          <a:ln>
            <a:solidFill>
              <a:srgbClr val="226AB3"/>
            </a:solidFill>
          </a:ln>
        </p:spPr>
        <p:style>
          <a:lnRef idx="1">
            <a:schemeClr val="accent1"/>
          </a:lnRef>
          <a:fillRef idx="3">
            <a:schemeClr val="accent1"/>
          </a:fillRef>
          <a:effectRef idx="2">
            <a:schemeClr val="accent1"/>
          </a:effectRef>
          <a:fontRef idx="minor">
            <a:schemeClr val="lt1"/>
          </a:fontRef>
        </p:style>
        <p:txBody>
          <a:bodyPr wrap="square" lIns="177800" tIns="127000" rIns="152400" rtlCol="0" anchor="ctr"/>
          <a:lstStyle/>
          <a:p>
            <a:pPr algn="ctr">
              <a:spcAft>
                <a:spcPts val="600"/>
              </a:spcAft>
            </a:pPr>
            <a:r>
              <a:rPr sz="1900" b="1">
                <a:solidFill>
                  <a:srgbClr val="226AB3"/>
                </a:solidFill>
              </a:rPr>
              <a:t>Recommended resources</a:t>
            </a:r>
          </a:p>
          <a:p>
            <a:pPr>
              <a:spcAft>
                <a:spcPts val="400"/>
              </a:spcAft>
              <a:defRPr sz="1400">
                <a:solidFill>
                  <a:srgbClr val="2D3037"/>
                </a:solidFill>
              </a:defRPr>
            </a:pPr>
            <a:r>
              <a:t>Gene Ontology Resource: geneontology.org</a:t>
            </a:r>
          </a:p>
          <a:p>
            <a:pPr>
              <a:spcAft>
                <a:spcPts val="400"/>
              </a:spcAft>
              <a:defRPr sz="1400">
                <a:solidFill>
                  <a:srgbClr val="2D3037"/>
                </a:solidFill>
              </a:defRPr>
            </a:pPr>
            <a:r>
              <a:t>GO documentation: ontology, annotations, enrichment analysis</a:t>
            </a:r>
          </a:p>
          <a:p>
            <a:pPr>
              <a:spcAft>
                <a:spcPts val="400"/>
              </a:spcAft>
              <a:defRPr sz="1400">
                <a:solidFill>
                  <a:srgbClr val="2D3037"/>
                </a:solidFill>
              </a:defRPr>
            </a:pPr>
            <a:r>
              <a:t>AmiGO browser for GO terms and annotations</a:t>
            </a:r>
          </a:p>
          <a:p>
            <a:pPr>
              <a:spcAft>
                <a:spcPts val="400"/>
              </a:spcAft>
              <a:defRPr sz="1400">
                <a:solidFill>
                  <a:srgbClr val="2D3037"/>
                </a:solidFill>
              </a:defRPr>
            </a:pPr>
            <a:r>
              <a:t>clusterProfiler and enrichplot for R-based analysis</a:t>
            </a:r>
          </a:p>
          <a:p>
            <a:pPr>
              <a:spcAft>
                <a:spcPts val="400"/>
              </a:spcAft>
              <a:defRPr sz="1400">
                <a:solidFill>
                  <a:srgbClr val="2D3037"/>
                </a:solidFill>
              </a:defRPr>
            </a:pPr>
            <a:r>
              <a:t>PANTHER, Enrichr, DAVID, and Metascape for web-based analysis</a:t>
            </a:r>
          </a:p>
        </p:txBody>
      </p:sp>
      <p:sp>
        <p:nvSpPr>
          <p:cNvPr id="10" name="Rounded Rectangle 9"/>
          <p:cNvSpPr/>
          <p:nvPr/>
        </p:nvSpPr>
        <p:spPr>
          <a:xfrm>
            <a:off x="1143000" y="4800600"/>
            <a:ext cx="9966960" cy="777240"/>
          </a:xfrm>
          <a:prstGeom prst="roundRect">
            <a:avLst/>
          </a:prstGeom>
          <a:solidFill>
            <a:srgbClr val="F3EAFF"/>
          </a:solidFill>
          <a:ln>
            <a:solidFill>
              <a:srgbClr val="6F42C1"/>
            </a:solidFill>
          </a:ln>
        </p:spPr>
        <p:style>
          <a:lnRef idx="1">
            <a:schemeClr val="accent1"/>
          </a:lnRef>
          <a:fillRef idx="3">
            <a:schemeClr val="accent1"/>
          </a:fillRef>
          <a:effectRef idx="2">
            <a:schemeClr val="accent1"/>
          </a:effectRef>
          <a:fontRef idx="minor">
            <a:schemeClr val="lt1"/>
          </a:fontRef>
        </p:style>
        <p:txBody>
          <a:bodyPr wrap="square" lIns="127000" tIns="88900" rIns="127000" bIns="88900" rtlCol="0" anchor="ctr"/>
          <a:lstStyle/>
          <a:p>
            <a:pPr algn="ctr"/>
            <a:r>
              <a:rPr sz="1800" b="1">
                <a:solidFill>
                  <a:srgbClr val="162C49"/>
                </a:solidFill>
              </a:rPr>
              <a:t>Final idea: GO does not replace biological knowledge — it organizes it, summarizes it, and helps generate testable hypotheses.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3434</Words>
  <Application>Microsoft Macintosh PowerPoint</Application>
  <PresentationFormat>Widescreen</PresentationFormat>
  <Paragraphs>316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Zhong, Hua</cp:lastModifiedBy>
  <cp:revision>2</cp:revision>
  <dcterms:created xsi:type="dcterms:W3CDTF">2013-01-27T09:14:16Z</dcterms:created>
  <dcterms:modified xsi:type="dcterms:W3CDTF">2026-07-17T08:25:11Z</dcterms:modified>
  <cp:category/>
</cp:coreProperties>
</file>