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practical overview of how public-data bioinformatics studies are commonly designed when the main resources are a personal computer, R or Python, and public databases such as TCGA and GEO. The target is not a guaranteed impact factor. Instead, we are discussing the level of workflow often seen in small-to-mid impact bioinformatics papers using bulk omics and clinical data. The main message is that you usually do not need a cluster to begin. Processed expression matrices, clinical tables, mutation files, and web-based tools are sufficient for many projects. The challenge is not producing many plots. The challenge is building a coherent question, using appropriate statistics, validating the result independently, and writing a logical biological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ideas to remember from the entire presentation. First, most common bulk-transcriptomic analyses are feasible on a normal personal computer if we start from processed data instead of raw sequencing reads. Second, a manuscript should be a logic chain, not a collection of unrelated website outputs. A strong sequence is phenotype, molecular signal, biological interpretation, clinical relevance, and independent validation. Third, validation usually adds more value than another decorative analysis. A second GEO cohort, multivariable Cox regression, sensitivity analysis, or properly separated test data can make the study much more credible. For a beginner, a good starting design is one disease, one biological question, one discovery cohort, and one external validation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public-data paper in this journal range usually contains several basic ingredients: a clear disease or clinical question, a discovery cohort, external validation, reproducible statistics, biological interpretation, and some form of clinical relevance when appropriate. One or two orthogonal analyses, such as immune infiltration or mutation context, can strengthen the story if they directly answer the central question. What is increasingly weak is the older pattern of taking a single gene and stacking many databases around it without a specific hypothesis. Reviewers are also more sensitive to overfitting, arbitrary cutoffs, missing external validation, and mechanistic claims based only on correlation. So the goal is not to maximize the number of analyses. It is to maximize methodological coherence and evidential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the major public resources by function. TCGA, accessed through GDC or curated portals, is usually best for cancer discovery because it combines RNA expression, clinical data, mutations, copy number, methylation, and other omics. GEO is broader and often ideal for independent validation because it contains many disease-specific microarray and RNA-seq studies. cBioPortal is excellent for quick exploration of mutations, copy-number changes, expression, clinical variables, and survival in curated cancer cohorts. Additional resources can be added when they serve a specific purpose—for example, GTEx for normal-tissue context, CPTAC for proteomic confirmation, or CGGA for glioma-specific validation. The practical principle is to choose the database because of the required data type, not because the website is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beginner question is: what can I actually run on my own computer? For processed bulk-omics data, the answer is most of the common workflow. Expression matrices, clinical analysis, differential expression, survival analysis, pathway enrichment, and mutation summaries are usually easy with 8 to 16 gigabytes of RAM. GSVA, immune scoring, and WGCNA may benefit from 16 to 32 gigabytes, depending on matrix size. The tasks that become genuinely heavy are raw FASTQ alignment and very large single-cell or spatial datasets. For a first public-data paper, there is usually no need to start from raw reads. Downloading processed matrices is not a shortcut in a negative sense; it simply places the project at the statistical-analysis layer rather than the sequence-processing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choosing software, choose the manuscript architecture. This slide shows four common patterns. A single-gene or immune-checkpoint paper follows expression, clinical association, prognosis, pathways, immune context, and validation. A prognostic-signature paper starts from a candidate gene space, performs feature selection and Cox modeling, creates a risk score, and requires careful internal and external validation. A hub-gene paper uses differential expression or WGCNA, then PPI or network analysis, and finally validates prioritized genes. An immune or pathway-score paper uses GSVA, ssGSEA, or deconvolution scores as the central feature. These are not rigid templates, but choosing one architecture early prevents the project from becoming a collection of disconnected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workflow I recommend using as a mental model. Begin with a question, then choose cohorts, perform quality control, identify the main molecular signal, interpret its biology, test clinical relevance, validate it independently, and only then assemble the manuscript. Each step has a distinct question. Discovery asks what differs, predicts, or clusters the phenotype. Mechanistic analysis asks what pathways, immune processes, networks, or genomic features accompany that signal. Validation asks whether the result survives a second cohort, covariate adjustment, and sensitivity checks. A simple rule is that every main figure should answer one manuscript question. If an analysis does not strengthen the central claim, it probably belongs in the supplement or should be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project is often determined before any code is written. A weak starting point is, 'I found gene X; what analyses can I add?' That encourages database stacking. A better question is specific: for example, is gene X associated with an aggressive immune phenotype in disease Y, and does it provide independent prognostic information? The best formulation goes one step further and defines the population, endpoint, molecular feature, comparison, discovery cohort, validation cohort, and plausible biological mechanism. The sentence at the bottom is a useful template for a proposal or introduction. If you can state the study in one sentence before coding, it becomes much easier to decide which analyses are necessary and which are merely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one of the least glamorous but most important stages. Before any statistical test, confirm sample identifiers, tumor versus normal labels, duplicate samples, and endpoint definitions. You must know whether the expression values are raw counts, TPM or FPKM, log-transformed values, or normalized microarray intensities because the appropriate method depends on the data type. DESeq2 and edgeR are designed for counts, while limma is commonly used for normalized continuous expression or voom-transformed counts. When combining GEO cohorts, platform differences and batch effects must be evaluated. Also document missing clinical data in advance. Many irreproducible results come from silently mixing data types, changing endpoints after looking at the results, or merging cohorts before inspecting batch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two questions that are often confused. Differential expression asks whether gene expression differs between predefined biological groups—for example, tumor versus normal or responder versus non-responder. The result should include an effect size such as log2 fold change together with an adjusted P value or FDR. Clinical association asks whether expression or a score is related to grade, stage, subtype, mutation status, age, sex, or another phenotype. The statistical test depends on the variable type and distribution. Typical outputs include volcano plots, heatmaps, box or violin plots, and effect-size tables. A good manuscript should not treat these graphics as endpoints by themselves. Each plot should establish a specific part of the biological or clinical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Survival analysis has three levels that should be kept conceptually separate. Kaplan–Meier curves are mainly visualization plus an unadjusted group comparison using the log-rank test. Univariate Cox regression estimates the hazard association of each variable and should report the hazard ratio, 95 percent confidence interval, and P value. Multivariable Cox regression asks whether the molecular feature retains prognostic information after adjustment for important clinical covariates. The Cox model represents hazard as a baseline hazard multiplied by an exponential function of the predictors. When possible, also examine the proportional-hazards assumption. A common mistake is to call a marker an independent prognostic factor based only on a Kaplan–Meier curve. Independence is a multivariable modeling question, not a visual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identifying a molecular signal, we usually need to interpret what biology it may represent. Over-representation analysis with GO or KEGG starts from a selected gene list and asks which annotations are enriched, but the result depends on the cutoff used to select genes. GSEA instead starts from a ranked list and tests whether predefined gene sets accumulate toward one end, reducing dependence on an arbitrary DEG threshold. GSVA and ssGSEA work at the sample level: they convert an expression matrix into pathway scores for each patient, which can then be compared with clinical or immune features. The critical interpretation rule is that pathway enrichment supports association with a biological program. It does not prove that the pathway is mechanistically activated by the candidate gene.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Immune-microenvironment analysis is useful when immunity is central to the biological question. Common outputs include inferred immune-cell abundance, stromal and immune scores, checkpoint expression, cytolytic activity, HLA-related genes, and immune subtypes. Tools such as TIMER, xCell, CIBERSORT-family methods, ESTIMATE, and ssGSEA provide different types of estimates. These methods are valuable, but they are computational deconvolution, not direct histology. Different algorithms can disagree because they use different marker sets and assumptions. A stronger paper may therefore compare more than one method or use single-cell and pathology resources for contextual support. The main point is to interpret immune estimates as inferred relative abundance or association, not as a direct cell count measured under a microscope.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Genomic and multi-omics analyses can strengthen a paper when they explain the central expression or clinical signal. Mutation analysis can compare mutation frequencies, co-occurrence patterns, or tumor mutation burden using MAF files and tools such as maftools or cBioPortal. Copy-number and methylation data can help explain why a gene is overexpressed or underexpressed. Protein-level resources such as CPTAC or RPPA can provide evidence that extends beyond mRNA. However, 'multi-omics' should not become a label for several unrelated correlation plots. Add another omics layer only if it tests a specific hypothesis—for example, whether promoter methylation is inversely related to expression or whether copy-number amplification explains a high-expression subgroup.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Networks are mainly tools for prioritization. STRING or other PPI resources connect proteins with known or predicted functional relationships, and network centrality can help nominate candidates for further study. WGCNA approaches the problem from co-expression: it identifies modules of genes that vary together and then tests whether module eigengenes are associated with a phenotype. A common route is to identify a DEG set or WGCNA module, build a PPI network, select candidate hubs, and then validate those candidates clinically and in an external cohort. The important warning is that a network hub is not automatically a causal driver. Connectivity is evidence for prioritization, not proof of biological necessity. Strong claims require independent functional or experimental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Prognostic signatures and machine-learning models are attractive because the code is accessible, but they are also easy to overfit. Typical model-building options include univariate screening, LASSO or elastic net, multivariable Cox regression, and sometimes tree-based methods. After a risk score is constructed, evaluation may include the C-index, time-dependent AUC, calibration, decision-curve analysis, and Kaplan–Meier separation. The safeguards are more important than the model type. Training and test information must remain separated, cross-validation should occur within the training data, feature selection must not use the test set, and external validation is highly desirable. A high AUC from a leaky pipeline is not evidence of a good model. The real objective is performance that survives new patients and a new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validation is often the highest-value additional analysis in a public-data paper. Reanalyzing the same cohort gives only exploratory support. A train-test split is better, but both subsets still share platform and collection biases. An independent GEO or TCGA cohort is stronger because it tests portability across studies and sometimes across technologies. Orthogonal validation—such as protein data, single-cell context, pathology, or wet-lab experiments—is stronger still. The purpose of validation is not simply to obtain another P value below 0.05. We want the direction of effect, practical magnitude, and biological interpretation to remain reasonably consistent. If the finding disappears in an independent cohort, that is important information and should influence the final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tools are extremely useful for exploration, rapid validation, and figure prototyping. GDC is the primary route for harmonized TCGA and TARGET data. GEO and GEO2R help locate studies and perform quick study-level differential analyses. cBioPortal is useful for genomic alterations, expression, clinical variables, and survival. TIMER focuses on immune infiltration, GEPIA2 offers convenient TCGA and GTEx expression and survival checks, STRING builds protein-association networks, and enrichment portals provide fast functional annotation. The key workflow principle is to use websites to explore and cross-check, but keep the core manuscript analysis reproducible locally whenever possible. A reviewer should be able to understand the exact cohort, preprocessing, statistical test, and parameters rather than relying on a website state that may later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local analysis, you do not need hundreds of R packages. A compact toolbox covers most bulk-data projects. Tidyverse, data.table, ggplot2, and ComplexHeatmap handle data manipulation and visualization. limma, edgeR, and DESeq2 cover the main differential-expression settings. survival and survminer handle standard survival workflows. clusterProfiler, fgsea, and GSVA cover much of functional analysis. maftools is widely used for mutation summaries, WGCNA and igraph for networks, glmnet and modeling frameworks for signatures, TCGAbiolinks for TCGA access, and GEOquery for GEO. The most important learning principle is not memorizing package syntax. First understand the statistical question, the required input, and the assumptions; then choose the package that implements that analysis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practical blueprint for a focused single-gene paper. Figure 1 establishes the cohort and expression pattern. Figure 2 connects the gene to clinical or molecular phenotype. Figure 3 tests prognosis using Kaplan–Meier and Cox models. Figure 4 provides biological interpretation through differential expression and enrichment. Figure 5 examines immune context if it is relevant. Figure 6 adds genomic or epigenetic information only if it helps explain the signal. Figure 7 is external validation in an independent cohort. An optional final figure may integrate a nomogram or another clinically justified model. Notice the logic: each figure has a different job. A coherent six-to-eight figure manuscript is usually stronger than a fifteen-figure manuscript where every analysis repeats the same basic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prognostic-signature paper requires stricter modeling discipline. Start with a defensible candidate space such as pathway genes, immune genes, or a discovery-derived DEG set. Build the model only within the training cohort, using methods such as univariate Cox screening followed by LASSO or elastic net and a final multivariable model. The risk score is calculated as the sum of each selected gene expression multiplied by its fixed coefficient. Internal validation estimates optimism, but external validation should apply the frozen coefficients without reselecting genes or retuning the model. Clinical utility can then be examined with independent Cox analysis, calibration, and possibly a nomogram or decision-curve analysis. The most dangerous error is selecting features using the entire dataset before splitting, because that leaks test information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essentially a pre-submission checklist from the reviewer’s perspective. Common statistical weaknesses include no external validation, inconsistent preprocessing, unclear survival endpoints, failure to control multiple testing, inadequate confounder adjustment, and arbitrary cutoffs. Common interpretation problems include overfitted LASSO models, data leakage, claiming mechanism from correlation, relying entirely on websites, reporting only P values without confidence intervals, and producing many redundant figures. A useful test is to imagine removing every decorative plot. Which result would still persuade a skeptical reviewer that the central claim is real? If the answer is not clear, more figures are unlikely to fix the project. Strengthen the design, validation, or statistical reasoning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beginner, I recommend learning the high-frequency methods before advanced topics. Week one should focus on data frames, merging clinical and expression tables, and ggplot2. Week two adds basic statistical tests, multiple-testing correction, and differential-expression workflows. Week three covers survival objects, Kaplan–Meier curves, log-rank tests, Cox models, hazard ratios, and confidence intervals. Week four focuses on enrichment and the difference between GO/KEGG, GSEA, and GSVA. Week five adds immune and genomic context. Week six focuses on external validation, reproducible scripts, figure organization, and manuscript logic. There is no need to begin with single-cell analysis, deep learning, or raw FASTQ processing unless the scientific question genuinely requires those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checklist is the compact planning standard. Before coding, define one precise question and identify both a discovery cohort and an independent validation cohort. Confirm the data type and endpoint definitions, and choose each analysis because it answers part of the question. If you claim prognosis, use appropriate multivariable adjustment. Report effect sizes, confidence intervals, and FDR where relevant. If you build a predictive model, prevent data leakage. State limitations clearly. The minimal strong chain is question, clean cohort, discovery, biological interpretation, clinical relevance, external validation, and reproducible figures. The most important principle is shown at the bottom: fewer analyses with stronger logic and cleaner validation are usually more convincing than a large number of loosely connected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resources to keep bookmarked when implementing the workflow. GDC is the official starting point for harmonized TCGA and TARGET data. GEO is the major public repository for functional genomics studies and is especially useful for finding external validation cohorts. cBioPortal provides convenient multidimensional cancer-genomics exploration, and STRING supports protein-association and functional-network analysis. For local work, Bioconductor documentation is the authoritative starting point for packages such as limma, edgeR, DESeq2, clusterProfiler, GSVA, GEOquery, and TCGAbiolinks. The survival and survminer ecosystem covers standard survival analysis. The final reminder is methodological: no specific combination of analyses guarantees publication or a particular impact factor. Journal fit, novelty, validation quality, biological plausibility, and transparent reporting 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2A9D8F"/>
          </a:solidFill>
          <a:ln w="12700">
            <a:solidFill>
              <a:srgbClr val="2A9D8F"/>
            </a:solidFill>
            <a:prstDash val="solid"/>
          </a:ln>
        </p:spPr>
      </p:sp>
      <p:sp>
        <p:nvSpPr>
          <p:cNvPr id="3" name="Text 1"/>
          <p:cNvSpPr/>
          <p:nvPr/>
        </p:nvSpPr>
        <p:spPr>
          <a:xfrm>
            <a:off x="502920" y="6510528"/>
            <a:ext cx="6126480" cy="201168"/>
          </a:xfrm>
          <a:prstGeom prst="rect">
            <a:avLst/>
          </a:prstGeom>
          <a:noFill/>
          <a:ln/>
        </p:spPr>
        <p:txBody>
          <a:bodyPr wrap="square" lIns="0" tIns="0" rIns="0" bIns="0" rtlCol="0" anchor="ctr"/>
          <a:lstStyle/>
          <a:p>
            <a:pPr indent="0" marL="0">
              <a:buNone/>
            </a:pPr>
            <a:r>
              <a:rPr lang="en-US" sz="850" dirty="0">
                <a:solidFill>
                  <a:srgbClr val="7A8794"/>
                </a:solidFill>
                <a:latin typeface="Aptos" pitchFamily="34" charset="0"/>
                <a:ea typeface="Aptos" pitchFamily="34" charset="-122"/>
                <a:cs typeface="Aptos" pitchFamily="34" charset="-120"/>
              </a:rPr>
              <a:t>PUBLIC-DATA BIOINFORMATICS • TEACHING DECK</a:t>
            </a:r>
            <a:endParaRPr lang="en-US" sz="850" dirty="0"/>
          </a:p>
        </p:txBody>
      </p:sp>
      <p:sp>
        <p:nvSpPr>
          <p:cNvPr id="4" name="Text 2"/>
          <p:cNvSpPr/>
          <p:nvPr/>
        </p:nvSpPr>
        <p:spPr>
          <a:xfrm>
            <a:off x="6629400" y="6510528"/>
            <a:ext cx="5074920" cy="201168"/>
          </a:xfrm>
          <a:prstGeom prst="rect">
            <a:avLst/>
          </a:prstGeom>
          <a:noFill/>
          <a:ln/>
        </p:spPr>
        <p:txBody>
          <a:bodyPr wrap="square" lIns="0" tIns="0" rIns="0" bIns="0" rtlCol="0" anchor="ctr"/>
          <a:lstStyle/>
          <a:p>
            <a:pPr algn="r" indent="0" marL="0">
              <a:buNone/>
            </a:pPr>
            <a:r>
              <a:rPr lang="en-US" sz="850" dirty="0">
                <a:solidFill>
                  <a:srgbClr val="7A8794"/>
                </a:solidFill>
                <a:latin typeface="Aptos" pitchFamily="34" charset="0"/>
                <a:ea typeface="Aptos" pitchFamily="34" charset="-122"/>
                <a:cs typeface="Aptos" pitchFamily="34" charset="-120"/>
              </a:rPr>
              <a:t>Illustrative analyses only — publication depends on novelty, validation, and journal fit.</a:t>
            </a:r>
            <a:endParaRPr lang="en-US" sz="8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A"/>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7324A"/>
          </a:solidFill>
          <a:ln w="12700">
            <a:solidFill>
              <a:srgbClr val="17324A"/>
            </a:solidFill>
            <a:prstDash val="solid"/>
          </a:ln>
        </p:spPr>
      </p:sp>
      <p:sp>
        <p:nvSpPr>
          <p:cNvPr id="4" name="Shape 1"/>
          <p:cNvSpPr/>
          <p:nvPr/>
        </p:nvSpPr>
        <p:spPr>
          <a:xfrm>
            <a:off x="0" y="0"/>
            <a:ext cx="12191695" cy="109728"/>
          </a:xfrm>
          <a:prstGeom prst="rect">
            <a:avLst/>
          </a:prstGeom>
          <a:solidFill>
            <a:srgbClr val="2A9D8F"/>
          </a:solidFill>
          <a:ln w="12700">
            <a:solidFill>
              <a:srgbClr val="2A9D8F"/>
            </a:solidFill>
            <a:prstDash val="solid"/>
          </a:ln>
        </p:spPr>
      </p:sp>
      <p:sp>
        <p:nvSpPr>
          <p:cNvPr id="5" name="Text 2"/>
          <p:cNvSpPr/>
          <p:nvPr/>
        </p:nvSpPr>
        <p:spPr>
          <a:xfrm>
            <a:off x="713232" y="987552"/>
            <a:ext cx="6675120" cy="1417320"/>
          </a:xfrm>
          <a:prstGeom prst="rect">
            <a:avLst/>
          </a:prstGeom>
          <a:noFill/>
          <a:ln/>
        </p:spPr>
        <p:txBody>
          <a:bodyPr wrap="square" lIns="0" tIns="0" rIns="0" bIns="0"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Practical Public-Data</a:t>
            </a:r>
            <a:endParaRPr lang="en-US" sz="3400" dirty="0"/>
          </a:p>
          <a:p>
            <a:pPr indent="0" marL="0">
              <a:buNone/>
            </a:pPr>
            <a:r>
              <a:rPr lang="en-US" sz="3400" b="1" dirty="0">
                <a:solidFill>
                  <a:srgbClr val="FFFFFF"/>
                </a:solidFill>
                <a:latin typeface="Aptos Display" pitchFamily="34" charset="0"/>
                <a:ea typeface="Aptos Display" pitchFamily="34" charset="-122"/>
                <a:cs typeface="Aptos Display" pitchFamily="34" charset="-120"/>
              </a:rPr>
              <a:t>Bioinformatics</a:t>
            </a:r>
            <a:endParaRPr lang="en-US" sz="3400" dirty="0"/>
          </a:p>
        </p:txBody>
      </p:sp>
      <p:sp>
        <p:nvSpPr>
          <p:cNvPr id="6" name="Text 3"/>
          <p:cNvSpPr/>
          <p:nvPr/>
        </p:nvSpPr>
        <p:spPr>
          <a:xfrm>
            <a:off x="731520" y="2523744"/>
            <a:ext cx="6675120" cy="667512"/>
          </a:xfrm>
          <a:prstGeom prst="rect">
            <a:avLst/>
          </a:prstGeom>
          <a:noFill/>
          <a:ln/>
        </p:spPr>
        <p:txBody>
          <a:bodyPr wrap="square" lIns="0" tIns="0" rIns="0" bIns="0" rtlCol="0" anchor="ctr"/>
          <a:lstStyle/>
          <a:p>
            <a:pPr indent="0" marL="0">
              <a:buNone/>
            </a:pPr>
            <a:r>
              <a:rPr lang="en-US" sz="1900" dirty="0">
                <a:solidFill>
                  <a:srgbClr val="D6E0E7"/>
                </a:solidFill>
              </a:rPr>
              <a:t>From TCGA / GEO to a realistic, publishable small bioinformatics study</a:t>
            </a:r>
            <a:endParaRPr lang="en-US" sz="1900" dirty="0"/>
          </a:p>
        </p:txBody>
      </p:sp>
      <p:sp>
        <p:nvSpPr>
          <p:cNvPr id="7" name="Text 4"/>
          <p:cNvSpPr/>
          <p:nvPr/>
        </p:nvSpPr>
        <p:spPr>
          <a:xfrm>
            <a:off x="731520" y="3246120"/>
            <a:ext cx="6583680" cy="457200"/>
          </a:xfrm>
          <a:prstGeom prst="rect">
            <a:avLst/>
          </a:prstGeom>
          <a:noFill/>
          <a:ln/>
        </p:spPr>
        <p:txBody>
          <a:bodyPr wrap="square" lIns="0" tIns="0" rIns="0" bIns="0" rtlCol="0" anchor="ctr"/>
          <a:lstStyle/>
          <a:p>
            <a:pPr indent="0" marL="0">
              <a:buNone/>
            </a:pPr>
            <a:r>
              <a:rPr lang="en-US" sz="1450" dirty="0">
                <a:solidFill>
                  <a:srgbClr val="9FC5C0"/>
                </a:solidFill>
              </a:rPr>
              <a:t>A summary teaching deck for personal-computer and web-based workflows</a:t>
            </a:r>
            <a:endParaRPr lang="en-US" sz="1450" dirty="0"/>
          </a:p>
        </p:txBody>
      </p:sp>
      <p:sp>
        <p:nvSpPr>
          <p:cNvPr id="8" name="Shape 5"/>
          <p:cNvSpPr/>
          <p:nvPr/>
        </p:nvSpPr>
        <p:spPr>
          <a:xfrm>
            <a:off x="7498080" y="2057400"/>
            <a:ext cx="960120" cy="960120"/>
          </a:xfrm>
          <a:prstGeom prst="roundRect">
            <a:avLst>
              <a:gd name="adj" fmla="val 7619"/>
            </a:avLst>
          </a:prstGeom>
          <a:solidFill>
            <a:srgbClr val="2A9D8F">
              <a:alpha val="95000"/>
            </a:srgbClr>
          </a:solidFill>
          <a:ln w="12700">
            <a:solidFill>
              <a:srgbClr val="FFFFFF">
                <a:alpha val="30000"/>
              </a:srgbClr>
            </a:solidFill>
            <a:prstDash val="solid"/>
          </a:ln>
        </p:spPr>
      </p:sp>
      <p:sp>
        <p:nvSpPr>
          <p:cNvPr id="9" name="Text 6"/>
          <p:cNvSpPr/>
          <p:nvPr/>
        </p:nvSpPr>
        <p:spPr>
          <a:xfrm>
            <a:off x="7543800" y="2441448"/>
            <a:ext cx="868680" cy="164592"/>
          </a:xfrm>
          <a:prstGeom prst="rect">
            <a:avLst/>
          </a:prstGeom>
          <a:noFill/>
          <a:ln/>
        </p:spPr>
        <p:txBody>
          <a:bodyPr wrap="square" lIns="0" tIns="0" rIns="0" bIns="0" rtlCol="0" anchor="ctr"/>
          <a:lstStyle/>
          <a:p>
            <a:pPr algn="ctr" indent="0" marL="0">
              <a:buNone/>
            </a:pPr>
            <a:r>
              <a:rPr lang="en-US" sz="1020" b="1" dirty="0">
                <a:solidFill>
                  <a:srgbClr val="FFFFFF"/>
                </a:solidFill>
              </a:rPr>
              <a:t>DATA</a:t>
            </a:r>
            <a:endParaRPr lang="en-US" sz="1020" dirty="0"/>
          </a:p>
        </p:txBody>
      </p:sp>
      <p:sp>
        <p:nvSpPr>
          <p:cNvPr id="10" name="Shape 7"/>
          <p:cNvSpPr/>
          <p:nvPr/>
        </p:nvSpPr>
        <p:spPr>
          <a:xfrm>
            <a:off x="8458200" y="2542032"/>
            <a:ext cx="118872" cy="0"/>
          </a:xfrm>
          <a:prstGeom prst="line">
            <a:avLst/>
          </a:prstGeom>
          <a:noFill/>
          <a:ln w="21590">
            <a:solidFill>
              <a:srgbClr val="BFD6D3"/>
            </a:solidFill>
            <a:prstDash val="solid"/>
            <a:headEnd type="none"/>
            <a:tailEnd type="triangle"/>
          </a:ln>
        </p:spPr>
      </p:sp>
      <p:sp>
        <p:nvSpPr>
          <p:cNvPr id="11" name="Shape 8"/>
          <p:cNvSpPr/>
          <p:nvPr/>
        </p:nvSpPr>
        <p:spPr>
          <a:xfrm>
            <a:off x="8613648" y="2057400"/>
            <a:ext cx="960120" cy="960120"/>
          </a:xfrm>
          <a:prstGeom prst="roundRect">
            <a:avLst>
              <a:gd name="adj" fmla="val 7619"/>
            </a:avLst>
          </a:prstGeom>
          <a:solidFill>
            <a:srgbClr val="2D5B88">
              <a:alpha val="95000"/>
            </a:srgbClr>
          </a:solidFill>
          <a:ln w="12700">
            <a:solidFill>
              <a:srgbClr val="FFFFFF">
                <a:alpha val="30000"/>
              </a:srgbClr>
            </a:solidFill>
            <a:prstDash val="solid"/>
          </a:ln>
        </p:spPr>
      </p:sp>
      <p:sp>
        <p:nvSpPr>
          <p:cNvPr id="12" name="Text 9"/>
          <p:cNvSpPr/>
          <p:nvPr/>
        </p:nvSpPr>
        <p:spPr>
          <a:xfrm>
            <a:off x="8659368" y="2441448"/>
            <a:ext cx="868680" cy="164592"/>
          </a:xfrm>
          <a:prstGeom prst="rect">
            <a:avLst/>
          </a:prstGeom>
          <a:noFill/>
          <a:ln/>
        </p:spPr>
        <p:txBody>
          <a:bodyPr wrap="square" lIns="0" tIns="0" rIns="0" bIns="0" rtlCol="0" anchor="ctr"/>
          <a:lstStyle/>
          <a:p>
            <a:pPr algn="ctr" indent="0" marL="0">
              <a:buNone/>
            </a:pPr>
            <a:r>
              <a:rPr lang="en-US" sz="1020" b="1" dirty="0">
                <a:solidFill>
                  <a:srgbClr val="FFFFFF"/>
                </a:solidFill>
              </a:rPr>
              <a:t>ANALYZE</a:t>
            </a:r>
            <a:endParaRPr lang="en-US" sz="1020" dirty="0"/>
          </a:p>
        </p:txBody>
      </p:sp>
      <p:sp>
        <p:nvSpPr>
          <p:cNvPr id="13" name="Shape 10"/>
          <p:cNvSpPr/>
          <p:nvPr/>
        </p:nvSpPr>
        <p:spPr>
          <a:xfrm>
            <a:off x="9573768" y="2542032"/>
            <a:ext cx="118872" cy="0"/>
          </a:xfrm>
          <a:prstGeom prst="line">
            <a:avLst/>
          </a:prstGeom>
          <a:noFill/>
          <a:ln w="21590">
            <a:solidFill>
              <a:srgbClr val="BFD6D3"/>
            </a:solidFill>
            <a:prstDash val="solid"/>
            <a:headEnd type="none"/>
            <a:tailEnd type="triangle"/>
          </a:ln>
        </p:spPr>
      </p:sp>
      <p:sp>
        <p:nvSpPr>
          <p:cNvPr id="14" name="Shape 11"/>
          <p:cNvSpPr/>
          <p:nvPr/>
        </p:nvSpPr>
        <p:spPr>
          <a:xfrm>
            <a:off x="9729216" y="2057400"/>
            <a:ext cx="960120" cy="960120"/>
          </a:xfrm>
          <a:prstGeom prst="roundRect">
            <a:avLst>
              <a:gd name="adj" fmla="val 7619"/>
            </a:avLst>
          </a:prstGeom>
          <a:solidFill>
            <a:srgbClr val="2A9D8F">
              <a:alpha val="95000"/>
            </a:srgbClr>
          </a:solidFill>
          <a:ln w="12700">
            <a:solidFill>
              <a:srgbClr val="FFFFFF">
                <a:alpha val="30000"/>
              </a:srgbClr>
            </a:solidFill>
            <a:prstDash val="solid"/>
          </a:ln>
        </p:spPr>
      </p:sp>
      <p:sp>
        <p:nvSpPr>
          <p:cNvPr id="15" name="Text 12"/>
          <p:cNvSpPr/>
          <p:nvPr/>
        </p:nvSpPr>
        <p:spPr>
          <a:xfrm>
            <a:off x="9774936" y="2441448"/>
            <a:ext cx="868680" cy="164592"/>
          </a:xfrm>
          <a:prstGeom prst="rect">
            <a:avLst/>
          </a:prstGeom>
          <a:noFill/>
          <a:ln/>
        </p:spPr>
        <p:txBody>
          <a:bodyPr wrap="square" lIns="0" tIns="0" rIns="0" bIns="0" rtlCol="0" anchor="ctr"/>
          <a:lstStyle/>
          <a:p>
            <a:pPr algn="ctr" indent="0" marL="0">
              <a:buNone/>
            </a:pPr>
            <a:r>
              <a:rPr lang="en-US" sz="1020" b="1" dirty="0">
                <a:solidFill>
                  <a:srgbClr val="FFFFFF"/>
                </a:solidFill>
              </a:rPr>
              <a:t>VALIDATE</a:t>
            </a:r>
            <a:endParaRPr lang="en-US" sz="1020" dirty="0"/>
          </a:p>
        </p:txBody>
      </p:sp>
      <p:sp>
        <p:nvSpPr>
          <p:cNvPr id="16" name="Shape 13"/>
          <p:cNvSpPr/>
          <p:nvPr/>
        </p:nvSpPr>
        <p:spPr>
          <a:xfrm>
            <a:off x="10689336" y="2542032"/>
            <a:ext cx="118872" cy="0"/>
          </a:xfrm>
          <a:prstGeom prst="line">
            <a:avLst/>
          </a:prstGeom>
          <a:noFill/>
          <a:ln w="21590">
            <a:solidFill>
              <a:srgbClr val="BFD6D3"/>
            </a:solidFill>
            <a:prstDash val="solid"/>
            <a:headEnd type="none"/>
            <a:tailEnd type="triangle"/>
          </a:ln>
        </p:spPr>
      </p:sp>
      <p:sp>
        <p:nvSpPr>
          <p:cNvPr id="17" name="Shape 14"/>
          <p:cNvSpPr/>
          <p:nvPr/>
        </p:nvSpPr>
        <p:spPr>
          <a:xfrm>
            <a:off x="10844784" y="2057400"/>
            <a:ext cx="960120" cy="960120"/>
          </a:xfrm>
          <a:prstGeom prst="roundRect">
            <a:avLst>
              <a:gd name="adj" fmla="val 7619"/>
            </a:avLst>
          </a:prstGeom>
          <a:solidFill>
            <a:srgbClr val="2D5B88">
              <a:alpha val="95000"/>
            </a:srgbClr>
          </a:solidFill>
          <a:ln w="12700">
            <a:solidFill>
              <a:srgbClr val="FFFFFF">
                <a:alpha val="30000"/>
              </a:srgbClr>
            </a:solidFill>
            <a:prstDash val="solid"/>
          </a:ln>
        </p:spPr>
      </p:sp>
      <p:sp>
        <p:nvSpPr>
          <p:cNvPr id="18" name="Text 15"/>
          <p:cNvSpPr/>
          <p:nvPr/>
        </p:nvSpPr>
        <p:spPr>
          <a:xfrm>
            <a:off x="10890504" y="2441448"/>
            <a:ext cx="868680" cy="164592"/>
          </a:xfrm>
          <a:prstGeom prst="rect">
            <a:avLst/>
          </a:prstGeom>
          <a:noFill/>
          <a:ln/>
        </p:spPr>
        <p:txBody>
          <a:bodyPr wrap="square" lIns="0" tIns="0" rIns="0" bIns="0" rtlCol="0" anchor="ctr"/>
          <a:lstStyle/>
          <a:p>
            <a:pPr algn="ctr" indent="0" marL="0">
              <a:buNone/>
            </a:pPr>
            <a:r>
              <a:rPr lang="en-US" sz="1020" b="1" dirty="0">
                <a:solidFill>
                  <a:srgbClr val="FFFFFF"/>
                </a:solidFill>
              </a:rPr>
              <a:t>WRITE</a:t>
            </a:r>
            <a:endParaRPr lang="en-US" sz="1020" dirty="0"/>
          </a:p>
        </p:txBody>
      </p:sp>
      <p:sp>
        <p:nvSpPr>
          <p:cNvPr id="19" name="Text 16"/>
          <p:cNvSpPr/>
          <p:nvPr/>
        </p:nvSpPr>
        <p:spPr>
          <a:xfrm>
            <a:off x="731520" y="5669280"/>
            <a:ext cx="10698480" cy="384048"/>
          </a:xfrm>
          <a:prstGeom prst="rect">
            <a:avLst/>
          </a:prstGeom>
          <a:noFill/>
          <a:ln/>
        </p:spPr>
        <p:txBody>
          <a:bodyPr wrap="square" lIns="0" tIns="0" rIns="0" bIns="0" rtlCol="0" anchor="ctr"/>
          <a:lstStyle/>
          <a:p>
            <a:pPr indent="0" marL="0">
              <a:buNone/>
            </a:pPr>
            <a:r>
              <a:rPr lang="en-US" sz="1250" dirty="0">
                <a:solidFill>
                  <a:srgbClr val="BFCBD4"/>
                </a:solidFill>
              </a:rPr>
              <a:t>Target use case: public bulk-omics + clinical data; no wet lab required for the computational workflow.</a:t>
            </a:r>
            <a:endParaRPr lang="en-US" sz="1250" dirty="0"/>
          </a:p>
        </p:txBody>
      </p:sp>
      <p:sp>
        <p:nvSpPr>
          <p:cNvPr id="20" name="Text 17"/>
          <p:cNvSpPr/>
          <p:nvPr/>
        </p:nvSpPr>
        <p:spPr>
          <a:xfrm>
            <a:off x="731520" y="6126480"/>
            <a:ext cx="10698480" cy="256032"/>
          </a:xfrm>
          <a:prstGeom prst="rect">
            <a:avLst/>
          </a:prstGeom>
          <a:noFill/>
          <a:ln/>
        </p:spPr>
        <p:txBody>
          <a:bodyPr wrap="square" lIns="0" tIns="0" rIns="0" bIns="0" rtlCol="0" anchor="ctr"/>
          <a:lstStyle/>
          <a:p>
            <a:pPr indent="0" marL="0">
              <a:buNone/>
            </a:pPr>
            <a:r>
              <a:rPr lang="en-US" sz="1150" dirty="0">
                <a:solidFill>
                  <a:srgbClr val="F2C7BC"/>
                </a:solidFill>
              </a:rPr>
              <a:t>Important: “IF 3–5” is a journal-range goal, not an analysis recipe or publication guarantee.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Executive summary</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What you should remember before learning individual analyses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OVERVIEW</a:t>
            </a:r>
            <a:endParaRPr lang="en-US" sz="950" dirty="0"/>
          </a:p>
        </p:txBody>
      </p:sp>
      <p:sp>
        <p:nvSpPr>
          <p:cNvPr id="7" name="Shape 4"/>
          <p:cNvSpPr/>
          <p:nvPr/>
        </p:nvSpPr>
        <p:spPr>
          <a:xfrm>
            <a:off x="603504" y="1325880"/>
            <a:ext cx="3566160" cy="4160520"/>
          </a:xfrm>
          <a:prstGeom prst="roundRect">
            <a:avLst>
              <a:gd name="adj" fmla="val 1538"/>
            </a:avLst>
          </a:prstGeom>
          <a:solidFill>
            <a:srgbClr val="FFFFFF"/>
          </a:solidFill>
          <a:ln w="12700">
            <a:solidFill>
              <a:srgbClr val="DDE5EA"/>
            </a:solidFill>
            <a:prstDash val="solid"/>
          </a:ln>
        </p:spPr>
      </p:sp>
      <p:sp>
        <p:nvSpPr>
          <p:cNvPr id="8" name="Shape 5"/>
          <p:cNvSpPr/>
          <p:nvPr/>
        </p:nvSpPr>
        <p:spPr>
          <a:xfrm>
            <a:off x="603504" y="1325880"/>
            <a:ext cx="73152" cy="4160520"/>
          </a:xfrm>
          <a:prstGeom prst="rect">
            <a:avLst/>
          </a:prstGeom>
          <a:solidFill>
            <a:srgbClr val="2A9D8F"/>
          </a:solidFill>
          <a:ln w="12700">
            <a:solidFill>
              <a:srgbClr val="2A9D8F"/>
            </a:solidFill>
            <a:prstDash val="solid"/>
          </a:ln>
        </p:spPr>
      </p:sp>
      <p:sp>
        <p:nvSpPr>
          <p:cNvPr id="9" name="Text 6"/>
          <p:cNvSpPr/>
          <p:nvPr/>
        </p:nvSpPr>
        <p:spPr>
          <a:xfrm>
            <a:off x="804672" y="1481328"/>
            <a:ext cx="3218688" cy="274320"/>
          </a:xfrm>
          <a:prstGeom prst="rect">
            <a:avLst/>
          </a:prstGeom>
          <a:noFill/>
          <a:ln/>
        </p:spPr>
        <p:txBody>
          <a:bodyPr wrap="square" lIns="0" tIns="0" rIns="0" bIns="0" rtlCol="0" anchor="ctr"/>
          <a:lstStyle/>
          <a:p>
            <a:pPr indent="0" marL="0">
              <a:buNone/>
            </a:pPr>
            <a:r>
              <a:rPr lang="en-US" sz="1700" b="1" dirty="0">
                <a:solidFill>
                  <a:srgbClr val="17324A"/>
                </a:solidFill>
              </a:rPr>
              <a:t>1. Most work is feasible on a PC</a:t>
            </a:r>
            <a:endParaRPr lang="en-US" sz="1700" dirty="0"/>
          </a:p>
        </p:txBody>
      </p:sp>
      <p:sp>
        <p:nvSpPr>
          <p:cNvPr id="10" name="Text 7"/>
          <p:cNvSpPr/>
          <p:nvPr/>
        </p:nvSpPr>
        <p:spPr>
          <a:xfrm>
            <a:off x="804672" y="1828800"/>
            <a:ext cx="3218688" cy="3520440"/>
          </a:xfrm>
          <a:prstGeom prst="rect">
            <a:avLst/>
          </a:prstGeom>
          <a:noFill/>
          <a:ln/>
        </p:spPr>
        <p:txBody>
          <a:bodyPr wrap="square" lIns="254" tIns="254" rIns="254" bIns="254" rtlCol="0" anchor="t"/>
          <a:lstStyle/>
          <a:p>
            <a:pPr indent="0" marL="0">
              <a:buNone/>
            </a:pPr>
            <a:r>
              <a:rPr lang="en-US" sz="1230" dirty="0">
                <a:solidFill>
                  <a:srgbClr val="17232C"/>
                </a:solidFill>
              </a:rPr>
              <a:t>Use processed expression matrices, clinical tables, MAF files, and curated GEO series. R can handle differential expression, survival, enrichment, immune scores, and many models on a normal workstation.</a:t>
            </a:r>
            <a:endParaRPr lang="en-US" sz="1230" dirty="0"/>
          </a:p>
        </p:txBody>
      </p:sp>
      <p:sp>
        <p:nvSpPr>
          <p:cNvPr id="11" name="Shape 8"/>
          <p:cNvSpPr/>
          <p:nvPr/>
        </p:nvSpPr>
        <p:spPr>
          <a:xfrm>
            <a:off x="4315968" y="1325880"/>
            <a:ext cx="3566160" cy="4160520"/>
          </a:xfrm>
          <a:prstGeom prst="roundRect">
            <a:avLst>
              <a:gd name="adj" fmla="val 1538"/>
            </a:avLst>
          </a:prstGeom>
          <a:solidFill>
            <a:srgbClr val="FFFFFF"/>
          </a:solidFill>
          <a:ln w="12700">
            <a:solidFill>
              <a:srgbClr val="DDE5EA"/>
            </a:solidFill>
            <a:prstDash val="solid"/>
          </a:ln>
        </p:spPr>
      </p:sp>
      <p:sp>
        <p:nvSpPr>
          <p:cNvPr id="12" name="Shape 9"/>
          <p:cNvSpPr/>
          <p:nvPr/>
        </p:nvSpPr>
        <p:spPr>
          <a:xfrm>
            <a:off x="4315968" y="1325880"/>
            <a:ext cx="73152" cy="4160520"/>
          </a:xfrm>
          <a:prstGeom prst="rect">
            <a:avLst/>
          </a:prstGeom>
          <a:solidFill>
            <a:srgbClr val="2D5B88"/>
          </a:solidFill>
          <a:ln w="12700">
            <a:solidFill>
              <a:srgbClr val="2D5B88"/>
            </a:solidFill>
            <a:prstDash val="solid"/>
          </a:ln>
        </p:spPr>
      </p:sp>
      <p:sp>
        <p:nvSpPr>
          <p:cNvPr id="13" name="Text 10"/>
          <p:cNvSpPr/>
          <p:nvPr/>
        </p:nvSpPr>
        <p:spPr>
          <a:xfrm>
            <a:off x="4517136" y="1481328"/>
            <a:ext cx="3218688" cy="274320"/>
          </a:xfrm>
          <a:prstGeom prst="rect">
            <a:avLst/>
          </a:prstGeom>
          <a:noFill/>
          <a:ln/>
        </p:spPr>
        <p:txBody>
          <a:bodyPr wrap="square" lIns="0" tIns="0" rIns="0" bIns="0" rtlCol="0" anchor="ctr"/>
          <a:lstStyle/>
          <a:p>
            <a:pPr indent="0" marL="0">
              <a:buNone/>
            </a:pPr>
            <a:r>
              <a:rPr lang="en-US" sz="1700" b="1" dirty="0">
                <a:solidFill>
                  <a:srgbClr val="17324A"/>
                </a:solidFill>
              </a:rPr>
              <a:t>2. A paper is a logic chain</a:t>
            </a:r>
            <a:endParaRPr lang="en-US" sz="1700" dirty="0"/>
          </a:p>
        </p:txBody>
      </p:sp>
      <p:sp>
        <p:nvSpPr>
          <p:cNvPr id="14" name="Text 11"/>
          <p:cNvSpPr/>
          <p:nvPr/>
        </p:nvSpPr>
        <p:spPr>
          <a:xfrm>
            <a:off x="4517136" y="1828800"/>
            <a:ext cx="3218688" cy="3520440"/>
          </a:xfrm>
          <a:prstGeom prst="rect">
            <a:avLst/>
          </a:prstGeom>
          <a:noFill/>
          <a:ln/>
        </p:spPr>
        <p:txBody>
          <a:bodyPr wrap="square" lIns="254" tIns="254" rIns="254" bIns="254" rtlCol="0" anchor="t"/>
          <a:lstStyle/>
          <a:p>
            <a:pPr indent="0" marL="0">
              <a:buNone/>
            </a:pPr>
            <a:r>
              <a:rPr lang="en-US" sz="1230" dirty="0">
                <a:solidFill>
                  <a:srgbClr val="17232C"/>
                </a:solidFill>
              </a:rPr>
              <a:t>A stronger manuscript connects phenotype → molecular signal → biological mechanism → clinical relevance → independent validation. “Stacking websites” without a question is weak.</a:t>
            </a:r>
            <a:endParaRPr lang="en-US" sz="1230" dirty="0"/>
          </a:p>
        </p:txBody>
      </p:sp>
      <p:sp>
        <p:nvSpPr>
          <p:cNvPr id="15" name="Shape 12"/>
          <p:cNvSpPr/>
          <p:nvPr/>
        </p:nvSpPr>
        <p:spPr>
          <a:xfrm>
            <a:off x="8028432" y="1325880"/>
            <a:ext cx="3566160" cy="4160520"/>
          </a:xfrm>
          <a:prstGeom prst="roundRect">
            <a:avLst>
              <a:gd name="adj" fmla="val 1538"/>
            </a:avLst>
          </a:prstGeom>
          <a:solidFill>
            <a:srgbClr val="FFFFFF"/>
          </a:solidFill>
          <a:ln w="12700">
            <a:solidFill>
              <a:srgbClr val="DDE5EA"/>
            </a:solidFill>
            <a:prstDash val="solid"/>
          </a:ln>
        </p:spPr>
      </p:sp>
      <p:sp>
        <p:nvSpPr>
          <p:cNvPr id="16" name="Shape 13"/>
          <p:cNvSpPr/>
          <p:nvPr/>
        </p:nvSpPr>
        <p:spPr>
          <a:xfrm>
            <a:off x="8028432" y="1325880"/>
            <a:ext cx="73152" cy="4160520"/>
          </a:xfrm>
          <a:prstGeom prst="rect">
            <a:avLst/>
          </a:prstGeom>
          <a:solidFill>
            <a:srgbClr val="E76F51"/>
          </a:solidFill>
          <a:ln w="12700">
            <a:solidFill>
              <a:srgbClr val="E76F51"/>
            </a:solidFill>
            <a:prstDash val="solid"/>
          </a:ln>
        </p:spPr>
      </p:sp>
      <p:sp>
        <p:nvSpPr>
          <p:cNvPr id="17" name="Text 14"/>
          <p:cNvSpPr/>
          <p:nvPr/>
        </p:nvSpPr>
        <p:spPr>
          <a:xfrm>
            <a:off x="8229600" y="1481328"/>
            <a:ext cx="3218688" cy="274320"/>
          </a:xfrm>
          <a:prstGeom prst="rect">
            <a:avLst/>
          </a:prstGeom>
          <a:noFill/>
          <a:ln/>
        </p:spPr>
        <p:txBody>
          <a:bodyPr wrap="square" lIns="0" tIns="0" rIns="0" bIns="0" rtlCol="0" anchor="ctr"/>
          <a:lstStyle/>
          <a:p>
            <a:pPr indent="0" marL="0">
              <a:buNone/>
            </a:pPr>
            <a:r>
              <a:rPr lang="en-US" sz="1700" b="1" dirty="0">
                <a:solidFill>
                  <a:srgbClr val="17324A"/>
                </a:solidFill>
              </a:rPr>
              <a:t>3. Validation is the differentiator</a:t>
            </a:r>
            <a:endParaRPr lang="en-US" sz="1700" dirty="0"/>
          </a:p>
        </p:txBody>
      </p:sp>
      <p:sp>
        <p:nvSpPr>
          <p:cNvPr id="18" name="Text 15"/>
          <p:cNvSpPr/>
          <p:nvPr/>
        </p:nvSpPr>
        <p:spPr>
          <a:xfrm>
            <a:off x="8229600" y="1828800"/>
            <a:ext cx="3218688" cy="3520440"/>
          </a:xfrm>
          <a:prstGeom prst="rect">
            <a:avLst/>
          </a:prstGeom>
          <a:noFill/>
          <a:ln/>
        </p:spPr>
        <p:txBody>
          <a:bodyPr wrap="square" lIns="254" tIns="254" rIns="254" bIns="254" rtlCol="0" anchor="t"/>
          <a:lstStyle/>
          <a:p>
            <a:pPr indent="0" marL="0">
              <a:buNone/>
            </a:pPr>
            <a:r>
              <a:rPr lang="en-US" sz="1230" dirty="0">
                <a:solidFill>
                  <a:srgbClr val="17232C"/>
                </a:solidFill>
              </a:rPr>
              <a:t>Independent GEO/TCGA cohorts, multivariable Cox analysis, sensitivity checks, and non-leaky modeling usually matter more than adding a tenth analysis.</a:t>
            </a:r>
            <a:endParaRPr lang="en-US" sz="1230" dirty="0"/>
          </a:p>
        </p:txBody>
      </p:sp>
      <p:sp>
        <p:nvSpPr>
          <p:cNvPr id="19" name="Text 16"/>
          <p:cNvSpPr/>
          <p:nvPr/>
        </p:nvSpPr>
        <p:spPr>
          <a:xfrm>
            <a:off x="658368" y="5705856"/>
            <a:ext cx="10881360" cy="365760"/>
          </a:xfrm>
          <a:prstGeom prst="rect">
            <a:avLst/>
          </a:prstGeom>
          <a:noFill/>
          <a:ln/>
        </p:spPr>
        <p:txBody>
          <a:bodyPr wrap="square" lIns="0" tIns="0" rIns="0" bIns="0" rtlCol="0" anchor="ctr"/>
          <a:lstStyle/>
          <a:p>
            <a:pPr algn="ctr" indent="0" marL="0">
              <a:buNone/>
            </a:pPr>
            <a:r>
              <a:rPr lang="en-US" sz="1700" b="1" dirty="0">
                <a:solidFill>
                  <a:srgbClr val="17324A"/>
                </a:solidFill>
              </a:rPr>
              <a:t>Best beginner strategy: choose one disease + one biological question + one discovery cohort + one external validation cohort.</a:t>
            </a:r>
            <a:endParaRPr lang="en-US" sz="17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What does a realistic “3–5 IF” public-data paper look like?</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The exact standard varies by journal and is rising over time</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POSITIONING</a:t>
            </a:r>
            <a:endParaRPr lang="en-US" sz="950" dirty="0"/>
          </a:p>
        </p:txBody>
      </p:sp>
      <p:sp>
        <p:nvSpPr>
          <p:cNvPr id="7" name="Shape 4"/>
          <p:cNvSpPr/>
          <p:nvPr/>
        </p:nvSpPr>
        <p:spPr>
          <a:xfrm>
            <a:off x="621792" y="1325880"/>
            <a:ext cx="5394960" cy="4526280"/>
          </a:xfrm>
          <a:prstGeom prst="roundRect">
            <a:avLst>
              <a:gd name="adj" fmla="val 1212"/>
            </a:avLst>
          </a:prstGeom>
          <a:solidFill>
            <a:srgbClr val="FFFFFF"/>
          </a:solidFill>
          <a:ln w="12700">
            <a:solidFill>
              <a:srgbClr val="DDE5EA"/>
            </a:solidFill>
            <a:prstDash val="solid"/>
          </a:ln>
        </p:spPr>
      </p:sp>
      <p:sp>
        <p:nvSpPr>
          <p:cNvPr id="8" name="Shape 5"/>
          <p:cNvSpPr/>
          <p:nvPr/>
        </p:nvSpPr>
        <p:spPr>
          <a:xfrm>
            <a:off x="621792" y="1325880"/>
            <a:ext cx="73152" cy="4526280"/>
          </a:xfrm>
          <a:prstGeom prst="rect">
            <a:avLst/>
          </a:prstGeom>
          <a:solidFill>
            <a:srgbClr val="2A9D8F"/>
          </a:solidFill>
          <a:ln w="12700">
            <a:solidFill>
              <a:srgbClr val="2A9D8F"/>
            </a:solidFill>
            <a:prstDash val="solid"/>
          </a:ln>
        </p:spPr>
      </p:sp>
      <p:sp>
        <p:nvSpPr>
          <p:cNvPr id="9" name="Text 6"/>
          <p:cNvSpPr/>
          <p:nvPr/>
        </p:nvSpPr>
        <p:spPr>
          <a:xfrm>
            <a:off x="822960" y="1481328"/>
            <a:ext cx="5047488" cy="274320"/>
          </a:xfrm>
          <a:prstGeom prst="rect">
            <a:avLst/>
          </a:prstGeom>
          <a:noFill/>
          <a:ln/>
        </p:spPr>
        <p:txBody>
          <a:bodyPr wrap="square" lIns="0" tIns="0" rIns="0" bIns="0" rtlCol="0" anchor="ctr"/>
          <a:lstStyle/>
          <a:p>
            <a:pPr indent="0" marL="0">
              <a:buNone/>
            </a:pPr>
            <a:r>
              <a:rPr lang="en-US" sz="1700" b="1" dirty="0">
                <a:solidFill>
                  <a:srgbClr val="17324A"/>
                </a:solidFill>
              </a:rPr>
              <a:t>Often acceptable ingredients</a:t>
            </a:r>
            <a:endParaRPr lang="en-US" sz="1700" dirty="0"/>
          </a:p>
        </p:txBody>
      </p:sp>
      <p:sp>
        <p:nvSpPr>
          <p:cNvPr id="10" name="Text 7"/>
          <p:cNvSpPr/>
          <p:nvPr/>
        </p:nvSpPr>
        <p:spPr>
          <a:xfrm>
            <a:off x="822960" y="1828800"/>
            <a:ext cx="5047488" cy="3886200"/>
          </a:xfrm>
          <a:prstGeom prst="rect">
            <a:avLst/>
          </a:prstGeom>
          <a:noFill/>
          <a:ln/>
        </p:spPr>
        <p:txBody>
          <a:bodyPr wrap="square" lIns="254" tIns="254" rIns="254" bIns="254" rtlCol="0" anchor="t"/>
          <a:lstStyle/>
          <a:p>
            <a:pPr indent="0" marL="0">
              <a:buNone/>
            </a:pPr>
            <a:r>
              <a:rPr lang="en-US" sz="1230" dirty="0">
                <a:solidFill>
                  <a:srgbClr val="17232C"/>
                </a:solidFill>
              </a:rPr>
              <a:t>• Clear disease/clinical question</a:t>
            </a:r>
            <a:endParaRPr lang="en-US" sz="1230" dirty="0"/>
          </a:p>
          <a:p>
            <a:pPr indent="0" marL="0">
              <a:buNone/>
            </a:pPr>
            <a:r>
              <a:rPr lang="en-US" sz="1230" dirty="0">
                <a:solidFill>
                  <a:srgbClr val="17232C"/>
                </a:solidFill>
              </a:rPr>
              <a:t>• Public cohort discovery + external validation</a:t>
            </a:r>
            <a:endParaRPr lang="en-US" sz="1230" dirty="0"/>
          </a:p>
          <a:p>
            <a:pPr indent="0" marL="0">
              <a:buNone/>
            </a:pPr>
            <a:r>
              <a:rPr lang="en-US" sz="1230" dirty="0">
                <a:solidFill>
                  <a:srgbClr val="17232C"/>
                </a:solidFill>
              </a:rPr>
              <a:t>• Reproducible statistics in R/Python</a:t>
            </a:r>
            <a:endParaRPr lang="en-US" sz="1230" dirty="0"/>
          </a:p>
          <a:p>
            <a:pPr indent="0" marL="0">
              <a:buNone/>
            </a:pPr>
            <a:r>
              <a:rPr lang="en-US" sz="1230" dirty="0">
                <a:solidFill>
                  <a:srgbClr val="17232C"/>
                </a:solidFill>
              </a:rPr>
              <a:t>• Biological interpretation (GO/KEGG/GSEA/GSVA)</a:t>
            </a:r>
            <a:endParaRPr lang="en-US" sz="1230" dirty="0"/>
          </a:p>
          <a:p>
            <a:pPr indent="0" marL="0">
              <a:buNone/>
            </a:pPr>
            <a:r>
              <a:rPr lang="en-US" sz="1230" dirty="0">
                <a:solidFill>
                  <a:srgbClr val="17232C"/>
                </a:solidFill>
              </a:rPr>
              <a:t>• Clinical relevance (KM/Cox/ROC where appropriate)</a:t>
            </a:r>
            <a:endParaRPr lang="en-US" sz="1230" dirty="0"/>
          </a:p>
          <a:p>
            <a:pPr indent="0" marL="0">
              <a:buNone/>
            </a:pPr>
            <a:r>
              <a:rPr lang="en-US" sz="1230" dirty="0">
                <a:solidFill>
                  <a:srgbClr val="17232C"/>
                </a:solidFill>
              </a:rPr>
              <a:t>• One or two orthogonal analyses (immune, mutation, network, drug response)</a:t>
            </a:r>
            <a:endParaRPr lang="en-US" sz="1230" dirty="0"/>
          </a:p>
          <a:p>
            <a:pPr indent="0" marL="0">
              <a:buNone/>
            </a:pPr>
            <a:r>
              <a:rPr lang="en-US" sz="1230" dirty="0">
                <a:solidFill>
                  <a:srgbClr val="17232C"/>
                </a:solidFill>
              </a:rPr>
              <a:t>• Transparent limitations</a:t>
            </a:r>
            <a:endParaRPr lang="en-US" sz="1230" dirty="0"/>
          </a:p>
        </p:txBody>
      </p:sp>
      <p:sp>
        <p:nvSpPr>
          <p:cNvPr id="11" name="Shape 8"/>
          <p:cNvSpPr/>
          <p:nvPr/>
        </p:nvSpPr>
        <p:spPr>
          <a:xfrm>
            <a:off x="6172200" y="1325880"/>
            <a:ext cx="5394960" cy="4526280"/>
          </a:xfrm>
          <a:prstGeom prst="roundRect">
            <a:avLst>
              <a:gd name="adj" fmla="val 1212"/>
            </a:avLst>
          </a:prstGeom>
          <a:solidFill>
            <a:srgbClr val="FFFFFF"/>
          </a:solidFill>
          <a:ln w="12700">
            <a:solidFill>
              <a:srgbClr val="DDE5EA"/>
            </a:solidFill>
            <a:prstDash val="solid"/>
          </a:ln>
        </p:spPr>
      </p:sp>
      <p:sp>
        <p:nvSpPr>
          <p:cNvPr id="12" name="Shape 9"/>
          <p:cNvSpPr/>
          <p:nvPr/>
        </p:nvSpPr>
        <p:spPr>
          <a:xfrm>
            <a:off x="6172200" y="1325880"/>
            <a:ext cx="73152" cy="4526280"/>
          </a:xfrm>
          <a:prstGeom prst="rect">
            <a:avLst/>
          </a:prstGeom>
          <a:solidFill>
            <a:srgbClr val="C83E4D"/>
          </a:solidFill>
          <a:ln w="12700">
            <a:solidFill>
              <a:srgbClr val="C83E4D"/>
            </a:solidFill>
            <a:prstDash val="solid"/>
          </a:ln>
        </p:spPr>
      </p:sp>
      <p:sp>
        <p:nvSpPr>
          <p:cNvPr id="13" name="Text 10"/>
          <p:cNvSpPr/>
          <p:nvPr/>
        </p:nvSpPr>
        <p:spPr>
          <a:xfrm>
            <a:off x="6373368" y="1481328"/>
            <a:ext cx="5047488" cy="274320"/>
          </a:xfrm>
          <a:prstGeom prst="rect">
            <a:avLst/>
          </a:prstGeom>
          <a:noFill/>
          <a:ln/>
        </p:spPr>
        <p:txBody>
          <a:bodyPr wrap="square" lIns="0" tIns="0" rIns="0" bIns="0" rtlCol="0" anchor="ctr"/>
          <a:lstStyle/>
          <a:p>
            <a:pPr indent="0" marL="0">
              <a:buNone/>
            </a:pPr>
            <a:r>
              <a:rPr lang="en-US" sz="1700" b="1" dirty="0">
                <a:solidFill>
                  <a:srgbClr val="17324A"/>
                </a:solidFill>
              </a:rPr>
              <a:t>Increasingly weak / saturated patterns</a:t>
            </a:r>
            <a:endParaRPr lang="en-US" sz="1700" dirty="0"/>
          </a:p>
        </p:txBody>
      </p:sp>
      <p:sp>
        <p:nvSpPr>
          <p:cNvPr id="14" name="Text 11"/>
          <p:cNvSpPr/>
          <p:nvPr/>
        </p:nvSpPr>
        <p:spPr>
          <a:xfrm>
            <a:off x="6373368" y="1828800"/>
            <a:ext cx="5047488" cy="3886200"/>
          </a:xfrm>
          <a:prstGeom prst="rect">
            <a:avLst/>
          </a:prstGeom>
          <a:noFill/>
          <a:ln/>
        </p:spPr>
        <p:txBody>
          <a:bodyPr wrap="square" lIns="254" tIns="254" rIns="254" bIns="254" rtlCol="0" anchor="t"/>
          <a:lstStyle/>
          <a:p>
            <a:pPr indent="0" marL="0">
              <a:buNone/>
            </a:pPr>
            <a:r>
              <a:rPr lang="en-US" sz="1230" dirty="0">
                <a:solidFill>
                  <a:srgbClr val="17232C"/>
                </a:solidFill>
              </a:rPr>
              <a:t>• Single-gene “database stacking” with no novelty</a:t>
            </a:r>
            <a:endParaRPr lang="en-US" sz="1230" dirty="0"/>
          </a:p>
          <a:p>
            <a:pPr indent="0" marL="0">
              <a:buNone/>
            </a:pPr>
            <a:r>
              <a:rPr lang="en-US" sz="1230" dirty="0">
                <a:solidFill>
                  <a:srgbClr val="17232C"/>
                </a:solidFill>
              </a:rPr>
              <a:t>• Dozens of websites producing disconnected figures</a:t>
            </a:r>
            <a:endParaRPr lang="en-US" sz="1230" dirty="0"/>
          </a:p>
          <a:p>
            <a:pPr indent="0" marL="0">
              <a:buNone/>
            </a:pPr>
            <a:r>
              <a:rPr lang="en-US" sz="1230" dirty="0">
                <a:solidFill>
                  <a:srgbClr val="17232C"/>
                </a:solidFill>
              </a:rPr>
              <a:t>• Only P-values, no effect sizes or confidence intervals</a:t>
            </a:r>
            <a:endParaRPr lang="en-US" sz="1230" dirty="0"/>
          </a:p>
          <a:p>
            <a:pPr indent="0" marL="0">
              <a:buNone/>
            </a:pPr>
            <a:r>
              <a:rPr lang="en-US" sz="1230" dirty="0">
                <a:solidFill>
                  <a:srgbClr val="17232C"/>
                </a:solidFill>
              </a:rPr>
              <a:t>• No external cohort</a:t>
            </a:r>
            <a:endParaRPr lang="en-US" sz="1230" dirty="0"/>
          </a:p>
          <a:p>
            <a:pPr indent="0" marL="0">
              <a:buNone/>
            </a:pPr>
            <a:r>
              <a:rPr lang="en-US" sz="1230" dirty="0">
                <a:solidFill>
                  <a:srgbClr val="17232C"/>
                </a:solidFill>
              </a:rPr>
              <a:t>• LASSO model built and tested on the same data</a:t>
            </a:r>
            <a:endParaRPr lang="en-US" sz="1230" dirty="0"/>
          </a:p>
          <a:p>
            <a:pPr indent="0" marL="0">
              <a:buNone/>
            </a:pPr>
            <a:r>
              <a:rPr lang="en-US" sz="1230" dirty="0">
                <a:solidFill>
                  <a:srgbClr val="17232C"/>
                </a:solidFill>
              </a:rPr>
              <a:t>• Nomogram added merely for decoration</a:t>
            </a:r>
            <a:endParaRPr lang="en-US" sz="1230" dirty="0"/>
          </a:p>
          <a:p>
            <a:pPr indent="0" marL="0">
              <a:buNone/>
            </a:pPr>
            <a:r>
              <a:rPr lang="en-US" sz="1230" dirty="0">
                <a:solidFill>
                  <a:srgbClr val="17232C"/>
                </a:solidFill>
              </a:rPr>
              <a:t>• Claiming mechanism from correlation alone</a:t>
            </a:r>
            <a:endParaRPr lang="en-US" sz="1230" dirty="0"/>
          </a:p>
        </p:txBody>
      </p:sp>
      <p:sp>
        <p:nvSpPr>
          <p:cNvPr id="15" name="Text 12"/>
          <p:cNvSpPr/>
          <p:nvPr/>
        </p:nvSpPr>
        <p:spPr>
          <a:xfrm>
            <a:off x="1280160" y="5989320"/>
            <a:ext cx="9601200" cy="320040"/>
          </a:xfrm>
          <a:prstGeom prst="rect">
            <a:avLst/>
          </a:prstGeom>
          <a:noFill/>
          <a:ln/>
        </p:spPr>
        <p:txBody>
          <a:bodyPr wrap="square" lIns="0" tIns="0" rIns="0" bIns="0" rtlCol="0" anchor="ctr"/>
          <a:lstStyle/>
          <a:p>
            <a:pPr algn="ctr" indent="0" marL="0">
              <a:buNone/>
            </a:pPr>
            <a:r>
              <a:rPr lang="en-US" sz="1800" b="1" dirty="0">
                <a:solidFill>
                  <a:srgbClr val="17324A"/>
                </a:solidFill>
              </a:rPr>
              <a:t>A small paper can be computationally simple but must be methodologically coherent.</a:t>
            </a:r>
            <a:endParaRPr lang="en-US" sz="18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Public data sources: what each one is good for</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Use sources according to the data type you need</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DATA</a:t>
            </a:r>
            <a:endParaRPr lang="en-US" sz="950" dirty="0"/>
          </a:p>
        </p:txBody>
      </p:sp>
      <p:sp>
        <p:nvSpPr>
          <p:cNvPr id="7" name="Shape 4"/>
          <p:cNvSpPr/>
          <p:nvPr/>
        </p:nvSpPr>
        <p:spPr>
          <a:xfrm>
            <a:off x="640080" y="1508760"/>
            <a:ext cx="2542032" cy="4114800"/>
          </a:xfrm>
          <a:prstGeom prst="roundRect">
            <a:avLst>
              <a:gd name="adj" fmla="val 2158"/>
            </a:avLst>
          </a:prstGeom>
          <a:solidFill>
            <a:srgbClr val="FFFFFF"/>
          </a:solidFill>
          <a:ln w="12700">
            <a:solidFill>
              <a:srgbClr val="DDE5EA"/>
            </a:solidFill>
            <a:prstDash val="solid"/>
          </a:ln>
        </p:spPr>
      </p:sp>
      <p:sp>
        <p:nvSpPr>
          <p:cNvPr id="8" name="Shape 5"/>
          <p:cNvSpPr/>
          <p:nvPr/>
        </p:nvSpPr>
        <p:spPr>
          <a:xfrm>
            <a:off x="640080" y="1508760"/>
            <a:ext cx="73152" cy="4114800"/>
          </a:xfrm>
          <a:prstGeom prst="rect">
            <a:avLst/>
          </a:prstGeom>
          <a:solidFill>
            <a:srgbClr val="2D5B88"/>
          </a:solidFill>
          <a:ln w="12700">
            <a:solidFill>
              <a:srgbClr val="2D5B88"/>
            </a:solidFill>
            <a:prstDash val="solid"/>
          </a:ln>
        </p:spPr>
      </p:sp>
      <p:sp>
        <p:nvSpPr>
          <p:cNvPr id="9" name="Text 6"/>
          <p:cNvSpPr/>
          <p:nvPr/>
        </p:nvSpPr>
        <p:spPr>
          <a:xfrm>
            <a:off x="841248" y="1664208"/>
            <a:ext cx="2194560" cy="274320"/>
          </a:xfrm>
          <a:prstGeom prst="rect">
            <a:avLst/>
          </a:prstGeom>
          <a:noFill/>
          <a:ln/>
        </p:spPr>
        <p:txBody>
          <a:bodyPr wrap="square" lIns="0" tIns="0" rIns="0" bIns="0" rtlCol="0" anchor="ctr"/>
          <a:lstStyle/>
          <a:p>
            <a:pPr indent="0" marL="0">
              <a:buNone/>
            </a:pPr>
            <a:r>
              <a:rPr lang="en-US" sz="1700" b="1" dirty="0">
                <a:solidFill>
                  <a:srgbClr val="17324A"/>
                </a:solidFill>
              </a:rPr>
              <a:t>TCGA / GDC</a:t>
            </a:r>
            <a:endParaRPr lang="en-US" sz="1700" dirty="0"/>
          </a:p>
        </p:txBody>
      </p:sp>
      <p:sp>
        <p:nvSpPr>
          <p:cNvPr id="10" name="Text 7"/>
          <p:cNvSpPr/>
          <p:nvPr/>
        </p:nvSpPr>
        <p:spPr>
          <a:xfrm>
            <a:off x="841248" y="2011680"/>
            <a:ext cx="2194560" cy="3474720"/>
          </a:xfrm>
          <a:prstGeom prst="rect">
            <a:avLst/>
          </a:prstGeom>
          <a:noFill/>
          <a:ln/>
        </p:spPr>
        <p:txBody>
          <a:bodyPr wrap="square" lIns="254" tIns="254" rIns="254" bIns="254" rtlCol="0" anchor="t"/>
          <a:lstStyle/>
          <a:p>
            <a:pPr indent="0" marL="0">
              <a:buNone/>
            </a:pPr>
            <a:r>
              <a:rPr lang="en-US" sz="1230" dirty="0">
                <a:solidFill>
                  <a:srgbClr val="17232C"/>
                </a:solidFill>
              </a:rPr>
              <a:t>Cancer RNA-seq, clinical data, mutations, CNV, methylation and other harmonized datasets. Best for discovery cohorts and multi-omics context.</a:t>
            </a:r>
            <a:endParaRPr lang="en-US" sz="1230" dirty="0"/>
          </a:p>
        </p:txBody>
      </p:sp>
      <p:sp>
        <p:nvSpPr>
          <p:cNvPr id="11" name="Shape 8"/>
          <p:cNvSpPr/>
          <p:nvPr/>
        </p:nvSpPr>
        <p:spPr>
          <a:xfrm>
            <a:off x="3502152" y="1508760"/>
            <a:ext cx="2542032" cy="4114800"/>
          </a:xfrm>
          <a:prstGeom prst="roundRect">
            <a:avLst>
              <a:gd name="adj" fmla="val 2158"/>
            </a:avLst>
          </a:prstGeom>
          <a:solidFill>
            <a:srgbClr val="FFFFFF"/>
          </a:solidFill>
          <a:ln w="12700">
            <a:solidFill>
              <a:srgbClr val="DDE5EA"/>
            </a:solidFill>
            <a:prstDash val="solid"/>
          </a:ln>
        </p:spPr>
      </p:sp>
      <p:sp>
        <p:nvSpPr>
          <p:cNvPr id="12" name="Shape 9"/>
          <p:cNvSpPr/>
          <p:nvPr/>
        </p:nvSpPr>
        <p:spPr>
          <a:xfrm>
            <a:off x="3502152" y="1508760"/>
            <a:ext cx="73152" cy="4114800"/>
          </a:xfrm>
          <a:prstGeom prst="rect">
            <a:avLst/>
          </a:prstGeom>
          <a:solidFill>
            <a:srgbClr val="2A9D8F"/>
          </a:solidFill>
          <a:ln w="12700">
            <a:solidFill>
              <a:srgbClr val="2A9D8F"/>
            </a:solidFill>
            <a:prstDash val="solid"/>
          </a:ln>
        </p:spPr>
      </p:sp>
      <p:sp>
        <p:nvSpPr>
          <p:cNvPr id="13" name="Text 10"/>
          <p:cNvSpPr/>
          <p:nvPr/>
        </p:nvSpPr>
        <p:spPr>
          <a:xfrm>
            <a:off x="3703320" y="1664208"/>
            <a:ext cx="2194560" cy="274320"/>
          </a:xfrm>
          <a:prstGeom prst="rect">
            <a:avLst/>
          </a:prstGeom>
          <a:noFill/>
          <a:ln/>
        </p:spPr>
        <p:txBody>
          <a:bodyPr wrap="square" lIns="0" tIns="0" rIns="0" bIns="0" rtlCol="0" anchor="ctr"/>
          <a:lstStyle/>
          <a:p>
            <a:pPr indent="0" marL="0">
              <a:buNone/>
            </a:pPr>
            <a:r>
              <a:rPr lang="en-US" sz="1700" b="1" dirty="0">
                <a:solidFill>
                  <a:srgbClr val="17324A"/>
                </a:solidFill>
              </a:rPr>
              <a:t>GEO</a:t>
            </a:r>
            <a:endParaRPr lang="en-US" sz="1700" dirty="0"/>
          </a:p>
        </p:txBody>
      </p:sp>
      <p:sp>
        <p:nvSpPr>
          <p:cNvPr id="14" name="Text 11"/>
          <p:cNvSpPr/>
          <p:nvPr/>
        </p:nvSpPr>
        <p:spPr>
          <a:xfrm>
            <a:off x="3703320" y="2011680"/>
            <a:ext cx="2194560" cy="3474720"/>
          </a:xfrm>
          <a:prstGeom prst="rect">
            <a:avLst/>
          </a:prstGeom>
          <a:noFill/>
          <a:ln/>
        </p:spPr>
        <p:txBody>
          <a:bodyPr wrap="square" lIns="254" tIns="254" rIns="254" bIns="254" rtlCol="0" anchor="t"/>
          <a:lstStyle/>
          <a:p>
            <a:pPr indent="0" marL="0">
              <a:buNone/>
            </a:pPr>
            <a:r>
              <a:rPr lang="en-US" sz="1230" dirty="0">
                <a:solidFill>
                  <a:srgbClr val="17232C"/>
                </a:solidFill>
              </a:rPr>
              <a:t>Microarray and RNA-seq studies from many diseases and experimental designs. Excellent for independent external validation and disease-specific cohorts.</a:t>
            </a:r>
            <a:endParaRPr lang="en-US" sz="1230" dirty="0"/>
          </a:p>
        </p:txBody>
      </p:sp>
      <p:sp>
        <p:nvSpPr>
          <p:cNvPr id="15" name="Shape 12"/>
          <p:cNvSpPr/>
          <p:nvPr/>
        </p:nvSpPr>
        <p:spPr>
          <a:xfrm>
            <a:off x="6364224" y="1508760"/>
            <a:ext cx="2542032" cy="4114800"/>
          </a:xfrm>
          <a:prstGeom prst="roundRect">
            <a:avLst>
              <a:gd name="adj" fmla="val 2158"/>
            </a:avLst>
          </a:prstGeom>
          <a:solidFill>
            <a:srgbClr val="FFFFFF"/>
          </a:solidFill>
          <a:ln w="12700">
            <a:solidFill>
              <a:srgbClr val="DDE5EA"/>
            </a:solidFill>
            <a:prstDash val="solid"/>
          </a:ln>
        </p:spPr>
      </p:sp>
      <p:sp>
        <p:nvSpPr>
          <p:cNvPr id="16" name="Shape 13"/>
          <p:cNvSpPr/>
          <p:nvPr/>
        </p:nvSpPr>
        <p:spPr>
          <a:xfrm>
            <a:off x="6364224" y="1508760"/>
            <a:ext cx="73152" cy="4114800"/>
          </a:xfrm>
          <a:prstGeom prst="rect">
            <a:avLst/>
          </a:prstGeom>
          <a:solidFill>
            <a:srgbClr val="E76F51"/>
          </a:solidFill>
          <a:ln w="12700">
            <a:solidFill>
              <a:srgbClr val="E76F51"/>
            </a:solidFill>
            <a:prstDash val="solid"/>
          </a:ln>
        </p:spPr>
      </p:sp>
      <p:sp>
        <p:nvSpPr>
          <p:cNvPr id="17" name="Text 14"/>
          <p:cNvSpPr/>
          <p:nvPr/>
        </p:nvSpPr>
        <p:spPr>
          <a:xfrm>
            <a:off x="6565392" y="1664208"/>
            <a:ext cx="2194560" cy="274320"/>
          </a:xfrm>
          <a:prstGeom prst="rect">
            <a:avLst/>
          </a:prstGeom>
          <a:noFill/>
          <a:ln/>
        </p:spPr>
        <p:txBody>
          <a:bodyPr wrap="square" lIns="0" tIns="0" rIns="0" bIns="0" rtlCol="0" anchor="ctr"/>
          <a:lstStyle/>
          <a:p>
            <a:pPr indent="0" marL="0">
              <a:buNone/>
            </a:pPr>
            <a:r>
              <a:rPr lang="en-US" sz="1700" b="1" dirty="0">
                <a:solidFill>
                  <a:srgbClr val="17324A"/>
                </a:solidFill>
              </a:rPr>
              <a:t>cBioPortal</a:t>
            </a:r>
            <a:endParaRPr lang="en-US" sz="1700" dirty="0"/>
          </a:p>
        </p:txBody>
      </p:sp>
      <p:sp>
        <p:nvSpPr>
          <p:cNvPr id="18" name="Text 15"/>
          <p:cNvSpPr/>
          <p:nvPr/>
        </p:nvSpPr>
        <p:spPr>
          <a:xfrm>
            <a:off x="6565392" y="2011680"/>
            <a:ext cx="2194560" cy="3474720"/>
          </a:xfrm>
          <a:prstGeom prst="rect">
            <a:avLst/>
          </a:prstGeom>
          <a:noFill/>
          <a:ln/>
        </p:spPr>
        <p:txBody>
          <a:bodyPr wrap="square" lIns="254" tIns="254" rIns="254" bIns="254" rtlCol="0" anchor="t"/>
          <a:lstStyle/>
          <a:p>
            <a:pPr indent="0" marL="0">
              <a:buNone/>
            </a:pPr>
            <a:r>
              <a:rPr lang="en-US" sz="1230" dirty="0">
                <a:solidFill>
                  <a:srgbClr val="17232C"/>
                </a:solidFill>
              </a:rPr>
              <a:t>Interactive exploration of mutations, copy number, expression, clinical attributes and survival across curated cancer studies.</a:t>
            </a:r>
            <a:endParaRPr lang="en-US" sz="1230" dirty="0"/>
          </a:p>
        </p:txBody>
      </p:sp>
      <p:sp>
        <p:nvSpPr>
          <p:cNvPr id="19" name="Shape 16"/>
          <p:cNvSpPr/>
          <p:nvPr/>
        </p:nvSpPr>
        <p:spPr>
          <a:xfrm>
            <a:off x="9226296" y="1508760"/>
            <a:ext cx="2542032" cy="4114800"/>
          </a:xfrm>
          <a:prstGeom prst="roundRect">
            <a:avLst>
              <a:gd name="adj" fmla="val 2158"/>
            </a:avLst>
          </a:prstGeom>
          <a:solidFill>
            <a:srgbClr val="FFFFFF"/>
          </a:solidFill>
          <a:ln w="12700">
            <a:solidFill>
              <a:srgbClr val="DDE5EA"/>
            </a:solidFill>
            <a:prstDash val="solid"/>
          </a:ln>
        </p:spPr>
      </p:sp>
      <p:sp>
        <p:nvSpPr>
          <p:cNvPr id="20" name="Shape 17"/>
          <p:cNvSpPr/>
          <p:nvPr/>
        </p:nvSpPr>
        <p:spPr>
          <a:xfrm>
            <a:off x="9226296" y="1508760"/>
            <a:ext cx="73152" cy="4114800"/>
          </a:xfrm>
          <a:prstGeom prst="rect">
            <a:avLst/>
          </a:prstGeom>
          <a:solidFill>
            <a:srgbClr val="7157A7"/>
          </a:solidFill>
          <a:ln w="12700">
            <a:solidFill>
              <a:srgbClr val="7157A7"/>
            </a:solidFill>
            <a:prstDash val="solid"/>
          </a:ln>
        </p:spPr>
      </p:sp>
      <p:sp>
        <p:nvSpPr>
          <p:cNvPr id="21" name="Text 18"/>
          <p:cNvSpPr/>
          <p:nvPr/>
        </p:nvSpPr>
        <p:spPr>
          <a:xfrm>
            <a:off x="9427464" y="1664208"/>
            <a:ext cx="2194560" cy="274320"/>
          </a:xfrm>
          <a:prstGeom prst="rect">
            <a:avLst/>
          </a:prstGeom>
          <a:noFill/>
          <a:ln/>
        </p:spPr>
        <p:txBody>
          <a:bodyPr wrap="square" lIns="0" tIns="0" rIns="0" bIns="0" rtlCol="0" anchor="ctr"/>
          <a:lstStyle/>
          <a:p>
            <a:pPr indent="0" marL="0">
              <a:buNone/>
            </a:pPr>
            <a:r>
              <a:rPr lang="en-US" sz="1700" b="1" dirty="0">
                <a:solidFill>
                  <a:srgbClr val="17324A"/>
                </a:solidFill>
              </a:rPr>
              <a:t>Optional add-ons</a:t>
            </a:r>
            <a:endParaRPr lang="en-US" sz="1700" dirty="0"/>
          </a:p>
        </p:txBody>
      </p:sp>
      <p:sp>
        <p:nvSpPr>
          <p:cNvPr id="22" name="Text 19"/>
          <p:cNvSpPr/>
          <p:nvPr/>
        </p:nvSpPr>
        <p:spPr>
          <a:xfrm>
            <a:off x="9427464" y="2011680"/>
            <a:ext cx="2194560" cy="3474720"/>
          </a:xfrm>
          <a:prstGeom prst="rect">
            <a:avLst/>
          </a:prstGeom>
          <a:noFill/>
          <a:ln/>
        </p:spPr>
        <p:txBody>
          <a:bodyPr wrap="square" lIns="254" tIns="254" rIns="254" bIns="254" rtlCol="0" anchor="t"/>
          <a:lstStyle/>
          <a:p>
            <a:pPr indent="0" marL="0">
              <a:buNone/>
            </a:pPr>
            <a:r>
              <a:rPr lang="en-US" sz="1230" dirty="0">
                <a:solidFill>
                  <a:srgbClr val="17232C"/>
                </a:solidFill>
              </a:rPr>
              <a:t>GTEx for normal-tissue context; CPTAC for proteomics in selected cancers; disease-specific resources such as CGGA when appropriate.</a:t>
            </a:r>
            <a:endParaRPr lang="en-US" sz="1230" dirty="0"/>
          </a:p>
        </p:txBody>
      </p:sp>
      <p:sp>
        <p:nvSpPr>
          <p:cNvPr id="23" name="Text 20"/>
          <p:cNvSpPr/>
          <p:nvPr/>
        </p:nvSpPr>
        <p:spPr>
          <a:xfrm>
            <a:off x="566928" y="6199632"/>
            <a:ext cx="10881360" cy="164592"/>
          </a:xfrm>
          <a:prstGeom prst="rect">
            <a:avLst/>
          </a:prstGeom>
          <a:noFill/>
          <a:ln/>
        </p:spPr>
        <p:txBody>
          <a:bodyPr wrap="square" lIns="0" tIns="0" rIns="0" bIns="0" rtlCol="0" anchor="ctr"/>
          <a:lstStyle/>
          <a:p>
            <a:pPr indent="0" marL="0">
              <a:buNone/>
            </a:pPr>
            <a:r>
              <a:rPr lang="en-US" sz="850" i="1" dirty="0">
                <a:solidFill>
                  <a:srgbClr val="7F8A96"/>
                </a:solidFill>
              </a:rPr>
              <a:t>Official sources used in this deck: NCI Genomic Data Commons (GDC), NCBI GEO, cBioPortal documentation.</a:t>
            </a:r>
            <a:endParaRPr lang="en-US" sz="8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What can be done on a personal computer?</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 practical compute map for bulk bioinformatics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COMPUTE</a:t>
            </a:r>
            <a:endParaRPr lang="en-US" sz="950" dirty="0"/>
          </a:p>
        </p:txBody>
      </p:sp>
      <p:sp>
        <p:nvSpPr>
          <p:cNvPr id="7" name="Text 4"/>
          <p:cNvSpPr/>
          <p:nvPr/>
        </p:nvSpPr>
        <p:spPr>
          <a:xfrm>
            <a:off x="685800" y="1325880"/>
            <a:ext cx="2880360" cy="274320"/>
          </a:xfrm>
          <a:prstGeom prst="rect">
            <a:avLst/>
          </a:prstGeom>
          <a:solidFill>
            <a:srgbClr val="17324A"/>
          </a:solidFill>
          <a:ln/>
        </p:spPr>
        <p:txBody>
          <a:bodyPr wrap="square" lIns="762" tIns="762" rIns="762" bIns="762" rtlCol="0" anchor="ctr"/>
          <a:lstStyle/>
          <a:p>
            <a:pPr indent="0" marL="0">
              <a:buNone/>
            </a:pPr>
            <a:r>
              <a:rPr lang="en-US" sz="1200" b="1" dirty="0">
                <a:solidFill>
                  <a:srgbClr val="FFFFFF"/>
                </a:solidFill>
              </a:rPr>
              <a:t>Task</a:t>
            </a:r>
            <a:endParaRPr lang="en-US" sz="1200" dirty="0"/>
          </a:p>
        </p:txBody>
      </p:sp>
      <p:sp>
        <p:nvSpPr>
          <p:cNvPr id="8" name="Text 5"/>
          <p:cNvSpPr/>
          <p:nvPr/>
        </p:nvSpPr>
        <p:spPr>
          <a:xfrm>
            <a:off x="3566160" y="1325880"/>
            <a:ext cx="1417320" cy="274320"/>
          </a:xfrm>
          <a:prstGeom prst="rect">
            <a:avLst/>
          </a:prstGeom>
          <a:solidFill>
            <a:srgbClr val="17324A"/>
          </a:solidFill>
          <a:ln/>
        </p:spPr>
        <p:txBody>
          <a:bodyPr wrap="square" lIns="762" tIns="762" rIns="762" bIns="762" rtlCol="0" anchor="ctr"/>
          <a:lstStyle/>
          <a:p>
            <a:pPr indent="0" marL="0">
              <a:buNone/>
            </a:pPr>
            <a:r>
              <a:rPr lang="en-US" sz="1200" b="1" dirty="0">
                <a:solidFill>
                  <a:srgbClr val="FFFFFF"/>
                </a:solidFill>
              </a:rPr>
              <a:t>Difficulty</a:t>
            </a:r>
            <a:endParaRPr lang="en-US" sz="1200" dirty="0"/>
          </a:p>
        </p:txBody>
      </p:sp>
      <p:sp>
        <p:nvSpPr>
          <p:cNvPr id="9" name="Text 6"/>
          <p:cNvSpPr/>
          <p:nvPr/>
        </p:nvSpPr>
        <p:spPr>
          <a:xfrm>
            <a:off x="4983480" y="1325880"/>
            <a:ext cx="1417320" cy="274320"/>
          </a:xfrm>
          <a:prstGeom prst="rect">
            <a:avLst/>
          </a:prstGeom>
          <a:solidFill>
            <a:srgbClr val="17324A"/>
          </a:solidFill>
          <a:ln/>
        </p:spPr>
        <p:txBody>
          <a:bodyPr wrap="square" lIns="762" tIns="762" rIns="762" bIns="762" rtlCol="0" anchor="ctr"/>
          <a:lstStyle/>
          <a:p>
            <a:pPr indent="0" marL="0">
              <a:buNone/>
            </a:pPr>
            <a:r>
              <a:rPr lang="en-US" sz="1200" b="1" dirty="0">
                <a:solidFill>
                  <a:srgbClr val="FFFFFF"/>
                </a:solidFill>
              </a:rPr>
              <a:t>Typical RAM</a:t>
            </a:r>
            <a:endParaRPr lang="en-US" sz="1200" dirty="0"/>
          </a:p>
        </p:txBody>
      </p:sp>
      <p:sp>
        <p:nvSpPr>
          <p:cNvPr id="10" name="Text 7"/>
          <p:cNvSpPr/>
          <p:nvPr/>
        </p:nvSpPr>
        <p:spPr>
          <a:xfrm>
            <a:off x="6766560" y="1325880"/>
            <a:ext cx="1417320" cy="274320"/>
          </a:xfrm>
          <a:prstGeom prst="rect">
            <a:avLst/>
          </a:prstGeom>
          <a:solidFill>
            <a:srgbClr val="17324A"/>
          </a:solidFill>
          <a:ln/>
        </p:spPr>
        <p:txBody>
          <a:bodyPr wrap="square" lIns="762" tIns="762" rIns="762" bIns="762" rtlCol="0" anchor="ctr"/>
          <a:lstStyle/>
          <a:p>
            <a:pPr indent="0" marL="0">
              <a:buNone/>
            </a:pPr>
            <a:r>
              <a:rPr lang="en-US" sz="1200" b="1" dirty="0">
                <a:solidFill>
                  <a:srgbClr val="FFFFFF"/>
                </a:solidFill>
              </a:rPr>
              <a:t>Best route</a:t>
            </a:r>
            <a:endParaRPr lang="en-US" sz="1200" dirty="0"/>
          </a:p>
        </p:txBody>
      </p:sp>
      <p:sp>
        <p:nvSpPr>
          <p:cNvPr id="11" name="Text 8"/>
          <p:cNvSpPr/>
          <p:nvPr/>
        </p:nvSpPr>
        <p:spPr>
          <a:xfrm>
            <a:off x="8595360" y="1325880"/>
            <a:ext cx="2880360" cy="274320"/>
          </a:xfrm>
          <a:prstGeom prst="rect">
            <a:avLst/>
          </a:prstGeom>
          <a:solidFill>
            <a:srgbClr val="17324A"/>
          </a:solidFill>
          <a:ln/>
        </p:spPr>
        <p:txBody>
          <a:bodyPr wrap="square" lIns="762" tIns="762" rIns="762" bIns="762" rtlCol="0" anchor="ctr"/>
          <a:lstStyle/>
          <a:p>
            <a:pPr indent="0" marL="0">
              <a:buNone/>
            </a:pPr>
            <a:r>
              <a:rPr lang="en-US" sz="1200" b="1" dirty="0">
                <a:solidFill>
                  <a:srgbClr val="FFFFFF"/>
                </a:solidFill>
              </a:rPr>
              <a:t>Comment</a:t>
            </a:r>
            <a:endParaRPr lang="en-US" sz="1200" dirty="0"/>
          </a:p>
        </p:txBody>
      </p:sp>
      <p:sp>
        <p:nvSpPr>
          <p:cNvPr id="12" name="Text 9"/>
          <p:cNvSpPr/>
          <p:nvPr/>
        </p:nvSpPr>
        <p:spPr>
          <a:xfrm>
            <a:off x="685800" y="1627632"/>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Expression matrix + clinical data</a:t>
            </a:r>
            <a:endParaRPr lang="en-US" sz="1180" dirty="0"/>
          </a:p>
        </p:txBody>
      </p:sp>
      <p:sp>
        <p:nvSpPr>
          <p:cNvPr id="13" name="Text 10"/>
          <p:cNvSpPr/>
          <p:nvPr/>
        </p:nvSpPr>
        <p:spPr>
          <a:xfrm>
            <a:off x="3566160" y="1627632"/>
            <a:ext cx="141732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Easy</a:t>
            </a:r>
            <a:endParaRPr lang="en-US" sz="1180" dirty="0"/>
          </a:p>
        </p:txBody>
      </p:sp>
      <p:sp>
        <p:nvSpPr>
          <p:cNvPr id="14" name="Text 11"/>
          <p:cNvSpPr/>
          <p:nvPr/>
        </p:nvSpPr>
        <p:spPr>
          <a:xfrm>
            <a:off x="4983480" y="1627632"/>
            <a:ext cx="178308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8–16 GB RAM</a:t>
            </a:r>
            <a:endParaRPr lang="en-US" sz="1180" dirty="0"/>
          </a:p>
        </p:txBody>
      </p:sp>
      <p:sp>
        <p:nvSpPr>
          <p:cNvPr id="15" name="Text 12"/>
          <p:cNvSpPr/>
          <p:nvPr/>
        </p:nvSpPr>
        <p:spPr>
          <a:xfrm>
            <a:off x="6766560" y="1627632"/>
            <a:ext cx="182880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R / Python</a:t>
            </a:r>
            <a:endParaRPr lang="en-US" sz="1180" dirty="0"/>
          </a:p>
        </p:txBody>
      </p:sp>
      <p:sp>
        <p:nvSpPr>
          <p:cNvPr id="16" name="Text 13"/>
          <p:cNvSpPr/>
          <p:nvPr/>
        </p:nvSpPr>
        <p:spPr>
          <a:xfrm>
            <a:off x="8595360" y="1627632"/>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Most TCGA/GEO analyses</a:t>
            </a:r>
            <a:endParaRPr lang="en-US" sz="1180" dirty="0"/>
          </a:p>
        </p:txBody>
      </p:sp>
      <p:sp>
        <p:nvSpPr>
          <p:cNvPr id="17" name="Text 14"/>
          <p:cNvSpPr/>
          <p:nvPr/>
        </p:nvSpPr>
        <p:spPr>
          <a:xfrm>
            <a:off x="685800" y="2185416"/>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Differential expression / survival / enrichment</a:t>
            </a:r>
            <a:endParaRPr lang="en-US" sz="1180" dirty="0"/>
          </a:p>
        </p:txBody>
      </p:sp>
      <p:sp>
        <p:nvSpPr>
          <p:cNvPr id="18" name="Text 15"/>
          <p:cNvSpPr/>
          <p:nvPr/>
        </p:nvSpPr>
        <p:spPr>
          <a:xfrm>
            <a:off x="3566160" y="2185416"/>
            <a:ext cx="141732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Easy</a:t>
            </a:r>
            <a:endParaRPr lang="en-US" sz="1180" dirty="0"/>
          </a:p>
        </p:txBody>
      </p:sp>
      <p:sp>
        <p:nvSpPr>
          <p:cNvPr id="19" name="Text 16"/>
          <p:cNvSpPr/>
          <p:nvPr/>
        </p:nvSpPr>
        <p:spPr>
          <a:xfrm>
            <a:off x="4983480" y="2185416"/>
            <a:ext cx="178308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8–16 GB RAM</a:t>
            </a:r>
            <a:endParaRPr lang="en-US" sz="1180" dirty="0"/>
          </a:p>
        </p:txBody>
      </p:sp>
      <p:sp>
        <p:nvSpPr>
          <p:cNvPr id="20" name="Text 17"/>
          <p:cNvSpPr/>
          <p:nvPr/>
        </p:nvSpPr>
        <p:spPr>
          <a:xfrm>
            <a:off x="6766560" y="2185416"/>
            <a:ext cx="182880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R</a:t>
            </a:r>
            <a:endParaRPr lang="en-US" sz="1180" dirty="0"/>
          </a:p>
        </p:txBody>
      </p:sp>
      <p:sp>
        <p:nvSpPr>
          <p:cNvPr id="21" name="Text 18"/>
          <p:cNvSpPr/>
          <p:nvPr/>
        </p:nvSpPr>
        <p:spPr>
          <a:xfrm>
            <a:off x="8595360" y="2185416"/>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Minutes to tens of minutes</a:t>
            </a:r>
            <a:endParaRPr lang="en-US" sz="1180" dirty="0"/>
          </a:p>
        </p:txBody>
      </p:sp>
      <p:sp>
        <p:nvSpPr>
          <p:cNvPr id="22" name="Text 19"/>
          <p:cNvSpPr/>
          <p:nvPr/>
        </p:nvSpPr>
        <p:spPr>
          <a:xfrm>
            <a:off x="685800" y="2743200"/>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Immune scoring / GSVA / WGCNA</a:t>
            </a:r>
            <a:endParaRPr lang="en-US" sz="1180" dirty="0"/>
          </a:p>
        </p:txBody>
      </p:sp>
      <p:sp>
        <p:nvSpPr>
          <p:cNvPr id="23" name="Text 20"/>
          <p:cNvSpPr/>
          <p:nvPr/>
        </p:nvSpPr>
        <p:spPr>
          <a:xfrm>
            <a:off x="3566160" y="2743200"/>
            <a:ext cx="141732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Moderate</a:t>
            </a:r>
            <a:endParaRPr lang="en-US" sz="1180" dirty="0"/>
          </a:p>
        </p:txBody>
      </p:sp>
      <p:sp>
        <p:nvSpPr>
          <p:cNvPr id="24" name="Text 21"/>
          <p:cNvSpPr/>
          <p:nvPr/>
        </p:nvSpPr>
        <p:spPr>
          <a:xfrm>
            <a:off x="4983480" y="2743200"/>
            <a:ext cx="178308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16–32 GB RAM</a:t>
            </a:r>
            <a:endParaRPr lang="en-US" sz="1180" dirty="0"/>
          </a:p>
        </p:txBody>
      </p:sp>
      <p:sp>
        <p:nvSpPr>
          <p:cNvPr id="25" name="Text 22"/>
          <p:cNvSpPr/>
          <p:nvPr/>
        </p:nvSpPr>
        <p:spPr>
          <a:xfrm>
            <a:off x="6766560" y="2743200"/>
            <a:ext cx="182880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R</a:t>
            </a:r>
            <a:endParaRPr lang="en-US" sz="1180" dirty="0"/>
          </a:p>
        </p:txBody>
      </p:sp>
      <p:sp>
        <p:nvSpPr>
          <p:cNvPr id="26" name="Text 23"/>
          <p:cNvSpPr/>
          <p:nvPr/>
        </p:nvSpPr>
        <p:spPr>
          <a:xfrm>
            <a:off x="8595360" y="2743200"/>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Depends on genes × samples</a:t>
            </a:r>
            <a:endParaRPr lang="en-US" sz="1180" dirty="0"/>
          </a:p>
        </p:txBody>
      </p:sp>
      <p:sp>
        <p:nvSpPr>
          <p:cNvPr id="27" name="Text 24"/>
          <p:cNvSpPr/>
          <p:nvPr/>
        </p:nvSpPr>
        <p:spPr>
          <a:xfrm>
            <a:off x="685800" y="3300984"/>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MAF mutation analysis / CNV summaries</a:t>
            </a:r>
            <a:endParaRPr lang="en-US" sz="1180" dirty="0"/>
          </a:p>
        </p:txBody>
      </p:sp>
      <p:sp>
        <p:nvSpPr>
          <p:cNvPr id="28" name="Text 25"/>
          <p:cNvSpPr/>
          <p:nvPr/>
        </p:nvSpPr>
        <p:spPr>
          <a:xfrm>
            <a:off x="3566160" y="3300984"/>
            <a:ext cx="141732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Easy–Moderate</a:t>
            </a:r>
            <a:endParaRPr lang="en-US" sz="1180" dirty="0"/>
          </a:p>
        </p:txBody>
      </p:sp>
      <p:sp>
        <p:nvSpPr>
          <p:cNvPr id="29" name="Text 26"/>
          <p:cNvSpPr/>
          <p:nvPr/>
        </p:nvSpPr>
        <p:spPr>
          <a:xfrm>
            <a:off x="4983480" y="3300984"/>
            <a:ext cx="178308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16 GB RAM</a:t>
            </a:r>
            <a:endParaRPr lang="en-US" sz="1180" dirty="0"/>
          </a:p>
        </p:txBody>
      </p:sp>
      <p:sp>
        <p:nvSpPr>
          <p:cNvPr id="30" name="Text 27"/>
          <p:cNvSpPr/>
          <p:nvPr/>
        </p:nvSpPr>
        <p:spPr>
          <a:xfrm>
            <a:off x="6766560" y="3300984"/>
            <a:ext cx="182880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R / cBioPortal</a:t>
            </a:r>
            <a:endParaRPr lang="en-US" sz="1180" dirty="0"/>
          </a:p>
        </p:txBody>
      </p:sp>
      <p:sp>
        <p:nvSpPr>
          <p:cNvPr id="31" name="Text 28"/>
          <p:cNvSpPr/>
          <p:nvPr/>
        </p:nvSpPr>
        <p:spPr>
          <a:xfrm>
            <a:off x="8595360" y="3300984"/>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Processed files recommended</a:t>
            </a:r>
            <a:endParaRPr lang="en-US" sz="1180" dirty="0"/>
          </a:p>
        </p:txBody>
      </p:sp>
      <p:sp>
        <p:nvSpPr>
          <p:cNvPr id="32" name="Text 29"/>
          <p:cNvSpPr/>
          <p:nvPr/>
        </p:nvSpPr>
        <p:spPr>
          <a:xfrm>
            <a:off x="685800" y="3858768"/>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Raw RNA-seq FASTQ alignment</a:t>
            </a:r>
            <a:endParaRPr lang="en-US" sz="1180" dirty="0"/>
          </a:p>
        </p:txBody>
      </p:sp>
      <p:sp>
        <p:nvSpPr>
          <p:cNvPr id="33" name="Text 30"/>
          <p:cNvSpPr/>
          <p:nvPr/>
        </p:nvSpPr>
        <p:spPr>
          <a:xfrm>
            <a:off x="3566160" y="3858768"/>
            <a:ext cx="141732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Heavy</a:t>
            </a:r>
            <a:endParaRPr lang="en-US" sz="1180" dirty="0"/>
          </a:p>
        </p:txBody>
      </p:sp>
      <p:sp>
        <p:nvSpPr>
          <p:cNvPr id="34" name="Text 31"/>
          <p:cNvSpPr/>
          <p:nvPr/>
        </p:nvSpPr>
        <p:spPr>
          <a:xfrm>
            <a:off x="4983480" y="3858768"/>
            <a:ext cx="178308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32+ GB / many cores</a:t>
            </a:r>
            <a:endParaRPr lang="en-US" sz="1180" dirty="0"/>
          </a:p>
        </p:txBody>
      </p:sp>
      <p:sp>
        <p:nvSpPr>
          <p:cNvPr id="35" name="Text 32"/>
          <p:cNvSpPr/>
          <p:nvPr/>
        </p:nvSpPr>
        <p:spPr>
          <a:xfrm>
            <a:off x="6766560" y="3858768"/>
            <a:ext cx="182880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Server / cloud</a:t>
            </a:r>
            <a:endParaRPr lang="en-US" sz="1180" dirty="0"/>
          </a:p>
        </p:txBody>
      </p:sp>
      <p:sp>
        <p:nvSpPr>
          <p:cNvPr id="36" name="Text 33"/>
          <p:cNvSpPr/>
          <p:nvPr/>
        </p:nvSpPr>
        <p:spPr>
          <a:xfrm>
            <a:off x="8595360" y="3858768"/>
            <a:ext cx="2880360" cy="530352"/>
          </a:xfrm>
          <a:prstGeom prst="rect">
            <a:avLst/>
          </a:prstGeom>
          <a:solidFill>
            <a:srgbClr val="FFFFFF"/>
          </a:solidFill>
          <a:ln/>
        </p:spPr>
        <p:txBody>
          <a:bodyPr wrap="square" lIns="1016" tIns="1016" rIns="1016" bIns="1016" rtlCol="0" anchor="ctr"/>
          <a:lstStyle/>
          <a:p>
            <a:pPr indent="0" marL="0">
              <a:buNone/>
            </a:pPr>
            <a:r>
              <a:rPr lang="en-US" sz="1180" dirty="0">
                <a:solidFill>
                  <a:srgbClr val="17232C"/>
                </a:solidFill>
              </a:rPr>
              <a:t>Avoid for a first public-data paper</a:t>
            </a:r>
            <a:endParaRPr lang="en-US" sz="1180" dirty="0"/>
          </a:p>
        </p:txBody>
      </p:sp>
      <p:sp>
        <p:nvSpPr>
          <p:cNvPr id="37" name="Text 34"/>
          <p:cNvSpPr/>
          <p:nvPr/>
        </p:nvSpPr>
        <p:spPr>
          <a:xfrm>
            <a:off x="685800" y="4416552"/>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Large single-cell / spatial datasets</a:t>
            </a:r>
            <a:endParaRPr lang="en-US" sz="1180" dirty="0"/>
          </a:p>
        </p:txBody>
      </p:sp>
      <p:sp>
        <p:nvSpPr>
          <p:cNvPr id="38" name="Text 35"/>
          <p:cNvSpPr/>
          <p:nvPr/>
        </p:nvSpPr>
        <p:spPr>
          <a:xfrm>
            <a:off x="3566160" y="4416552"/>
            <a:ext cx="141732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Heavy</a:t>
            </a:r>
            <a:endParaRPr lang="en-US" sz="1180" dirty="0"/>
          </a:p>
        </p:txBody>
      </p:sp>
      <p:sp>
        <p:nvSpPr>
          <p:cNvPr id="39" name="Text 36"/>
          <p:cNvSpPr/>
          <p:nvPr/>
        </p:nvSpPr>
        <p:spPr>
          <a:xfrm>
            <a:off x="4983480" y="4416552"/>
            <a:ext cx="178308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32–128+ GB</a:t>
            </a:r>
            <a:endParaRPr lang="en-US" sz="1180" dirty="0"/>
          </a:p>
        </p:txBody>
      </p:sp>
      <p:sp>
        <p:nvSpPr>
          <p:cNvPr id="40" name="Text 37"/>
          <p:cNvSpPr/>
          <p:nvPr/>
        </p:nvSpPr>
        <p:spPr>
          <a:xfrm>
            <a:off x="6766560" y="4416552"/>
            <a:ext cx="182880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Workstation / server</a:t>
            </a:r>
            <a:endParaRPr lang="en-US" sz="1180" dirty="0"/>
          </a:p>
        </p:txBody>
      </p:sp>
      <p:sp>
        <p:nvSpPr>
          <p:cNvPr id="41" name="Text 38"/>
          <p:cNvSpPr/>
          <p:nvPr/>
        </p:nvSpPr>
        <p:spPr>
          <a:xfrm>
            <a:off x="8595360" y="4416552"/>
            <a:ext cx="2880360" cy="530352"/>
          </a:xfrm>
          <a:prstGeom prst="rect">
            <a:avLst/>
          </a:prstGeom>
          <a:solidFill>
            <a:srgbClr val="F2F6F8"/>
          </a:solidFill>
          <a:ln/>
        </p:spPr>
        <p:txBody>
          <a:bodyPr wrap="square" lIns="1016" tIns="1016" rIns="1016" bIns="1016" rtlCol="0" anchor="ctr"/>
          <a:lstStyle/>
          <a:p>
            <a:pPr indent="0" marL="0">
              <a:buNone/>
            </a:pPr>
            <a:r>
              <a:rPr lang="en-US" sz="1180" dirty="0">
                <a:solidFill>
                  <a:srgbClr val="17232C"/>
                </a:solidFill>
              </a:rPr>
              <a:t>Not required for a basic study</a:t>
            </a:r>
            <a:endParaRPr lang="en-US" sz="1180" dirty="0"/>
          </a:p>
        </p:txBody>
      </p:sp>
      <p:sp>
        <p:nvSpPr>
          <p:cNvPr id="42" name="Text 39"/>
          <p:cNvSpPr/>
          <p:nvPr/>
        </p:nvSpPr>
        <p:spPr>
          <a:xfrm>
            <a:off x="749808" y="5166360"/>
            <a:ext cx="10744200" cy="438912"/>
          </a:xfrm>
          <a:prstGeom prst="rect">
            <a:avLst/>
          </a:prstGeom>
          <a:noFill/>
          <a:ln/>
        </p:spPr>
        <p:txBody>
          <a:bodyPr wrap="square" lIns="0" tIns="0" rIns="0" bIns="0" rtlCol="0" anchor="ctr"/>
          <a:lstStyle/>
          <a:p>
            <a:pPr algn="ctr" indent="0" marL="0">
              <a:buNone/>
            </a:pPr>
            <a:r>
              <a:rPr lang="en-US" sz="1700" b="1" dirty="0">
                <a:solidFill>
                  <a:srgbClr val="E76F51"/>
                </a:solidFill>
              </a:rPr>
              <a:t>Rule of thumb: download processed matrices first. Raw-read processing is a separate bioinformatics project.</a:t>
            </a:r>
            <a:endParaRPr lang="en-US" sz="17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Four common manuscript archetypes</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Choose one architecture before choosing tools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DESIGN</a:t>
            </a:r>
            <a:endParaRPr lang="en-US" sz="950" dirty="0"/>
          </a:p>
        </p:txBody>
      </p:sp>
      <p:sp>
        <p:nvSpPr>
          <p:cNvPr id="7" name="Shape 4"/>
          <p:cNvSpPr/>
          <p:nvPr/>
        </p:nvSpPr>
        <p:spPr>
          <a:xfrm>
            <a:off x="685800" y="1280160"/>
            <a:ext cx="10881360" cy="1060704"/>
          </a:xfrm>
          <a:prstGeom prst="roundRect">
            <a:avLst>
              <a:gd name="adj" fmla="val 4310"/>
            </a:avLst>
          </a:prstGeom>
          <a:solidFill>
            <a:srgbClr val="FFFFFF"/>
          </a:solidFill>
          <a:ln w="12700">
            <a:solidFill>
              <a:srgbClr val="DEE5EA"/>
            </a:solidFill>
            <a:prstDash val="solid"/>
          </a:ln>
        </p:spPr>
      </p:sp>
      <p:sp>
        <p:nvSpPr>
          <p:cNvPr id="8" name="Shape 5"/>
          <p:cNvSpPr/>
          <p:nvPr/>
        </p:nvSpPr>
        <p:spPr>
          <a:xfrm>
            <a:off x="868680" y="1517904"/>
            <a:ext cx="566928" cy="566928"/>
          </a:xfrm>
          <a:prstGeom prst="ellipse">
            <a:avLst/>
          </a:prstGeom>
          <a:solidFill>
            <a:srgbClr val="2A9D8F"/>
          </a:solidFill>
          <a:ln w="12700">
            <a:solidFill>
              <a:srgbClr val="2A9D8F"/>
            </a:solidFill>
            <a:prstDash val="solid"/>
          </a:ln>
        </p:spPr>
      </p:sp>
      <p:sp>
        <p:nvSpPr>
          <p:cNvPr id="9" name="Text 6"/>
          <p:cNvSpPr/>
          <p:nvPr/>
        </p:nvSpPr>
        <p:spPr>
          <a:xfrm>
            <a:off x="987552" y="1655064"/>
            <a:ext cx="329184" cy="164592"/>
          </a:xfrm>
          <a:prstGeom prst="rect">
            <a:avLst/>
          </a:prstGeom>
          <a:no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10" name="Text 7"/>
          <p:cNvSpPr/>
          <p:nvPr/>
        </p:nvSpPr>
        <p:spPr>
          <a:xfrm>
            <a:off x="1627632" y="1481328"/>
            <a:ext cx="3063240" cy="274320"/>
          </a:xfrm>
          <a:prstGeom prst="rect">
            <a:avLst/>
          </a:prstGeom>
          <a:noFill/>
          <a:ln/>
        </p:spPr>
        <p:txBody>
          <a:bodyPr wrap="square" lIns="0" tIns="0" rIns="0" bIns="0" rtlCol="0" anchor="ctr"/>
          <a:lstStyle/>
          <a:p>
            <a:pPr indent="0" marL="0">
              <a:buNone/>
            </a:pPr>
            <a:r>
              <a:rPr lang="en-US" sz="1800" b="1" dirty="0">
                <a:solidFill>
                  <a:srgbClr val="17324A"/>
                </a:solidFill>
              </a:rPr>
              <a:t>Single gene / immune checkpoint</a:t>
            </a:r>
            <a:endParaRPr lang="en-US" sz="1800" dirty="0"/>
          </a:p>
        </p:txBody>
      </p:sp>
      <p:sp>
        <p:nvSpPr>
          <p:cNvPr id="11" name="Text 8"/>
          <p:cNvSpPr/>
          <p:nvPr/>
        </p:nvSpPr>
        <p:spPr>
          <a:xfrm>
            <a:off x="4709160" y="1444752"/>
            <a:ext cx="6400800" cy="438912"/>
          </a:xfrm>
          <a:prstGeom prst="rect">
            <a:avLst/>
          </a:prstGeom>
          <a:noFill/>
          <a:ln/>
        </p:spPr>
        <p:txBody>
          <a:bodyPr wrap="square" lIns="0" tIns="0" rIns="0" bIns="0" rtlCol="0" anchor="ctr"/>
          <a:lstStyle/>
          <a:p>
            <a:pPr indent="0" marL="0">
              <a:buNone/>
            </a:pPr>
            <a:r>
              <a:rPr lang="en-US" sz="1280" dirty="0">
                <a:solidFill>
                  <a:srgbClr val="17232C"/>
                </a:solidFill>
              </a:rPr>
              <a:t>Expression → clinicopathology → survival → pathways → immune context → validation</a:t>
            </a:r>
            <a:endParaRPr lang="en-US" sz="1280" dirty="0"/>
          </a:p>
        </p:txBody>
      </p:sp>
      <p:sp>
        <p:nvSpPr>
          <p:cNvPr id="12" name="Shape 9"/>
          <p:cNvSpPr/>
          <p:nvPr/>
        </p:nvSpPr>
        <p:spPr>
          <a:xfrm>
            <a:off x="685800" y="2468880"/>
            <a:ext cx="10881360" cy="1060704"/>
          </a:xfrm>
          <a:prstGeom prst="roundRect">
            <a:avLst>
              <a:gd name="adj" fmla="val 4310"/>
            </a:avLst>
          </a:prstGeom>
          <a:solidFill>
            <a:srgbClr val="FFFFFF"/>
          </a:solidFill>
          <a:ln w="12700">
            <a:solidFill>
              <a:srgbClr val="DEE5EA"/>
            </a:solidFill>
            <a:prstDash val="solid"/>
          </a:ln>
        </p:spPr>
      </p:sp>
      <p:sp>
        <p:nvSpPr>
          <p:cNvPr id="13" name="Shape 10"/>
          <p:cNvSpPr/>
          <p:nvPr/>
        </p:nvSpPr>
        <p:spPr>
          <a:xfrm>
            <a:off x="868680" y="2706624"/>
            <a:ext cx="566928" cy="566928"/>
          </a:xfrm>
          <a:prstGeom prst="ellipse">
            <a:avLst/>
          </a:prstGeom>
          <a:solidFill>
            <a:srgbClr val="2D5B88"/>
          </a:solidFill>
          <a:ln w="12700">
            <a:solidFill>
              <a:srgbClr val="2D5B88"/>
            </a:solidFill>
            <a:prstDash val="solid"/>
          </a:ln>
        </p:spPr>
      </p:sp>
      <p:sp>
        <p:nvSpPr>
          <p:cNvPr id="14" name="Text 11"/>
          <p:cNvSpPr/>
          <p:nvPr/>
        </p:nvSpPr>
        <p:spPr>
          <a:xfrm>
            <a:off x="987552" y="2843784"/>
            <a:ext cx="329184" cy="164592"/>
          </a:xfrm>
          <a:prstGeom prst="rect">
            <a:avLst/>
          </a:prstGeom>
          <a:noFill/>
          <a:ln/>
        </p:spPr>
        <p:txBody>
          <a:bodyPr wrap="square" lIns="0" tIns="0" rIns="0" bIns="0" rtlCol="0" anchor="ctr"/>
          <a:lstStyle/>
          <a:p>
            <a:pPr algn="ctr" indent="0" marL="0">
              <a:buNone/>
            </a:pPr>
            <a:r>
              <a:rPr lang="en-US" sz="1300" b="1" dirty="0">
                <a:solidFill>
                  <a:srgbClr val="FFFFFF"/>
                </a:solidFill>
              </a:rPr>
              <a:t>B</a:t>
            </a:r>
            <a:endParaRPr lang="en-US" sz="1300" dirty="0"/>
          </a:p>
        </p:txBody>
      </p:sp>
      <p:sp>
        <p:nvSpPr>
          <p:cNvPr id="15" name="Text 12"/>
          <p:cNvSpPr/>
          <p:nvPr/>
        </p:nvSpPr>
        <p:spPr>
          <a:xfrm>
            <a:off x="1627632" y="2670048"/>
            <a:ext cx="3063240" cy="274320"/>
          </a:xfrm>
          <a:prstGeom prst="rect">
            <a:avLst/>
          </a:prstGeom>
          <a:noFill/>
          <a:ln/>
        </p:spPr>
        <p:txBody>
          <a:bodyPr wrap="square" lIns="0" tIns="0" rIns="0" bIns="0" rtlCol="0" anchor="ctr"/>
          <a:lstStyle/>
          <a:p>
            <a:pPr indent="0" marL="0">
              <a:buNone/>
            </a:pPr>
            <a:r>
              <a:rPr lang="en-US" sz="1800" b="1" dirty="0">
                <a:solidFill>
                  <a:srgbClr val="17324A"/>
                </a:solidFill>
              </a:rPr>
              <a:t>Prognostic gene signature</a:t>
            </a:r>
            <a:endParaRPr lang="en-US" sz="1800" dirty="0"/>
          </a:p>
        </p:txBody>
      </p:sp>
      <p:sp>
        <p:nvSpPr>
          <p:cNvPr id="16" name="Text 13"/>
          <p:cNvSpPr/>
          <p:nvPr/>
        </p:nvSpPr>
        <p:spPr>
          <a:xfrm>
            <a:off x="4709160" y="2633472"/>
            <a:ext cx="6400800" cy="438912"/>
          </a:xfrm>
          <a:prstGeom prst="rect">
            <a:avLst/>
          </a:prstGeom>
          <a:noFill/>
          <a:ln/>
        </p:spPr>
        <p:txBody>
          <a:bodyPr wrap="square" lIns="0" tIns="0" rIns="0" bIns="0" rtlCol="0" anchor="ctr"/>
          <a:lstStyle/>
          <a:p>
            <a:pPr indent="0" marL="0">
              <a:buNone/>
            </a:pPr>
            <a:r>
              <a:rPr lang="en-US" sz="1280" dirty="0">
                <a:solidFill>
                  <a:srgbClr val="17232C"/>
                </a:solidFill>
              </a:rPr>
              <a:t>DEGs → candidate genes → LASSO/Cox → risk score → validation → nomogram/biology</a:t>
            </a:r>
            <a:endParaRPr lang="en-US" sz="1280" dirty="0"/>
          </a:p>
        </p:txBody>
      </p:sp>
      <p:sp>
        <p:nvSpPr>
          <p:cNvPr id="17" name="Shape 14"/>
          <p:cNvSpPr/>
          <p:nvPr/>
        </p:nvSpPr>
        <p:spPr>
          <a:xfrm>
            <a:off x="685800" y="3657600"/>
            <a:ext cx="10881360" cy="1060704"/>
          </a:xfrm>
          <a:prstGeom prst="roundRect">
            <a:avLst>
              <a:gd name="adj" fmla="val 4310"/>
            </a:avLst>
          </a:prstGeom>
          <a:solidFill>
            <a:srgbClr val="FFFFFF"/>
          </a:solidFill>
          <a:ln w="12700">
            <a:solidFill>
              <a:srgbClr val="DEE5EA"/>
            </a:solidFill>
            <a:prstDash val="solid"/>
          </a:ln>
        </p:spPr>
      </p:sp>
      <p:sp>
        <p:nvSpPr>
          <p:cNvPr id="18" name="Shape 15"/>
          <p:cNvSpPr/>
          <p:nvPr/>
        </p:nvSpPr>
        <p:spPr>
          <a:xfrm>
            <a:off x="868680" y="3895344"/>
            <a:ext cx="566928" cy="566928"/>
          </a:xfrm>
          <a:prstGeom prst="ellipse">
            <a:avLst/>
          </a:prstGeom>
          <a:solidFill>
            <a:srgbClr val="E76F51"/>
          </a:solidFill>
          <a:ln w="12700">
            <a:solidFill>
              <a:srgbClr val="E76F51"/>
            </a:solidFill>
            <a:prstDash val="solid"/>
          </a:ln>
        </p:spPr>
      </p:sp>
      <p:sp>
        <p:nvSpPr>
          <p:cNvPr id="19" name="Text 16"/>
          <p:cNvSpPr/>
          <p:nvPr/>
        </p:nvSpPr>
        <p:spPr>
          <a:xfrm>
            <a:off x="987552" y="4032504"/>
            <a:ext cx="329184" cy="164592"/>
          </a:xfrm>
          <a:prstGeom prst="rect">
            <a:avLst/>
          </a:prstGeom>
          <a:noFill/>
          <a:ln/>
        </p:spPr>
        <p:txBody>
          <a:bodyPr wrap="square" lIns="0" tIns="0" rIns="0" bIns="0" rtlCol="0" anchor="ctr"/>
          <a:lstStyle/>
          <a:p>
            <a:pPr algn="ctr" indent="0" marL="0">
              <a:buNone/>
            </a:pPr>
            <a:r>
              <a:rPr lang="en-US" sz="1300" b="1" dirty="0">
                <a:solidFill>
                  <a:srgbClr val="FFFFFF"/>
                </a:solidFill>
              </a:rPr>
              <a:t>C</a:t>
            </a:r>
            <a:endParaRPr lang="en-US" sz="1300" dirty="0"/>
          </a:p>
        </p:txBody>
      </p:sp>
      <p:sp>
        <p:nvSpPr>
          <p:cNvPr id="20" name="Text 17"/>
          <p:cNvSpPr/>
          <p:nvPr/>
        </p:nvSpPr>
        <p:spPr>
          <a:xfrm>
            <a:off x="1627632" y="3858768"/>
            <a:ext cx="3063240" cy="274320"/>
          </a:xfrm>
          <a:prstGeom prst="rect">
            <a:avLst/>
          </a:prstGeom>
          <a:noFill/>
          <a:ln/>
        </p:spPr>
        <p:txBody>
          <a:bodyPr wrap="square" lIns="0" tIns="0" rIns="0" bIns="0" rtlCol="0" anchor="ctr"/>
          <a:lstStyle/>
          <a:p>
            <a:pPr indent="0" marL="0">
              <a:buNone/>
            </a:pPr>
            <a:r>
              <a:rPr lang="en-US" sz="1800" b="1" dirty="0">
                <a:solidFill>
                  <a:srgbClr val="17324A"/>
                </a:solidFill>
              </a:rPr>
              <a:t>Hub-gene / network study</a:t>
            </a:r>
            <a:endParaRPr lang="en-US" sz="1800" dirty="0"/>
          </a:p>
        </p:txBody>
      </p:sp>
      <p:sp>
        <p:nvSpPr>
          <p:cNvPr id="21" name="Text 18"/>
          <p:cNvSpPr/>
          <p:nvPr/>
        </p:nvSpPr>
        <p:spPr>
          <a:xfrm>
            <a:off x="4709160" y="3822192"/>
            <a:ext cx="6400800" cy="438912"/>
          </a:xfrm>
          <a:prstGeom prst="rect">
            <a:avLst/>
          </a:prstGeom>
          <a:noFill/>
          <a:ln/>
        </p:spPr>
        <p:txBody>
          <a:bodyPr wrap="square" lIns="0" tIns="0" rIns="0" bIns="0" rtlCol="0" anchor="ctr"/>
          <a:lstStyle/>
          <a:p>
            <a:pPr indent="0" marL="0">
              <a:buNone/>
            </a:pPr>
            <a:r>
              <a:rPr lang="en-US" sz="1280" dirty="0">
                <a:solidFill>
                  <a:srgbClr val="17232C"/>
                </a:solidFill>
              </a:rPr>
              <a:t>DEGs or WGCNA modules → PPI / hub genes → validation → survival / function</a:t>
            </a:r>
            <a:endParaRPr lang="en-US" sz="1280" dirty="0"/>
          </a:p>
        </p:txBody>
      </p:sp>
      <p:sp>
        <p:nvSpPr>
          <p:cNvPr id="22" name="Shape 19"/>
          <p:cNvSpPr/>
          <p:nvPr/>
        </p:nvSpPr>
        <p:spPr>
          <a:xfrm>
            <a:off x="685800" y="4846320"/>
            <a:ext cx="10881360" cy="1060704"/>
          </a:xfrm>
          <a:prstGeom prst="roundRect">
            <a:avLst>
              <a:gd name="adj" fmla="val 4310"/>
            </a:avLst>
          </a:prstGeom>
          <a:solidFill>
            <a:srgbClr val="FFFFFF"/>
          </a:solidFill>
          <a:ln w="12700">
            <a:solidFill>
              <a:srgbClr val="DEE5EA"/>
            </a:solidFill>
            <a:prstDash val="solid"/>
          </a:ln>
        </p:spPr>
      </p:sp>
      <p:sp>
        <p:nvSpPr>
          <p:cNvPr id="23" name="Shape 20"/>
          <p:cNvSpPr/>
          <p:nvPr/>
        </p:nvSpPr>
        <p:spPr>
          <a:xfrm>
            <a:off x="868680" y="5084064"/>
            <a:ext cx="566928" cy="566928"/>
          </a:xfrm>
          <a:prstGeom prst="ellipse">
            <a:avLst/>
          </a:prstGeom>
          <a:solidFill>
            <a:srgbClr val="7157A7"/>
          </a:solidFill>
          <a:ln w="12700">
            <a:solidFill>
              <a:srgbClr val="7157A7"/>
            </a:solidFill>
            <a:prstDash val="solid"/>
          </a:ln>
        </p:spPr>
      </p:sp>
      <p:sp>
        <p:nvSpPr>
          <p:cNvPr id="24" name="Text 21"/>
          <p:cNvSpPr/>
          <p:nvPr/>
        </p:nvSpPr>
        <p:spPr>
          <a:xfrm>
            <a:off x="987552" y="5221224"/>
            <a:ext cx="329184" cy="164592"/>
          </a:xfrm>
          <a:prstGeom prst="rect">
            <a:avLst/>
          </a:prstGeom>
          <a:noFill/>
          <a:ln/>
        </p:spPr>
        <p:txBody>
          <a:bodyPr wrap="square" lIns="0" tIns="0" rIns="0" bIns="0" rtlCol="0" anchor="ctr"/>
          <a:lstStyle/>
          <a:p>
            <a:pPr algn="ctr" indent="0" marL="0">
              <a:buNone/>
            </a:pPr>
            <a:r>
              <a:rPr lang="en-US" sz="1300" b="1" dirty="0">
                <a:solidFill>
                  <a:srgbClr val="FFFFFF"/>
                </a:solidFill>
              </a:rPr>
              <a:t>D</a:t>
            </a:r>
            <a:endParaRPr lang="en-US" sz="1300" dirty="0"/>
          </a:p>
        </p:txBody>
      </p:sp>
      <p:sp>
        <p:nvSpPr>
          <p:cNvPr id="25" name="Text 22"/>
          <p:cNvSpPr/>
          <p:nvPr/>
        </p:nvSpPr>
        <p:spPr>
          <a:xfrm>
            <a:off x="1627632" y="5047488"/>
            <a:ext cx="3063240" cy="274320"/>
          </a:xfrm>
          <a:prstGeom prst="rect">
            <a:avLst/>
          </a:prstGeom>
          <a:noFill/>
          <a:ln/>
        </p:spPr>
        <p:txBody>
          <a:bodyPr wrap="square" lIns="0" tIns="0" rIns="0" bIns="0" rtlCol="0" anchor="ctr"/>
          <a:lstStyle/>
          <a:p>
            <a:pPr indent="0" marL="0">
              <a:buNone/>
            </a:pPr>
            <a:r>
              <a:rPr lang="en-US" sz="1800" b="1" dirty="0">
                <a:solidFill>
                  <a:srgbClr val="17324A"/>
                </a:solidFill>
              </a:rPr>
              <a:t>Immune / pathway score</a:t>
            </a:r>
            <a:endParaRPr lang="en-US" sz="1800" dirty="0"/>
          </a:p>
        </p:txBody>
      </p:sp>
      <p:sp>
        <p:nvSpPr>
          <p:cNvPr id="26" name="Text 23"/>
          <p:cNvSpPr/>
          <p:nvPr/>
        </p:nvSpPr>
        <p:spPr>
          <a:xfrm>
            <a:off x="4709160" y="5010912"/>
            <a:ext cx="6400800" cy="438912"/>
          </a:xfrm>
          <a:prstGeom prst="rect">
            <a:avLst/>
          </a:prstGeom>
          <a:noFill/>
          <a:ln/>
        </p:spPr>
        <p:txBody>
          <a:bodyPr wrap="square" lIns="0" tIns="0" rIns="0" bIns="0" rtlCol="0" anchor="ctr"/>
          <a:lstStyle/>
          <a:p>
            <a:pPr indent="0" marL="0">
              <a:buNone/>
            </a:pPr>
            <a:r>
              <a:rPr lang="en-US" sz="1280" dirty="0">
                <a:solidFill>
                  <a:srgbClr val="17232C"/>
                </a:solidFill>
              </a:rPr>
              <a:t>GSVA/ssGSEA or immune score → subtype/phenotype → survival → immune checkpoint / therapy relevance</a:t>
            </a:r>
            <a:endParaRPr lang="en-US" sz="128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The end-to-end workflow</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 paper is a sequence of decisions, not a pile of plots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WORKFLOW</a:t>
            </a:r>
            <a:endParaRPr lang="en-US" sz="950" dirty="0"/>
          </a:p>
        </p:txBody>
      </p:sp>
      <p:sp>
        <p:nvSpPr>
          <p:cNvPr id="7" name="Shape 4"/>
          <p:cNvSpPr/>
          <p:nvPr/>
        </p:nvSpPr>
        <p:spPr>
          <a:xfrm>
            <a:off x="502920" y="1920240"/>
            <a:ext cx="1325880" cy="1051560"/>
          </a:xfrm>
          <a:prstGeom prst="roundRect">
            <a:avLst>
              <a:gd name="adj" fmla="val 6957"/>
            </a:avLst>
          </a:prstGeom>
          <a:solidFill>
            <a:srgbClr val="2D5B88"/>
          </a:solidFill>
          <a:ln w="12700">
            <a:solidFill>
              <a:srgbClr val="FFFFFF">
                <a:alpha val="20000"/>
              </a:srgbClr>
            </a:solidFill>
            <a:prstDash val="solid"/>
          </a:ln>
        </p:spPr>
      </p:sp>
      <p:sp>
        <p:nvSpPr>
          <p:cNvPr id="8" name="Text 5"/>
          <p:cNvSpPr/>
          <p:nvPr/>
        </p:nvSpPr>
        <p:spPr>
          <a:xfrm>
            <a:off x="548640"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1</a:t>
            </a:r>
            <a:endParaRPr lang="en-US" sz="1100" dirty="0"/>
          </a:p>
        </p:txBody>
      </p:sp>
      <p:sp>
        <p:nvSpPr>
          <p:cNvPr id="9" name="Text 6"/>
          <p:cNvSpPr/>
          <p:nvPr/>
        </p:nvSpPr>
        <p:spPr>
          <a:xfrm>
            <a:off x="594360"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Question</a:t>
            </a:r>
            <a:endParaRPr lang="en-US" sz="1320" dirty="0"/>
          </a:p>
        </p:txBody>
      </p:sp>
      <p:sp>
        <p:nvSpPr>
          <p:cNvPr id="10" name="Shape 7"/>
          <p:cNvSpPr/>
          <p:nvPr/>
        </p:nvSpPr>
        <p:spPr>
          <a:xfrm>
            <a:off x="1828800" y="2450592"/>
            <a:ext cx="137160" cy="0"/>
          </a:xfrm>
          <a:prstGeom prst="line">
            <a:avLst/>
          </a:prstGeom>
          <a:noFill/>
          <a:ln w="21590">
            <a:solidFill>
              <a:srgbClr val="6B7280"/>
            </a:solidFill>
            <a:prstDash val="solid"/>
            <a:headEnd type="none"/>
            <a:tailEnd type="triangle"/>
          </a:ln>
        </p:spPr>
      </p:sp>
      <p:sp>
        <p:nvSpPr>
          <p:cNvPr id="11" name="Shape 8"/>
          <p:cNvSpPr/>
          <p:nvPr/>
        </p:nvSpPr>
        <p:spPr>
          <a:xfrm>
            <a:off x="1947672" y="1920240"/>
            <a:ext cx="1325880" cy="1051560"/>
          </a:xfrm>
          <a:prstGeom prst="roundRect">
            <a:avLst>
              <a:gd name="adj" fmla="val 6957"/>
            </a:avLst>
          </a:prstGeom>
          <a:solidFill>
            <a:srgbClr val="2D5B88"/>
          </a:solidFill>
          <a:ln w="12700">
            <a:solidFill>
              <a:srgbClr val="FFFFFF">
                <a:alpha val="20000"/>
              </a:srgbClr>
            </a:solidFill>
            <a:prstDash val="solid"/>
          </a:ln>
        </p:spPr>
      </p:sp>
      <p:sp>
        <p:nvSpPr>
          <p:cNvPr id="12" name="Text 9"/>
          <p:cNvSpPr/>
          <p:nvPr/>
        </p:nvSpPr>
        <p:spPr>
          <a:xfrm>
            <a:off x="1993392"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2</a:t>
            </a:r>
            <a:endParaRPr lang="en-US" sz="1100" dirty="0"/>
          </a:p>
        </p:txBody>
      </p:sp>
      <p:sp>
        <p:nvSpPr>
          <p:cNvPr id="13" name="Text 10"/>
          <p:cNvSpPr/>
          <p:nvPr/>
        </p:nvSpPr>
        <p:spPr>
          <a:xfrm>
            <a:off x="2039112"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Cohorts</a:t>
            </a:r>
            <a:endParaRPr lang="en-US" sz="1320" dirty="0"/>
          </a:p>
        </p:txBody>
      </p:sp>
      <p:sp>
        <p:nvSpPr>
          <p:cNvPr id="14" name="Shape 11"/>
          <p:cNvSpPr/>
          <p:nvPr/>
        </p:nvSpPr>
        <p:spPr>
          <a:xfrm>
            <a:off x="3273552" y="2450592"/>
            <a:ext cx="137160" cy="0"/>
          </a:xfrm>
          <a:prstGeom prst="line">
            <a:avLst/>
          </a:prstGeom>
          <a:noFill/>
          <a:ln w="21590">
            <a:solidFill>
              <a:srgbClr val="6B7280"/>
            </a:solidFill>
            <a:prstDash val="solid"/>
            <a:headEnd type="none"/>
            <a:tailEnd type="triangle"/>
          </a:ln>
        </p:spPr>
      </p:sp>
      <p:sp>
        <p:nvSpPr>
          <p:cNvPr id="15" name="Shape 12"/>
          <p:cNvSpPr/>
          <p:nvPr/>
        </p:nvSpPr>
        <p:spPr>
          <a:xfrm>
            <a:off x="3392424" y="1920240"/>
            <a:ext cx="1325880" cy="1051560"/>
          </a:xfrm>
          <a:prstGeom prst="roundRect">
            <a:avLst>
              <a:gd name="adj" fmla="val 6957"/>
            </a:avLst>
          </a:prstGeom>
          <a:solidFill>
            <a:srgbClr val="2A9D8F"/>
          </a:solidFill>
          <a:ln w="12700">
            <a:solidFill>
              <a:srgbClr val="FFFFFF">
                <a:alpha val="20000"/>
              </a:srgbClr>
            </a:solidFill>
            <a:prstDash val="solid"/>
          </a:ln>
        </p:spPr>
      </p:sp>
      <p:sp>
        <p:nvSpPr>
          <p:cNvPr id="16" name="Text 13"/>
          <p:cNvSpPr/>
          <p:nvPr/>
        </p:nvSpPr>
        <p:spPr>
          <a:xfrm>
            <a:off x="3438144"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3</a:t>
            </a:r>
            <a:endParaRPr lang="en-US" sz="1100" dirty="0"/>
          </a:p>
        </p:txBody>
      </p:sp>
      <p:sp>
        <p:nvSpPr>
          <p:cNvPr id="17" name="Text 14"/>
          <p:cNvSpPr/>
          <p:nvPr/>
        </p:nvSpPr>
        <p:spPr>
          <a:xfrm>
            <a:off x="3483864"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QC</a:t>
            </a:r>
            <a:endParaRPr lang="en-US" sz="1320" dirty="0"/>
          </a:p>
        </p:txBody>
      </p:sp>
      <p:sp>
        <p:nvSpPr>
          <p:cNvPr id="18" name="Shape 15"/>
          <p:cNvSpPr/>
          <p:nvPr/>
        </p:nvSpPr>
        <p:spPr>
          <a:xfrm>
            <a:off x="4718304" y="2450592"/>
            <a:ext cx="137160" cy="0"/>
          </a:xfrm>
          <a:prstGeom prst="line">
            <a:avLst/>
          </a:prstGeom>
          <a:noFill/>
          <a:ln w="21590">
            <a:solidFill>
              <a:srgbClr val="6B7280"/>
            </a:solidFill>
            <a:prstDash val="solid"/>
            <a:headEnd type="none"/>
            <a:tailEnd type="triangle"/>
          </a:ln>
        </p:spPr>
      </p:sp>
      <p:sp>
        <p:nvSpPr>
          <p:cNvPr id="19" name="Shape 16"/>
          <p:cNvSpPr/>
          <p:nvPr/>
        </p:nvSpPr>
        <p:spPr>
          <a:xfrm>
            <a:off x="4837176" y="1920240"/>
            <a:ext cx="1325880" cy="1051560"/>
          </a:xfrm>
          <a:prstGeom prst="roundRect">
            <a:avLst>
              <a:gd name="adj" fmla="val 6957"/>
            </a:avLst>
          </a:prstGeom>
          <a:solidFill>
            <a:srgbClr val="2A9D8F"/>
          </a:solidFill>
          <a:ln w="12700">
            <a:solidFill>
              <a:srgbClr val="FFFFFF">
                <a:alpha val="20000"/>
              </a:srgbClr>
            </a:solidFill>
            <a:prstDash val="solid"/>
          </a:ln>
        </p:spPr>
      </p:sp>
      <p:sp>
        <p:nvSpPr>
          <p:cNvPr id="20" name="Text 17"/>
          <p:cNvSpPr/>
          <p:nvPr/>
        </p:nvSpPr>
        <p:spPr>
          <a:xfrm>
            <a:off x="4882896"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4</a:t>
            </a:r>
            <a:endParaRPr lang="en-US" sz="1100" dirty="0"/>
          </a:p>
        </p:txBody>
      </p:sp>
      <p:sp>
        <p:nvSpPr>
          <p:cNvPr id="21" name="Text 18"/>
          <p:cNvSpPr/>
          <p:nvPr/>
        </p:nvSpPr>
        <p:spPr>
          <a:xfrm>
            <a:off x="4928616"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Discovery</a:t>
            </a:r>
            <a:endParaRPr lang="en-US" sz="1320" dirty="0"/>
          </a:p>
        </p:txBody>
      </p:sp>
      <p:sp>
        <p:nvSpPr>
          <p:cNvPr id="22" name="Shape 19"/>
          <p:cNvSpPr/>
          <p:nvPr/>
        </p:nvSpPr>
        <p:spPr>
          <a:xfrm>
            <a:off x="6163056" y="2450592"/>
            <a:ext cx="137160" cy="0"/>
          </a:xfrm>
          <a:prstGeom prst="line">
            <a:avLst/>
          </a:prstGeom>
          <a:noFill/>
          <a:ln w="21590">
            <a:solidFill>
              <a:srgbClr val="6B7280"/>
            </a:solidFill>
            <a:prstDash val="solid"/>
            <a:headEnd type="none"/>
            <a:tailEnd type="triangle"/>
          </a:ln>
        </p:spPr>
      </p:sp>
      <p:sp>
        <p:nvSpPr>
          <p:cNvPr id="23" name="Shape 20"/>
          <p:cNvSpPr/>
          <p:nvPr/>
        </p:nvSpPr>
        <p:spPr>
          <a:xfrm>
            <a:off x="6281928" y="1920240"/>
            <a:ext cx="1325880" cy="1051560"/>
          </a:xfrm>
          <a:prstGeom prst="roundRect">
            <a:avLst>
              <a:gd name="adj" fmla="val 6957"/>
            </a:avLst>
          </a:prstGeom>
          <a:solidFill>
            <a:srgbClr val="2A9D8F"/>
          </a:solidFill>
          <a:ln w="12700">
            <a:solidFill>
              <a:srgbClr val="FFFFFF">
                <a:alpha val="20000"/>
              </a:srgbClr>
            </a:solidFill>
            <a:prstDash val="solid"/>
          </a:ln>
        </p:spPr>
      </p:sp>
      <p:sp>
        <p:nvSpPr>
          <p:cNvPr id="24" name="Text 21"/>
          <p:cNvSpPr/>
          <p:nvPr/>
        </p:nvSpPr>
        <p:spPr>
          <a:xfrm>
            <a:off x="6327648"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5</a:t>
            </a:r>
            <a:endParaRPr lang="en-US" sz="1100" dirty="0"/>
          </a:p>
        </p:txBody>
      </p:sp>
      <p:sp>
        <p:nvSpPr>
          <p:cNvPr id="25" name="Text 22"/>
          <p:cNvSpPr/>
          <p:nvPr/>
        </p:nvSpPr>
        <p:spPr>
          <a:xfrm>
            <a:off x="6373368"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Mechanism</a:t>
            </a:r>
            <a:endParaRPr lang="en-US" sz="1320" dirty="0"/>
          </a:p>
        </p:txBody>
      </p:sp>
      <p:sp>
        <p:nvSpPr>
          <p:cNvPr id="26" name="Shape 23"/>
          <p:cNvSpPr/>
          <p:nvPr/>
        </p:nvSpPr>
        <p:spPr>
          <a:xfrm>
            <a:off x="7607808" y="2450592"/>
            <a:ext cx="137160" cy="0"/>
          </a:xfrm>
          <a:prstGeom prst="line">
            <a:avLst/>
          </a:prstGeom>
          <a:noFill/>
          <a:ln w="21590">
            <a:solidFill>
              <a:srgbClr val="6B7280"/>
            </a:solidFill>
            <a:prstDash val="solid"/>
            <a:headEnd type="none"/>
            <a:tailEnd type="triangle"/>
          </a:ln>
        </p:spPr>
      </p:sp>
      <p:sp>
        <p:nvSpPr>
          <p:cNvPr id="27" name="Shape 24"/>
          <p:cNvSpPr/>
          <p:nvPr/>
        </p:nvSpPr>
        <p:spPr>
          <a:xfrm>
            <a:off x="7726680" y="1920240"/>
            <a:ext cx="1325880" cy="1051560"/>
          </a:xfrm>
          <a:prstGeom prst="roundRect">
            <a:avLst>
              <a:gd name="adj" fmla="val 6957"/>
            </a:avLst>
          </a:prstGeom>
          <a:solidFill>
            <a:srgbClr val="E76F51"/>
          </a:solidFill>
          <a:ln w="12700">
            <a:solidFill>
              <a:srgbClr val="FFFFFF">
                <a:alpha val="20000"/>
              </a:srgbClr>
            </a:solidFill>
            <a:prstDash val="solid"/>
          </a:ln>
        </p:spPr>
      </p:sp>
      <p:sp>
        <p:nvSpPr>
          <p:cNvPr id="28" name="Text 25"/>
          <p:cNvSpPr/>
          <p:nvPr/>
        </p:nvSpPr>
        <p:spPr>
          <a:xfrm>
            <a:off x="7772400"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6</a:t>
            </a:r>
            <a:endParaRPr lang="en-US" sz="1100" dirty="0"/>
          </a:p>
        </p:txBody>
      </p:sp>
      <p:sp>
        <p:nvSpPr>
          <p:cNvPr id="29" name="Text 26"/>
          <p:cNvSpPr/>
          <p:nvPr/>
        </p:nvSpPr>
        <p:spPr>
          <a:xfrm>
            <a:off x="7818120"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Clinical</a:t>
            </a:r>
            <a:endParaRPr lang="en-US" sz="1320" dirty="0"/>
          </a:p>
        </p:txBody>
      </p:sp>
      <p:sp>
        <p:nvSpPr>
          <p:cNvPr id="30" name="Shape 27"/>
          <p:cNvSpPr/>
          <p:nvPr/>
        </p:nvSpPr>
        <p:spPr>
          <a:xfrm>
            <a:off x="9052560" y="2450592"/>
            <a:ext cx="137160" cy="0"/>
          </a:xfrm>
          <a:prstGeom prst="line">
            <a:avLst/>
          </a:prstGeom>
          <a:noFill/>
          <a:ln w="21590">
            <a:solidFill>
              <a:srgbClr val="6B7280"/>
            </a:solidFill>
            <a:prstDash val="solid"/>
            <a:headEnd type="none"/>
            <a:tailEnd type="triangle"/>
          </a:ln>
        </p:spPr>
      </p:sp>
      <p:sp>
        <p:nvSpPr>
          <p:cNvPr id="31" name="Shape 28"/>
          <p:cNvSpPr/>
          <p:nvPr/>
        </p:nvSpPr>
        <p:spPr>
          <a:xfrm>
            <a:off x="9171432" y="1920240"/>
            <a:ext cx="1325880" cy="1051560"/>
          </a:xfrm>
          <a:prstGeom prst="roundRect">
            <a:avLst>
              <a:gd name="adj" fmla="val 6957"/>
            </a:avLst>
          </a:prstGeom>
          <a:solidFill>
            <a:srgbClr val="E76F51"/>
          </a:solidFill>
          <a:ln w="12700">
            <a:solidFill>
              <a:srgbClr val="FFFFFF">
                <a:alpha val="20000"/>
              </a:srgbClr>
            </a:solidFill>
            <a:prstDash val="solid"/>
          </a:ln>
        </p:spPr>
      </p:sp>
      <p:sp>
        <p:nvSpPr>
          <p:cNvPr id="32" name="Text 29"/>
          <p:cNvSpPr/>
          <p:nvPr/>
        </p:nvSpPr>
        <p:spPr>
          <a:xfrm>
            <a:off x="9217152"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7</a:t>
            </a:r>
            <a:endParaRPr lang="en-US" sz="1100" dirty="0"/>
          </a:p>
        </p:txBody>
      </p:sp>
      <p:sp>
        <p:nvSpPr>
          <p:cNvPr id="33" name="Text 30"/>
          <p:cNvSpPr/>
          <p:nvPr/>
        </p:nvSpPr>
        <p:spPr>
          <a:xfrm>
            <a:off x="9262872"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Validation</a:t>
            </a:r>
            <a:endParaRPr lang="en-US" sz="1320" dirty="0"/>
          </a:p>
        </p:txBody>
      </p:sp>
      <p:sp>
        <p:nvSpPr>
          <p:cNvPr id="34" name="Shape 31"/>
          <p:cNvSpPr/>
          <p:nvPr/>
        </p:nvSpPr>
        <p:spPr>
          <a:xfrm>
            <a:off x="10497312" y="2450592"/>
            <a:ext cx="137160" cy="0"/>
          </a:xfrm>
          <a:prstGeom prst="line">
            <a:avLst/>
          </a:prstGeom>
          <a:noFill/>
          <a:ln w="21590">
            <a:solidFill>
              <a:srgbClr val="6B7280"/>
            </a:solidFill>
            <a:prstDash val="solid"/>
            <a:headEnd type="none"/>
            <a:tailEnd type="triangle"/>
          </a:ln>
        </p:spPr>
      </p:sp>
      <p:sp>
        <p:nvSpPr>
          <p:cNvPr id="35" name="Shape 32"/>
          <p:cNvSpPr/>
          <p:nvPr/>
        </p:nvSpPr>
        <p:spPr>
          <a:xfrm>
            <a:off x="10616184" y="1920240"/>
            <a:ext cx="1325880" cy="1051560"/>
          </a:xfrm>
          <a:prstGeom prst="roundRect">
            <a:avLst>
              <a:gd name="adj" fmla="val 6957"/>
            </a:avLst>
          </a:prstGeom>
          <a:solidFill>
            <a:srgbClr val="17324A"/>
          </a:solidFill>
          <a:ln w="12700">
            <a:solidFill>
              <a:srgbClr val="FFFFFF">
                <a:alpha val="20000"/>
              </a:srgbClr>
            </a:solidFill>
            <a:prstDash val="solid"/>
          </a:ln>
        </p:spPr>
      </p:sp>
      <p:sp>
        <p:nvSpPr>
          <p:cNvPr id="36" name="Text 33"/>
          <p:cNvSpPr/>
          <p:nvPr/>
        </p:nvSpPr>
        <p:spPr>
          <a:xfrm>
            <a:off x="10661904" y="2075688"/>
            <a:ext cx="256032" cy="201168"/>
          </a:xfrm>
          <a:prstGeom prst="rect">
            <a:avLst/>
          </a:prstGeom>
          <a:noFill/>
          <a:ln/>
        </p:spPr>
        <p:txBody>
          <a:bodyPr wrap="square" lIns="0" tIns="0" rIns="0" bIns="0" rtlCol="0" anchor="ctr"/>
          <a:lstStyle/>
          <a:p>
            <a:pPr indent="0" marL="0">
              <a:buNone/>
            </a:pPr>
            <a:r>
              <a:rPr lang="en-US" sz="1100" b="1" dirty="0">
                <a:solidFill>
                  <a:srgbClr val="D8E8EF"/>
                </a:solidFill>
              </a:rPr>
              <a:t>8</a:t>
            </a:r>
            <a:endParaRPr lang="en-US" sz="1100" dirty="0"/>
          </a:p>
        </p:txBody>
      </p:sp>
      <p:sp>
        <p:nvSpPr>
          <p:cNvPr id="37" name="Text 34"/>
          <p:cNvSpPr/>
          <p:nvPr/>
        </p:nvSpPr>
        <p:spPr>
          <a:xfrm>
            <a:off x="10707624" y="2359152"/>
            <a:ext cx="1143000" cy="228600"/>
          </a:xfrm>
          <a:prstGeom prst="rect">
            <a:avLst/>
          </a:prstGeom>
          <a:noFill/>
          <a:ln/>
        </p:spPr>
        <p:txBody>
          <a:bodyPr wrap="square" lIns="0" tIns="0" rIns="0" bIns="0" rtlCol="0" anchor="ctr"/>
          <a:lstStyle/>
          <a:p>
            <a:pPr algn="ctr" indent="0" marL="0">
              <a:buNone/>
            </a:pPr>
            <a:r>
              <a:rPr lang="en-US" sz="1320" b="1" dirty="0">
                <a:solidFill>
                  <a:srgbClr val="FFFFFF"/>
                </a:solidFill>
              </a:rPr>
              <a:t>Manuscript</a:t>
            </a:r>
            <a:endParaRPr lang="en-US" sz="1320" dirty="0"/>
          </a:p>
        </p:txBody>
      </p:sp>
      <p:sp>
        <p:nvSpPr>
          <p:cNvPr id="38" name="Shape 35"/>
          <p:cNvSpPr/>
          <p:nvPr/>
        </p:nvSpPr>
        <p:spPr>
          <a:xfrm>
            <a:off x="713232" y="3657600"/>
            <a:ext cx="3383280" cy="1325880"/>
          </a:xfrm>
          <a:prstGeom prst="roundRect">
            <a:avLst>
              <a:gd name="adj" fmla="val 4138"/>
            </a:avLst>
          </a:prstGeom>
          <a:solidFill>
            <a:srgbClr val="FFFFFF"/>
          </a:solidFill>
          <a:ln w="12700">
            <a:solidFill>
              <a:srgbClr val="DDE5EA"/>
            </a:solidFill>
            <a:prstDash val="solid"/>
          </a:ln>
        </p:spPr>
      </p:sp>
      <p:sp>
        <p:nvSpPr>
          <p:cNvPr id="39" name="Shape 36"/>
          <p:cNvSpPr/>
          <p:nvPr/>
        </p:nvSpPr>
        <p:spPr>
          <a:xfrm>
            <a:off x="713232" y="3657600"/>
            <a:ext cx="73152" cy="1325880"/>
          </a:xfrm>
          <a:prstGeom prst="rect">
            <a:avLst/>
          </a:prstGeom>
          <a:solidFill>
            <a:srgbClr val="2D5B88"/>
          </a:solidFill>
          <a:ln w="12700">
            <a:solidFill>
              <a:srgbClr val="2D5B88"/>
            </a:solidFill>
            <a:prstDash val="solid"/>
          </a:ln>
        </p:spPr>
      </p:sp>
      <p:sp>
        <p:nvSpPr>
          <p:cNvPr id="40" name="Text 37"/>
          <p:cNvSpPr/>
          <p:nvPr/>
        </p:nvSpPr>
        <p:spPr>
          <a:xfrm>
            <a:off x="914400" y="3813048"/>
            <a:ext cx="3035808" cy="274320"/>
          </a:xfrm>
          <a:prstGeom prst="rect">
            <a:avLst/>
          </a:prstGeom>
          <a:noFill/>
          <a:ln/>
        </p:spPr>
        <p:txBody>
          <a:bodyPr wrap="square" lIns="0" tIns="0" rIns="0" bIns="0" rtlCol="0" anchor="ctr"/>
          <a:lstStyle/>
          <a:p>
            <a:pPr indent="0" marL="0">
              <a:buNone/>
            </a:pPr>
            <a:r>
              <a:rPr lang="en-US" sz="1700" b="1" dirty="0">
                <a:solidFill>
                  <a:srgbClr val="17324A"/>
                </a:solidFill>
              </a:rPr>
              <a:t>Discovery asks</a:t>
            </a:r>
            <a:endParaRPr lang="en-US" sz="1700" dirty="0"/>
          </a:p>
        </p:txBody>
      </p:sp>
      <p:sp>
        <p:nvSpPr>
          <p:cNvPr id="41" name="Text 38"/>
          <p:cNvSpPr/>
          <p:nvPr/>
        </p:nvSpPr>
        <p:spPr>
          <a:xfrm>
            <a:off x="914400" y="4160520"/>
            <a:ext cx="3035808" cy="685800"/>
          </a:xfrm>
          <a:prstGeom prst="rect">
            <a:avLst/>
          </a:prstGeom>
          <a:noFill/>
          <a:ln/>
        </p:spPr>
        <p:txBody>
          <a:bodyPr wrap="square" lIns="254" tIns="254" rIns="254" bIns="254" rtlCol="0" anchor="t"/>
          <a:lstStyle/>
          <a:p>
            <a:pPr indent="0" marL="0">
              <a:buNone/>
            </a:pPr>
            <a:r>
              <a:rPr lang="en-US" sz="1230" dirty="0">
                <a:solidFill>
                  <a:srgbClr val="17232C"/>
                </a:solidFill>
              </a:rPr>
              <a:t>What molecular feature differs, predicts, or clusters the phenotype?</a:t>
            </a:r>
            <a:endParaRPr lang="en-US" sz="1230" dirty="0"/>
          </a:p>
        </p:txBody>
      </p:sp>
      <p:sp>
        <p:nvSpPr>
          <p:cNvPr id="42" name="Shape 39"/>
          <p:cNvSpPr/>
          <p:nvPr/>
        </p:nvSpPr>
        <p:spPr>
          <a:xfrm>
            <a:off x="4407408" y="3657600"/>
            <a:ext cx="3383280" cy="1325880"/>
          </a:xfrm>
          <a:prstGeom prst="roundRect">
            <a:avLst>
              <a:gd name="adj" fmla="val 4138"/>
            </a:avLst>
          </a:prstGeom>
          <a:solidFill>
            <a:srgbClr val="FFFFFF"/>
          </a:solidFill>
          <a:ln w="12700">
            <a:solidFill>
              <a:srgbClr val="DDE5EA"/>
            </a:solidFill>
            <a:prstDash val="solid"/>
          </a:ln>
        </p:spPr>
      </p:sp>
      <p:sp>
        <p:nvSpPr>
          <p:cNvPr id="43" name="Shape 40"/>
          <p:cNvSpPr/>
          <p:nvPr/>
        </p:nvSpPr>
        <p:spPr>
          <a:xfrm>
            <a:off x="4407408" y="3657600"/>
            <a:ext cx="73152" cy="1325880"/>
          </a:xfrm>
          <a:prstGeom prst="rect">
            <a:avLst/>
          </a:prstGeom>
          <a:solidFill>
            <a:srgbClr val="2A9D8F"/>
          </a:solidFill>
          <a:ln w="12700">
            <a:solidFill>
              <a:srgbClr val="2A9D8F"/>
            </a:solidFill>
            <a:prstDash val="solid"/>
          </a:ln>
        </p:spPr>
      </p:sp>
      <p:sp>
        <p:nvSpPr>
          <p:cNvPr id="44" name="Text 41"/>
          <p:cNvSpPr/>
          <p:nvPr/>
        </p:nvSpPr>
        <p:spPr>
          <a:xfrm>
            <a:off x="4608576" y="3813048"/>
            <a:ext cx="3035808" cy="274320"/>
          </a:xfrm>
          <a:prstGeom prst="rect">
            <a:avLst/>
          </a:prstGeom>
          <a:noFill/>
          <a:ln/>
        </p:spPr>
        <p:txBody>
          <a:bodyPr wrap="square" lIns="0" tIns="0" rIns="0" bIns="0" rtlCol="0" anchor="ctr"/>
          <a:lstStyle/>
          <a:p>
            <a:pPr indent="0" marL="0">
              <a:buNone/>
            </a:pPr>
            <a:r>
              <a:rPr lang="en-US" sz="1700" b="1" dirty="0">
                <a:solidFill>
                  <a:srgbClr val="17324A"/>
                </a:solidFill>
              </a:rPr>
              <a:t>Mechanism asks</a:t>
            </a:r>
            <a:endParaRPr lang="en-US" sz="1700" dirty="0"/>
          </a:p>
        </p:txBody>
      </p:sp>
      <p:sp>
        <p:nvSpPr>
          <p:cNvPr id="45" name="Text 42"/>
          <p:cNvSpPr/>
          <p:nvPr/>
        </p:nvSpPr>
        <p:spPr>
          <a:xfrm>
            <a:off x="4608576" y="4160520"/>
            <a:ext cx="3035808" cy="685800"/>
          </a:xfrm>
          <a:prstGeom prst="rect">
            <a:avLst/>
          </a:prstGeom>
          <a:noFill/>
          <a:ln/>
        </p:spPr>
        <p:txBody>
          <a:bodyPr wrap="square" lIns="254" tIns="254" rIns="254" bIns="254" rtlCol="0" anchor="t"/>
          <a:lstStyle/>
          <a:p>
            <a:pPr indent="0" marL="0">
              <a:buNone/>
            </a:pPr>
            <a:r>
              <a:rPr lang="en-US" sz="1230" dirty="0">
                <a:solidFill>
                  <a:srgbClr val="17232C"/>
                </a:solidFill>
              </a:rPr>
              <a:t>Which pathways, immune processes, networks, or genomic features track with it?</a:t>
            </a:r>
            <a:endParaRPr lang="en-US" sz="1230" dirty="0"/>
          </a:p>
        </p:txBody>
      </p:sp>
      <p:sp>
        <p:nvSpPr>
          <p:cNvPr id="46" name="Shape 43"/>
          <p:cNvSpPr/>
          <p:nvPr/>
        </p:nvSpPr>
        <p:spPr>
          <a:xfrm>
            <a:off x="8101584" y="3657600"/>
            <a:ext cx="3383280" cy="1325880"/>
          </a:xfrm>
          <a:prstGeom prst="roundRect">
            <a:avLst>
              <a:gd name="adj" fmla="val 4138"/>
            </a:avLst>
          </a:prstGeom>
          <a:solidFill>
            <a:srgbClr val="FFFFFF"/>
          </a:solidFill>
          <a:ln w="12700">
            <a:solidFill>
              <a:srgbClr val="DDE5EA"/>
            </a:solidFill>
            <a:prstDash val="solid"/>
          </a:ln>
        </p:spPr>
      </p:sp>
      <p:sp>
        <p:nvSpPr>
          <p:cNvPr id="47" name="Shape 44"/>
          <p:cNvSpPr/>
          <p:nvPr/>
        </p:nvSpPr>
        <p:spPr>
          <a:xfrm>
            <a:off x="8101584" y="3657600"/>
            <a:ext cx="73152" cy="1325880"/>
          </a:xfrm>
          <a:prstGeom prst="rect">
            <a:avLst/>
          </a:prstGeom>
          <a:solidFill>
            <a:srgbClr val="E76F51"/>
          </a:solidFill>
          <a:ln w="12700">
            <a:solidFill>
              <a:srgbClr val="E76F51"/>
            </a:solidFill>
            <a:prstDash val="solid"/>
          </a:ln>
        </p:spPr>
      </p:sp>
      <p:sp>
        <p:nvSpPr>
          <p:cNvPr id="48" name="Text 45"/>
          <p:cNvSpPr/>
          <p:nvPr/>
        </p:nvSpPr>
        <p:spPr>
          <a:xfrm>
            <a:off x="8302752" y="3813048"/>
            <a:ext cx="3035808" cy="274320"/>
          </a:xfrm>
          <a:prstGeom prst="rect">
            <a:avLst/>
          </a:prstGeom>
          <a:noFill/>
          <a:ln/>
        </p:spPr>
        <p:txBody>
          <a:bodyPr wrap="square" lIns="0" tIns="0" rIns="0" bIns="0" rtlCol="0" anchor="ctr"/>
          <a:lstStyle/>
          <a:p>
            <a:pPr indent="0" marL="0">
              <a:buNone/>
            </a:pPr>
            <a:r>
              <a:rPr lang="en-US" sz="1700" b="1" dirty="0">
                <a:solidFill>
                  <a:srgbClr val="17324A"/>
                </a:solidFill>
              </a:rPr>
              <a:t>Validation asks</a:t>
            </a:r>
            <a:endParaRPr lang="en-US" sz="1700" dirty="0"/>
          </a:p>
        </p:txBody>
      </p:sp>
      <p:sp>
        <p:nvSpPr>
          <p:cNvPr id="49" name="Text 46"/>
          <p:cNvSpPr/>
          <p:nvPr/>
        </p:nvSpPr>
        <p:spPr>
          <a:xfrm>
            <a:off x="8302752" y="4160520"/>
            <a:ext cx="3035808" cy="685800"/>
          </a:xfrm>
          <a:prstGeom prst="rect">
            <a:avLst/>
          </a:prstGeom>
          <a:noFill/>
          <a:ln/>
        </p:spPr>
        <p:txBody>
          <a:bodyPr wrap="square" lIns="254" tIns="254" rIns="254" bIns="254" rtlCol="0" anchor="t"/>
          <a:lstStyle/>
          <a:p>
            <a:pPr indent="0" marL="0">
              <a:buNone/>
            </a:pPr>
            <a:r>
              <a:rPr lang="en-US" sz="1230" dirty="0">
                <a:solidFill>
                  <a:srgbClr val="17232C"/>
                </a:solidFill>
              </a:rPr>
              <a:t>Does the result survive a second cohort, covariate adjustment, and sensitivity checks?</a:t>
            </a:r>
            <a:endParaRPr lang="en-US" sz="1230" dirty="0"/>
          </a:p>
        </p:txBody>
      </p:sp>
      <p:sp>
        <p:nvSpPr>
          <p:cNvPr id="50" name="Text 47"/>
          <p:cNvSpPr/>
          <p:nvPr/>
        </p:nvSpPr>
        <p:spPr>
          <a:xfrm>
            <a:off x="822960" y="5376672"/>
            <a:ext cx="10515600" cy="457200"/>
          </a:xfrm>
          <a:prstGeom prst="rect">
            <a:avLst/>
          </a:prstGeom>
          <a:noFill/>
          <a:ln/>
        </p:spPr>
        <p:txBody>
          <a:bodyPr wrap="square" lIns="0" tIns="0" rIns="0" bIns="0" rtlCol="0" anchor="ctr"/>
          <a:lstStyle/>
          <a:p>
            <a:pPr algn="ctr" indent="0" marL="0">
              <a:buNone/>
            </a:pPr>
            <a:r>
              <a:rPr lang="en-US" sz="1800" b="1" dirty="0">
                <a:solidFill>
                  <a:srgbClr val="17324A"/>
                </a:solidFill>
              </a:rPr>
              <a:t>If a step does not answer a manuscript question, it probably does not belong in the main figures.</a:t>
            </a:r>
            <a:endParaRPr lang="en-US" sz="18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1 — Start from a biological or clinical question</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Good questions constrain the analysis menu</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QUESTION</a:t>
            </a:r>
            <a:endParaRPr lang="en-US" sz="950" dirty="0"/>
          </a:p>
        </p:txBody>
      </p:sp>
      <p:sp>
        <p:nvSpPr>
          <p:cNvPr id="7" name="Shape 4"/>
          <p:cNvSpPr/>
          <p:nvPr/>
        </p:nvSpPr>
        <p:spPr>
          <a:xfrm>
            <a:off x="685800" y="1371600"/>
            <a:ext cx="3520440" cy="4343400"/>
          </a:xfrm>
          <a:prstGeom prst="roundRect">
            <a:avLst>
              <a:gd name="adj" fmla="val 1558"/>
            </a:avLst>
          </a:prstGeom>
          <a:solidFill>
            <a:srgbClr val="FFFFFF"/>
          </a:solidFill>
          <a:ln w="12700">
            <a:solidFill>
              <a:srgbClr val="DDE5EA"/>
            </a:solidFill>
            <a:prstDash val="solid"/>
          </a:ln>
        </p:spPr>
      </p:sp>
      <p:sp>
        <p:nvSpPr>
          <p:cNvPr id="8" name="Shape 5"/>
          <p:cNvSpPr/>
          <p:nvPr/>
        </p:nvSpPr>
        <p:spPr>
          <a:xfrm>
            <a:off x="685800" y="1371600"/>
            <a:ext cx="73152" cy="4343400"/>
          </a:xfrm>
          <a:prstGeom prst="rect">
            <a:avLst/>
          </a:prstGeom>
          <a:solidFill>
            <a:srgbClr val="C83E4D"/>
          </a:solidFill>
          <a:ln w="12700">
            <a:solidFill>
              <a:srgbClr val="C83E4D"/>
            </a:solidFill>
            <a:prstDash val="solid"/>
          </a:ln>
        </p:spPr>
      </p:sp>
      <p:sp>
        <p:nvSpPr>
          <p:cNvPr id="9" name="Text 6"/>
          <p:cNvSpPr/>
          <p:nvPr/>
        </p:nvSpPr>
        <p:spPr>
          <a:xfrm>
            <a:off x="886968" y="1527048"/>
            <a:ext cx="3172968" cy="274320"/>
          </a:xfrm>
          <a:prstGeom prst="rect">
            <a:avLst/>
          </a:prstGeom>
          <a:noFill/>
          <a:ln/>
        </p:spPr>
        <p:txBody>
          <a:bodyPr wrap="square" lIns="0" tIns="0" rIns="0" bIns="0" rtlCol="0" anchor="ctr"/>
          <a:lstStyle/>
          <a:p>
            <a:pPr indent="0" marL="0">
              <a:buNone/>
            </a:pPr>
            <a:r>
              <a:rPr lang="en-US" sz="1700" b="1" dirty="0">
                <a:solidFill>
                  <a:srgbClr val="17324A"/>
                </a:solidFill>
              </a:rPr>
              <a:t>Weak starting point</a:t>
            </a:r>
            <a:endParaRPr lang="en-US" sz="1700" dirty="0"/>
          </a:p>
        </p:txBody>
      </p:sp>
      <p:sp>
        <p:nvSpPr>
          <p:cNvPr id="10" name="Text 7"/>
          <p:cNvSpPr/>
          <p:nvPr/>
        </p:nvSpPr>
        <p:spPr>
          <a:xfrm>
            <a:off x="886968" y="1874520"/>
            <a:ext cx="3172968" cy="3703320"/>
          </a:xfrm>
          <a:prstGeom prst="rect">
            <a:avLst/>
          </a:prstGeom>
          <a:noFill/>
          <a:ln/>
        </p:spPr>
        <p:txBody>
          <a:bodyPr wrap="square" lIns="254" tIns="254" rIns="254" bIns="254" rtlCol="0" anchor="t"/>
          <a:lstStyle/>
          <a:p>
            <a:pPr indent="0" marL="0">
              <a:buNone/>
            </a:pPr>
            <a:r>
              <a:rPr lang="en-US" sz="1230" dirty="0">
                <a:solidFill>
                  <a:srgbClr val="17232C"/>
                </a:solidFill>
              </a:rPr>
              <a:t>“I found gene X. What analyses can I add?”</a:t>
            </a:r>
            <a:endParaRPr lang="en-US" sz="1230" dirty="0"/>
          </a:p>
          <a:p>
            <a:pPr indent="0" marL="0">
              <a:buNone/>
            </a:pPr>
            <a:endParaRPr lang="en-US" sz="1230" dirty="0"/>
          </a:p>
          <a:p>
            <a:pPr indent="0" marL="0">
              <a:buNone/>
            </a:pPr>
            <a:r>
              <a:rPr lang="en-US" sz="1230" dirty="0">
                <a:solidFill>
                  <a:srgbClr val="17232C"/>
                </a:solidFill>
              </a:rPr>
              <a:t>This tends to produce disconnected survival, immune, PPI, drug, and pathway plots with no central claim.</a:t>
            </a:r>
            <a:endParaRPr lang="en-US" sz="1230" dirty="0"/>
          </a:p>
        </p:txBody>
      </p:sp>
      <p:sp>
        <p:nvSpPr>
          <p:cNvPr id="11" name="Shape 8"/>
          <p:cNvSpPr/>
          <p:nvPr/>
        </p:nvSpPr>
        <p:spPr>
          <a:xfrm>
            <a:off x="4343400" y="1371600"/>
            <a:ext cx="3520440" cy="4343400"/>
          </a:xfrm>
          <a:prstGeom prst="roundRect">
            <a:avLst>
              <a:gd name="adj" fmla="val 1558"/>
            </a:avLst>
          </a:prstGeom>
          <a:solidFill>
            <a:srgbClr val="FFFFFF"/>
          </a:solidFill>
          <a:ln w="12700">
            <a:solidFill>
              <a:srgbClr val="DDE5EA"/>
            </a:solidFill>
            <a:prstDash val="solid"/>
          </a:ln>
        </p:spPr>
      </p:sp>
      <p:sp>
        <p:nvSpPr>
          <p:cNvPr id="12" name="Shape 9"/>
          <p:cNvSpPr/>
          <p:nvPr/>
        </p:nvSpPr>
        <p:spPr>
          <a:xfrm>
            <a:off x="4343400" y="1371600"/>
            <a:ext cx="73152" cy="4343400"/>
          </a:xfrm>
          <a:prstGeom prst="rect">
            <a:avLst/>
          </a:prstGeom>
          <a:solidFill>
            <a:srgbClr val="2A9D8F"/>
          </a:solidFill>
          <a:ln w="12700">
            <a:solidFill>
              <a:srgbClr val="2A9D8F"/>
            </a:solidFill>
            <a:prstDash val="solid"/>
          </a:ln>
        </p:spPr>
      </p:sp>
      <p:sp>
        <p:nvSpPr>
          <p:cNvPr id="13" name="Text 10"/>
          <p:cNvSpPr/>
          <p:nvPr/>
        </p:nvSpPr>
        <p:spPr>
          <a:xfrm>
            <a:off x="4544568" y="1527048"/>
            <a:ext cx="3172968" cy="274320"/>
          </a:xfrm>
          <a:prstGeom prst="rect">
            <a:avLst/>
          </a:prstGeom>
          <a:noFill/>
          <a:ln/>
        </p:spPr>
        <p:txBody>
          <a:bodyPr wrap="square" lIns="0" tIns="0" rIns="0" bIns="0" rtlCol="0" anchor="ctr"/>
          <a:lstStyle/>
          <a:p>
            <a:pPr indent="0" marL="0">
              <a:buNone/>
            </a:pPr>
            <a:r>
              <a:rPr lang="en-US" sz="1700" b="1" dirty="0">
                <a:solidFill>
                  <a:srgbClr val="17324A"/>
                </a:solidFill>
              </a:rPr>
              <a:t>Better starting point</a:t>
            </a:r>
            <a:endParaRPr lang="en-US" sz="1700" dirty="0"/>
          </a:p>
        </p:txBody>
      </p:sp>
      <p:sp>
        <p:nvSpPr>
          <p:cNvPr id="14" name="Text 11"/>
          <p:cNvSpPr/>
          <p:nvPr/>
        </p:nvSpPr>
        <p:spPr>
          <a:xfrm>
            <a:off x="4544568" y="1874520"/>
            <a:ext cx="3172968" cy="3703320"/>
          </a:xfrm>
          <a:prstGeom prst="rect">
            <a:avLst/>
          </a:prstGeom>
          <a:noFill/>
          <a:ln/>
        </p:spPr>
        <p:txBody>
          <a:bodyPr wrap="square" lIns="254" tIns="254" rIns="254" bIns="254" rtlCol="0" anchor="t"/>
          <a:lstStyle/>
          <a:p>
            <a:pPr indent="0" marL="0">
              <a:buNone/>
            </a:pPr>
            <a:r>
              <a:rPr lang="en-US" sz="1230" dirty="0">
                <a:solidFill>
                  <a:srgbClr val="17232C"/>
                </a:solidFill>
              </a:rPr>
              <a:t>“Is gene X a marker of an aggressive immune phenotype in disease Y, and does it carry independent prognostic information?”</a:t>
            </a:r>
            <a:endParaRPr lang="en-US" sz="1230" dirty="0"/>
          </a:p>
          <a:p>
            <a:pPr indent="0" marL="0">
              <a:buNone/>
            </a:pPr>
            <a:endParaRPr lang="en-US" sz="1230" dirty="0"/>
          </a:p>
          <a:p>
            <a:pPr indent="0" marL="0">
              <a:buNone/>
            </a:pPr>
            <a:r>
              <a:rPr lang="en-US" sz="1230" dirty="0">
                <a:solidFill>
                  <a:srgbClr val="17232C"/>
                </a:solidFill>
              </a:rPr>
              <a:t>Now each analysis has a job.</a:t>
            </a:r>
            <a:endParaRPr lang="en-US" sz="1230" dirty="0"/>
          </a:p>
        </p:txBody>
      </p:sp>
      <p:sp>
        <p:nvSpPr>
          <p:cNvPr id="15" name="Shape 12"/>
          <p:cNvSpPr/>
          <p:nvPr/>
        </p:nvSpPr>
        <p:spPr>
          <a:xfrm>
            <a:off x="8001000" y="1371600"/>
            <a:ext cx="3520440" cy="4343400"/>
          </a:xfrm>
          <a:prstGeom prst="roundRect">
            <a:avLst>
              <a:gd name="adj" fmla="val 1558"/>
            </a:avLst>
          </a:prstGeom>
          <a:solidFill>
            <a:srgbClr val="FFFFFF"/>
          </a:solidFill>
          <a:ln w="12700">
            <a:solidFill>
              <a:srgbClr val="DDE5EA"/>
            </a:solidFill>
            <a:prstDash val="solid"/>
          </a:ln>
        </p:spPr>
      </p:sp>
      <p:sp>
        <p:nvSpPr>
          <p:cNvPr id="16" name="Shape 13"/>
          <p:cNvSpPr/>
          <p:nvPr/>
        </p:nvSpPr>
        <p:spPr>
          <a:xfrm>
            <a:off x="8001000" y="1371600"/>
            <a:ext cx="73152" cy="4343400"/>
          </a:xfrm>
          <a:prstGeom prst="rect">
            <a:avLst/>
          </a:prstGeom>
          <a:solidFill>
            <a:srgbClr val="2D5B88"/>
          </a:solidFill>
          <a:ln w="12700">
            <a:solidFill>
              <a:srgbClr val="2D5B88"/>
            </a:solidFill>
            <a:prstDash val="solid"/>
          </a:ln>
        </p:spPr>
      </p:sp>
      <p:sp>
        <p:nvSpPr>
          <p:cNvPr id="17" name="Text 14"/>
          <p:cNvSpPr/>
          <p:nvPr/>
        </p:nvSpPr>
        <p:spPr>
          <a:xfrm>
            <a:off x="8202168" y="1527048"/>
            <a:ext cx="3172968" cy="274320"/>
          </a:xfrm>
          <a:prstGeom prst="rect">
            <a:avLst/>
          </a:prstGeom>
          <a:noFill/>
          <a:ln/>
        </p:spPr>
        <p:txBody>
          <a:bodyPr wrap="square" lIns="0" tIns="0" rIns="0" bIns="0" rtlCol="0" anchor="ctr"/>
          <a:lstStyle/>
          <a:p>
            <a:pPr indent="0" marL="0">
              <a:buNone/>
            </a:pPr>
            <a:r>
              <a:rPr lang="en-US" sz="1700" b="1" dirty="0">
                <a:solidFill>
                  <a:srgbClr val="17324A"/>
                </a:solidFill>
              </a:rPr>
              <a:t>Best starting point</a:t>
            </a:r>
            <a:endParaRPr lang="en-US" sz="1700" dirty="0"/>
          </a:p>
        </p:txBody>
      </p:sp>
      <p:sp>
        <p:nvSpPr>
          <p:cNvPr id="18" name="Text 15"/>
          <p:cNvSpPr/>
          <p:nvPr/>
        </p:nvSpPr>
        <p:spPr>
          <a:xfrm>
            <a:off x="8202168" y="1874520"/>
            <a:ext cx="3172968" cy="3703320"/>
          </a:xfrm>
          <a:prstGeom prst="rect">
            <a:avLst/>
          </a:prstGeom>
          <a:noFill/>
          <a:ln/>
        </p:spPr>
        <p:txBody>
          <a:bodyPr wrap="square" lIns="254" tIns="254" rIns="254" bIns="254" rtlCol="0" anchor="t"/>
          <a:lstStyle/>
          <a:p>
            <a:pPr indent="0" marL="0">
              <a:buNone/>
            </a:pPr>
            <a:r>
              <a:rPr lang="en-US" sz="1230" dirty="0">
                <a:solidFill>
                  <a:srgbClr val="17232C"/>
                </a:solidFill>
              </a:rPr>
              <a:t>Define population, endpoint, exposure/feature, comparison, discovery cohort, validation cohort, and one plausible biological mechanism before coding.</a:t>
            </a:r>
            <a:endParaRPr lang="en-US" sz="1230" dirty="0"/>
          </a:p>
        </p:txBody>
      </p:sp>
      <p:sp>
        <p:nvSpPr>
          <p:cNvPr id="19" name="Text 16"/>
          <p:cNvSpPr/>
          <p:nvPr/>
        </p:nvSpPr>
        <p:spPr>
          <a:xfrm>
            <a:off x="731520" y="5852160"/>
            <a:ext cx="10835640" cy="502920"/>
          </a:xfrm>
          <a:prstGeom prst="rect">
            <a:avLst/>
          </a:prstGeom>
          <a:noFill/>
          <a:ln/>
        </p:spPr>
        <p:txBody>
          <a:bodyPr wrap="square" lIns="0" tIns="0" rIns="0" bIns="0" rtlCol="0" anchor="ctr"/>
          <a:lstStyle/>
          <a:p>
            <a:pPr algn="ctr" indent="0" marL="0">
              <a:buNone/>
            </a:pPr>
            <a:r>
              <a:rPr lang="en-US" sz="1550" b="1" dirty="0">
                <a:solidFill>
                  <a:srgbClr val="17324A"/>
                </a:solidFill>
              </a:rPr>
              <a:t>Design sentence template: “In [disease], we test whether [molecular feature] is associated with [phenotype/end point] and validate the finding in [independent cohort].”</a:t>
            </a:r>
            <a:endParaRPr lang="en-US" sz="15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2 — Preprocessing and quality control</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Most irreproducible mistakes happen before statistics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QC</a:t>
            </a:r>
            <a:endParaRPr lang="en-US" sz="950" dirty="0"/>
          </a:p>
        </p:txBody>
      </p:sp>
      <p:sp>
        <p:nvSpPr>
          <p:cNvPr id="7" name="Text 4"/>
          <p:cNvSpPr/>
          <p:nvPr/>
        </p:nvSpPr>
        <p:spPr>
          <a:xfrm>
            <a:off x="713232" y="1325880"/>
            <a:ext cx="6492240" cy="4389120"/>
          </a:xfrm>
          <a:prstGeom prst="rect">
            <a:avLst/>
          </a:prstGeom>
          <a:noFill/>
          <a:ln/>
        </p:spPr>
        <p:txBody>
          <a:bodyPr wrap="square" lIns="254" tIns="254" rIns="254" bIns="254" rtlCol="0" anchor="ctr"/>
          <a:lstStyle/>
          <a:p>
            <a:pPr marL="177800" indent="-177800">
              <a:buSzPct val="100000"/>
              <a:buChar char="•"/>
            </a:pPr>
            <a:r>
              <a:rPr lang="en-US" sz="1530" dirty="0">
                <a:solidFill>
                  <a:srgbClr val="17232C"/>
                </a:solidFill>
              </a:rPr>
              <a:t>Confirm sample IDs, tumor/normal status, duplicate samples, and endpoint definitions.</a:t>
            </a:r>
            <a:endParaRPr lang="en-US" sz="1530" dirty="0"/>
          </a:p>
          <a:p>
            <a:pPr marL="177800" indent="-177800">
              <a:buSzPct val="100000"/>
              <a:buChar char="•"/>
            </a:pPr>
            <a:r>
              <a:rPr lang="en-US" sz="1530" dirty="0">
                <a:solidFill>
                  <a:srgbClr val="17232C"/>
                </a:solidFill>
              </a:rPr>
              <a:t>Know the expression unit: raw counts, TPM/FPKM, log2-transformed intensity, or normalized microarray values.</a:t>
            </a:r>
            <a:endParaRPr lang="en-US" sz="1530" dirty="0"/>
          </a:p>
          <a:p>
            <a:pPr marL="177800" indent="-177800">
              <a:buSzPct val="100000"/>
              <a:buChar char="•"/>
            </a:pPr>
            <a:r>
              <a:rPr lang="en-US" sz="1530" dirty="0">
                <a:solidFill>
                  <a:srgbClr val="17232C"/>
                </a:solidFill>
              </a:rPr>
              <a:t>Use a method compatible with the data type: DESeq2/edgeR for counts; limma for normalized continuous expression or voom-transformed counts.</a:t>
            </a:r>
            <a:endParaRPr lang="en-US" sz="1530" dirty="0"/>
          </a:p>
          <a:p>
            <a:pPr marL="177800" indent="-177800">
              <a:buSzPct val="100000"/>
              <a:buChar char="•"/>
            </a:pPr>
            <a:r>
              <a:rPr lang="en-US" sz="1530" dirty="0">
                <a:solidFill>
                  <a:srgbClr val="17232C"/>
                </a:solidFill>
              </a:rPr>
              <a:t>For merged GEO datasets, inspect platform differences and batch effects before combining cohorts.</a:t>
            </a:r>
            <a:endParaRPr lang="en-US" sz="1530" dirty="0"/>
          </a:p>
          <a:p>
            <a:pPr marL="177800" indent="-177800">
              <a:buSzPct val="100000"/>
              <a:buChar char="•"/>
            </a:pPr>
            <a:r>
              <a:rPr lang="en-US" sz="1530" dirty="0">
                <a:solidFill>
                  <a:srgbClr val="17232C"/>
                </a:solidFill>
              </a:rPr>
              <a:t>Document missing clinical variables and pre-specify how they will be handled.</a:t>
            </a:r>
            <a:endParaRPr lang="en-US" sz="1530" dirty="0"/>
          </a:p>
        </p:txBody>
      </p:sp>
      <p:sp>
        <p:nvSpPr>
          <p:cNvPr id="8" name="Shape 5"/>
          <p:cNvSpPr/>
          <p:nvPr/>
        </p:nvSpPr>
        <p:spPr>
          <a:xfrm>
            <a:off x="7543800" y="1463040"/>
            <a:ext cx="3886200" cy="1874520"/>
          </a:xfrm>
          <a:prstGeom prst="roundRect">
            <a:avLst>
              <a:gd name="adj" fmla="val 2927"/>
            </a:avLst>
          </a:prstGeom>
          <a:solidFill>
            <a:srgbClr val="FFFFFF"/>
          </a:solidFill>
          <a:ln w="12700">
            <a:solidFill>
              <a:srgbClr val="DDE5EA"/>
            </a:solidFill>
            <a:prstDash val="solid"/>
          </a:ln>
        </p:spPr>
      </p:sp>
      <p:sp>
        <p:nvSpPr>
          <p:cNvPr id="9" name="Shape 6"/>
          <p:cNvSpPr/>
          <p:nvPr/>
        </p:nvSpPr>
        <p:spPr>
          <a:xfrm>
            <a:off x="7543800" y="1463040"/>
            <a:ext cx="73152" cy="1874520"/>
          </a:xfrm>
          <a:prstGeom prst="rect">
            <a:avLst/>
          </a:prstGeom>
          <a:solidFill>
            <a:srgbClr val="2A9D8F"/>
          </a:solidFill>
          <a:ln w="12700">
            <a:solidFill>
              <a:srgbClr val="2A9D8F"/>
            </a:solidFill>
            <a:prstDash val="solid"/>
          </a:ln>
        </p:spPr>
      </p:sp>
      <p:sp>
        <p:nvSpPr>
          <p:cNvPr id="10" name="Text 7"/>
          <p:cNvSpPr/>
          <p:nvPr/>
        </p:nvSpPr>
        <p:spPr>
          <a:xfrm>
            <a:off x="7744968" y="1618488"/>
            <a:ext cx="3538728" cy="274320"/>
          </a:xfrm>
          <a:prstGeom prst="rect">
            <a:avLst/>
          </a:prstGeom>
          <a:noFill/>
          <a:ln/>
        </p:spPr>
        <p:txBody>
          <a:bodyPr wrap="square" lIns="0" tIns="0" rIns="0" bIns="0" rtlCol="0" anchor="ctr"/>
          <a:lstStyle/>
          <a:p>
            <a:pPr indent="0" marL="0">
              <a:buNone/>
            </a:pPr>
            <a:r>
              <a:rPr lang="en-US" sz="1700" b="1" dirty="0">
                <a:solidFill>
                  <a:srgbClr val="17324A"/>
                </a:solidFill>
              </a:rPr>
              <a:t>Minimum QC outputs</a:t>
            </a:r>
            <a:endParaRPr lang="en-US" sz="1700" dirty="0"/>
          </a:p>
        </p:txBody>
      </p:sp>
      <p:sp>
        <p:nvSpPr>
          <p:cNvPr id="11" name="Text 8"/>
          <p:cNvSpPr/>
          <p:nvPr/>
        </p:nvSpPr>
        <p:spPr>
          <a:xfrm>
            <a:off x="7744968" y="1965960"/>
            <a:ext cx="3538728" cy="1234440"/>
          </a:xfrm>
          <a:prstGeom prst="rect">
            <a:avLst/>
          </a:prstGeom>
          <a:noFill/>
          <a:ln/>
        </p:spPr>
        <p:txBody>
          <a:bodyPr wrap="square" lIns="254" tIns="254" rIns="254" bIns="254" rtlCol="0" anchor="t"/>
          <a:lstStyle/>
          <a:p>
            <a:pPr indent="0" marL="0">
              <a:buNone/>
            </a:pPr>
            <a:r>
              <a:rPr lang="en-US" sz="1230" dirty="0">
                <a:solidFill>
                  <a:srgbClr val="17232C"/>
                </a:solidFill>
              </a:rPr>
              <a:t>Sample count table</a:t>
            </a:r>
            <a:endParaRPr lang="en-US" sz="1230" dirty="0"/>
          </a:p>
          <a:p>
            <a:pPr indent="0" marL="0">
              <a:buNone/>
            </a:pPr>
            <a:r>
              <a:rPr lang="en-US" sz="1230" dirty="0">
                <a:solidFill>
                  <a:srgbClr val="17232C"/>
                </a:solidFill>
              </a:rPr>
              <a:t>Clinical missingness summary</a:t>
            </a:r>
            <a:endParaRPr lang="en-US" sz="1230" dirty="0"/>
          </a:p>
          <a:p>
            <a:pPr indent="0" marL="0">
              <a:buNone/>
            </a:pPr>
            <a:r>
              <a:rPr lang="en-US" sz="1230" dirty="0">
                <a:solidFill>
                  <a:srgbClr val="17232C"/>
                </a:solidFill>
              </a:rPr>
              <a:t>PCA / clustering when relevant</a:t>
            </a:r>
            <a:endParaRPr lang="en-US" sz="1230" dirty="0"/>
          </a:p>
          <a:p>
            <a:pPr indent="0" marL="0">
              <a:buNone/>
            </a:pPr>
            <a:r>
              <a:rPr lang="en-US" sz="1230" dirty="0">
                <a:solidFill>
                  <a:srgbClr val="17232C"/>
                </a:solidFill>
              </a:rPr>
              <a:t>Expression distribution check</a:t>
            </a:r>
            <a:endParaRPr lang="en-US" sz="1230" dirty="0"/>
          </a:p>
        </p:txBody>
      </p:sp>
      <p:sp>
        <p:nvSpPr>
          <p:cNvPr id="12" name="Shape 9"/>
          <p:cNvSpPr/>
          <p:nvPr/>
        </p:nvSpPr>
        <p:spPr>
          <a:xfrm>
            <a:off x="7543800" y="3611880"/>
            <a:ext cx="3886200" cy="1874520"/>
          </a:xfrm>
          <a:prstGeom prst="roundRect">
            <a:avLst>
              <a:gd name="adj" fmla="val 2927"/>
            </a:avLst>
          </a:prstGeom>
          <a:solidFill>
            <a:srgbClr val="FFFFFF"/>
          </a:solidFill>
          <a:ln w="12700">
            <a:solidFill>
              <a:srgbClr val="DDE5EA"/>
            </a:solidFill>
            <a:prstDash val="solid"/>
          </a:ln>
        </p:spPr>
      </p:sp>
      <p:sp>
        <p:nvSpPr>
          <p:cNvPr id="13" name="Shape 10"/>
          <p:cNvSpPr/>
          <p:nvPr/>
        </p:nvSpPr>
        <p:spPr>
          <a:xfrm>
            <a:off x="7543800" y="3611880"/>
            <a:ext cx="73152" cy="1874520"/>
          </a:xfrm>
          <a:prstGeom prst="rect">
            <a:avLst/>
          </a:prstGeom>
          <a:solidFill>
            <a:srgbClr val="C83E4D"/>
          </a:solidFill>
          <a:ln w="12700">
            <a:solidFill>
              <a:srgbClr val="C83E4D"/>
            </a:solidFill>
            <a:prstDash val="solid"/>
          </a:ln>
        </p:spPr>
      </p:sp>
      <p:sp>
        <p:nvSpPr>
          <p:cNvPr id="14" name="Text 11"/>
          <p:cNvSpPr/>
          <p:nvPr/>
        </p:nvSpPr>
        <p:spPr>
          <a:xfrm>
            <a:off x="7744968" y="3767328"/>
            <a:ext cx="3538728" cy="274320"/>
          </a:xfrm>
          <a:prstGeom prst="rect">
            <a:avLst/>
          </a:prstGeom>
          <a:noFill/>
          <a:ln/>
        </p:spPr>
        <p:txBody>
          <a:bodyPr wrap="square" lIns="0" tIns="0" rIns="0" bIns="0" rtlCol="0" anchor="ctr"/>
          <a:lstStyle/>
          <a:p>
            <a:pPr indent="0" marL="0">
              <a:buNone/>
            </a:pPr>
            <a:r>
              <a:rPr lang="en-US" sz="1700" b="1" dirty="0">
                <a:solidFill>
                  <a:srgbClr val="17324A"/>
                </a:solidFill>
              </a:rPr>
              <a:t>Do not do this</a:t>
            </a:r>
            <a:endParaRPr lang="en-US" sz="1700" dirty="0"/>
          </a:p>
        </p:txBody>
      </p:sp>
      <p:sp>
        <p:nvSpPr>
          <p:cNvPr id="15" name="Text 12"/>
          <p:cNvSpPr/>
          <p:nvPr/>
        </p:nvSpPr>
        <p:spPr>
          <a:xfrm>
            <a:off x="7744968" y="4114800"/>
            <a:ext cx="3538728" cy="1234440"/>
          </a:xfrm>
          <a:prstGeom prst="rect">
            <a:avLst/>
          </a:prstGeom>
          <a:noFill/>
          <a:ln/>
        </p:spPr>
        <p:txBody>
          <a:bodyPr wrap="square" lIns="254" tIns="254" rIns="254" bIns="254" rtlCol="0" anchor="t"/>
          <a:lstStyle/>
          <a:p>
            <a:pPr indent="0" marL="0">
              <a:buNone/>
            </a:pPr>
            <a:r>
              <a:rPr lang="en-US" sz="1230" dirty="0">
                <a:solidFill>
                  <a:srgbClr val="17232C"/>
                </a:solidFill>
              </a:rPr>
              <a:t>Mix counts and TPM in the same model</a:t>
            </a:r>
            <a:endParaRPr lang="en-US" sz="1230" dirty="0"/>
          </a:p>
          <a:p>
            <a:pPr indent="0" marL="0">
              <a:buNone/>
            </a:pPr>
            <a:r>
              <a:rPr lang="en-US" sz="1230" dirty="0">
                <a:solidFill>
                  <a:srgbClr val="17232C"/>
                </a:solidFill>
              </a:rPr>
              <a:t>Treat all “0” values as missing</a:t>
            </a:r>
            <a:endParaRPr lang="en-US" sz="1230" dirty="0"/>
          </a:p>
          <a:p>
            <a:pPr indent="0" marL="0">
              <a:buNone/>
            </a:pPr>
            <a:r>
              <a:rPr lang="en-US" sz="1230" dirty="0">
                <a:solidFill>
                  <a:srgbClr val="17232C"/>
                </a:solidFill>
              </a:rPr>
              <a:t>Merge cohorts before checking platform/batch</a:t>
            </a:r>
            <a:endParaRPr lang="en-US" sz="1230" dirty="0"/>
          </a:p>
          <a:p>
            <a:pPr indent="0" marL="0">
              <a:buNone/>
            </a:pPr>
            <a:r>
              <a:rPr lang="en-US" sz="1230" dirty="0">
                <a:solidFill>
                  <a:srgbClr val="17232C"/>
                </a:solidFill>
              </a:rPr>
              <a:t>Change endpoint definitions after seeing results</a:t>
            </a:r>
            <a:endParaRPr lang="en-US" sz="123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3 — Differential expression and phenotype association</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Two distinct questions: “what differs?” and “what correlates?”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DISCOVERY</a:t>
            </a:r>
            <a:endParaRPr lang="en-US" sz="950" dirty="0"/>
          </a:p>
        </p:txBody>
      </p:sp>
      <p:pic>
        <p:nvPicPr>
          <p:cNvPr id="7" name="Image 0" descr="/mnt/data/bioinfo_assets/volcano.png">    </p:cNvPr>
          <p:cNvPicPr>
            <a:picLocks noChangeAspect="1"/>
          </p:cNvPicPr>
          <p:nvPr/>
        </p:nvPicPr>
        <p:blipFill>
          <a:blip r:embed="rId1"/>
          <a:stretch>
            <a:fillRect/>
          </a:stretch>
        </p:blipFill>
        <p:spPr>
          <a:xfrm>
            <a:off x="640080" y="1325880"/>
            <a:ext cx="5532120" cy="3611880"/>
          </a:xfrm>
          <a:prstGeom prst="rect">
            <a:avLst/>
          </a:prstGeom>
        </p:spPr>
      </p:pic>
      <p:sp>
        <p:nvSpPr>
          <p:cNvPr id="8" name="Shape 4"/>
          <p:cNvSpPr/>
          <p:nvPr/>
        </p:nvSpPr>
        <p:spPr>
          <a:xfrm>
            <a:off x="6446520" y="1325880"/>
            <a:ext cx="5074920" cy="1874520"/>
          </a:xfrm>
          <a:prstGeom prst="roundRect">
            <a:avLst>
              <a:gd name="adj" fmla="val 2927"/>
            </a:avLst>
          </a:prstGeom>
          <a:solidFill>
            <a:srgbClr val="FFFFFF"/>
          </a:solidFill>
          <a:ln w="12700">
            <a:solidFill>
              <a:srgbClr val="DDE5EA"/>
            </a:solidFill>
            <a:prstDash val="solid"/>
          </a:ln>
        </p:spPr>
      </p:sp>
      <p:sp>
        <p:nvSpPr>
          <p:cNvPr id="9" name="Shape 5"/>
          <p:cNvSpPr/>
          <p:nvPr/>
        </p:nvSpPr>
        <p:spPr>
          <a:xfrm>
            <a:off x="6446520" y="1325880"/>
            <a:ext cx="73152" cy="1874520"/>
          </a:xfrm>
          <a:prstGeom prst="rect">
            <a:avLst/>
          </a:prstGeom>
          <a:solidFill>
            <a:srgbClr val="2D5B88"/>
          </a:solidFill>
          <a:ln w="12700">
            <a:solidFill>
              <a:srgbClr val="2D5B88"/>
            </a:solidFill>
            <a:prstDash val="solid"/>
          </a:ln>
        </p:spPr>
      </p:sp>
      <p:sp>
        <p:nvSpPr>
          <p:cNvPr id="10" name="Text 6"/>
          <p:cNvSpPr/>
          <p:nvPr/>
        </p:nvSpPr>
        <p:spPr>
          <a:xfrm>
            <a:off x="6647688" y="1481328"/>
            <a:ext cx="4727448" cy="274320"/>
          </a:xfrm>
          <a:prstGeom prst="rect">
            <a:avLst/>
          </a:prstGeom>
          <a:noFill/>
          <a:ln/>
        </p:spPr>
        <p:txBody>
          <a:bodyPr wrap="square" lIns="0" tIns="0" rIns="0" bIns="0" rtlCol="0" anchor="ctr"/>
          <a:lstStyle/>
          <a:p>
            <a:pPr indent="0" marL="0">
              <a:buNone/>
            </a:pPr>
            <a:r>
              <a:rPr lang="en-US" sz="1700" b="1" dirty="0">
                <a:solidFill>
                  <a:srgbClr val="17324A"/>
                </a:solidFill>
              </a:rPr>
              <a:t>Differential expression</a:t>
            </a:r>
            <a:endParaRPr lang="en-US" sz="1700" dirty="0"/>
          </a:p>
        </p:txBody>
      </p:sp>
      <p:sp>
        <p:nvSpPr>
          <p:cNvPr id="11" name="Text 7"/>
          <p:cNvSpPr/>
          <p:nvPr/>
        </p:nvSpPr>
        <p:spPr>
          <a:xfrm>
            <a:off x="6647688" y="1828800"/>
            <a:ext cx="4727448" cy="1234440"/>
          </a:xfrm>
          <a:prstGeom prst="rect">
            <a:avLst/>
          </a:prstGeom>
          <a:noFill/>
          <a:ln/>
        </p:spPr>
        <p:txBody>
          <a:bodyPr wrap="square" lIns="254" tIns="254" rIns="254" bIns="254" rtlCol="0" anchor="t"/>
          <a:lstStyle/>
          <a:p>
            <a:pPr indent="0" marL="0">
              <a:buNone/>
            </a:pPr>
            <a:r>
              <a:rPr lang="en-US" sz="1230" dirty="0">
                <a:solidFill>
                  <a:srgbClr val="17232C"/>
                </a:solidFill>
              </a:rPr>
              <a:t>Compare predefined biological groups: tumor vs normal, high vs low phenotype, responder vs non-responder. Report log2FC + adjusted P/FDR, not P-value alone.</a:t>
            </a:r>
            <a:endParaRPr lang="en-US" sz="1230" dirty="0"/>
          </a:p>
        </p:txBody>
      </p:sp>
      <p:sp>
        <p:nvSpPr>
          <p:cNvPr id="12" name="Shape 8"/>
          <p:cNvSpPr/>
          <p:nvPr/>
        </p:nvSpPr>
        <p:spPr>
          <a:xfrm>
            <a:off x="6446520" y="3429000"/>
            <a:ext cx="5074920" cy="1874520"/>
          </a:xfrm>
          <a:prstGeom prst="roundRect">
            <a:avLst>
              <a:gd name="adj" fmla="val 2927"/>
            </a:avLst>
          </a:prstGeom>
          <a:solidFill>
            <a:srgbClr val="FFFFFF"/>
          </a:solidFill>
          <a:ln w="12700">
            <a:solidFill>
              <a:srgbClr val="DDE5EA"/>
            </a:solidFill>
            <a:prstDash val="solid"/>
          </a:ln>
        </p:spPr>
      </p:sp>
      <p:sp>
        <p:nvSpPr>
          <p:cNvPr id="13" name="Shape 9"/>
          <p:cNvSpPr/>
          <p:nvPr/>
        </p:nvSpPr>
        <p:spPr>
          <a:xfrm>
            <a:off x="6446520" y="3429000"/>
            <a:ext cx="73152" cy="1874520"/>
          </a:xfrm>
          <a:prstGeom prst="rect">
            <a:avLst/>
          </a:prstGeom>
          <a:solidFill>
            <a:srgbClr val="2A9D8F"/>
          </a:solidFill>
          <a:ln w="12700">
            <a:solidFill>
              <a:srgbClr val="2A9D8F"/>
            </a:solidFill>
            <a:prstDash val="solid"/>
          </a:ln>
        </p:spPr>
      </p:sp>
      <p:sp>
        <p:nvSpPr>
          <p:cNvPr id="14" name="Text 10"/>
          <p:cNvSpPr/>
          <p:nvPr/>
        </p:nvSpPr>
        <p:spPr>
          <a:xfrm>
            <a:off x="6647688" y="3584448"/>
            <a:ext cx="4727448" cy="274320"/>
          </a:xfrm>
          <a:prstGeom prst="rect">
            <a:avLst/>
          </a:prstGeom>
          <a:noFill/>
          <a:ln/>
        </p:spPr>
        <p:txBody>
          <a:bodyPr wrap="square" lIns="0" tIns="0" rIns="0" bIns="0" rtlCol="0" anchor="ctr"/>
          <a:lstStyle/>
          <a:p>
            <a:pPr indent="0" marL="0">
              <a:buNone/>
            </a:pPr>
            <a:r>
              <a:rPr lang="en-US" sz="1700" b="1" dirty="0">
                <a:solidFill>
                  <a:srgbClr val="17324A"/>
                </a:solidFill>
              </a:rPr>
              <a:t>Clinical association</a:t>
            </a:r>
            <a:endParaRPr lang="en-US" sz="1700" dirty="0"/>
          </a:p>
        </p:txBody>
      </p:sp>
      <p:sp>
        <p:nvSpPr>
          <p:cNvPr id="15" name="Text 11"/>
          <p:cNvSpPr/>
          <p:nvPr/>
        </p:nvSpPr>
        <p:spPr>
          <a:xfrm>
            <a:off x="6647688" y="3931920"/>
            <a:ext cx="4727448" cy="1234440"/>
          </a:xfrm>
          <a:prstGeom prst="rect">
            <a:avLst/>
          </a:prstGeom>
          <a:noFill/>
          <a:ln/>
        </p:spPr>
        <p:txBody>
          <a:bodyPr wrap="square" lIns="254" tIns="254" rIns="254" bIns="254" rtlCol="0" anchor="t"/>
          <a:lstStyle/>
          <a:p>
            <a:pPr indent="0" marL="0">
              <a:buNone/>
            </a:pPr>
            <a:r>
              <a:rPr lang="en-US" sz="1230" dirty="0">
                <a:solidFill>
                  <a:srgbClr val="17232C"/>
                </a:solidFill>
              </a:rPr>
              <a:t>Use boxplots or regression to test grade, stage, molecular subtype, mutation status, age, sex, etc. The correct test depends on variable type and distribution.</a:t>
            </a:r>
            <a:endParaRPr lang="en-US" sz="1230" dirty="0"/>
          </a:p>
        </p:txBody>
      </p:sp>
      <p:sp>
        <p:nvSpPr>
          <p:cNvPr id="16" name="Text 12"/>
          <p:cNvSpPr/>
          <p:nvPr/>
        </p:nvSpPr>
        <p:spPr>
          <a:xfrm>
            <a:off x="914400" y="5285232"/>
            <a:ext cx="10424160" cy="365760"/>
          </a:xfrm>
          <a:prstGeom prst="rect">
            <a:avLst/>
          </a:prstGeom>
          <a:noFill/>
          <a:ln/>
        </p:spPr>
        <p:txBody>
          <a:bodyPr wrap="square" lIns="0" tIns="0" rIns="0" bIns="0" rtlCol="0" anchor="ctr"/>
          <a:lstStyle/>
          <a:p>
            <a:pPr algn="ctr" indent="0" marL="0">
              <a:buNone/>
            </a:pPr>
            <a:r>
              <a:rPr lang="en-US" sz="1600" b="1" dirty="0">
                <a:solidFill>
                  <a:srgbClr val="17324A"/>
                </a:solidFill>
              </a:rPr>
              <a:t>Common outputs: volcano plot • heatmap • box/violin plots • effect-size table</a:t>
            </a:r>
            <a:endParaRPr lang="en-US" sz="1600" dirty="0"/>
          </a:p>
        </p:txBody>
      </p:sp>
      <p:sp>
        <p:nvSpPr>
          <p:cNvPr id="17" name="Text 13"/>
          <p:cNvSpPr/>
          <p:nvPr/>
        </p:nvSpPr>
        <p:spPr>
          <a:xfrm>
            <a:off x="713232" y="5779008"/>
            <a:ext cx="5486400" cy="228600"/>
          </a:xfrm>
          <a:prstGeom prst="rect">
            <a:avLst/>
          </a:prstGeom>
          <a:noFill/>
          <a:ln/>
        </p:spPr>
        <p:txBody>
          <a:bodyPr wrap="square" lIns="0" tIns="0" rIns="0" bIns="0" rtlCol="0" anchor="ctr"/>
          <a:lstStyle/>
          <a:p>
            <a:pPr indent="0" marL="0">
              <a:buNone/>
            </a:pPr>
            <a:r>
              <a:rPr lang="en-US" sz="950" i="1" dirty="0">
                <a:solidFill>
                  <a:srgbClr val="6B7280"/>
                </a:solidFill>
              </a:rPr>
              <a:t>Figure is synthetic and only illustrates plot structure.</a:t>
            </a:r>
            <a:endParaRPr lang="en-US" sz="9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4 — Survival and prognostic analysis</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Separate visualization, association, and independence</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CLINICAL</a:t>
            </a:r>
            <a:endParaRPr lang="en-US" sz="950" dirty="0"/>
          </a:p>
        </p:txBody>
      </p:sp>
      <p:pic>
        <p:nvPicPr>
          <p:cNvPr id="7" name="Image 0" descr="/mnt/data/bioinfo_assets/km.png">    </p:cNvPr>
          <p:cNvPicPr>
            <a:picLocks noChangeAspect="1"/>
          </p:cNvPicPr>
          <p:nvPr/>
        </p:nvPicPr>
        <p:blipFill>
          <a:blip r:embed="rId1"/>
          <a:stretch>
            <a:fillRect/>
          </a:stretch>
        </p:blipFill>
        <p:spPr>
          <a:xfrm>
            <a:off x="640080" y="1261872"/>
            <a:ext cx="5394960" cy="3383280"/>
          </a:xfrm>
          <a:prstGeom prst="rect">
            <a:avLst/>
          </a:prstGeom>
        </p:spPr>
      </p:pic>
      <p:sp>
        <p:nvSpPr>
          <p:cNvPr id="8" name="Shape 4"/>
          <p:cNvSpPr/>
          <p:nvPr/>
        </p:nvSpPr>
        <p:spPr>
          <a:xfrm>
            <a:off x="6309360" y="1280160"/>
            <a:ext cx="5120640" cy="1234440"/>
          </a:xfrm>
          <a:prstGeom prst="roundRect">
            <a:avLst>
              <a:gd name="adj" fmla="val 4444"/>
            </a:avLst>
          </a:prstGeom>
          <a:solidFill>
            <a:srgbClr val="FFFFFF"/>
          </a:solidFill>
          <a:ln w="12700">
            <a:solidFill>
              <a:srgbClr val="DDE5EA"/>
            </a:solidFill>
            <a:prstDash val="solid"/>
          </a:ln>
        </p:spPr>
      </p:sp>
      <p:sp>
        <p:nvSpPr>
          <p:cNvPr id="9" name="Shape 5"/>
          <p:cNvSpPr/>
          <p:nvPr/>
        </p:nvSpPr>
        <p:spPr>
          <a:xfrm>
            <a:off x="6309360" y="1280160"/>
            <a:ext cx="73152" cy="1234440"/>
          </a:xfrm>
          <a:prstGeom prst="rect">
            <a:avLst/>
          </a:prstGeom>
          <a:solidFill>
            <a:srgbClr val="2A9D8F"/>
          </a:solidFill>
          <a:ln w="12700">
            <a:solidFill>
              <a:srgbClr val="2A9D8F"/>
            </a:solidFill>
            <a:prstDash val="solid"/>
          </a:ln>
        </p:spPr>
      </p:sp>
      <p:sp>
        <p:nvSpPr>
          <p:cNvPr id="10" name="Text 6"/>
          <p:cNvSpPr/>
          <p:nvPr/>
        </p:nvSpPr>
        <p:spPr>
          <a:xfrm>
            <a:off x="6510528" y="1435608"/>
            <a:ext cx="4773168" cy="274320"/>
          </a:xfrm>
          <a:prstGeom prst="rect">
            <a:avLst/>
          </a:prstGeom>
          <a:noFill/>
          <a:ln/>
        </p:spPr>
        <p:txBody>
          <a:bodyPr wrap="square" lIns="0" tIns="0" rIns="0" bIns="0" rtlCol="0" anchor="ctr"/>
          <a:lstStyle/>
          <a:p>
            <a:pPr indent="0" marL="0">
              <a:buNone/>
            </a:pPr>
            <a:r>
              <a:rPr lang="en-US" sz="1700" b="1" dirty="0">
                <a:solidFill>
                  <a:srgbClr val="17324A"/>
                </a:solidFill>
              </a:rPr>
              <a:t>Kaplan–Meier + log-rank</a:t>
            </a:r>
            <a:endParaRPr lang="en-US" sz="1700" dirty="0"/>
          </a:p>
        </p:txBody>
      </p:sp>
      <p:sp>
        <p:nvSpPr>
          <p:cNvPr id="11" name="Text 7"/>
          <p:cNvSpPr/>
          <p:nvPr/>
        </p:nvSpPr>
        <p:spPr>
          <a:xfrm>
            <a:off x="6510528" y="1783080"/>
            <a:ext cx="4773168" cy="594360"/>
          </a:xfrm>
          <a:prstGeom prst="rect">
            <a:avLst/>
          </a:prstGeom>
          <a:noFill/>
          <a:ln/>
        </p:spPr>
        <p:txBody>
          <a:bodyPr wrap="square" lIns="254" tIns="254" rIns="254" bIns="254" rtlCol="0" anchor="t"/>
          <a:lstStyle/>
          <a:p>
            <a:pPr indent="0" marL="0">
              <a:buNone/>
            </a:pPr>
            <a:r>
              <a:rPr lang="en-US" sz="1230" dirty="0">
                <a:solidFill>
                  <a:srgbClr val="17232C"/>
                </a:solidFill>
              </a:rPr>
              <a:t>Shows survival curves for predefined groups. Median splits are simple, but biologically justified cutoffs or continuous models are often preferable.</a:t>
            </a:r>
            <a:endParaRPr lang="en-US" sz="1230" dirty="0"/>
          </a:p>
        </p:txBody>
      </p:sp>
      <p:sp>
        <p:nvSpPr>
          <p:cNvPr id="12" name="Shape 8"/>
          <p:cNvSpPr/>
          <p:nvPr/>
        </p:nvSpPr>
        <p:spPr>
          <a:xfrm>
            <a:off x="6309360" y="2743200"/>
            <a:ext cx="5120640" cy="1234440"/>
          </a:xfrm>
          <a:prstGeom prst="roundRect">
            <a:avLst>
              <a:gd name="adj" fmla="val 4444"/>
            </a:avLst>
          </a:prstGeom>
          <a:solidFill>
            <a:srgbClr val="FFFFFF"/>
          </a:solidFill>
          <a:ln w="12700">
            <a:solidFill>
              <a:srgbClr val="DDE5EA"/>
            </a:solidFill>
            <a:prstDash val="solid"/>
          </a:ln>
        </p:spPr>
      </p:sp>
      <p:sp>
        <p:nvSpPr>
          <p:cNvPr id="13" name="Shape 9"/>
          <p:cNvSpPr/>
          <p:nvPr/>
        </p:nvSpPr>
        <p:spPr>
          <a:xfrm>
            <a:off x="6309360" y="2743200"/>
            <a:ext cx="73152" cy="1234440"/>
          </a:xfrm>
          <a:prstGeom prst="rect">
            <a:avLst/>
          </a:prstGeom>
          <a:solidFill>
            <a:srgbClr val="2D5B88"/>
          </a:solidFill>
          <a:ln w="12700">
            <a:solidFill>
              <a:srgbClr val="2D5B88"/>
            </a:solidFill>
            <a:prstDash val="solid"/>
          </a:ln>
        </p:spPr>
      </p:sp>
      <p:sp>
        <p:nvSpPr>
          <p:cNvPr id="14" name="Text 10"/>
          <p:cNvSpPr/>
          <p:nvPr/>
        </p:nvSpPr>
        <p:spPr>
          <a:xfrm>
            <a:off x="6510528" y="2898648"/>
            <a:ext cx="4773168" cy="274320"/>
          </a:xfrm>
          <a:prstGeom prst="rect">
            <a:avLst/>
          </a:prstGeom>
          <a:noFill/>
          <a:ln/>
        </p:spPr>
        <p:txBody>
          <a:bodyPr wrap="square" lIns="0" tIns="0" rIns="0" bIns="0" rtlCol="0" anchor="ctr"/>
          <a:lstStyle/>
          <a:p>
            <a:pPr indent="0" marL="0">
              <a:buNone/>
            </a:pPr>
            <a:r>
              <a:rPr lang="en-US" sz="1700" b="1" dirty="0">
                <a:solidFill>
                  <a:srgbClr val="17324A"/>
                </a:solidFill>
              </a:rPr>
              <a:t>Univariate Cox</a:t>
            </a:r>
            <a:endParaRPr lang="en-US" sz="1700" dirty="0"/>
          </a:p>
        </p:txBody>
      </p:sp>
      <p:sp>
        <p:nvSpPr>
          <p:cNvPr id="15" name="Text 11"/>
          <p:cNvSpPr/>
          <p:nvPr/>
        </p:nvSpPr>
        <p:spPr>
          <a:xfrm>
            <a:off x="6510528" y="3246120"/>
            <a:ext cx="4773168" cy="594360"/>
          </a:xfrm>
          <a:prstGeom prst="rect">
            <a:avLst/>
          </a:prstGeom>
          <a:noFill/>
          <a:ln/>
        </p:spPr>
        <p:txBody>
          <a:bodyPr wrap="square" lIns="254" tIns="254" rIns="254" bIns="254" rtlCol="0" anchor="t"/>
          <a:lstStyle/>
          <a:p>
            <a:pPr indent="0" marL="0">
              <a:buNone/>
            </a:pPr>
            <a:r>
              <a:rPr lang="en-US" sz="1230" dirty="0">
                <a:solidFill>
                  <a:srgbClr val="17232C"/>
                </a:solidFill>
              </a:rPr>
              <a:t>Tests whether each variable is associated with hazard. Report HR, 95% CI, and P-value.</a:t>
            </a:r>
            <a:endParaRPr lang="en-US" sz="1230" dirty="0"/>
          </a:p>
        </p:txBody>
      </p:sp>
      <p:sp>
        <p:nvSpPr>
          <p:cNvPr id="16" name="Shape 12"/>
          <p:cNvSpPr/>
          <p:nvPr/>
        </p:nvSpPr>
        <p:spPr>
          <a:xfrm>
            <a:off x="6309360" y="4206240"/>
            <a:ext cx="5120640" cy="1234440"/>
          </a:xfrm>
          <a:prstGeom prst="roundRect">
            <a:avLst>
              <a:gd name="adj" fmla="val 4444"/>
            </a:avLst>
          </a:prstGeom>
          <a:solidFill>
            <a:srgbClr val="FFFFFF"/>
          </a:solidFill>
          <a:ln w="12700">
            <a:solidFill>
              <a:srgbClr val="DDE5EA"/>
            </a:solidFill>
            <a:prstDash val="solid"/>
          </a:ln>
        </p:spPr>
      </p:sp>
      <p:sp>
        <p:nvSpPr>
          <p:cNvPr id="17" name="Shape 13"/>
          <p:cNvSpPr/>
          <p:nvPr/>
        </p:nvSpPr>
        <p:spPr>
          <a:xfrm>
            <a:off x="6309360" y="4206240"/>
            <a:ext cx="73152" cy="1234440"/>
          </a:xfrm>
          <a:prstGeom prst="rect">
            <a:avLst/>
          </a:prstGeom>
          <a:solidFill>
            <a:srgbClr val="E76F51"/>
          </a:solidFill>
          <a:ln w="12700">
            <a:solidFill>
              <a:srgbClr val="E76F51"/>
            </a:solidFill>
            <a:prstDash val="solid"/>
          </a:ln>
        </p:spPr>
      </p:sp>
      <p:sp>
        <p:nvSpPr>
          <p:cNvPr id="18" name="Text 14"/>
          <p:cNvSpPr/>
          <p:nvPr/>
        </p:nvSpPr>
        <p:spPr>
          <a:xfrm>
            <a:off x="6510528" y="4361688"/>
            <a:ext cx="4773168" cy="274320"/>
          </a:xfrm>
          <a:prstGeom prst="rect">
            <a:avLst/>
          </a:prstGeom>
          <a:noFill/>
          <a:ln/>
        </p:spPr>
        <p:txBody>
          <a:bodyPr wrap="square" lIns="0" tIns="0" rIns="0" bIns="0" rtlCol="0" anchor="ctr"/>
          <a:lstStyle/>
          <a:p>
            <a:pPr indent="0" marL="0">
              <a:buNone/>
            </a:pPr>
            <a:r>
              <a:rPr lang="en-US" sz="1700" b="1" dirty="0">
                <a:solidFill>
                  <a:srgbClr val="17324A"/>
                </a:solidFill>
              </a:rPr>
              <a:t>Multivariable Cox</a:t>
            </a:r>
            <a:endParaRPr lang="en-US" sz="1700" dirty="0"/>
          </a:p>
        </p:txBody>
      </p:sp>
      <p:sp>
        <p:nvSpPr>
          <p:cNvPr id="19" name="Text 15"/>
          <p:cNvSpPr/>
          <p:nvPr/>
        </p:nvSpPr>
        <p:spPr>
          <a:xfrm>
            <a:off x="6510528" y="4709160"/>
            <a:ext cx="4773168" cy="594360"/>
          </a:xfrm>
          <a:prstGeom prst="rect">
            <a:avLst/>
          </a:prstGeom>
          <a:noFill/>
          <a:ln/>
        </p:spPr>
        <p:txBody>
          <a:bodyPr wrap="square" lIns="254" tIns="254" rIns="254" bIns="254" rtlCol="0" anchor="t"/>
          <a:lstStyle/>
          <a:p>
            <a:pPr indent="0" marL="0">
              <a:buNone/>
            </a:pPr>
            <a:r>
              <a:rPr lang="en-US" sz="1230" dirty="0">
                <a:solidFill>
                  <a:srgbClr val="17232C"/>
                </a:solidFill>
              </a:rPr>
              <a:t>Asks whether the feature retains information after adjusting for major clinical covariates. Check proportional-hazards assumptions when feasible.</a:t>
            </a:r>
            <a:endParaRPr lang="en-US" sz="1230" dirty="0"/>
          </a:p>
        </p:txBody>
      </p:sp>
      <p:sp>
        <p:nvSpPr>
          <p:cNvPr id="20" name="Text 16"/>
          <p:cNvSpPr/>
          <p:nvPr/>
        </p:nvSpPr>
        <p:spPr>
          <a:xfrm>
            <a:off x="777240" y="5047488"/>
            <a:ext cx="5212080" cy="502920"/>
          </a:xfrm>
          <a:prstGeom prst="rect">
            <a:avLst/>
          </a:prstGeom>
          <a:noFill/>
          <a:ln/>
        </p:spPr>
        <p:txBody>
          <a:bodyPr wrap="square" lIns="0" tIns="0" rIns="0" bIns="0" rtlCol="0" anchor="ctr"/>
          <a:lstStyle/>
          <a:p>
            <a:pPr algn="ctr" indent="0" marL="0">
              <a:buNone/>
            </a:pPr>
            <a:r>
              <a:rPr lang="en-US" sz="1420" b="1" dirty="0">
                <a:solidFill>
                  <a:srgbClr val="17324A"/>
                </a:solidFill>
              </a:rPr>
              <a:t>Cox model idea: hazard(t) = baseline hazard × exp(β₁X₁ + β₂X₂ + …)</a:t>
            </a:r>
            <a:endParaRPr lang="en-US" sz="142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5 — Functional interpretation</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Turn a gene list or expression pattern into biological hypotheses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MECHANISM</a:t>
            </a:r>
            <a:endParaRPr lang="en-US" sz="950" dirty="0"/>
          </a:p>
        </p:txBody>
      </p:sp>
      <p:pic>
        <p:nvPicPr>
          <p:cNvPr id="7" name="Image 0" descr="/mnt/data/bioinfo_assets/enrichment.png">    </p:cNvPr>
          <p:cNvPicPr>
            <a:picLocks noChangeAspect="1"/>
          </p:cNvPicPr>
          <p:nvPr/>
        </p:nvPicPr>
        <p:blipFill>
          <a:blip r:embed="rId1"/>
          <a:stretch>
            <a:fillRect/>
          </a:stretch>
        </p:blipFill>
        <p:spPr>
          <a:xfrm>
            <a:off x="640080" y="1280160"/>
            <a:ext cx="5577840" cy="3749040"/>
          </a:xfrm>
          <a:prstGeom prst="rect">
            <a:avLst/>
          </a:prstGeom>
        </p:spPr>
      </p:pic>
      <p:sp>
        <p:nvSpPr>
          <p:cNvPr id="8" name="Shape 4"/>
          <p:cNvSpPr/>
          <p:nvPr/>
        </p:nvSpPr>
        <p:spPr>
          <a:xfrm>
            <a:off x="6446520" y="1325880"/>
            <a:ext cx="5074920" cy="1371600"/>
          </a:xfrm>
          <a:prstGeom prst="roundRect">
            <a:avLst>
              <a:gd name="adj" fmla="val 4000"/>
            </a:avLst>
          </a:prstGeom>
          <a:solidFill>
            <a:srgbClr val="FFFFFF"/>
          </a:solidFill>
          <a:ln w="12700">
            <a:solidFill>
              <a:srgbClr val="DDE5EA"/>
            </a:solidFill>
            <a:prstDash val="solid"/>
          </a:ln>
        </p:spPr>
      </p:sp>
      <p:sp>
        <p:nvSpPr>
          <p:cNvPr id="9" name="Shape 5"/>
          <p:cNvSpPr/>
          <p:nvPr/>
        </p:nvSpPr>
        <p:spPr>
          <a:xfrm>
            <a:off x="6446520" y="1325880"/>
            <a:ext cx="73152" cy="1371600"/>
          </a:xfrm>
          <a:prstGeom prst="rect">
            <a:avLst/>
          </a:prstGeom>
          <a:solidFill>
            <a:srgbClr val="2D5B88"/>
          </a:solidFill>
          <a:ln w="12700">
            <a:solidFill>
              <a:srgbClr val="2D5B88"/>
            </a:solidFill>
            <a:prstDash val="solid"/>
          </a:ln>
        </p:spPr>
      </p:sp>
      <p:sp>
        <p:nvSpPr>
          <p:cNvPr id="10" name="Text 6"/>
          <p:cNvSpPr/>
          <p:nvPr/>
        </p:nvSpPr>
        <p:spPr>
          <a:xfrm>
            <a:off x="6647688" y="1481328"/>
            <a:ext cx="4727448" cy="274320"/>
          </a:xfrm>
          <a:prstGeom prst="rect">
            <a:avLst/>
          </a:prstGeom>
          <a:noFill/>
          <a:ln/>
        </p:spPr>
        <p:txBody>
          <a:bodyPr wrap="square" lIns="0" tIns="0" rIns="0" bIns="0" rtlCol="0" anchor="ctr"/>
          <a:lstStyle/>
          <a:p>
            <a:pPr indent="0" marL="0">
              <a:buNone/>
            </a:pPr>
            <a:r>
              <a:rPr lang="en-US" sz="1700" b="1" dirty="0">
                <a:solidFill>
                  <a:srgbClr val="17324A"/>
                </a:solidFill>
              </a:rPr>
              <a:t>GO / KEGG over-representation</a:t>
            </a:r>
            <a:endParaRPr lang="en-US" sz="1700" dirty="0"/>
          </a:p>
        </p:txBody>
      </p:sp>
      <p:sp>
        <p:nvSpPr>
          <p:cNvPr id="11" name="Text 7"/>
          <p:cNvSpPr/>
          <p:nvPr/>
        </p:nvSpPr>
        <p:spPr>
          <a:xfrm>
            <a:off x="6647688" y="1828800"/>
            <a:ext cx="4727448" cy="731520"/>
          </a:xfrm>
          <a:prstGeom prst="rect">
            <a:avLst/>
          </a:prstGeom>
          <a:noFill/>
          <a:ln/>
        </p:spPr>
        <p:txBody>
          <a:bodyPr wrap="square" lIns="254" tIns="254" rIns="254" bIns="254" rtlCol="0" anchor="t"/>
          <a:lstStyle/>
          <a:p>
            <a:pPr indent="0" marL="0">
              <a:buNone/>
            </a:pPr>
            <a:r>
              <a:rPr lang="en-US" sz="1230" dirty="0">
                <a:solidFill>
                  <a:srgbClr val="17232C"/>
                </a:solidFill>
              </a:rPr>
              <a:t>Input: selected genes. Output: enriched terms. Sensitive to the cutoff used to select genes.</a:t>
            </a:r>
            <a:endParaRPr lang="en-US" sz="1230" dirty="0"/>
          </a:p>
        </p:txBody>
      </p:sp>
      <p:sp>
        <p:nvSpPr>
          <p:cNvPr id="12" name="Shape 8"/>
          <p:cNvSpPr/>
          <p:nvPr/>
        </p:nvSpPr>
        <p:spPr>
          <a:xfrm>
            <a:off x="6446520" y="2880360"/>
            <a:ext cx="5074920" cy="1371600"/>
          </a:xfrm>
          <a:prstGeom prst="roundRect">
            <a:avLst>
              <a:gd name="adj" fmla="val 4000"/>
            </a:avLst>
          </a:prstGeom>
          <a:solidFill>
            <a:srgbClr val="FFFFFF"/>
          </a:solidFill>
          <a:ln w="12700">
            <a:solidFill>
              <a:srgbClr val="DDE5EA"/>
            </a:solidFill>
            <a:prstDash val="solid"/>
          </a:ln>
        </p:spPr>
      </p:sp>
      <p:sp>
        <p:nvSpPr>
          <p:cNvPr id="13" name="Shape 9"/>
          <p:cNvSpPr/>
          <p:nvPr/>
        </p:nvSpPr>
        <p:spPr>
          <a:xfrm>
            <a:off x="6446520" y="2880360"/>
            <a:ext cx="73152" cy="1371600"/>
          </a:xfrm>
          <a:prstGeom prst="rect">
            <a:avLst/>
          </a:prstGeom>
          <a:solidFill>
            <a:srgbClr val="2A9D8F"/>
          </a:solidFill>
          <a:ln w="12700">
            <a:solidFill>
              <a:srgbClr val="2A9D8F"/>
            </a:solidFill>
            <a:prstDash val="solid"/>
          </a:ln>
        </p:spPr>
      </p:sp>
      <p:sp>
        <p:nvSpPr>
          <p:cNvPr id="14" name="Text 10"/>
          <p:cNvSpPr/>
          <p:nvPr/>
        </p:nvSpPr>
        <p:spPr>
          <a:xfrm>
            <a:off x="6647688" y="3035808"/>
            <a:ext cx="4727448" cy="274320"/>
          </a:xfrm>
          <a:prstGeom prst="rect">
            <a:avLst/>
          </a:prstGeom>
          <a:noFill/>
          <a:ln/>
        </p:spPr>
        <p:txBody>
          <a:bodyPr wrap="square" lIns="0" tIns="0" rIns="0" bIns="0" rtlCol="0" anchor="ctr"/>
          <a:lstStyle/>
          <a:p>
            <a:pPr indent="0" marL="0">
              <a:buNone/>
            </a:pPr>
            <a:r>
              <a:rPr lang="en-US" sz="1700" b="1" dirty="0">
                <a:solidFill>
                  <a:srgbClr val="17324A"/>
                </a:solidFill>
              </a:rPr>
              <a:t>GSEA</a:t>
            </a:r>
            <a:endParaRPr lang="en-US" sz="1700" dirty="0"/>
          </a:p>
        </p:txBody>
      </p:sp>
      <p:sp>
        <p:nvSpPr>
          <p:cNvPr id="15" name="Text 11"/>
          <p:cNvSpPr/>
          <p:nvPr/>
        </p:nvSpPr>
        <p:spPr>
          <a:xfrm>
            <a:off x="6647688" y="3383280"/>
            <a:ext cx="4727448" cy="731520"/>
          </a:xfrm>
          <a:prstGeom prst="rect">
            <a:avLst/>
          </a:prstGeom>
          <a:noFill/>
          <a:ln/>
        </p:spPr>
        <p:txBody>
          <a:bodyPr wrap="square" lIns="254" tIns="254" rIns="254" bIns="254" rtlCol="0" anchor="t"/>
          <a:lstStyle/>
          <a:p>
            <a:pPr indent="0" marL="0">
              <a:buNone/>
            </a:pPr>
            <a:r>
              <a:rPr lang="en-US" sz="1230" dirty="0">
                <a:solidFill>
                  <a:srgbClr val="17232C"/>
                </a:solidFill>
              </a:rPr>
              <a:t>Input: ranked gene list. Avoids an arbitrary DEG cutoff and asks whether predefined pathways shift toward one phenotype.</a:t>
            </a:r>
            <a:endParaRPr lang="en-US" sz="1230" dirty="0"/>
          </a:p>
        </p:txBody>
      </p:sp>
      <p:sp>
        <p:nvSpPr>
          <p:cNvPr id="16" name="Shape 12"/>
          <p:cNvSpPr/>
          <p:nvPr/>
        </p:nvSpPr>
        <p:spPr>
          <a:xfrm>
            <a:off x="6446520" y="4434840"/>
            <a:ext cx="5074920" cy="1234440"/>
          </a:xfrm>
          <a:prstGeom prst="roundRect">
            <a:avLst>
              <a:gd name="adj" fmla="val 4444"/>
            </a:avLst>
          </a:prstGeom>
          <a:solidFill>
            <a:srgbClr val="FFFFFF"/>
          </a:solidFill>
          <a:ln w="12700">
            <a:solidFill>
              <a:srgbClr val="DDE5EA"/>
            </a:solidFill>
            <a:prstDash val="solid"/>
          </a:ln>
        </p:spPr>
      </p:sp>
      <p:sp>
        <p:nvSpPr>
          <p:cNvPr id="17" name="Shape 13"/>
          <p:cNvSpPr/>
          <p:nvPr/>
        </p:nvSpPr>
        <p:spPr>
          <a:xfrm>
            <a:off x="6446520" y="4434840"/>
            <a:ext cx="73152" cy="1234440"/>
          </a:xfrm>
          <a:prstGeom prst="rect">
            <a:avLst/>
          </a:prstGeom>
          <a:solidFill>
            <a:srgbClr val="E76F51"/>
          </a:solidFill>
          <a:ln w="12700">
            <a:solidFill>
              <a:srgbClr val="E76F51"/>
            </a:solidFill>
            <a:prstDash val="solid"/>
          </a:ln>
        </p:spPr>
      </p:sp>
      <p:sp>
        <p:nvSpPr>
          <p:cNvPr id="18" name="Text 14"/>
          <p:cNvSpPr/>
          <p:nvPr/>
        </p:nvSpPr>
        <p:spPr>
          <a:xfrm>
            <a:off x="6647688" y="4590288"/>
            <a:ext cx="4727448" cy="274320"/>
          </a:xfrm>
          <a:prstGeom prst="rect">
            <a:avLst/>
          </a:prstGeom>
          <a:noFill/>
          <a:ln/>
        </p:spPr>
        <p:txBody>
          <a:bodyPr wrap="square" lIns="0" tIns="0" rIns="0" bIns="0" rtlCol="0" anchor="ctr"/>
          <a:lstStyle/>
          <a:p>
            <a:pPr indent="0" marL="0">
              <a:buNone/>
            </a:pPr>
            <a:r>
              <a:rPr lang="en-US" sz="1700" b="1" dirty="0">
                <a:solidFill>
                  <a:srgbClr val="17324A"/>
                </a:solidFill>
              </a:rPr>
              <a:t>GSVA / ssGSEA</a:t>
            </a:r>
            <a:endParaRPr lang="en-US" sz="1700" dirty="0"/>
          </a:p>
        </p:txBody>
      </p:sp>
      <p:sp>
        <p:nvSpPr>
          <p:cNvPr id="19" name="Text 15"/>
          <p:cNvSpPr/>
          <p:nvPr/>
        </p:nvSpPr>
        <p:spPr>
          <a:xfrm>
            <a:off x="6647688" y="4937760"/>
            <a:ext cx="4727448" cy="594360"/>
          </a:xfrm>
          <a:prstGeom prst="rect">
            <a:avLst/>
          </a:prstGeom>
          <a:noFill/>
          <a:ln/>
        </p:spPr>
        <p:txBody>
          <a:bodyPr wrap="square" lIns="254" tIns="254" rIns="254" bIns="254" rtlCol="0" anchor="t"/>
          <a:lstStyle/>
          <a:p>
            <a:pPr indent="0" marL="0">
              <a:buNone/>
            </a:pPr>
            <a:r>
              <a:rPr lang="en-US" sz="1230" dirty="0">
                <a:solidFill>
                  <a:srgbClr val="17232C"/>
                </a:solidFill>
              </a:rPr>
              <a:t>Input: expression matrix. Produces per-sample pathway scores that can be correlated with clinical or immune features.</a:t>
            </a:r>
            <a:endParaRPr lang="en-US" sz="1230" dirty="0"/>
          </a:p>
        </p:txBody>
      </p:sp>
      <p:sp>
        <p:nvSpPr>
          <p:cNvPr id="20" name="Text 16"/>
          <p:cNvSpPr/>
          <p:nvPr/>
        </p:nvSpPr>
        <p:spPr>
          <a:xfrm>
            <a:off x="822960" y="5440680"/>
            <a:ext cx="10424160" cy="365760"/>
          </a:xfrm>
          <a:prstGeom prst="rect">
            <a:avLst/>
          </a:prstGeom>
          <a:noFill/>
          <a:ln/>
        </p:spPr>
        <p:txBody>
          <a:bodyPr wrap="square" lIns="0" tIns="0" rIns="0" bIns="0" rtlCol="0" anchor="ctr"/>
          <a:lstStyle/>
          <a:p>
            <a:pPr algn="ctr" indent="0" marL="0">
              <a:buNone/>
            </a:pPr>
            <a:r>
              <a:rPr lang="en-US" sz="1650" b="1" dirty="0">
                <a:solidFill>
                  <a:srgbClr val="C83E4D"/>
                </a:solidFill>
              </a:rPr>
              <a:t>Interpretation rule: enrichment supports pathway association — it does not prove biochemical mechanism.</a:t>
            </a:r>
            <a:endParaRPr lang="en-US" sz="16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6 — Tumor immune microenvironment analysis</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Useful when the biological question is genuinely immune-related</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IMMUNE</a:t>
            </a:r>
            <a:endParaRPr lang="en-US" sz="950" dirty="0"/>
          </a:p>
        </p:txBody>
      </p:sp>
      <p:pic>
        <p:nvPicPr>
          <p:cNvPr id="7" name="Image 0" descr="/mnt/data/bioinfo_assets/immune.png">    </p:cNvPr>
          <p:cNvPicPr>
            <a:picLocks noChangeAspect="1"/>
          </p:cNvPicPr>
          <p:nvPr/>
        </p:nvPicPr>
        <p:blipFill>
          <a:blip r:embed="rId1"/>
          <a:stretch>
            <a:fillRect/>
          </a:stretch>
        </p:blipFill>
        <p:spPr>
          <a:xfrm>
            <a:off x="658368" y="1325880"/>
            <a:ext cx="5486400" cy="3520440"/>
          </a:xfrm>
          <a:prstGeom prst="rect">
            <a:avLst/>
          </a:prstGeom>
        </p:spPr>
      </p:pic>
      <p:sp>
        <p:nvSpPr>
          <p:cNvPr id="8" name="Shape 4"/>
          <p:cNvSpPr/>
          <p:nvPr/>
        </p:nvSpPr>
        <p:spPr>
          <a:xfrm>
            <a:off x="6446520" y="1325880"/>
            <a:ext cx="5029200" cy="1417320"/>
          </a:xfrm>
          <a:prstGeom prst="roundRect">
            <a:avLst>
              <a:gd name="adj" fmla="val 3871"/>
            </a:avLst>
          </a:prstGeom>
          <a:solidFill>
            <a:srgbClr val="FFFFFF"/>
          </a:solidFill>
          <a:ln w="12700">
            <a:solidFill>
              <a:srgbClr val="DDE5EA"/>
            </a:solidFill>
            <a:prstDash val="solid"/>
          </a:ln>
        </p:spPr>
      </p:sp>
      <p:sp>
        <p:nvSpPr>
          <p:cNvPr id="9" name="Shape 5"/>
          <p:cNvSpPr/>
          <p:nvPr/>
        </p:nvSpPr>
        <p:spPr>
          <a:xfrm>
            <a:off x="6446520" y="1325880"/>
            <a:ext cx="73152" cy="1417320"/>
          </a:xfrm>
          <a:prstGeom prst="rect">
            <a:avLst/>
          </a:prstGeom>
          <a:solidFill>
            <a:srgbClr val="2A9D8F"/>
          </a:solidFill>
          <a:ln w="12700">
            <a:solidFill>
              <a:srgbClr val="2A9D8F"/>
            </a:solidFill>
            <a:prstDash val="solid"/>
          </a:ln>
        </p:spPr>
      </p:sp>
      <p:sp>
        <p:nvSpPr>
          <p:cNvPr id="10" name="Text 6"/>
          <p:cNvSpPr/>
          <p:nvPr/>
        </p:nvSpPr>
        <p:spPr>
          <a:xfrm>
            <a:off x="6647688" y="1481328"/>
            <a:ext cx="4681728" cy="274320"/>
          </a:xfrm>
          <a:prstGeom prst="rect">
            <a:avLst/>
          </a:prstGeom>
          <a:noFill/>
          <a:ln/>
        </p:spPr>
        <p:txBody>
          <a:bodyPr wrap="square" lIns="0" tIns="0" rIns="0" bIns="0" rtlCol="0" anchor="ctr"/>
          <a:lstStyle/>
          <a:p>
            <a:pPr indent="0" marL="0">
              <a:buNone/>
            </a:pPr>
            <a:r>
              <a:rPr lang="en-US" sz="1700" b="1" dirty="0">
                <a:solidFill>
                  <a:srgbClr val="17324A"/>
                </a:solidFill>
              </a:rPr>
              <a:t>Common analyses</a:t>
            </a:r>
            <a:endParaRPr lang="en-US" sz="1700" dirty="0"/>
          </a:p>
        </p:txBody>
      </p:sp>
      <p:sp>
        <p:nvSpPr>
          <p:cNvPr id="11" name="Text 7"/>
          <p:cNvSpPr/>
          <p:nvPr/>
        </p:nvSpPr>
        <p:spPr>
          <a:xfrm>
            <a:off x="6647688" y="1828800"/>
            <a:ext cx="4681728" cy="777240"/>
          </a:xfrm>
          <a:prstGeom prst="rect">
            <a:avLst/>
          </a:prstGeom>
          <a:noFill/>
          <a:ln/>
        </p:spPr>
        <p:txBody>
          <a:bodyPr wrap="square" lIns="254" tIns="254" rIns="254" bIns="254" rtlCol="0" anchor="t"/>
          <a:lstStyle/>
          <a:p>
            <a:pPr indent="0" marL="0">
              <a:buNone/>
            </a:pPr>
            <a:r>
              <a:rPr lang="en-US" sz="1230" dirty="0">
                <a:solidFill>
                  <a:srgbClr val="17232C"/>
                </a:solidFill>
              </a:rPr>
              <a:t>Immune-cell abundance scores, stromal/immune scores, checkpoint genes, cytolytic activity, HLA-related genes, immune subtypes.</a:t>
            </a:r>
            <a:endParaRPr lang="en-US" sz="1230" dirty="0"/>
          </a:p>
        </p:txBody>
      </p:sp>
      <p:sp>
        <p:nvSpPr>
          <p:cNvPr id="12" name="Shape 8"/>
          <p:cNvSpPr/>
          <p:nvPr/>
        </p:nvSpPr>
        <p:spPr>
          <a:xfrm>
            <a:off x="6446520" y="2971800"/>
            <a:ext cx="5029200" cy="1417320"/>
          </a:xfrm>
          <a:prstGeom prst="roundRect">
            <a:avLst>
              <a:gd name="adj" fmla="val 3871"/>
            </a:avLst>
          </a:prstGeom>
          <a:solidFill>
            <a:srgbClr val="FFFFFF"/>
          </a:solidFill>
          <a:ln w="12700">
            <a:solidFill>
              <a:srgbClr val="DDE5EA"/>
            </a:solidFill>
            <a:prstDash val="solid"/>
          </a:ln>
        </p:spPr>
      </p:sp>
      <p:sp>
        <p:nvSpPr>
          <p:cNvPr id="13" name="Shape 9"/>
          <p:cNvSpPr/>
          <p:nvPr/>
        </p:nvSpPr>
        <p:spPr>
          <a:xfrm>
            <a:off x="6446520" y="2971800"/>
            <a:ext cx="73152" cy="1417320"/>
          </a:xfrm>
          <a:prstGeom prst="rect">
            <a:avLst/>
          </a:prstGeom>
          <a:solidFill>
            <a:srgbClr val="2D5B88"/>
          </a:solidFill>
          <a:ln w="12700">
            <a:solidFill>
              <a:srgbClr val="2D5B88"/>
            </a:solidFill>
            <a:prstDash val="solid"/>
          </a:ln>
        </p:spPr>
      </p:sp>
      <p:sp>
        <p:nvSpPr>
          <p:cNvPr id="14" name="Text 10"/>
          <p:cNvSpPr/>
          <p:nvPr/>
        </p:nvSpPr>
        <p:spPr>
          <a:xfrm>
            <a:off x="6647688" y="3127248"/>
            <a:ext cx="4681728" cy="274320"/>
          </a:xfrm>
          <a:prstGeom prst="rect">
            <a:avLst/>
          </a:prstGeom>
          <a:noFill/>
          <a:ln/>
        </p:spPr>
        <p:txBody>
          <a:bodyPr wrap="square" lIns="0" tIns="0" rIns="0" bIns="0" rtlCol="0" anchor="ctr"/>
          <a:lstStyle/>
          <a:p>
            <a:pPr indent="0" marL="0">
              <a:buNone/>
            </a:pPr>
            <a:r>
              <a:rPr lang="en-US" sz="1700" b="1" dirty="0">
                <a:solidFill>
                  <a:srgbClr val="17324A"/>
                </a:solidFill>
              </a:rPr>
              <a:t>Common tools</a:t>
            </a:r>
            <a:endParaRPr lang="en-US" sz="1700" dirty="0"/>
          </a:p>
        </p:txBody>
      </p:sp>
      <p:sp>
        <p:nvSpPr>
          <p:cNvPr id="15" name="Text 11"/>
          <p:cNvSpPr/>
          <p:nvPr/>
        </p:nvSpPr>
        <p:spPr>
          <a:xfrm>
            <a:off x="6647688" y="3474720"/>
            <a:ext cx="4681728" cy="777240"/>
          </a:xfrm>
          <a:prstGeom prst="rect">
            <a:avLst/>
          </a:prstGeom>
          <a:noFill/>
          <a:ln/>
        </p:spPr>
        <p:txBody>
          <a:bodyPr wrap="square" lIns="254" tIns="254" rIns="254" bIns="254" rtlCol="0" anchor="t"/>
          <a:lstStyle/>
          <a:p>
            <a:pPr indent="0" marL="0">
              <a:buNone/>
            </a:pPr>
            <a:r>
              <a:rPr lang="en-US" sz="1230" dirty="0">
                <a:solidFill>
                  <a:srgbClr val="17232C"/>
                </a:solidFill>
              </a:rPr>
              <a:t>TIMER/TIMER2, xCell, CIBERSORT-family methods, ESTIMATE, ssGSEA/GSVA, TISCH/single-cell portals for contextual validation.</a:t>
            </a:r>
            <a:endParaRPr lang="en-US" sz="1230" dirty="0"/>
          </a:p>
        </p:txBody>
      </p:sp>
      <p:sp>
        <p:nvSpPr>
          <p:cNvPr id="16" name="Shape 12"/>
          <p:cNvSpPr/>
          <p:nvPr/>
        </p:nvSpPr>
        <p:spPr>
          <a:xfrm>
            <a:off x="6446520" y="4617720"/>
            <a:ext cx="5029200" cy="960120"/>
          </a:xfrm>
          <a:prstGeom prst="roundRect">
            <a:avLst>
              <a:gd name="adj" fmla="val 5714"/>
            </a:avLst>
          </a:prstGeom>
          <a:solidFill>
            <a:srgbClr val="FFFFFF"/>
          </a:solidFill>
          <a:ln w="12700">
            <a:solidFill>
              <a:srgbClr val="DDE5EA"/>
            </a:solidFill>
            <a:prstDash val="solid"/>
          </a:ln>
        </p:spPr>
      </p:sp>
      <p:sp>
        <p:nvSpPr>
          <p:cNvPr id="17" name="Shape 13"/>
          <p:cNvSpPr/>
          <p:nvPr/>
        </p:nvSpPr>
        <p:spPr>
          <a:xfrm>
            <a:off x="6446520" y="4617720"/>
            <a:ext cx="73152" cy="960120"/>
          </a:xfrm>
          <a:prstGeom prst="rect">
            <a:avLst/>
          </a:prstGeom>
          <a:solidFill>
            <a:srgbClr val="C83E4D"/>
          </a:solidFill>
          <a:ln w="12700">
            <a:solidFill>
              <a:srgbClr val="C83E4D"/>
            </a:solidFill>
            <a:prstDash val="solid"/>
          </a:ln>
        </p:spPr>
      </p:sp>
      <p:sp>
        <p:nvSpPr>
          <p:cNvPr id="18" name="Text 14"/>
          <p:cNvSpPr/>
          <p:nvPr/>
        </p:nvSpPr>
        <p:spPr>
          <a:xfrm>
            <a:off x="6647688" y="4773168"/>
            <a:ext cx="4681728" cy="274320"/>
          </a:xfrm>
          <a:prstGeom prst="rect">
            <a:avLst/>
          </a:prstGeom>
          <a:noFill/>
          <a:ln/>
        </p:spPr>
        <p:txBody>
          <a:bodyPr wrap="square" lIns="0" tIns="0" rIns="0" bIns="0" rtlCol="0" anchor="ctr"/>
          <a:lstStyle/>
          <a:p>
            <a:pPr indent="0" marL="0">
              <a:buNone/>
            </a:pPr>
            <a:r>
              <a:rPr lang="en-US" sz="1700" b="1" dirty="0">
                <a:solidFill>
                  <a:srgbClr val="17324A"/>
                </a:solidFill>
              </a:rPr>
              <a:t>Reviewer concern</a:t>
            </a:r>
            <a:endParaRPr lang="en-US" sz="1700" dirty="0"/>
          </a:p>
        </p:txBody>
      </p:sp>
      <p:sp>
        <p:nvSpPr>
          <p:cNvPr id="19" name="Text 15"/>
          <p:cNvSpPr/>
          <p:nvPr/>
        </p:nvSpPr>
        <p:spPr>
          <a:xfrm>
            <a:off x="6647688" y="5120640"/>
            <a:ext cx="4681728" cy="320040"/>
          </a:xfrm>
          <a:prstGeom prst="rect">
            <a:avLst/>
          </a:prstGeom>
          <a:noFill/>
          <a:ln/>
        </p:spPr>
        <p:txBody>
          <a:bodyPr wrap="square" lIns="254" tIns="254" rIns="254" bIns="254" rtlCol="0" anchor="t"/>
          <a:lstStyle/>
          <a:p>
            <a:pPr indent="0" marL="0">
              <a:buNone/>
            </a:pPr>
            <a:r>
              <a:rPr lang="en-US" sz="1230" dirty="0">
                <a:solidFill>
                  <a:srgbClr val="17232C"/>
                </a:solidFill>
              </a:rPr>
              <a:t>Different deconvolution methods can disagree. Do not describe inferred cell abundance as direct histology.</a:t>
            </a:r>
            <a:endParaRPr lang="en-US" sz="1230" dirty="0"/>
          </a:p>
        </p:txBody>
      </p:sp>
      <p:sp>
        <p:nvSpPr>
          <p:cNvPr id="20" name="Text 16"/>
          <p:cNvSpPr/>
          <p:nvPr/>
        </p:nvSpPr>
        <p:spPr>
          <a:xfrm>
            <a:off x="731520" y="5175504"/>
            <a:ext cx="5394960" cy="228600"/>
          </a:xfrm>
          <a:prstGeom prst="rect">
            <a:avLst/>
          </a:prstGeom>
          <a:noFill/>
          <a:ln/>
        </p:spPr>
        <p:txBody>
          <a:bodyPr wrap="square" lIns="0" tIns="0" rIns="0" bIns="0" rtlCol="0" anchor="ctr"/>
          <a:lstStyle/>
          <a:p>
            <a:pPr indent="0" marL="0">
              <a:buNone/>
            </a:pPr>
            <a:r>
              <a:rPr lang="en-US" sz="950" i="1" dirty="0">
                <a:solidFill>
                  <a:srgbClr val="6B7280"/>
                </a:solidFill>
              </a:rPr>
              <a:t>Figure is synthetic and only illustrates a correlation matrix.</a:t>
            </a:r>
            <a:endParaRPr lang="en-US" sz="9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7 — Genomic alterations and multi-omics context</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Add this only when it sharpens the story</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GENOMICS</a:t>
            </a:r>
            <a:endParaRPr lang="en-US" sz="950" dirty="0"/>
          </a:p>
        </p:txBody>
      </p:sp>
      <p:pic>
        <p:nvPicPr>
          <p:cNvPr id="7" name="Image 0" descr="/mnt/data/bioinfo_assets/oncoprint.png">    </p:cNvPr>
          <p:cNvPicPr>
            <a:picLocks noChangeAspect="1"/>
          </p:cNvPicPr>
          <p:nvPr/>
        </p:nvPicPr>
        <p:blipFill>
          <a:blip r:embed="rId1"/>
          <a:stretch>
            <a:fillRect/>
          </a:stretch>
        </p:blipFill>
        <p:spPr>
          <a:xfrm>
            <a:off x="621792" y="1325880"/>
            <a:ext cx="5989320" cy="3291840"/>
          </a:xfrm>
          <a:prstGeom prst="rect">
            <a:avLst/>
          </a:prstGeom>
        </p:spPr>
      </p:pic>
      <p:sp>
        <p:nvSpPr>
          <p:cNvPr id="8" name="Shape 4"/>
          <p:cNvSpPr/>
          <p:nvPr/>
        </p:nvSpPr>
        <p:spPr>
          <a:xfrm>
            <a:off x="6858000" y="1325880"/>
            <a:ext cx="4572000" cy="1170432"/>
          </a:xfrm>
          <a:prstGeom prst="roundRect">
            <a:avLst>
              <a:gd name="adj" fmla="val 4688"/>
            </a:avLst>
          </a:prstGeom>
          <a:solidFill>
            <a:srgbClr val="FFFFFF"/>
          </a:solidFill>
          <a:ln w="12700">
            <a:solidFill>
              <a:srgbClr val="DDE5EA"/>
            </a:solidFill>
            <a:prstDash val="solid"/>
          </a:ln>
        </p:spPr>
      </p:sp>
      <p:sp>
        <p:nvSpPr>
          <p:cNvPr id="9" name="Shape 5"/>
          <p:cNvSpPr/>
          <p:nvPr/>
        </p:nvSpPr>
        <p:spPr>
          <a:xfrm>
            <a:off x="6858000" y="1325880"/>
            <a:ext cx="73152" cy="1170432"/>
          </a:xfrm>
          <a:prstGeom prst="rect">
            <a:avLst/>
          </a:prstGeom>
          <a:solidFill>
            <a:srgbClr val="E76F51"/>
          </a:solidFill>
          <a:ln w="12700">
            <a:solidFill>
              <a:srgbClr val="E76F51"/>
            </a:solidFill>
            <a:prstDash val="solid"/>
          </a:ln>
        </p:spPr>
      </p:sp>
      <p:sp>
        <p:nvSpPr>
          <p:cNvPr id="10" name="Text 6"/>
          <p:cNvSpPr/>
          <p:nvPr/>
        </p:nvSpPr>
        <p:spPr>
          <a:xfrm>
            <a:off x="7059168" y="1481328"/>
            <a:ext cx="4224528" cy="274320"/>
          </a:xfrm>
          <a:prstGeom prst="rect">
            <a:avLst/>
          </a:prstGeom>
          <a:noFill/>
          <a:ln/>
        </p:spPr>
        <p:txBody>
          <a:bodyPr wrap="square" lIns="0" tIns="0" rIns="0" bIns="0" rtlCol="0" anchor="ctr"/>
          <a:lstStyle/>
          <a:p>
            <a:pPr indent="0" marL="0">
              <a:buNone/>
            </a:pPr>
            <a:r>
              <a:rPr lang="en-US" sz="1700" b="1" dirty="0">
                <a:solidFill>
                  <a:srgbClr val="17324A"/>
                </a:solidFill>
              </a:rPr>
              <a:t>Mutation / TMB</a:t>
            </a:r>
            <a:endParaRPr lang="en-US" sz="1700" dirty="0"/>
          </a:p>
        </p:txBody>
      </p:sp>
      <p:sp>
        <p:nvSpPr>
          <p:cNvPr id="11" name="Text 7"/>
          <p:cNvSpPr/>
          <p:nvPr/>
        </p:nvSpPr>
        <p:spPr>
          <a:xfrm>
            <a:off x="7059168" y="1828800"/>
            <a:ext cx="4224528" cy="530352"/>
          </a:xfrm>
          <a:prstGeom prst="rect">
            <a:avLst/>
          </a:prstGeom>
          <a:noFill/>
          <a:ln/>
        </p:spPr>
        <p:txBody>
          <a:bodyPr wrap="square" lIns="254" tIns="254" rIns="254" bIns="254" rtlCol="0" anchor="t"/>
          <a:lstStyle/>
          <a:p>
            <a:pPr indent="0" marL="0">
              <a:buNone/>
            </a:pPr>
            <a:r>
              <a:rPr lang="en-US" sz="1230" dirty="0">
                <a:solidFill>
                  <a:srgbClr val="17232C"/>
                </a:solidFill>
              </a:rPr>
              <a:t>Use MAF data and maftools or cBioPortal to compare mutation frequencies, co-occurrence, or TMB-related patterns.</a:t>
            </a:r>
            <a:endParaRPr lang="en-US" sz="1230" dirty="0"/>
          </a:p>
        </p:txBody>
      </p:sp>
      <p:sp>
        <p:nvSpPr>
          <p:cNvPr id="12" name="Shape 8"/>
          <p:cNvSpPr/>
          <p:nvPr/>
        </p:nvSpPr>
        <p:spPr>
          <a:xfrm>
            <a:off x="6858000" y="2697480"/>
            <a:ext cx="4572000" cy="1170432"/>
          </a:xfrm>
          <a:prstGeom prst="roundRect">
            <a:avLst>
              <a:gd name="adj" fmla="val 4688"/>
            </a:avLst>
          </a:prstGeom>
          <a:solidFill>
            <a:srgbClr val="FFFFFF"/>
          </a:solidFill>
          <a:ln w="12700">
            <a:solidFill>
              <a:srgbClr val="DDE5EA"/>
            </a:solidFill>
            <a:prstDash val="solid"/>
          </a:ln>
        </p:spPr>
      </p:sp>
      <p:sp>
        <p:nvSpPr>
          <p:cNvPr id="13" name="Shape 9"/>
          <p:cNvSpPr/>
          <p:nvPr/>
        </p:nvSpPr>
        <p:spPr>
          <a:xfrm>
            <a:off x="6858000" y="2697480"/>
            <a:ext cx="73152" cy="1170432"/>
          </a:xfrm>
          <a:prstGeom prst="rect">
            <a:avLst/>
          </a:prstGeom>
          <a:solidFill>
            <a:srgbClr val="2D5B88"/>
          </a:solidFill>
          <a:ln w="12700">
            <a:solidFill>
              <a:srgbClr val="2D5B88"/>
            </a:solidFill>
            <a:prstDash val="solid"/>
          </a:ln>
        </p:spPr>
      </p:sp>
      <p:sp>
        <p:nvSpPr>
          <p:cNvPr id="14" name="Text 10"/>
          <p:cNvSpPr/>
          <p:nvPr/>
        </p:nvSpPr>
        <p:spPr>
          <a:xfrm>
            <a:off x="7059168" y="2852928"/>
            <a:ext cx="4224528" cy="274320"/>
          </a:xfrm>
          <a:prstGeom prst="rect">
            <a:avLst/>
          </a:prstGeom>
          <a:noFill/>
          <a:ln/>
        </p:spPr>
        <p:txBody>
          <a:bodyPr wrap="square" lIns="0" tIns="0" rIns="0" bIns="0" rtlCol="0" anchor="ctr"/>
          <a:lstStyle/>
          <a:p>
            <a:pPr indent="0" marL="0">
              <a:buNone/>
            </a:pPr>
            <a:r>
              <a:rPr lang="en-US" sz="1700" b="1" dirty="0">
                <a:solidFill>
                  <a:srgbClr val="17324A"/>
                </a:solidFill>
              </a:rPr>
              <a:t>Copy number / methylation</a:t>
            </a:r>
            <a:endParaRPr lang="en-US" sz="1700" dirty="0"/>
          </a:p>
        </p:txBody>
      </p:sp>
      <p:sp>
        <p:nvSpPr>
          <p:cNvPr id="15" name="Text 11"/>
          <p:cNvSpPr/>
          <p:nvPr/>
        </p:nvSpPr>
        <p:spPr>
          <a:xfrm>
            <a:off x="7059168" y="3200400"/>
            <a:ext cx="4224528" cy="530352"/>
          </a:xfrm>
          <a:prstGeom prst="rect">
            <a:avLst/>
          </a:prstGeom>
          <a:noFill/>
          <a:ln/>
        </p:spPr>
        <p:txBody>
          <a:bodyPr wrap="square" lIns="254" tIns="254" rIns="254" bIns="254" rtlCol="0" anchor="t"/>
          <a:lstStyle/>
          <a:p>
            <a:pPr indent="0" marL="0">
              <a:buNone/>
            </a:pPr>
            <a:r>
              <a:rPr lang="en-US" sz="1230" dirty="0">
                <a:solidFill>
                  <a:srgbClr val="17232C"/>
                </a:solidFill>
              </a:rPr>
              <a:t>Ask whether expression may be linked to amplification/deletion or promoter methylation.</a:t>
            </a:r>
            <a:endParaRPr lang="en-US" sz="1230" dirty="0"/>
          </a:p>
        </p:txBody>
      </p:sp>
      <p:sp>
        <p:nvSpPr>
          <p:cNvPr id="16" name="Shape 12"/>
          <p:cNvSpPr/>
          <p:nvPr/>
        </p:nvSpPr>
        <p:spPr>
          <a:xfrm>
            <a:off x="6858000" y="4069080"/>
            <a:ext cx="4572000" cy="1170432"/>
          </a:xfrm>
          <a:prstGeom prst="roundRect">
            <a:avLst>
              <a:gd name="adj" fmla="val 4688"/>
            </a:avLst>
          </a:prstGeom>
          <a:solidFill>
            <a:srgbClr val="FFFFFF"/>
          </a:solidFill>
          <a:ln w="12700">
            <a:solidFill>
              <a:srgbClr val="DDE5EA"/>
            </a:solidFill>
            <a:prstDash val="solid"/>
          </a:ln>
        </p:spPr>
      </p:sp>
      <p:sp>
        <p:nvSpPr>
          <p:cNvPr id="17" name="Shape 13"/>
          <p:cNvSpPr/>
          <p:nvPr/>
        </p:nvSpPr>
        <p:spPr>
          <a:xfrm>
            <a:off x="6858000" y="4069080"/>
            <a:ext cx="73152" cy="1170432"/>
          </a:xfrm>
          <a:prstGeom prst="rect">
            <a:avLst/>
          </a:prstGeom>
          <a:solidFill>
            <a:srgbClr val="2A9D8F"/>
          </a:solidFill>
          <a:ln w="12700">
            <a:solidFill>
              <a:srgbClr val="2A9D8F"/>
            </a:solidFill>
            <a:prstDash val="solid"/>
          </a:ln>
        </p:spPr>
      </p:sp>
      <p:sp>
        <p:nvSpPr>
          <p:cNvPr id="18" name="Text 14"/>
          <p:cNvSpPr/>
          <p:nvPr/>
        </p:nvSpPr>
        <p:spPr>
          <a:xfrm>
            <a:off x="7059168" y="4224528"/>
            <a:ext cx="4224528" cy="274320"/>
          </a:xfrm>
          <a:prstGeom prst="rect">
            <a:avLst/>
          </a:prstGeom>
          <a:noFill/>
          <a:ln/>
        </p:spPr>
        <p:txBody>
          <a:bodyPr wrap="square" lIns="0" tIns="0" rIns="0" bIns="0" rtlCol="0" anchor="ctr"/>
          <a:lstStyle/>
          <a:p>
            <a:pPr indent="0" marL="0">
              <a:buNone/>
            </a:pPr>
            <a:r>
              <a:rPr lang="en-US" sz="1700" b="1" dirty="0">
                <a:solidFill>
                  <a:srgbClr val="17324A"/>
                </a:solidFill>
              </a:rPr>
              <a:t>Protein / pathway confirmation</a:t>
            </a:r>
            <a:endParaRPr lang="en-US" sz="1700" dirty="0"/>
          </a:p>
        </p:txBody>
      </p:sp>
      <p:sp>
        <p:nvSpPr>
          <p:cNvPr id="19" name="Text 15"/>
          <p:cNvSpPr/>
          <p:nvPr/>
        </p:nvSpPr>
        <p:spPr>
          <a:xfrm>
            <a:off x="7059168" y="4572000"/>
            <a:ext cx="4224528" cy="530352"/>
          </a:xfrm>
          <a:prstGeom prst="rect">
            <a:avLst/>
          </a:prstGeom>
          <a:noFill/>
          <a:ln/>
        </p:spPr>
        <p:txBody>
          <a:bodyPr wrap="square" lIns="254" tIns="254" rIns="254" bIns="254" rtlCol="0" anchor="t"/>
          <a:lstStyle/>
          <a:p>
            <a:pPr indent="0" marL="0">
              <a:buNone/>
            </a:pPr>
            <a:r>
              <a:rPr lang="en-US" sz="1230" dirty="0">
                <a:solidFill>
                  <a:srgbClr val="17232C"/>
                </a:solidFill>
              </a:rPr>
              <a:t>Where available, CPTAC or RPPA can provide orthogonal evidence beyond transcript abundance.</a:t>
            </a:r>
            <a:endParaRPr lang="en-US" sz="1230" dirty="0"/>
          </a:p>
        </p:txBody>
      </p:sp>
      <p:sp>
        <p:nvSpPr>
          <p:cNvPr id="20" name="Text 16"/>
          <p:cNvSpPr/>
          <p:nvPr/>
        </p:nvSpPr>
        <p:spPr>
          <a:xfrm>
            <a:off x="731520" y="5285232"/>
            <a:ext cx="10652760" cy="384048"/>
          </a:xfrm>
          <a:prstGeom prst="rect">
            <a:avLst/>
          </a:prstGeom>
          <a:noFill/>
          <a:ln/>
        </p:spPr>
        <p:txBody>
          <a:bodyPr wrap="square" lIns="0" tIns="0" rIns="0" bIns="0" rtlCol="0" anchor="ctr"/>
          <a:lstStyle/>
          <a:p>
            <a:pPr algn="ctr" indent="0" marL="0">
              <a:buNone/>
            </a:pPr>
            <a:r>
              <a:rPr lang="en-US" sz="1700" b="1" dirty="0">
                <a:solidFill>
                  <a:srgbClr val="C83E4D"/>
                </a:solidFill>
              </a:rPr>
              <a:t>Avoid “multi-omics” as a label if the analyses are merely decorative correlations.</a:t>
            </a:r>
            <a:endParaRPr lang="en-US" sz="17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8 — Networks and hub genes</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Useful for prioritization, not automatic proof of importance</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NETWORK</a:t>
            </a:r>
            <a:endParaRPr lang="en-US" sz="950" dirty="0"/>
          </a:p>
        </p:txBody>
      </p:sp>
      <p:sp>
        <p:nvSpPr>
          <p:cNvPr id="7" name="Shape 4"/>
          <p:cNvSpPr/>
          <p:nvPr/>
        </p:nvSpPr>
        <p:spPr>
          <a:xfrm>
            <a:off x="2514600" y="2487168"/>
            <a:ext cx="3044952" cy="91440"/>
          </a:xfrm>
          <a:prstGeom prst="line">
            <a:avLst/>
          </a:prstGeom>
          <a:noFill/>
          <a:ln w="21590">
            <a:solidFill>
              <a:srgbClr val="AAB4BE"/>
            </a:solidFill>
            <a:prstDash val="solid"/>
            <a:headEnd type="none"/>
            <a:tailEnd type="triangle"/>
          </a:ln>
        </p:spPr>
      </p:sp>
      <p:sp>
        <p:nvSpPr>
          <p:cNvPr id="8" name="Shape 5"/>
          <p:cNvSpPr/>
          <p:nvPr/>
        </p:nvSpPr>
        <p:spPr>
          <a:xfrm>
            <a:off x="4160520" y="1847088"/>
            <a:ext cx="1399032" cy="731520"/>
          </a:xfrm>
          <a:prstGeom prst="line">
            <a:avLst/>
          </a:prstGeom>
          <a:noFill/>
          <a:ln w="21590">
            <a:solidFill>
              <a:srgbClr val="AAB4BE"/>
            </a:solidFill>
            <a:prstDash val="solid"/>
            <a:headEnd type="none"/>
            <a:tailEnd type="triangle"/>
          </a:ln>
        </p:spPr>
      </p:sp>
      <p:sp>
        <p:nvSpPr>
          <p:cNvPr id="9" name="Shape 6"/>
          <p:cNvSpPr/>
          <p:nvPr/>
        </p:nvSpPr>
        <p:spPr>
          <a:xfrm>
            <a:off x="4251960" y="3310128"/>
            <a:ext cx="1307592" cy="-731520"/>
          </a:xfrm>
          <a:prstGeom prst="line">
            <a:avLst/>
          </a:prstGeom>
          <a:noFill/>
          <a:ln w="21590">
            <a:solidFill>
              <a:srgbClr val="AAB4BE"/>
            </a:solidFill>
            <a:prstDash val="solid"/>
            <a:headEnd type="none"/>
            <a:tailEnd type="triangle"/>
          </a:ln>
        </p:spPr>
      </p:sp>
      <p:sp>
        <p:nvSpPr>
          <p:cNvPr id="10" name="Shape 7"/>
          <p:cNvSpPr/>
          <p:nvPr/>
        </p:nvSpPr>
        <p:spPr>
          <a:xfrm>
            <a:off x="7543800" y="1847088"/>
            <a:ext cx="-1984248" cy="731520"/>
          </a:xfrm>
          <a:prstGeom prst="line">
            <a:avLst/>
          </a:prstGeom>
          <a:noFill/>
          <a:ln w="21590">
            <a:solidFill>
              <a:srgbClr val="AAB4BE"/>
            </a:solidFill>
            <a:prstDash val="solid"/>
            <a:headEnd type="none"/>
            <a:tailEnd type="triangle"/>
          </a:ln>
        </p:spPr>
      </p:sp>
      <p:sp>
        <p:nvSpPr>
          <p:cNvPr id="11" name="Shape 8"/>
          <p:cNvSpPr/>
          <p:nvPr/>
        </p:nvSpPr>
        <p:spPr>
          <a:xfrm>
            <a:off x="7635240" y="3310128"/>
            <a:ext cx="-2075688" cy="-731520"/>
          </a:xfrm>
          <a:prstGeom prst="line">
            <a:avLst/>
          </a:prstGeom>
          <a:noFill/>
          <a:ln w="21590">
            <a:solidFill>
              <a:srgbClr val="AAB4BE"/>
            </a:solidFill>
            <a:prstDash val="solid"/>
            <a:headEnd type="none"/>
            <a:tailEnd type="triangle"/>
          </a:ln>
        </p:spPr>
      </p:sp>
      <p:sp>
        <p:nvSpPr>
          <p:cNvPr id="12" name="Shape 9"/>
          <p:cNvSpPr/>
          <p:nvPr/>
        </p:nvSpPr>
        <p:spPr>
          <a:xfrm>
            <a:off x="2011680" y="2194560"/>
            <a:ext cx="1051560" cy="621792"/>
          </a:xfrm>
          <a:prstGeom prst="ellipse">
            <a:avLst/>
          </a:prstGeom>
          <a:solidFill>
            <a:srgbClr val="2A9D8F"/>
          </a:solidFill>
          <a:ln w="12700">
            <a:solidFill>
              <a:srgbClr val="2A9D8F"/>
            </a:solidFill>
            <a:prstDash val="solid"/>
          </a:ln>
        </p:spPr>
      </p:sp>
      <p:sp>
        <p:nvSpPr>
          <p:cNvPr id="13" name="Text 10"/>
          <p:cNvSpPr/>
          <p:nvPr/>
        </p:nvSpPr>
        <p:spPr>
          <a:xfrm>
            <a:off x="2084832" y="240487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Gene A</a:t>
            </a:r>
            <a:endParaRPr lang="en-US" sz="1080" dirty="0"/>
          </a:p>
        </p:txBody>
      </p:sp>
      <p:sp>
        <p:nvSpPr>
          <p:cNvPr id="14" name="Shape 11"/>
          <p:cNvSpPr/>
          <p:nvPr/>
        </p:nvSpPr>
        <p:spPr>
          <a:xfrm>
            <a:off x="3657600" y="1554480"/>
            <a:ext cx="1051560" cy="621792"/>
          </a:xfrm>
          <a:prstGeom prst="ellipse">
            <a:avLst/>
          </a:prstGeom>
          <a:solidFill>
            <a:srgbClr val="2D5B88"/>
          </a:solidFill>
          <a:ln w="12700">
            <a:solidFill>
              <a:srgbClr val="2D5B88"/>
            </a:solidFill>
            <a:prstDash val="solid"/>
          </a:ln>
        </p:spPr>
      </p:sp>
      <p:sp>
        <p:nvSpPr>
          <p:cNvPr id="15" name="Text 12"/>
          <p:cNvSpPr/>
          <p:nvPr/>
        </p:nvSpPr>
        <p:spPr>
          <a:xfrm>
            <a:off x="3730752" y="176479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Gene B</a:t>
            </a:r>
            <a:endParaRPr lang="en-US" sz="1080" dirty="0"/>
          </a:p>
        </p:txBody>
      </p:sp>
      <p:sp>
        <p:nvSpPr>
          <p:cNvPr id="16" name="Shape 13"/>
          <p:cNvSpPr/>
          <p:nvPr/>
        </p:nvSpPr>
        <p:spPr>
          <a:xfrm>
            <a:off x="3749040" y="3017520"/>
            <a:ext cx="1051560" cy="621792"/>
          </a:xfrm>
          <a:prstGeom prst="ellipse">
            <a:avLst/>
          </a:prstGeom>
          <a:solidFill>
            <a:srgbClr val="E76F51"/>
          </a:solidFill>
          <a:ln w="12700">
            <a:solidFill>
              <a:srgbClr val="E76F51"/>
            </a:solidFill>
            <a:prstDash val="solid"/>
          </a:ln>
        </p:spPr>
      </p:sp>
      <p:sp>
        <p:nvSpPr>
          <p:cNvPr id="17" name="Text 14"/>
          <p:cNvSpPr/>
          <p:nvPr/>
        </p:nvSpPr>
        <p:spPr>
          <a:xfrm>
            <a:off x="3822192" y="322783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Gene C</a:t>
            </a:r>
            <a:endParaRPr lang="en-US" sz="1080" dirty="0"/>
          </a:p>
        </p:txBody>
      </p:sp>
      <p:sp>
        <p:nvSpPr>
          <p:cNvPr id="18" name="Shape 15"/>
          <p:cNvSpPr/>
          <p:nvPr/>
        </p:nvSpPr>
        <p:spPr>
          <a:xfrm>
            <a:off x="5394960" y="2286000"/>
            <a:ext cx="1051560" cy="621792"/>
          </a:xfrm>
          <a:prstGeom prst="ellipse">
            <a:avLst/>
          </a:prstGeom>
          <a:solidFill>
            <a:srgbClr val="C83E4D"/>
          </a:solidFill>
          <a:ln w="12700">
            <a:solidFill>
              <a:srgbClr val="C83E4D"/>
            </a:solidFill>
            <a:prstDash val="solid"/>
          </a:ln>
        </p:spPr>
      </p:sp>
      <p:sp>
        <p:nvSpPr>
          <p:cNvPr id="19" name="Text 16"/>
          <p:cNvSpPr/>
          <p:nvPr/>
        </p:nvSpPr>
        <p:spPr>
          <a:xfrm>
            <a:off x="5468112" y="249631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Hub</a:t>
            </a:r>
            <a:endParaRPr lang="en-US" sz="1080" dirty="0"/>
          </a:p>
        </p:txBody>
      </p:sp>
      <p:sp>
        <p:nvSpPr>
          <p:cNvPr id="20" name="Shape 17"/>
          <p:cNvSpPr/>
          <p:nvPr/>
        </p:nvSpPr>
        <p:spPr>
          <a:xfrm>
            <a:off x="7040880" y="1554480"/>
            <a:ext cx="1051560" cy="621792"/>
          </a:xfrm>
          <a:prstGeom prst="ellipse">
            <a:avLst/>
          </a:prstGeom>
          <a:solidFill>
            <a:srgbClr val="2D5B88"/>
          </a:solidFill>
          <a:ln w="12700">
            <a:solidFill>
              <a:srgbClr val="2D5B88"/>
            </a:solidFill>
            <a:prstDash val="solid"/>
          </a:ln>
        </p:spPr>
      </p:sp>
      <p:sp>
        <p:nvSpPr>
          <p:cNvPr id="21" name="Text 18"/>
          <p:cNvSpPr/>
          <p:nvPr/>
        </p:nvSpPr>
        <p:spPr>
          <a:xfrm>
            <a:off x="7114032" y="176479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Gene D</a:t>
            </a:r>
            <a:endParaRPr lang="en-US" sz="1080" dirty="0"/>
          </a:p>
        </p:txBody>
      </p:sp>
      <p:sp>
        <p:nvSpPr>
          <p:cNvPr id="22" name="Shape 19"/>
          <p:cNvSpPr/>
          <p:nvPr/>
        </p:nvSpPr>
        <p:spPr>
          <a:xfrm>
            <a:off x="7132320" y="3017520"/>
            <a:ext cx="1051560" cy="621792"/>
          </a:xfrm>
          <a:prstGeom prst="ellipse">
            <a:avLst/>
          </a:prstGeom>
          <a:solidFill>
            <a:srgbClr val="2A9D8F"/>
          </a:solidFill>
          <a:ln w="12700">
            <a:solidFill>
              <a:srgbClr val="2A9D8F"/>
            </a:solidFill>
            <a:prstDash val="solid"/>
          </a:ln>
        </p:spPr>
      </p:sp>
      <p:sp>
        <p:nvSpPr>
          <p:cNvPr id="23" name="Text 20"/>
          <p:cNvSpPr/>
          <p:nvPr/>
        </p:nvSpPr>
        <p:spPr>
          <a:xfrm>
            <a:off x="7205472" y="3227832"/>
            <a:ext cx="905256" cy="146304"/>
          </a:xfrm>
          <a:prstGeom prst="rect">
            <a:avLst/>
          </a:prstGeom>
          <a:noFill/>
          <a:ln/>
        </p:spPr>
        <p:txBody>
          <a:bodyPr wrap="square" lIns="0" tIns="0" rIns="0" bIns="0" rtlCol="0" anchor="ctr"/>
          <a:lstStyle/>
          <a:p>
            <a:pPr algn="ctr" indent="0" marL="0">
              <a:buNone/>
            </a:pPr>
            <a:r>
              <a:rPr lang="en-US" sz="1080" b="1" dirty="0">
                <a:solidFill>
                  <a:srgbClr val="FFFFFF"/>
                </a:solidFill>
              </a:rPr>
              <a:t>Gene E</a:t>
            </a:r>
            <a:endParaRPr lang="en-US" sz="1080" dirty="0"/>
          </a:p>
        </p:txBody>
      </p:sp>
      <p:sp>
        <p:nvSpPr>
          <p:cNvPr id="24" name="Shape 21"/>
          <p:cNvSpPr/>
          <p:nvPr/>
        </p:nvSpPr>
        <p:spPr>
          <a:xfrm>
            <a:off x="8321040" y="1417320"/>
            <a:ext cx="3200400" cy="1417320"/>
          </a:xfrm>
          <a:prstGeom prst="roundRect">
            <a:avLst>
              <a:gd name="adj" fmla="val 3871"/>
            </a:avLst>
          </a:prstGeom>
          <a:solidFill>
            <a:srgbClr val="FFFFFF"/>
          </a:solidFill>
          <a:ln w="12700">
            <a:solidFill>
              <a:srgbClr val="DDE5EA"/>
            </a:solidFill>
            <a:prstDash val="solid"/>
          </a:ln>
        </p:spPr>
      </p:sp>
      <p:sp>
        <p:nvSpPr>
          <p:cNvPr id="25" name="Shape 22"/>
          <p:cNvSpPr/>
          <p:nvPr/>
        </p:nvSpPr>
        <p:spPr>
          <a:xfrm>
            <a:off x="8321040" y="1417320"/>
            <a:ext cx="73152" cy="1417320"/>
          </a:xfrm>
          <a:prstGeom prst="rect">
            <a:avLst/>
          </a:prstGeom>
          <a:solidFill>
            <a:srgbClr val="E76F51"/>
          </a:solidFill>
          <a:ln w="12700">
            <a:solidFill>
              <a:srgbClr val="E76F51"/>
            </a:solidFill>
            <a:prstDash val="solid"/>
          </a:ln>
        </p:spPr>
      </p:sp>
      <p:sp>
        <p:nvSpPr>
          <p:cNvPr id="26" name="Text 23"/>
          <p:cNvSpPr/>
          <p:nvPr/>
        </p:nvSpPr>
        <p:spPr>
          <a:xfrm>
            <a:off x="8522208" y="1572768"/>
            <a:ext cx="2852928" cy="274320"/>
          </a:xfrm>
          <a:prstGeom prst="rect">
            <a:avLst/>
          </a:prstGeom>
          <a:noFill/>
          <a:ln/>
        </p:spPr>
        <p:txBody>
          <a:bodyPr wrap="square" lIns="0" tIns="0" rIns="0" bIns="0" rtlCol="0" anchor="ctr"/>
          <a:lstStyle/>
          <a:p>
            <a:pPr indent="0" marL="0">
              <a:buNone/>
            </a:pPr>
            <a:r>
              <a:rPr lang="en-US" sz="1700" b="1" dirty="0">
                <a:solidFill>
                  <a:srgbClr val="17324A"/>
                </a:solidFill>
              </a:rPr>
              <a:t>STRING / PPI</a:t>
            </a:r>
            <a:endParaRPr lang="en-US" sz="1700" dirty="0"/>
          </a:p>
        </p:txBody>
      </p:sp>
      <p:sp>
        <p:nvSpPr>
          <p:cNvPr id="27" name="Text 24"/>
          <p:cNvSpPr/>
          <p:nvPr/>
        </p:nvSpPr>
        <p:spPr>
          <a:xfrm>
            <a:off x="8522208" y="1920240"/>
            <a:ext cx="2852928" cy="777240"/>
          </a:xfrm>
          <a:prstGeom prst="rect">
            <a:avLst/>
          </a:prstGeom>
          <a:noFill/>
          <a:ln/>
        </p:spPr>
        <p:txBody>
          <a:bodyPr wrap="square" lIns="254" tIns="254" rIns="254" bIns="254" rtlCol="0" anchor="t"/>
          <a:lstStyle/>
          <a:p>
            <a:pPr indent="0" marL="0">
              <a:buNone/>
            </a:pPr>
            <a:r>
              <a:rPr lang="en-US" sz="1230" dirty="0">
                <a:solidFill>
                  <a:srgbClr val="17232C"/>
                </a:solidFill>
              </a:rPr>
              <a:t>Prioritize proteins with known/predicted functional associations. Network centrality is hypothesis-generating.</a:t>
            </a:r>
            <a:endParaRPr lang="en-US" sz="1230" dirty="0"/>
          </a:p>
        </p:txBody>
      </p:sp>
      <p:sp>
        <p:nvSpPr>
          <p:cNvPr id="28" name="Shape 25"/>
          <p:cNvSpPr/>
          <p:nvPr/>
        </p:nvSpPr>
        <p:spPr>
          <a:xfrm>
            <a:off x="8321040" y="3063240"/>
            <a:ext cx="3200400" cy="1417320"/>
          </a:xfrm>
          <a:prstGeom prst="roundRect">
            <a:avLst>
              <a:gd name="adj" fmla="val 3871"/>
            </a:avLst>
          </a:prstGeom>
          <a:solidFill>
            <a:srgbClr val="FFFFFF"/>
          </a:solidFill>
          <a:ln w="12700">
            <a:solidFill>
              <a:srgbClr val="DDE5EA"/>
            </a:solidFill>
            <a:prstDash val="solid"/>
          </a:ln>
        </p:spPr>
      </p:sp>
      <p:sp>
        <p:nvSpPr>
          <p:cNvPr id="29" name="Shape 26"/>
          <p:cNvSpPr/>
          <p:nvPr/>
        </p:nvSpPr>
        <p:spPr>
          <a:xfrm>
            <a:off x="8321040" y="3063240"/>
            <a:ext cx="73152" cy="1417320"/>
          </a:xfrm>
          <a:prstGeom prst="rect">
            <a:avLst/>
          </a:prstGeom>
          <a:solidFill>
            <a:srgbClr val="2D5B88"/>
          </a:solidFill>
          <a:ln w="12700">
            <a:solidFill>
              <a:srgbClr val="2D5B88"/>
            </a:solidFill>
            <a:prstDash val="solid"/>
          </a:ln>
        </p:spPr>
      </p:sp>
      <p:sp>
        <p:nvSpPr>
          <p:cNvPr id="30" name="Text 27"/>
          <p:cNvSpPr/>
          <p:nvPr/>
        </p:nvSpPr>
        <p:spPr>
          <a:xfrm>
            <a:off x="8522208" y="3218688"/>
            <a:ext cx="2852928" cy="274320"/>
          </a:xfrm>
          <a:prstGeom prst="rect">
            <a:avLst/>
          </a:prstGeom>
          <a:noFill/>
          <a:ln/>
        </p:spPr>
        <p:txBody>
          <a:bodyPr wrap="square" lIns="0" tIns="0" rIns="0" bIns="0" rtlCol="0" anchor="ctr"/>
          <a:lstStyle/>
          <a:p>
            <a:pPr indent="0" marL="0">
              <a:buNone/>
            </a:pPr>
            <a:r>
              <a:rPr lang="en-US" sz="1700" b="1" dirty="0">
                <a:solidFill>
                  <a:srgbClr val="17324A"/>
                </a:solidFill>
              </a:rPr>
              <a:t>WGCNA</a:t>
            </a:r>
            <a:endParaRPr lang="en-US" sz="1700" dirty="0"/>
          </a:p>
        </p:txBody>
      </p:sp>
      <p:sp>
        <p:nvSpPr>
          <p:cNvPr id="31" name="Text 28"/>
          <p:cNvSpPr/>
          <p:nvPr/>
        </p:nvSpPr>
        <p:spPr>
          <a:xfrm>
            <a:off x="8522208" y="3566160"/>
            <a:ext cx="2852928" cy="777240"/>
          </a:xfrm>
          <a:prstGeom prst="rect">
            <a:avLst/>
          </a:prstGeom>
          <a:noFill/>
          <a:ln/>
        </p:spPr>
        <p:txBody>
          <a:bodyPr wrap="square" lIns="254" tIns="254" rIns="254" bIns="254" rtlCol="0" anchor="t"/>
          <a:lstStyle/>
          <a:p>
            <a:pPr indent="0" marL="0">
              <a:buNone/>
            </a:pPr>
            <a:r>
              <a:rPr lang="en-US" sz="1230" dirty="0">
                <a:solidFill>
                  <a:srgbClr val="17232C"/>
                </a:solidFill>
              </a:rPr>
              <a:t>Find co-expression modules associated with phenotype; suitable for moderate sample sizes and careful QC.</a:t>
            </a:r>
            <a:endParaRPr lang="en-US" sz="1230" dirty="0"/>
          </a:p>
        </p:txBody>
      </p:sp>
      <p:sp>
        <p:nvSpPr>
          <p:cNvPr id="32" name="Shape 29"/>
          <p:cNvSpPr/>
          <p:nvPr/>
        </p:nvSpPr>
        <p:spPr>
          <a:xfrm>
            <a:off x="8321040" y="4709160"/>
            <a:ext cx="3200400" cy="960120"/>
          </a:xfrm>
          <a:prstGeom prst="roundRect">
            <a:avLst>
              <a:gd name="adj" fmla="val 5714"/>
            </a:avLst>
          </a:prstGeom>
          <a:solidFill>
            <a:srgbClr val="FFFFFF"/>
          </a:solidFill>
          <a:ln w="12700">
            <a:solidFill>
              <a:srgbClr val="DDE5EA"/>
            </a:solidFill>
            <a:prstDash val="solid"/>
          </a:ln>
        </p:spPr>
      </p:sp>
      <p:sp>
        <p:nvSpPr>
          <p:cNvPr id="33" name="Shape 30"/>
          <p:cNvSpPr/>
          <p:nvPr/>
        </p:nvSpPr>
        <p:spPr>
          <a:xfrm>
            <a:off x="8321040" y="4709160"/>
            <a:ext cx="73152" cy="960120"/>
          </a:xfrm>
          <a:prstGeom prst="rect">
            <a:avLst/>
          </a:prstGeom>
          <a:solidFill>
            <a:srgbClr val="C83E4D"/>
          </a:solidFill>
          <a:ln w="12700">
            <a:solidFill>
              <a:srgbClr val="C83E4D"/>
            </a:solidFill>
            <a:prstDash val="solid"/>
          </a:ln>
        </p:spPr>
      </p:sp>
      <p:sp>
        <p:nvSpPr>
          <p:cNvPr id="34" name="Text 31"/>
          <p:cNvSpPr/>
          <p:nvPr/>
        </p:nvSpPr>
        <p:spPr>
          <a:xfrm>
            <a:off x="8522208" y="4864608"/>
            <a:ext cx="2852928" cy="274320"/>
          </a:xfrm>
          <a:prstGeom prst="rect">
            <a:avLst/>
          </a:prstGeom>
          <a:noFill/>
          <a:ln/>
        </p:spPr>
        <p:txBody>
          <a:bodyPr wrap="square" lIns="0" tIns="0" rIns="0" bIns="0" rtlCol="0" anchor="ctr"/>
          <a:lstStyle/>
          <a:p>
            <a:pPr indent="0" marL="0">
              <a:buNone/>
            </a:pPr>
            <a:r>
              <a:rPr lang="en-US" sz="1700" b="1" dirty="0">
                <a:solidFill>
                  <a:srgbClr val="17324A"/>
                </a:solidFill>
              </a:rPr>
              <a:t>Key warning</a:t>
            </a:r>
            <a:endParaRPr lang="en-US" sz="1700" dirty="0"/>
          </a:p>
        </p:txBody>
      </p:sp>
      <p:sp>
        <p:nvSpPr>
          <p:cNvPr id="35" name="Text 32"/>
          <p:cNvSpPr/>
          <p:nvPr/>
        </p:nvSpPr>
        <p:spPr>
          <a:xfrm>
            <a:off x="8522208" y="5212080"/>
            <a:ext cx="2852928" cy="320040"/>
          </a:xfrm>
          <a:prstGeom prst="rect">
            <a:avLst/>
          </a:prstGeom>
          <a:noFill/>
          <a:ln/>
        </p:spPr>
        <p:txBody>
          <a:bodyPr wrap="square" lIns="254" tIns="254" rIns="254" bIns="254" rtlCol="0" anchor="t"/>
          <a:lstStyle/>
          <a:p>
            <a:pPr indent="0" marL="0">
              <a:buNone/>
            </a:pPr>
            <a:r>
              <a:rPr lang="en-US" sz="1230" dirty="0">
                <a:solidFill>
                  <a:srgbClr val="17232C"/>
                </a:solidFill>
              </a:rPr>
              <a:t>“Hub gene” ≠ causal driver. Validate with independent evidence.</a:t>
            </a:r>
            <a:endParaRPr lang="en-US" sz="1230" dirty="0"/>
          </a:p>
        </p:txBody>
      </p:sp>
      <p:sp>
        <p:nvSpPr>
          <p:cNvPr id="36" name="Text 33"/>
          <p:cNvSpPr/>
          <p:nvPr/>
        </p:nvSpPr>
        <p:spPr>
          <a:xfrm>
            <a:off x="914400" y="4919472"/>
            <a:ext cx="6949440" cy="594360"/>
          </a:xfrm>
          <a:prstGeom prst="rect">
            <a:avLst/>
          </a:prstGeom>
          <a:noFill/>
          <a:ln/>
        </p:spPr>
        <p:txBody>
          <a:bodyPr wrap="square" lIns="0" tIns="0" rIns="0" bIns="0" rtlCol="0" anchor="ctr"/>
          <a:lstStyle/>
          <a:p>
            <a:pPr algn="ctr" indent="0" marL="0">
              <a:buNone/>
            </a:pPr>
            <a:r>
              <a:rPr lang="en-US" sz="1600" b="1" dirty="0">
                <a:solidFill>
                  <a:srgbClr val="17324A"/>
                </a:solidFill>
              </a:rPr>
              <a:t>Typical route: DEG/WGCNA module → PPI → candidate hub genes → clinical + external validation</a:t>
            </a:r>
            <a:endParaRPr lang="en-US" sz="16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9 — Prognostic signatures and machine learning</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The main challenge is overfitting, not software</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MODELING</a:t>
            </a:r>
            <a:endParaRPr lang="en-US" sz="950" dirty="0"/>
          </a:p>
        </p:txBody>
      </p:sp>
      <p:sp>
        <p:nvSpPr>
          <p:cNvPr id="7" name="Shape 4"/>
          <p:cNvSpPr/>
          <p:nvPr/>
        </p:nvSpPr>
        <p:spPr>
          <a:xfrm>
            <a:off x="731520" y="1463040"/>
            <a:ext cx="2057400" cy="320040"/>
          </a:xfrm>
          <a:prstGeom prst="roundRect">
            <a:avLst>
              <a:gd name="adj" fmla="val 22857"/>
            </a:avLst>
          </a:prstGeom>
          <a:solidFill>
            <a:srgbClr val="2D5B88"/>
          </a:solidFill>
          <a:ln w="12700">
            <a:solidFill>
              <a:srgbClr val="2D5B88"/>
            </a:solidFill>
            <a:prstDash val="solid"/>
          </a:ln>
        </p:spPr>
      </p:sp>
      <p:sp>
        <p:nvSpPr>
          <p:cNvPr id="8" name="Text 5"/>
          <p:cNvSpPr/>
          <p:nvPr/>
        </p:nvSpPr>
        <p:spPr>
          <a:xfrm>
            <a:off x="777240" y="1531620"/>
            <a:ext cx="1965960" cy="155448"/>
          </a:xfrm>
          <a:prstGeom prst="rect">
            <a:avLst/>
          </a:prstGeom>
          <a:noFill/>
          <a:ln/>
        </p:spPr>
        <p:txBody>
          <a:bodyPr wrap="square" lIns="0" tIns="0" rIns="0" bIns="0" rtlCol="0" anchor="ctr"/>
          <a:lstStyle/>
          <a:p>
            <a:pPr algn="ctr" indent="0" marL="0">
              <a:buNone/>
            </a:pPr>
            <a:r>
              <a:rPr lang="en-US" sz="1050" b="1" dirty="0">
                <a:solidFill>
                  <a:srgbClr val="FFFFFF"/>
                </a:solidFill>
              </a:rPr>
              <a:t>Discovery cohort</a:t>
            </a:r>
            <a:endParaRPr lang="en-US" sz="1050" dirty="0"/>
          </a:p>
        </p:txBody>
      </p:sp>
      <p:sp>
        <p:nvSpPr>
          <p:cNvPr id="9" name="Shape 6"/>
          <p:cNvSpPr/>
          <p:nvPr/>
        </p:nvSpPr>
        <p:spPr>
          <a:xfrm>
            <a:off x="5074920" y="1463040"/>
            <a:ext cx="2057400" cy="320040"/>
          </a:xfrm>
          <a:prstGeom prst="roundRect">
            <a:avLst>
              <a:gd name="adj" fmla="val 22857"/>
            </a:avLst>
          </a:prstGeom>
          <a:solidFill>
            <a:srgbClr val="2A9D8F"/>
          </a:solidFill>
          <a:ln w="12700">
            <a:solidFill>
              <a:srgbClr val="2A9D8F"/>
            </a:solidFill>
            <a:prstDash val="solid"/>
          </a:ln>
        </p:spPr>
      </p:sp>
      <p:sp>
        <p:nvSpPr>
          <p:cNvPr id="10" name="Text 7"/>
          <p:cNvSpPr/>
          <p:nvPr/>
        </p:nvSpPr>
        <p:spPr>
          <a:xfrm>
            <a:off x="5120640" y="1531620"/>
            <a:ext cx="1965960" cy="155448"/>
          </a:xfrm>
          <a:prstGeom prst="rect">
            <a:avLst/>
          </a:prstGeom>
          <a:noFill/>
          <a:ln/>
        </p:spPr>
        <p:txBody>
          <a:bodyPr wrap="square" lIns="0" tIns="0" rIns="0" bIns="0" rtlCol="0" anchor="ctr"/>
          <a:lstStyle/>
          <a:p>
            <a:pPr algn="ctr" indent="0" marL="0">
              <a:buNone/>
            </a:pPr>
            <a:r>
              <a:rPr lang="en-US" sz="1050" b="1" dirty="0">
                <a:solidFill>
                  <a:srgbClr val="FFFFFF"/>
                </a:solidFill>
              </a:rPr>
              <a:t>Internal validation</a:t>
            </a:r>
            <a:endParaRPr lang="en-US" sz="1050" dirty="0"/>
          </a:p>
        </p:txBody>
      </p:sp>
      <p:sp>
        <p:nvSpPr>
          <p:cNvPr id="11" name="Shape 8"/>
          <p:cNvSpPr/>
          <p:nvPr/>
        </p:nvSpPr>
        <p:spPr>
          <a:xfrm>
            <a:off x="9326880" y="1463040"/>
            <a:ext cx="2057400" cy="320040"/>
          </a:xfrm>
          <a:prstGeom prst="roundRect">
            <a:avLst>
              <a:gd name="adj" fmla="val 22857"/>
            </a:avLst>
          </a:prstGeom>
          <a:solidFill>
            <a:srgbClr val="E76F51"/>
          </a:solidFill>
          <a:ln w="12700">
            <a:solidFill>
              <a:srgbClr val="E76F51"/>
            </a:solidFill>
            <a:prstDash val="solid"/>
          </a:ln>
        </p:spPr>
      </p:sp>
      <p:sp>
        <p:nvSpPr>
          <p:cNvPr id="12" name="Text 9"/>
          <p:cNvSpPr/>
          <p:nvPr/>
        </p:nvSpPr>
        <p:spPr>
          <a:xfrm>
            <a:off x="9372600" y="1531620"/>
            <a:ext cx="1965960" cy="155448"/>
          </a:xfrm>
          <a:prstGeom prst="rect">
            <a:avLst/>
          </a:prstGeom>
          <a:noFill/>
          <a:ln/>
        </p:spPr>
        <p:txBody>
          <a:bodyPr wrap="square" lIns="0" tIns="0" rIns="0" bIns="0" rtlCol="0" anchor="ctr"/>
          <a:lstStyle/>
          <a:p>
            <a:pPr algn="ctr" indent="0" marL="0">
              <a:buNone/>
            </a:pPr>
            <a:r>
              <a:rPr lang="en-US" sz="1050" b="1" dirty="0">
                <a:solidFill>
                  <a:srgbClr val="FFFFFF"/>
                </a:solidFill>
              </a:rPr>
              <a:t>External cohort</a:t>
            </a:r>
            <a:endParaRPr lang="en-US" sz="1050" dirty="0"/>
          </a:p>
        </p:txBody>
      </p:sp>
      <p:sp>
        <p:nvSpPr>
          <p:cNvPr id="13" name="Shape 10"/>
          <p:cNvSpPr/>
          <p:nvPr/>
        </p:nvSpPr>
        <p:spPr>
          <a:xfrm>
            <a:off x="2816352" y="1618488"/>
            <a:ext cx="2075688" cy="0"/>
          </a:xfrm>
          <a:prstGeom prst="line">
            <a:avLst/>
          </a:prstGeom>
          <a:noFill/>
          <a:ln w="21590">
            <a:solidFill>
              <a:srgbClr val="6B7280"/>
            </a:solidFill>
            <a:prstDash val="solid"/>
            <a:headEnd type="none"/>
            <a:tailEnd type="triangle"/>
          </a:ln>
        </p:spPr>
      </p:sp>
      <p:sp>
        <p:nvSpPr>
          <p:cNvPr id="14" name="Shape 11"/>
          <p:cNvSpPr/>
          <p:nvPr/>
        </p:nvSpPr>
        <p:spPr>
          <a:xfrm>
            <a:off x="7178040" y="1618488"/>
            <a:ext cx="1965960" cy="0"/>
          </a:xfrm>
          <a:prstGeom prst="line">
            <a:avLst/>
          </a:prstGeom>
          <a:noFill/>
          <a:ln w="21590">
            <a:solidFill>
              <a:srgbClr val="6B7280"/>
            </a:solidFill>
            <a:prstDash val="solid"/>
            <a:headEnd type="none"/>
            <a:tailEnd type="triangle"/>
          </a:ln>
        </p:spPr>
      </p:sp>
      <p:sp>
        <p:nvSpPr>
          <p:cNvPr id="15" name="Shape 12"/>
          <p:cNvSpPr/>
          <p:nvPr/>
        </p:nvSpPr>
        <p:spPr>
          <a:xfrm>
            <a:off x="731520" y="2103120"/>
            <a:ext cx="3291840" cy="2514600"/>
          </a:xfrm>
          <a:prstGeom prst="roundRect">
            <a:avLst>
              <a:gd name="adj" fmla="val 2182"/>
            </a:avLst>
          </a:prstGeom>
          <a:solidFill>
            <a:srgbClr val="FFFFFF"/>
          </a:solidFill>
          <a:ln w="12700">
            <a:solidFill>
              <a:srgbClr val="DDE5EA"/>
            </a:solidFill>
            <a:prstDash val="solid"/>
          </a:ln>
        </p:spPr>
      </p:sp>
      <p:sp>
        <p:nvSpPr>
          <p:cNvPr id="16" name="Shape 13"/>
          <p:cNvSpPr/>
          <p:nvPr/>
        </p:nvSpPr>
        <p:spPr>
          <a:xfrm>
            <a:off x="731520" y="2103120"/>
            <a:ext cx="73152" cy="2514600"/>
          </a:xfrm>
          <a:prstGeom prst="rect">
            <a:avLst/>
          </a:prstGeom>
          <a:solidFill>
            <a:srgbClr val="2D5B88"/>
          </a:solidFill>
          <a:ln w="12700">
            <a:solidFill>
              <a:srgbClr val="2D5B88"/>
            </a:solidFill>
            <a:prstDash val="solid"/>
          </a:ln>
        </p:spPr>
      </p:sp>
      <p:sp>
        <p:nvSpPr>
          <p:cNvPr id="17" name="Text 14"/>
          <p:cNvSpPr/>
          <p:nvPr/>
        </p:nvSpPr>
        <p:spPr>
          <a:xfrm>
            <a:off x="932688" y="2258568"/>
            <a:ext cx="2944368" cy="274320"/>
          </a:xfrm>
          <a:prstGeom prst="rect">
            <a:avLst/>
          </a:prstGeom>
          <a:noFill/>
          <a:ln/>
        </p:spPr>
        <p:txBody>
          <a:bodyPr wrap="square" lIns="0" tIns="0" rIns="0" bIns="0" rtlCol="0" anchor="ctr"/>
          <a:lstStyle/>
          <a:p>
            <a:pPr indent="0" marL="0">
              <a:buNone/>
            </a:pPr>
            <a:r>
              <a:rPr lang="en-US" sz="1700" b="1" dirty="0">
                <a:solidFill>
                  <a:srgbClr val="17324A"/>
                </a:solidFill>
              </a:rPr>
              <a:t>Model-building options</a:t>
            </a:r>
            <a:endParaRPr lang="en-US" sz="1700" dirty="0"/>
          </a:p>
        </p:txBody>
      </p:sp>
      <p:sp>
        <p:nvSpPr>
          <p:cNvPr id="18" name="Text 15"/>
          <p:cNvSpPr/>
          <p:nvPr/>
        </p:nvSpPr>
        <p:spPr>
          <a:xfrm>
            <a:off x="932688" y="2606040"/>
            <a:ext cx="2944368" cy="1874520"/>
          </a:xfrm>
          <a:prstGeom prst="rect">
            <a:avLst/>
          </a:prstGeom>
          <a:noFill/>
          <a:ln/>
        </p:spPr>
        <p:txBody>
          <a:bodyPr wrap="square" lIns="254" tIns="254" rIns="254" bIns="254" rtlCol="0" anchor="t"/>
          <a:lstStyle/>
          <a:p>
            <a:pPr indent="0" marL="0">
              <a:buNone/>
            </a:pPr>
            <a:r>
              <a:rPr lang="en-US" sz="1230" dirty="0">
                <a:solidFill>
                  <a:srgbClr val="17232C"/>
                </a:solidFill>
              </a:rPr>
              <a:t>Univariate screening</a:t>
            </a:r>
            <a:endParaRPr lang="en-US" sz="1230" dirty="0"/>
          </a:p>
          <a:p>
            <a:pPr indent="0" marL="0">
              <a:buNone/>
            </a:pPr>
            <a:r>
              <a:rPr lang="en-US" sz="1230" dirty="0">
                <a:solidFill>
                  <a:srgbClr val="17232C"/>
                </a:solidFill>
              </a:rPr>
              <a:t>LASSO / elastic net</a:t>
            </a:r>
            <a:endParaRPr lang="en-US" sz="1230" dirty="0"/>
          </a:p>
          <a:p>
            <a:pPr indent="0" marL="0">
              <a:buNone/>
            </a:pPr>
            <a:r>
              <a:rPr lang="en-US" sz="1230" dirty="0">
                <a:solidFill>
                  <a:srgbClr val="17232C"/>
                </a:solidFill>
              </a:rPr>
              <a:t>Multivariable Cox</a:t>
            </a:r>
            <a:endParaRPr lang="en-US" sz="1230" dirty="0"/>
          </a:p>
          <a:p>
            <a:pPr indent="0" marL="0">
              <a:buNone/>
            </a:pPr>
            <a:r>
              <a:rPr lang="en-US" sz="1230" dirty="0">
                <a:solidFill>
                  <a:srgbClr val="17232C"/>
                </a:solidFill>
              </a:rPr>
              <a:t>Random forest / boosting (when justified)</a:t>
            </a:r>
            <a:endParaRPr lang="en-US" sz="1230" dirty="0"/>
          </a:p>
          <a:p>
            <a:pPr indent="0" marL="0">
              <a:buNone/>
            </a:pPr>
            <a:r>
              <a:rPr lang="en-US" sz="1230" dirty="0">
                <a:solidFill>
                  <a:srgbClr val="17232C"/>
                </a:solidFill>
              </a:rPr>
              <a:t>Risk score construction</a:t>
            </a:r>
            <a:endParaRPr lang="en-US" sz="1230" dirty="0"/>
          </a:p>
        </p:txBody>
      </p:sp>
      <p:sp>
        <p:nvSpPr>
          <p:cNvPr id="19" name="Shape 16"/>
          <p:cNvSpPr/>
          <p:nvPr/>
        </p:nvSpPr>
        <p:spPr>
          <a:xfrm>
            <a:off x="4434840" y="2103120"/>
            <a:ext cx="3291840" cy="2514600"/>
          </a:xfrm>
          <a:prstGeom prst="roundRect">
            <a:avLst>
              <a:gd name="adj" fmla="val 2182"/>
            </a:avLst>
          </a:prstGeom>
          <a:solidFill>
            <a:srgbClr val="FFFFFF"/>
          </a:solidFill>
          <a:ln w="12700">
            <a:solidFill>
              <a:srgbClr val="DDE5EA"/>
            </a:solidFill>
            <a:prstDash val="solid"/>
          </a:ln>
        </p:spPr>
      </p:sp>
      <p:sp>
        <p:nvSpPr>
          <p:cNvPr id="20" name="Shape 17"/>
          <p:cNvSpPr/>
          <p:nvPr/>
        </p:nvSpPr>
        <p:spPr>
          <a:xfrm>
            <a:off x="4434840" y="2103120"/>
            <a:ext cx="73152" cy="2514600"/>
          </a:xfrm>
          <a:prstGeom prst="rect">
            <a:avLst/>
          </a:prstGeom>
          <a:solidFill>
            <a:srgbClr val="2A9D8F"/>
          </a:solidFill>
          <a:ln w="12700">
            <a:solidFill>
              <a:srgbClr val="2A9D8F"/>
            </a:solidFill>
            <a:prstDash val="solid"/>
          </a:ln>
        </p:spPr>
      </p:sp>
      <p:sp>
        <p:nvSpPr>
          <p:cNvPr id="21" name="Text 18"/>
          <p:cNvSpPr/>
          <p:nvPr/>
        </p:nvSpPr>
        <p:spPr>
          <a:xfrm>
            <a:off x="4636008" y="2258568"/>
            <a:ext cx="2944368" cy="274320"/>
          </a:xfrm>
          <a:prstGeom prst="rect">
            <a:avLst/>
          </a:prstGeom>
          <a:noFill/>
          <a:ln/>
        </p:spPr>
        <p:txBody>
          <a:bodyPr wrap="square" lIns="0" tIns="0" rIns="0" bIns="0" rtlCol="0" anchor="ctr"/>
          <a:lstStyle/>
          <a:p>
            <a:pPr indent="0" marL="0">
              <a:buNone/>
            </a:pPr>
            <a:r>
              <a:rPr lang="en-US" sz="1700" b="1" dirty="0">
                <a:solidFill>
                  <a:srgbClr val="17324A"/>
                </a:solidFill>
              </a:rPr>
              <a:t>Evaluation</a:t>
            </a:r>
            <a:endParaRPr lang="en-US" sz="1700" dirty="0"/>
          </a:p>
        </p:txBody>
      </p:sp>
      <p:sp>
        <p:nvSpPr>
          <p:cNvPr id="22" name="Text 19"/>
          <p:cNvSpPr/>
          <p:nvPr/>
        </p:nvSpPr>
        <p:spPr>
          <a:xfrm>
            <a:off x="4636008" y="2606040"/>
            <a:ext cx="2944368" cy="1874520"/>
          </a:xfrm>
          <a:prstGeom prst="rect">
            <a:avLst/>
          </a:prstGeom>
          <a:noFill/>
          <a:ln/>
        </p:spPr>
        <p:txBody>
          <a:bodyPr wrap="square" lIns="254" tIns="254" rIns="254" bIns="254" rtlCol="0" anchor="t"/>
          <a:lstStyle/>
          <a:p>
            <a:pPr indent="0" marL="0">
              <a:buNone/>
            </a:pPr>
            <a:r>
              <a:rPr lang="en-US" sz="1230" dirty="0">
                <a:solidFill>
                  <a:srgbClr val="17232C"/>
                </a:solidFill>
              </a:rPr>
              <a:t>C-index</a:t>
            </a:r>
            <a:endParaRPr lang="en-US" sz="1230" dirty="0"/>
          </a:p>
          <a:p>
            <a:pPr indent="0" marL="0">
              <a:buNone/>
            </a:pPr>
            <a:r>
              <a:rPr lang="en-US" sz="1230" dirty="0">
                <a:solidFill>
                  <a:srgbClr val="17232C"/>
                </a:solidFill>
              </a:rPr>
              <a:t>Time-dependent AUC</a:t>
            </a:r>
            <a:endParaRPr lang="en-US" sz="1230" dirty="0"/>
          </a:p>
          <a:p>
            <a:pPr indent="0" marL="0">
              <a:buNone/>
            </a:pPr>
            <a:r>
              <a:rPr lang="en-US" sz="1230" dirty="0">
                <a:solidFill>
                  <a:srgbClr val="17232C"/>
                </a:solidFill>
              </a:rPr>
              <a:t>Calibration</a:t>
            </a:r>
            <a:endParaRPr lang="en-US" sz="1230" dirty="0"/>
          </a:p>
          <a:p>
            <a:pPr indent="0" marL="0">
              <a:buNone/>
            </a:pPr>
            <a:r>
              <a:rPr lang="en-US" sz="1230" dirty="0">
                <a:solidFill>
                  <a:srgbClr val="17232C"/>
                </a:solidFill>
              </a:rPr>
              <a:t>Decision-curve analysis</a:t>
            </a:r>
            <a:endParaRPr lang="en-US" sz="1230" dirty="0"/>
          </a:p>
          <a:p>
            <a:pPr indent="0" marL="0">
              <a:buNone/>
            </a:pPr>
            <a:r>
              <a:rPr lang="en-US" sz="1230" dirty="0">
                <a:solidFill>
                  <a:srgbClr val="17232C"/>
                </a:solidFill>
              </a:rPr>
              <a:t>KM separation</a:t>
            </a:r>
            <a:endParaRPr lang="en-US" sz="1230" dirty="0"/>
          </a:p>
        </p:txBody>
      </p:sp>
      <p:sp>
        <p:nvSpPr>
          <p:cNvPr id="23" name="Shape 20"/>
          <p:cNvSpPr/>
          <p:nvPr/>
        </p:nvSpPr>
        <p:spPr>
          <a:xfrm>
            <a:off x="8138160" y="2103120"/>
            <a:ext cx="3291840" cy="2514600"/>
          </a:xfrm>
          <a:prstGeom prst="roundRect">
            <a:avLst>
              <a:gd name="adj" fmla="val 2182"/>
            </a:avLst>
          </a:prstGeom>
          <a:solidFill>
            <a:srgbClr val="FFFFFF"/>
          </a:solidFill>
          <a:ln w="12700">
            <a:solidFill>
              <a:srgbClr val="DDE5EA"/>
            </a:solidFill>
            <a:prstDash val="solid"/>
          </a:ln>
        </p:spPr>
      </p:sp>
      <p:sp>
        <p:nvSpPr>
          <p:cNvPr id="24" name="Shape 21"/>
          <p:cNvSpPr/>
          <p:nvPr/>
        </p:nvSpPr>
        <p:spPr>
          <a:xfrm>
            <a:off x="8138160" y="2103120"/>
            <a:ext cx="73152" cy="2514600"/>
          </a:xfrm>
          <a:prstGeom prst="rect">
            <a:avLst/>
          </a:prstGeom>
          <a:solidFill>
            <a:srgbClr val="E76F51"/>
          </a:solidFill>
          <a:ln w="12700">
            <a:solidFill>
              <a:srgbClr val="E76F51"/>
            </a:solidFill>
            <a:prstDash val="solid"/>
          </a:ln>
        </p:spPr>
      </p:sp>
      <p:sp>
        <p:nvSpPr>
          <p:cNvPr id="25" name="Text 22"/>
          <p:cNvSpPr/>
          <p:nvPr/>
        </p:nvSpPr>
        <p:spPr>
          <a:xfrm>
            <a:off x="8339328" y="2258568"/>
            <a:ext cx="2944368" cy="274320"/>
          </a:xfrm>
          <a:prstGeom prst="rect">
            <a:avLst/>
          </a:prstGeom>
          <a:noFill/>
          <a:ln/>
        </p:spPr>
        <p:txBody>
          <a:bodyPr wrap="square" lIns="0" tIns="0" rIns="0" bIns="0" rtlCol="0" anchor="ctr"/>
          <a:lstStyle/>
          <a:p>
            <a:pPr indent="0" marL="0">
              <a:buNone/>
            </a:pPr>
            <a:r>
              <a:rPr lang="en-US" sz="1700" b="1" dirty="0">
                <a:solidFill>
                  <a:srgbClr val="17324A"/>
                </a:solidFill>
              </a:rPr>
              <a:t>Non-negotiable safeguards</a:t>
            </a:r>
            <a:endParaRPr lang="en-US" sz="1700" dirty="0"/>
          </a:p>
        </p:txBody>
      </p:sp>
      <p:sp>
        <p:nvSpPr>
          <p:cNvPr id="26" name="Text 23"/>
          <p:cNvSpPr/>
          <p:nvPr/>
        </p:nvSpPr>
        <p:spPr>
          <a:xfrm>
            <a:off x="8339328" y="2606040"/>
            <a:ext cx="2944368" cy="1874520"/>
          </a:xfrm>
          <a:prstGeom prst="rect">
            <a:avLst/>
          </a:prstGeom>
          <a:noFill/>
          <a:ln/>
        </p:spPr>
        <p:txBody>
          <a:bodyPr wrap="square" lIns="254" tIns="254" rIns="254" bIns="254" rtlCol="0" anchor="t"/>
          <a:lstStyle/>
          <a:p>
            <a:pPr indent="0" marL="0">
              <a:buNone/>
            </a:pPr>
            <a:r>
              <a:rPr lang="en-US" sz="1230" dirty="0">
                <a:solidFill>
                  <a:srgbClr val="17232C"/>
                </a:solidFill>
              </a:rPr>
              <a:t>Train/test separation</a:t>
            </a:r>
            <a:endParaRPr lang="en-US" sz="1230" dirty="0"/>
          </a:p>
          <a:p>
            <a:pPr indent="0" marL="0">
              <a:buNone/>
            </a:pPr>
            <a:r>
              <a:rPr lang="en-US" sz="1230" dirty="0">
                <a:solidFill>
                  <a:srgbClr val="17232C"/>
                </a:solidFill>
              </a:rPr>
              <a:t>Cross-validation inside training data</a:t>
            </a:r>
            <a:endParaRPr lang="en-US" sz="1230" dirty="0"/>
          </a:p>
          <a:p>
            <a:pPr indent="0" marL="0">
              <a:buNone/>
            </a:pPr>
            <a:r>
              <a:rPr lang="en-US" sz="1230" dirty="0">
                <a:solidFill>
                  <a:srgbClr val="17232C"/>
                </a:solidFill>
              </a:rPr>
              <a:t>No feature selection on the test set</a:t>
            </a:r>
            <a:endParaRPr lang="en-US" sz="1230" dirty="0"/>
          </a:p>
          <a:p>
            <a:pPr indent="0" marL="0">
              <a:buNone/>
            </a:pPr>
            <a:r>
              <a:rPr lang="en-US" sz="1230" dirty="0">
                <a:solidFill>
                  <a:srgbClr val="17232C"/>
                </a:solidFill>
              </a:rPr>
              <a:t>External validation if possible</a:t>
            </a:r>
            <a:endParaRPr lang="en-US" sz="1230" dirty="0"/>
          </a:p>
        </p:txBody>
      </p:sp>
      <p:sp>
        <p:nvSpPr>
          <p:cNvPr id="27" name="Text 24"/>
          <p:cNvSpPr/>
          <p:nvPr/>
        </p:nvSpPr>
        <p:spPr>
          <a:xfrm>
            <a:off x="822960" y="5074920"/>
            <a:ext cx="10515600" cy="502920"/>
          </a:xfrm>
          <a:prstGeom prst="rect">
            <a:avLst/>
          </a:prstGeom>
          <a:noFill/>
          <a:ln/>
        </p:spPr>
        <p:txBody>
          <a:bodyPr wrap="square" lIns="0" tIns="0" rIns="0" bIns="0" rtlCol="0" anchor="ctr"/>
          <a:lstStyle/>
          <a:p>
            <a:pPr algn="ctr" indent="0" marL="0">
              <a:buNone/>
            </a:pPr>
            <a:r>
              <a:rPr lang="en-US" sz="1900" b="1" dirty="0">
                <a:solidFill>
                  <a:srgbClr val="C83E4D"/>
                </a:solidFill>
              </a:rPr>
              <a:t>Data leakage can make a weak model look excellent. AUC alone is not validation.</a:t>
            </a:r>
            <a:endParaRPr lang="en-US" sz="19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Step 10 — External validation</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The best “extra analysis” is often a second cohort</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VALIDATION</a:t>
            </a:r>
            <a:endParaRPr lang="en-US" sz="950" dirty="0"/>
          </a:p>
        </p:txBody>
      </p:sp>
      <p:sp>
        <p:nvSpPr>
          <p:cNvPr id="7" name="Shape 4"/>
          <p:cNvSpPr/>
          <p:nvPr/>
        </p:nvSpPr>
        <p:spPr>
          <a:xfrm>
            <a:off x="914400" y="1371600"/>
            <a:ext cx="10241280" cy="896112"/>
          </a:xfrm>
          <a:prstGeom prst="roundRect">
            <a:avLst>
              <a:gd name="adj" fmla="val 4082"/>
            </a:avLst>
          </a:prstGeom>
          <a:solidFill>
            <a:srgbClr val="FFFFFF"/>
          </a:solidFill>
          <a:ln w="12700">
            <a:solidFill>
              <a:srgbClr val="DDE5EA"/>
            </a:solidFill>
            <a:prstDash val="solid"/>
          </a:ln>
        </p:spPr>
      </p:sp>
      <p:sp>
        <p:nvSpPr>
          <p:cNvPr id="8" name="Shape 5"/>
          <p:cNvSpPr/>
          <p:nvPr/>
        </p:nvSpPr>
        <p:spPr>
          <a:xfrm>
            <a:off x="914400" y="1371600"/>
            <a:ext cx="1371600" cy="896112"/>
          </a:xfrm>
          <a:prstGeom prst="rect">
            <a:avLst/>
          </a:prstGeom>
          <a:solidFill>
            <a:srgbClr val="6B7280"/>
          </a:solidFill>
          <a:ln w="12700">
            <a:solidFill>
              <a:srgbClr val="6B7280"/>
            </a:solidFill>
            <a:prstDash val="solid"/>
          </a:ln>
        </p:spPr>
      </p:sp>
      <p:sp>
        <p:nvSpPr>
          <p:cNvPr id="9" name="Text 6"/>
          <p:cNvSpPr/>
          <p:nvPr/>
        </p:nvSpPr>
        <p:spPr>
          <a:xfrm>
            <a:off x="1051560" y="1691640"/>
            <a:ext cx="1097280" cy="182880"/>
          </a:xfrm>
          <a:prstGeom prst="rect">
            <a:avLst/>
          </a:prstGeom>
          <a:noFill/>
          <a:ln/>
        </p:spPr>
        <p:txBody>
          <a:bodyPr wrap="square" lIns="0" tIns="0" rIns="0" bIns="0" rtlCol="0" anchor="ctr"/>
          <a:lstStyle/>
          <a:p>
            <a:pPr algn="ctr" indent="0" marL="0">
              <a:buNone/>
            </a:pPr>
            <a:r>
              <a:rPr lang="en-US" sz="1200" b="1" dirty="0">
                <a:solidFill>
                  <a:srgbClr val="FFFFFF"/>
                </a:solidFill>
              </a:rPr>
              <a:t>Level 1</a:t>
            </a:r>
            <a:endParaRPr lang="en-US" sz="1200" dirty="0"/>
          </a:p>
        </p:txBody>
      </p:sp>
      <p:sp>
        <p:nvSpPr>
          <p:cNvPr id="10" name="Text 7"/>
          <p:cNvSpPr/>
          <p:nvPr/>
        </p:nvSpPr>
        <p:spPr>
          <a:xfrm>
            <a:off x="2560320" y="1545336"/>
            <a:ext cx="3291840" cy="237744"/>
          </a:xfrm>
          <a:prstGeom prst="rect">
            <a:avLst/>
          </a:prstGeom>
          <a:noFill/>
          <a:ln/>
        </p:spPr>
        <p:txBody>
          <a:bodyPr wrap="square" lIns="0" tIns="0" rIns="0" bIns="0" rtlCol="0" anchor="ctr"/>
          <a:lstStyle/>
          <a:p>
            <a:pPr indent="0" marL="0">
              <a:buNone/>
            </a:pPr>
            <a:r>
              <a:rPr lang="en-US" sz="1600" b="1" dirty="0">
                <a:solidFill>
                  <a:srgbClr val="17324A"/>
                </a:solidFill>
              </a:rPr>
              <a:t>Same cohort, same endpoint</a:t>
            </a:r>
            <a:endParaRPr lang="en-US" sz="1600" dirty="0"/>
          </a:p>
        </p:txBody>
      </p:sp>
      <p:sp>
        <p:nvSpPr>
          <p:cNvPr id="11" name="Text 8"/>
          <p:cNvSpPr/>
          <p:nvPr/>
        </p:nvSpPr>
        <p:spPr>
          <a:xfrm>
            <a:off x="5897880" y="1545336"/>
            <a:ext cx="4754880" cy="365760"/>
          </a:xfrm>
          <a:prstGeom prst="rect">
            <a:avLst/>
          </a:prstGeom>
          <a:noFill/>
          <a:ln/>
        </p:spPr>
        <p:txBody>
          <a:bodyPr wrap="square" lIns="0" tIns="0" rIns="0" bIns="0" rtlCol="0" anchor="ctr"/>
          <a:lstStyle/>
          <a:p>
            <a:pPr indent="0" marL="0">
              <a:buNone/>
            </a:pPr>
            <a:r>
              <a:rPr lang="en-US" sz="1260" dirty="0">
                <a:solidFill>
                  <a:srgbClr val="17232C"/>
                </a:solidFill>
              </a:rPr>
              <a:t>Weakest — useful only as exploratory analysis</a:t>
            </a:r>
            <a:endParaRPr lang="en-US" sz="1260" dirty="0"/>
          </a:p>
        </p:txBody>
      </p:sp>
      <p:sp>
        <p:nvSpPr>
          <p:cNvPr id="12" name="Shape 9"/>
          <p:cNvSpPr/>
          <p:nvPr/>
        </p:nvSpPr>
        <p:spPr>
          <a:xfrm>
            <a:off x="914400" y="2441448"/>
            <a:ext cx="10241280" cy="896112"/>
          </a:xfrm>
          <a:prstGeom prst="roundRect">
            <a:avLst>
              <a:gd name="adj" fmla="val 4082"/>
            </a:avLst>
          </a:prstGeom>
          <a:solidFill>
            <a:srgbClr val="FFFFFF"/>
          </a:solidFill>
          <a:ln w="12700">
            <a:solidFill>
              <a:srgbClr val="DDE5EA"/>
            </a:solidFill>
            <a:prstDash val="solid"/>
          </a:ln>
        </p:spPr>
      </p:sp>
      <p:sp>
        <p:nvSpPr>
          <p:cNvPr id="13" name="Shape 10"/>
          <p:cNvSpPr/>
          <p:nvPr/>
        </p:nvSpPr>
        <p:spPr>
          <a:xfrm>
            <a:off x="914400" y="2441448"/>
            <a:ext cx="1371600" cy="896112"/>
          </a:xfrm>
          <a:prstGeom prst="rect">
            <a:avLst/>
          </a:prstGeom>
          <a:solidFill>
            <a:srgbClr val="2D5B88"/>
          </a:solidFill>
          <a:ln w="12700">
            <a:solidFill>
              <a:srgbClr val="2D5B88"/>
            </a:solidFill>
            <a:prstDash val="solid"/>
          </a:ln>
        </p:spPr>
      </p:sp>
      <p:sp>
        <p:nvSpPr>
          <p:cNvPr id="14" name="Text 11"/>
          <p:cNvSpPr/>
          <p:nvPr/>
        </p:nvSpPr>
        <p:spPr>
          <a:xfrm>
            <a:off x="1051560" y="2761488"/>
            <a:ext cx="1097280" cy="182880"/>
          </a:xfrm>
          <a:prstGeom prst="rect">
            <a:avLst/>
          </a:prstGeom>
          <a:noFill/>
          <a:ln/>
        </p:spPr>
        <p:txBody>
          <a:bodyPr wrap="square" lIns="0" tIns="0" rIns="0" bIns="0" rtlCol="0" anchor="ctr"/>
          <a:lstStyle/>
          <a:p>
            <a:pPr algn="ctr" indent="0" marL="0">
              <a:buNone/>
            </a:pPr>
            <a:r>
              <a:rPr lang="en-US" sz="1200" b="1" dirty="0">
                <a:solidFill>
                  <a:srgbClr val="FFFFFF"/>
                </a:solidFill>
              </a:rPr>
              <a:t>Level 2</a:t>
            </a:r>
            <a:endParaRPr lang="en-US" sz="1200" dirty="0"/>
          </a:p>
        </p:txBody>
      </p:sp>
      <p:sp>
        <p:nvSpPr>
          <p:cNvPr id="15" name="Text 12"/>
          <p:cNvSpPr/>
          <p:nvPr/>
        </p:nvSpPr>
        <p:spPr>
          <a:xfrm>
            <a:off x="2560320" y="2615184"/>
            <a:ext cx="3291840" cy="237744"/>
          </a:xfrm>
          <a:prstGeom prst="rect">
            <a:avLst/>
          </a:prstGeom>
          <a:noFill/>
          <a:ln/>
        </p:spPr>
        <p:txBody>
          <a:bodyPr wrap="square" lIns="0" tIns="0" rIns="0" bIns="0" rtlCol="0" anchor="ctr"/>
          <a:lstStyle/>
          <a:p>
            <a:pPr indent="0" marL="0">
              <a:buNone/>
            </a:pPr>
            <a:r>
              <a:rPr lang="en-US" sz="1600" b="1" dirty="0">
                <a:solidFill>
                  <a:srgbClr val="17324A"/>
                </a:solidFill>
              </a:rPr>
              <a:t>Train/test split</a:t>
            </a:r>
            <a:endParaRPr lang="en-US" sz="1600" dirty="0"/>
          </a:p>
        </p:txBody>
      </p:sp>
      <p:sp>
        <p:nvSpPr>
          <p:cNvPr id="16" name="Text 13"/>
          <p:cNvSpPr/>
          <p:nvPr/>
        </p:nvSpPr>
        <p:spPr>
          <a:xfrm>
            <a:off x="5897880" y="2615184"/>
            <a:ext cx="4754880" cy="365760"/>
          </a:xfrm>
          <a:prstGeom prst="rect">
            <a:avLst/>
          </a:prstGeom>
          <a:noFill/>
          <a:ln/>
        </p:spPr>
        <p:txBody>
          <a:bodyPr wrap="square" lIns="0" tIns="0" rIns="0" bIns="0" rtlCol="0" anchor="ctr"/>
          <a:lstStyle/>
          <a:p>
            <a:pPr indent="0" marL="0">
              <a:buNone/>
            </a:pPr>
            <a:r>
              <a:rPr lang="en-US" sz="1260" dirty="0">
                <a:solidFill>
                  <a:srgbClr val="17232C"/>
                </a:solidFill>
              </a:rPr>
              <a:t>Better — but both subsets share collection/platform biases</a:t>
            </a:r>
            <a:endParaRPr lang="en-US" sz="1260" dirty="0"/>
          </a:p>
        </p:txBody>
      </p:sp>
      <p:sp>
        <p:nvSpPr>
          <p:cNvPr id="17" name="Shape 14"/>
          <p:cNvSpPr/>
          <p:nvPr/>
        </p:nvSpPr>
        <p:spPr>
          <a:xfrm>
            <a:off x="914400" y="3511296"/>
            <a:ext cx="10241280" cy="896112"/>
          </a:xfrm>
          <a:prstGeom prst="roundRect">
            <a:avLst>
              <a:gd name="adj" fmla="val 4082"/>
            </a:avLst>
          </a:prstGeom>
          <a:solidFill>
            <a:srgbClr val="FFFFFF"/>
          </a:solidFill>
          <a:ln w="12700">
            <a:solidFill>
              <a:srgbClr val="DDE5EA"/>
            </a:solidFill>
            <a:prstDash val="solid"/>
          </a:ln>
        </p:spPr>
      </p:sp>
      <p:sp>
        <p:nvSpPr>
          <p:cNvPr id="18" name="Shape 15"/>
          <p:cNvSpPr/>
          <p:nvPr/>
        </p:nvSpPr>
        <p:spPr>
          <a:xfrm>
            <a:off x="914400" y="3511296"/>
            <a:ext cx="1371600" cy="896112"/>
          </a:xfrm>
          <a:prstGeom prst="rect">
            <a:avLst/>
          </a:prstGeom>
          <a:solidFill>
            <a:srgbClr val="2A9D8F"/>
          </a:solidFill>
          <a:ln w="12700">
            <a:solidFill>
              <a:srgbClr val="2A9D8F"/>
            </a:solidFill>
            <a:prstDash val="solid"/>
          </a:ln>
        </p:spPr>
      </p:sp>
      <p:sp>
        <p:nvSpPr>
          <p:cNvPr id="19" name="Text 16"/>
          <p:cNvSpPr/>
          <p:nvPr/>
        </p:nvSpPr>
        <p:spPr>
          <a:xfrm>
            <a:off x="1051560" y="3831336"/>
            <a:ext cx="1097280" cy="182880"/>
          </a:xfrm>
          <a:prstGeom prst="rect">
            <a:avLst/>
          </a:prstGeom>
          <a:noFill/>
          <a:ln/>
        </p:spPr>
        <p:txBody>
          <a:bodyPr wrap="square" lIns="0" tIns="0" rIns="0" bIns="0" rtlCol="0" anchor="ctr"/>
          <a:lstStyle/>
          <a:p>
            <a:pPr algn="ctr" indent="0" marL="0">
              <a:buNone/>
            </a:pPr>
            <a:r>
              <a:rPr lang="en-US" sz="1200" b="1" dirty="0">
                <a:solidFill>
                  <a:srgbClr val="FFFFFF"/>
                </a:solidFill>
              </a:rPr>
              <a:t>Level 3</a:t>
            </a:r>
            <a:endParaRPr lang="en-US" sz="1200" dirty="0"/>
          </a:p>
        </p:txBody>
      </p:sp>
      <p:sp>
        <p:nvSpPr>
          <p:cNvPr id="20" name="Text 17"/>
          <p:cNvSpPr/>
          <p:nvPr/>
        </p:nvSpPr>
        <p:spPr>
          <a:xfrm>
            <a:off x="2560320" y="3685032"/>
            <a:ext cx="3291840" cy="237744"/>
          </a:xfrm>
          <a:prstGeom prst="rect">
            <a:avLst/>
          </a:prstGeom>
          <a:noFill/>
          <a:ln/>
        </p:spPr>
        <p:txBody>
          <a:bodyPr wrap="square" lIns="0" tIns="0" rIns="0" bIns="0" rtlCol="0" anchor="ctr"/>
          <a:lstStyle/>
          <a:p>
            <a:pPr indent="0" marL="0">
              <a:buNone/>
            </a:pPr>
            <a:r>
              <a:rPr lang="en-US" sz="1600" b="1" dirty="0">
                <a:solidFill>
                  <a:srgbClr val="17324A"/>
                </a:solidFill>
              </a:rPr>
              <a:t>Independent GEO/TCGA cohort</a:t>
            </a:r>
            <a:endParaRPr lang="en-US" sz="1600" dirty="0"/>
          </a:p>
        </p:txBody>
      </p:sp>
      <p:sp>
        <p:nvSpPr>
          <p:cNvPr id="21" name="Text 18"/>
          <p:cNvSpPr/>
          <p:nvPr/>
        </p:nvSpPr>
        <p:spPr>
          <a:xfrm>
            <a:off x="5897880" y="3685032"/>
            <a:ext cx="4754880" cy="365760"/>
          </a:xfrm>
          <a:prstGeom prst="rect">
            <a:avLst/>
          </a:prstGeom>
          <a:noFill/>
          <a:ln/>
        </p:spPr>
        <p:txBody>
          <a:bodyPr wrap="square" lIns="0" tIns="0" rIns="0" bIns="0" rtlCol="0" anchor="ctr"/>
          <a:lstStyle/>
          <a:p>
            <a:pPr indent="0" marL="0">
              <a:buNone/>
            </a:pPr>
            <a:r>
              <a:rPr lang="en-US" sz="1260" dirty="0">
                <a:solidFill>
                  <a:srgbClr val="17232C"/>
                </a:solidFill>
              </a:rPr>
              <a:t>Strong — tests portability across studies/platforms</a:t>
            </a:r>
            <a:endParaRPr lang="en-US" sz="1260" dirty="0"/>
          </a:p>
        </p:txBody>
      </p:sp>
      <p:sp>
        <p:nvSpPr>
          <p:cNvPr id="22" name="Shape 19"/>
          <p:cNvSpPr/>
          <p:nvPr/>
        </p:nvSpPr>
        <p:spPr>
          <a:xfrm>
            <a:off x="914400" y="4581144"/>
            <a:ext cx="10241280" cy="896112"/>
          </a:xfrm>
          <a:prstGeom prst="roundRect">
            <a:avLst>
              <a:gd name="adj" fmla="val 4082"/>
            </a:avLst>
          </a:prstGeom>
          <a:solidFill>
            <a:srgbClr val="FFFFFF"/>
          </a:solidFill>
          <a:ln w="12700">
            <a:solidFill>
              <a:srgbClr val="DDE5EA"/>
            </a:solidFill>
            <a:prstDash val="solid"/>
          </a:ln>
        </p:spPr>
      </p:sp>
      <p:sp>
        <p:nvSpPr>
          <p:cNvPr id="23" name="Shape 20"/>
          <p:cNvSpPr/>
          <p:nvPr/>
        </p:nvSpPr>
        <p:spPr>
          <a:xfrm>
            <a:off x="914400" y="4581144"/>
            <a:ext cx="1371600" cy="896112"/>
          </a:xfrm>
          <a:prstGeom prst="rect">
            <a:avLst/>
          </a:prstGeom>
          <a:solidFill>
            <a:srgbClr val="E76F51"/>
          </a:solidFill>
          <a:ln w="12700">
            <a:solidFill>
              <a:srgbClr val="E76F51"/>
            </a:solidFill>
            <a:prstDash val="solid"/>
          </a:ln>
        </p:spPr>
      </p:sp>
      <p:sp>
        <p:nvSpPr>
          <p:cNvPr id="24" name="Text 21"/>
          <p:cNvSpPr/>
          <p:nvPr/>
        </p:nvSpPr>
        <p:spPr>
          <a:xfrm>
            <a:off x="1051560" y="4901184"/>
            <a:ext cx="1097280" cy="182880"/>
          </a:xfrm>
          <a:prstGeom prst="rect">
            <a:avLst/>
          </a:prstGeom>
          <a:noFill/>
          <a:ln/>
        </p:spPr>
        <p:txBody>
          <a:bodyPr wrap="square" lIns="0" tIns="0" rIns="0" bIns="0" rtlCol="0" anchor="ctr"/>
          <a:lstStyle/>
          <a:p>
            <a:pPr algn="ctr" indent="0" marL="0">
              <a:buNone/>
            </a:pPr>
            <a:r>
              <a:rPr lang="en-US" sz="1200" b="1" dirty="0">
                <a:solidFill>
                  <a:srgbClr val="FFFFFF"/>
                </a:solidFill>
              </a:rPr>
              <a:t>Level 4</a:t>
            </a:r>
            <a:endParaRPr lang="en-US" sz="1200" dirty="0"/>
          </a:p>
        </p:txBody>
      </p:sp>
      <p:sp>
        <p:nvSpPr>
          <p:cNvPr id="25" name="Text 22"/>
          <p:cNvSpPr/>
          <p:nvPr/>
        </p:nvSpPr>
        <p:spPr>
          <a:xfrm>
            <a:off x="2560320" y="4754880"/>
            <a:ext cx="3291840" cy="237744"/>
          </a:xfrm>
          <a:prstGeom prst="rect">
            <a:avLst/>
          </a:prstGeom>
          <a:noFill/>
          <a:ln/>
        </p:spPr>
        <p:txBody>
          <a:bodyPr wrap="square" lIns="0" tIns="0" rIns="0" bIns="0" rtlCol="0" anchor="ctr"/>
          <a:lstStyle/>
          <a:p>
            <a:pPr indent="0" marL="0">
              <a:buNone/>
            </a:pPr>
            <a:r>
              <a:rPr lang="en-US" sz="1600" b="1" dirty="0">
                <a:solidFill>
                  <a:srgbClr val="17324A"/>
                </a:solidFill>
              </a:rPr>
              <a:t>Orthogonal modality or experiment</a:t>
            </a:r>
            <a:endParaRPr lang="en-US" sz="1600" dirty="0"/>
          </a:p>
        </p:txBody>
      </p:sp>
      <p:sp>
        <p:nvSpPr>
          <p:cNvPr id="26" name="Text 23"/>
          <p:cNvSpPr/>
          <p:nvPr/>
        </p:nvSpPr>
        <p:spPr>
          <a:xfrm>
            <a:off x="5897880" y="4754880"/>
            <a:ext cx="4754880" cy="365760"/>
          </a:xfrm>
          <a:prstGeom prst="rect">
            <a:avLst/>
          </a:prstGeom>
          <a:noFill/>
          <a:ln/>
        </p:spPr>
        <p:txBody>
          <a:bodyPr wrap="square" lIns="0" tIns="0" rIns="0" bIns="0" rtlCol="0" anchor="ctr"/>
          <a:lstStyle/>
          <a:p>
            <a:pPr indent="0" marL="0">
              <a:buNone/>
            </a:pPr>
            <a:r>
              <a:rPr lang="en-US" sz="1260" dirty="0">
                <a:solidFill>
                  <a:srgbClr val="17232C"/>
                </a:solidFill>
              </a:rPr>
              <a:t>Strongest — protein, single-cell, pathology, or wet-lab confirmation</a:t>
            </a:r>
            <a:endParaRPr lang="en-US" sz="1260" dirty="0"/>
          </a:p>
        </p:txBody>
      </p:sp>
      <p:sp>
        <p:nvSpPr>
          <p:cNvPr id="27" name="Text 24"/>
          <p:cNvSpPr/>
          <p:nvPr/>
        </p:nvSpPr>
        <p:spPr>
          <a:xfrm>
            <a:off x="822960" y="5650992"/>
            <a:ext cx="10469880" cy="457200"/>
          </a:xfrm>
          <a:prstGeom prst="rect">
            <a:avLst/>
          </a:prstGeom>
          <a:noFill/>
          <a:ln/>
        </p:spPr>
        <p:txBody>
          <a:bodyPr wrap="square" lIns="0" tIns="0" rIns="0" bIns="0" rtlCol="0" anchor="ctr"/>
          <a:lstStyle/>
          <a:p>
            <a:pPr algn="ctr" indent="0" marL="0">
              <a:buNone/>
            </a:pPr>
            <a:r>
              <a:rPr lang="en-US" sz="1750" b="1" dirty="0">
                <a:solidFill>
                  <a:srgbClr val="17324A"/>
                </a:solidFill>
              </a:rPr>
              <a:t>Validation should reproduce the direction and practical effect — not merely produce another P &lt; 0.05.</a:t>
            </a:r>
            <a:endParaRPr lang="en-US" sz="17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Website toolbox: fast exploration and independent checks</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Web tools are excellent for validation and figure prototyping</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WEB TOOLS</a:t>
            </a:r>
            <a:endParaRPr lang="en-US" sz="950" dirty="0"/>
          </a:p>
        </p:txBody>
      </p:sp>
      <p:sp>
        <p:nvSpPr>
          <p:cNvPr id="7" name="Text 4"/>
          <p:cNvSpPr/>
          <p:nvPr/>
        </p:nvSpPr>
        <p:spPr>
          <a:xfrm>
            <a:off x="658368" y="1207008"/>
            <a:ext cx="2057400" cy="548640"/>
          </a:xfrm>
          <a:prstGeom prst="rect">
            <a:avLst/>
          </a:prstGeom>
          <a:solidFill>
            <a:srgbClr val="FFFFFF"/>
          </a:solidFill>
          <a:ln/>
        </p:spPr>
        <p:txBody>
          <a:bodyPr wrap="square" lIns="1016" tIns="1016" rIns="1016" bIns="1016" rtlCol="0" anchor="ctr"/>
          <a:lstStyle/>
          <a:p>
            <a:pPr indent="0" marL="0">
              <a:buNone/>
            </a:pPr>
            <a:r>
              <a:rPr lang="en-US" sz="1320" b="1" dirty="0">
                <a:solidFill>
                  <a:srgbClr val="17324A"/>
                </a:solidFill>
              </a:rPr>
              <a:t>GDC Data Portal</a:t>
            </a:r>
            <a:endParaRPr lang="en-US" sz="1320" dirty="0"/>
          </a:p>
        </p:txBody>
      </p:sp>
      <p:sp>
        <p:nvSpPr>
          <p:cNvPr id="8" name="Text 5"/>
          <p:cNvSpPr/>
          <p:nvPr/>
        </p:nvSpPr>
        <p:spPr>
          <a:xfrm>
            <a:off x="2724912" y="1207008"/>
            <a:ext cx="5532120" cy="548640"/>
          </a:xfrm>
          <a:prstGeom prst="rect">
            <a:avLst/>
          </a:prstGeom>
          <a:solidFill>
            <a:srgbClr val="FFFFFF"/>
          </a:solidFill>
          <a:ln/>
        </p:spPr>
        <p:txBody>
          <a:bodyPr wrap="square" lIns="1016" tIns="1016" rIns="1016" bIns="1016" rtlCol="0" anchor="ctr"/>
          <a:lstStyle/>
          <a:p>
            <a:pPr indent="0" marL="0">
              <a:buNone/>
            </a:pPr>
            <a:r>
              <a:rPr lang="en-US" sz="1200" dirty="0">
                <a:solidFill>
                  <a:srgbClr val="17232C"/>
                </a:solidFill>
              </a:rPr>
              <a:t>TCGA/TARGET harmonized files and cohort building</a:t>
            </a:r>
            <a:endParaRPr lang="en-US" sz="1200" dirty="0"/>
          </a:p>
        </p:txBody>
      </p:sp>
      <p:sp>
        <p:nvSpPr>
          <p:cNvPr id="9" name="Text 6"/>
          <p:cNvSpPr/>
          <p:nvPr/>
        </p:nvSpPr>
        <p:spPr>
          <a:xfrm>
            <a:off x="8275320" y="1207008"/>
            <a:ext cx="3246120" cy="548640"/>
          </a:xfrm>
          <a:prstGeom prst="rect">
            <a:avLst/>
          </a:prstGeom>
          <a:solidFill>
            <a:srgbClr val="FFFFFF"/>
          </a:solidFill>
          <a:ln/>
        </p:spPr>
        <p:txBody>
          <a:bodyPr wrap="square" lIns="1016" tIns="1016" rIns="1016" bIns="1016" rtlCol="0" anchor="ctr"/>
          <a:lstStyle/>
          <a:p>
            <a:pPr indent="0" marL="0">
              <a:buNone/>
            </a:pPr>
            <a:r>
              <a:rPr lang="en-US" sz="1200" b="1" dirty="0">
                <a:solidFill>
                  <a:srgbClr val="2D5B88"/>
                </a:solidFill>
              </a:rPr>
              <a:t>Primary data access</a:t>
            </a:r>
            <a:endParaRPr lang="en-US" sz="1200" dirty="0"/>
          </a:p>
        </p:txBody>
      </p:sp>
      <p:sp>
        <p:nvSpPr>
          <p:cNvPr id="10" name="Text 7"/>
          <p:cNvSpPr/>
          <p:nvPr/>
        </p:nvSpPr>
        <p:spPr>
          <a:xfrm>
            <a:off x="658368" y="1828800"/>
            <a:ext cx="2057400" cy="548640"/>
          </a:xfrm>
          <a:prstGeom prst="rect">
            <a:avLst/>
          </a:prstGeom>
          <a:solidFill>
            <a:srgbClr val="F4F7F9"/>
          </a:solidFill>
          <a:ln/>
        </p:spPr>
        <p:txBody>
          <a:bodyPr wrap="square" lIns="1016" tIns="1016" rIns="1016" bIns="1016" rtlCol="0" anchor="ctr"/>
          <a:lstStyle/>
          <a:p>
            <a:pPr indent="0" marL="0">
              <a:buNone/>
            </a:pPr>
            <a:r>
              <a:rPr lang="en-US" sz="1320" b="1" dirty="0">
                <a:solidFill>
                  <a:srgbClr val="17324A"/>
                </a:solidFill>
              </a:rPr>
              <a:t>GEO / GEO2R</a:t>
            </a:r>
            <a:endParaRPr lang="en-US" sz="1320" dirty="0"/>
          </a:p>
        </p:txBody>
      </p:sp>
      <p:sp>
        <p:nvSpPr>
          <p:cNvPr id="11" name="Text 8"/>
          <p:cNvSpPr/>
          <p:nvPr/>
        </p:nvSpPr>
        <p:spPr>
          <a:xfrm>
            <a:off x="2724912" y="1828800"/>
            <a:ext cx="5532120" cy="548640"/>
          </a:xfrm>
          <a:prstGeom prst="rect">
            <a:avLst/>
          </a:prstGeom>
          <a:solidFill>
            <a:srgbClr val="F4F7F9"/>
          </a:solidFill>
          <a:ln/>
        </p:spPr>
        <p:txBody>
          <a:bodyPr wrap="square" lIns="1016" tIns="1016" rIns="1016" bIns="1016" rtlCol="0" anchor="ctr"/>
          <a:lstStyle/>
          <a:p>
            <a:pPr indent="0" marL="0">
              <a:buNone/>
            </a:pPr>
            <a:r>
              <a:rPr lang="en-US" sz="1200" dirty="0">
                <a:solidFill>
                  <a:srgbClr val="17232C"/>
                </a:solidFill>
              </a:rPr>
              <a:t>Study search, metadata, expression, quick differential analysis</a:t>
            </a:r>
            <a:endParaRPr lang="en-US" sz="1200" dirty="0"/>
          </a:p>
        </p:txBody>
      </p:sp>
      <p:sp>
        <p:nvSpPr>
          <p:cNvPr id="12" name="Text 9"/>
          <p:cNvSpPr/>
          <p:nvPr/>
        </p:nvSpPr>
        <p:spPr>
          <a:xfrm>
            <a:off x="8275320" y="1828800"/>
            <a:ext cx="3246120" cy="548640"/>
          </a:xfrm>
          <a:prstGeom prst="rect">
            <a:avLst/>
          </a:prstGeom>
          <a:solidFill>
            <a:srgbClr val="F4F7F9"/>
          </a:solidFill>
          <a:ln/>
        </p:spPr>
        <p:txBody>
          <a:bodyPr wrap="square" lIns="1016" tIns="1016" rIns="1016" bIns="1016" rtlCol="0" anchor="ctr"/>
          <a:lstStyle/>
          <a:p>
            <a:pPr indent="0" marL="0">
              <a:buNone/>
            </a:pPr>
            <a:r>
              <a:rPr lang="en-US" sz="1200" b="1" dirty="0">
                <a:solidFill>
                  <a:srgbClr val="2A9D8F"/>
                </a:solidFill>
              </a:rPr>
              <a:t>External validation</a:t>
            </a:r>
            <a:endParaRPr lang="en-US" sz="1200" dirty="0"/>
          </a:p>
        </p:txBody>
      </p:sp>
      <p:sp>
        <p:nvSpPr>
          <p:cNvPr id="13" name="Text 10"/>
          <p:cNvSpPr/>
          <p:nvPr/>
        </p:nvSpPr>
        <p:spPr>
          <a:xfrm>
            <a:off x="658368" y="2450592"/>
            <a:ext cx="2057400" cy="548640"/>
          </a:xfrm>
          <a:prstGeom prst="rect">
            <a:avLst/>
          </a:prstGeom>
          <a:solidFill>
            <a:srgbClr val="FFFFFF"/>
          </a:solidFill>
          <a:ln/>
        </p:spPr>
        <p:txBody>
          <a:bodyPr wrap="square" lIns="1016" tIns="1016" rIns="1016" bIns="1016" rtlCol="0" anchor="ctr"/>
          <a:lstStyle/>
          <a:p>
            <a:pPr indent="0" marL="0">
              <a:buNone/>
            </a:pPr>
            <a:r>
              <a:rPr lang="en-US" sz="1320" b="1" dirty="0">
                <a:solidFill>
                  <a:srgbClr val="17324A"/>
                </a:solidFill>
              </a:rPr>
              <a:t>cBioPortal</a:t>
            </a:r>
            <a:endParaRPr lang="en-US" sz="1320" dirty="0"/>
          </a:p>
        </p:txBody>
      </p:sp>
      <p:sp>
        <p:nvSpPr>
          <p:cNvPr id="14" name="Text 11"/>
          <p:cNvSpPr/>
          <p:nvPr/>
        </p:nvSpPr>
        <p:spPr>
          <a:xfrm>
            <a:off x="2724912" y="2450592"/>
            <a:ext cx="5532120" cy="548640"/>
          </a:xfrm>
          <a:prstGeom prst="rect">
            <a:avLst/>
          </a:prstGeom>
          <a:solidFill>
            <a:srgbClr val="FFFFFF"/>
          </a:solidFill>
          <a:ln/>
        </p:spPr>
        <p:txBody>
          <a:bodyPr wrap="square" lIns="1016" tIns="1016" rIns="1016" bIns="1016" rtlCol="0" anchor="ctr"/>
          <a:lstStyle/>
          <a:p>
            <a:pPr indent="0" marL="0">
              <a:buNone/>
            </a:pPr>
            <a:r>
              <a:rPr lang="en-US" sz="1200" dirty="0">
                <a:solidFill>
                  <a:srgbClr val="17232C"/>
                </a:solidFill>
              </a:rPr>
              <a:t>Mutation/CNV/expression/clinical exploration and survival</a:t>
            </a:r>
            <a:endParaRPr lang="en-US" sz="1200" dirty="0"/>
          </a:p>
        </p:txBody>
      </p:sp>
      <p:sp>
        <p:nvSpPr>
          <p:cNvPr id="15" name="Text 12"/>
          <p:cNvSpPr/>
          <p:nvPr/>
        </p:nvSpPr>
        <p:spPr>
          <a:xfrm>
            <a:off x="8275320" y="2450592"/>
            <a:ext cx="3246120" cy="548640"/>
          </a:xfrm>
          <a:prstGeom prst="rect">
            <a:avLst/>
          </a:prstGeom>
          <a:solidFill>
            <a:srgbClr val="FFFFFF"/>
          </a:solidFill>
          <a:ln/>
        </p:spPr>
        <p:txBody>
          <a:bodyPr wrap="square" lIns="1016" tIns="1016" rIns="1016" bIns="1016" rtlCol="0" anchor="ctr"/>
          <a:lstStyle/>
          <a:p>
            <a:pPr indent="0" marL="0">
              <a:buNone/>
            </a:pPr>
            <a:r>
              <a:rPr lang="en-US" sz="1200" b="1" dirty="0">
                <a:solidFill>
                  <a:srgbClr val="E76F51"/>
                </a:solidFill>
              </a:rPr>
              <a:t>Genomic context</a:t>
            </a:r>
            <a:endParaRPr lang="en-US" sz="1200" dirty="0"/>
          </a:p>
        </p:txBody>
      </p:sp>
      <p:sp>
        <p:nvSpPr>
          <p:cNvPr id="16" name="Text 13"/>
          <p:cNvSpPr/>
          <p:nvPr/>
        </p:nvSpPr>
        <p:spPr>
          <a:xfrm>
            <a:off x="658368" y="3072384"/>
            <a:ext cx="2057400" cy="548640"/>
          </a:xfrm>
          <a:prstGeom prst="rect">
            <a:avLst/>
          </a:prstGeom>
          <a:solidFill>
            <a:srgbClr val="F4F7F9"/>
          </a:solidFill>
          <a:ln/>
        </p:spPr>
        <p:txBody>
          <a:bodyPr wrap="square" lIns="1016" tIns="1016" rIns="1016" bIns="1016" rtlCol="0" anchor="ctr"/>
          <a:lstStyle/>
          <a:p>
            <a:pPr indent="0" marL="0">
              <a:buNone/>
            </a:pPr>
            <a:r>
              <a:rPr lang="en-US" sz="1320" b="1" dirty="0">
                <a:solidFill>
                  <a:srgbClr val="17324A"/>
                </a:solidFill>
              </a:rPr>
              <a:t>TIMER / TIMER2</a:t>
            </a:r>
            <a:endParaRPr lang="en-US" sz="1320" dirty="0"/>
          </a:p>
        </p:txBody>
      </p:sp>
      <p:sp>
        <p:nvSpPr>
          <p:cNvPr id="17" name="Text 14"/>
          <p:cNvSpPr/>
          <p:nvPr/>
        </p:nvSpPr>
        <p:spPr>
          <a:xfrm>
            <a:off x="2724912" y="3072384"/>
            <a:ext cx="5532120" cy="548640"/>
          </a:xfrm>
          <a:prstGeom prst="rect">
            <a:avLst/>
          </a:prstGeom>
          <a:solidFill>
            <a:srgbClr val="F4F7F9"/>
          </a:solidFill>
          <a:ln/>
        </p:spPr>
        <p:txBody>
          <a:bodyPr wrap="square" lIns="1016" tIns="1016" rIns="1016" bIns="1016" rtlCol="0" anchor="ctr"/>
          <a:lstStyle/>
          <a:p>
            <a:pPr indent="0" marL="0">
              <a:buNone/>
            </a:pPr>
            <a:r>
              <a:rPr lang="en-US" sz="1200" dirty="0">
                <a:solidFill>
                  <a:srgbClr val="17232C"/>
                </a:solidFill>
              </a:rPr>
              <a:t>Immune infiltration and gene–immune associations</a:t>
            </a:r>
            <a:endParaRPr lang="en-US" sz="1200" dirty="0"/>
          </a:p>
        </p:txBody>
      </p:sp>
      <p:sp>
        <p:nvSpPr>
          <p:cNvPr id="18" name="Text 15"/>
          <p:cNvSpPr/>
          <p:nvPr/>
        </p:nvSpPr>
        <p:spPr>
          <a:xfrm>
            <a:off x="8275320" y="3072384"/>
            <a:ext cx="3246120" cy="548640"/>
          </a:xfrm>
          <a:prstGeom prst="rect">
            <a:avLst/>
          </a:prstGeom>
          <a:solidFill>
            <a:srgbClr val="F4F7F9"/>
          </a:solidFill>
          <a:ln/>
        </p:spPr>
        <p:txBody>
          <a:bodyPr wrap="square" lIns="1016" tIns="1016" rIns="1016" bIns="1016" rtlCol="0" anchor="ctr"/>
          <a:lstStyle/>
          <a:p>
            <a:pPr indent="0" marL="0">
              <a:buNone/>
            </a:pPr>
            <a:r>
              <a:rPr lang="en-US" sz="1200" b="1" dirty="0">
                <a:solidFill>
                  <a:srgbClr val="2D5B88"/>
                </a:solidFill>
              </a:rPr>
              <a:t>Immune context</a:t>
            </a:r>
            <a:endParaRPr lang="en-US" sz="1200" dirty="0"/>
          </a:p>
        </p:txBody>
      </p:sp>
      <p:sp>
        <p:nvSpPr>
          <p:cNvPr id="19" name="Text 16"/>
          <p:cNvSpPr/>
          <p:nvPr/>
        </p:nvSpPr>
        <p:spPr>
          <a:xfrm>
            <a:off x="658368" y="3694176"/>
            <a:ext cx="2057400" cy="548640"/>
          </a:xfrm>
          <a:prstGeom prst="rect">
            <a:avLst/>
          </a:prstGeom>
          <a:solidFill>
            <a:srgbClr val="FFFFFF"/>
          </a:solidFill>
          <a:ln/>
        </p:spPr>
        <p:txBody>
          <a:bodyPr wrap="square" lIns="1016" tIns="1016" rIns="1016" bIns="1016" rtlCol="0" anchor="ctr"/>
          <a:lstStyle/>
          <a:p>
            <a:pPr indent="0" marL="0">
              <a:buNone/>
            </a:pPr>
            <a:r>
              <a:rPr lang="en-US" sz="1320" b="1" dirty="0">
                <a:solidFill>
                  <a:srgbClr val="17324A"/>
                </a:solidFill>
              </a:rPr>
              <a:t>GEPIA2</a:t>
            </a:r>
            <a:endParaRPr lang="en-US" sz="1320" dirty="0"/>
          </a:p>
        </p:txBody>
      </p:sp>
      <p:sp>
        <p:nvSpPr>
          <p:cNvPr id="20" name="Text 17"/>
          <p:cNvSpPr/>
          <p:nvPr/>
        </p:nvSpPr>
        <p:spPr>
          <a:xfrm>
            <a:off x="2724912" y="3694176"/>
            <a:ext cx="5532120" cy="548640"/>
          </a:xfrm>
          <a:prstGeom prst="rect">
            <a:avLst/>
          </a:prstGeom>
          <a:solidFill>
            <a:srgbClr val="FFFFFF"/>
          </a:solidFill>
          <a:ln/>
        </p:spPr>
        <p:txBody>
          <a:bodyPr wrap="square" lIns="1016" tIns="1016" rIns="1016" bIns="1016" rtlCol="0" anchor="ctr"/>
          <a:lstStyle/>
          <a:p>
            <a:pPr indent="0" marL="0">
              <a:buNone/>
            </a:pPr>
            <a:r>
              <a:rPr lang="en-US" sz="1200" dirty="0">
                <a:solidFill>
                  <a:srgbClr val="17232C"/>
                </a:solidFill>
              </a:rPr>
              <a:t>TCGA/GTEx expression and survival exploration</a:t>
            </a:r>
            <a:endParaRPr lang="en-US" sz="1200" dirty="0"/>
          </a:p>
        </p:txBody>
      </p:sp>
      <p:sp>
        <p:nvSpPr>
          <p:cNvPr id="21" name="Text 18"/>
          <p:cNvSpPr/>
          <p:nvPr/>
        </p:nvSpPr>
        <p:spPr>
          <a:xfrm>
            <a:off x="8275320" y="3694176"/>
            <a:ext cx="3246120" cy="548640"/>
          </a:xfrm>
          <a:prstGeom prst="rect">
            <a:avLst/>
          </a:prstGeom>
          <a:solidFill>
            <a:srgbClr val="FFFFFF"/>
          </a:solidFill>
          <a:ln/>
        </p:spPr>
        <p:txBody>
          <a:bodyPr wrap="square" lIns="1016" tIns="1016" rIns="1016" bIns="1016" rtlCol="0" anchor="ctr"/>
          <a:lstStyle/>
          <a:p>
            <a:pPr indent="0" marL="0">
              <a:buNone/>
            </a:pPr>
            <a:r>
              <a:rPr lang="en-US" sz="1200" b="1" dirty="0">
                <a:solidFill>
                  <a:srgbClr val="2A9D8F"/>
                </a:solidFill>
              </a:rPr>
              <a:t>Quick expression check</a:t>
            </a:r>
            <a:endParaRPr lang="en-US" sz="1200" dirty="0"/>
          </a:p>
        </p:txBody>
      </p:sp>
      <p:sp>
        <p:nvSpPr>
          <p:cNvPr id="22" name="Text 19"/>
          <p:cNvSpPr/>
          <p:nvPr/>
        </p:nvSpPr>
        <p:spPr>
          <a:xfrm>
            <a:off x="658368" y="4315968"/>
            <a:ext cx="2057400" cy="548640"/>
          </a:xfrm>
          <a:prstGeom prst="rect">
            <a:avLst/>
          </a:prstGeom>
          <a:solidFill>
            <a:srgbClr val="F4F7F9"/>
          </a:solidFill>
          <a:ln/>
        </p:spPr>
        <p:txBody>
          <a:bodyPr wrap="square" lIns="1016" tIns="1016" rIns="1016" bIns="1016" rtlCol="0" anchor="ctr"/>
          <a:lstStyle/>
          <a:p>
            <a:pPr indent="0" marL="0">
              <a:buNone/>
            </a:pPr>
            <a:r>
              <a:rPr lang="en-US" sz="1320" b="1" dirty="0">
                <a:solidFill>
                  <a:srgbClr val="17324A"/>
                </a:solidFill>
              </a:rPr>
              <a:t>STRING</a:t>
            </a:r>
            <a:endParaRPr lang="en-US" sz="1320" dirty="0"/>
          </a:p>
        </p:txBody>
      </p:sp>
      <p:sp>
        <p:nvSpPr>
          <p:cNvPr id="23" name="Text 20"/>
          <p:cNvSpPr/>
          <p:nvPr/>
        </p:nvSpPr>
        <p:spPr>
          <a:xfrm>
            <a:off x="2724912" y="4315968"/>
            <a:ext cx="5532120" cy="548640"/>
          </a:xfrm>
          <a:prstGeom prst="rect">
            <a:avLst/>
          </a:prstGeom>
          <a:solidFill>
            <a:srgbClr val="F4F7F9"/>
          </a:solidFill>
          <a:ln/>
        </p:spPr>
        <p:txBody>
          <a:bodyPr wrap="square" lIns="1016" tIns="1016" rIns="1016" bIns="1016" rtlCol="0" anchor="ctr"/>
          <a:lstStyle/>
          <a:p>
            <a:pPr indent="0" marL="0">
              <a:buNone/>
            </a:pPr>
            <a:r>
              <a:rPr lang="en-US" sz="1200" dirty="0">
                <a:solidFill>
                  <a:srgbClr val="17232C"/>
                </a:solidFill>
              </a:rPr>
              <a:t>Protein association networks + functional enrichment</a:t>
            </a:r>
            <a:endParaRPr lang="en-US" sz="1200" dirty="0"/>
          </a:p>
        </p:txBody>
      </p:sp>
      <p:sp>
        <p:nvSpPr>
          <p:cNvPr id="24" name="Text 21"/>
          <p:cNvSpPr/>
          <p:nvPr/>
        </p:nvSpPr>
        <p:spPr>
          <a:xfrm>
            <a:off x="8275320" y="4315968"/>
            <a:ext cx="3246120" cy="548640"/>
          </a:xfrm>
          <a:prstGeom prst="rect">
            <a:avLst/>
          </a:prstGeom>
          <a:solidFill>
            <a:srgbClr val="F4F7F9"/>
          </a:solidFill>
          <a:ln/>
        </p:spPr>
        <p:txBody>
          <a:bodyPr wrap="square" lIns="1016" tIns="1016" rIns="1016" bIns="1016" rtlCol="0" anchor="ctr"/>
          <a:lstStyle/>
          <a:p>
            <a:pPr indent="0" marL="0">
              <a:buNone/>
            </a:pPr>
            <a:r>
              <a:rPr lang="en-US" sz="1200" b="1" dirty="0">
                <a:solidFill>
                  <a:srgbClr val="E76F51"/>
                </a:solidFill>
              </a:rPr>
              <a:t>PPI / network</a:t>
            </a:r>
            <a:endParaRPr lang="en-US" sz="1200" dirty="0"/>
          </a:p>
        </p:txBody>
      </p:sp>
      <p:sp>
        <p:nvSpPr>
          <p:cNvPr id="25" name="Text 22"/>
          <p:cNvSpPr/>
          <p:nvPr/>
        </p:nvSpPr>
        <p:spPr>
          <a:xfrm>
            <a:off x="658368" y="4937760"/>
            <a:ext cx="2057400" cy="548640"/>
          </a:xfrm>
          <a:prstGeom prst="rect">
            <a:avLst/>
          </a:prstGeom>
          <a:solidFill>
            <a:srgbClr val="FFFFFF"/>
          </a:solidFill>
          <a:ln/>
        </p:spPr>
        <p:txBody>
          <a:bodyPr wrap="square" lIns="1016" tIns="1016" rIns="1016" bIns="1016" rtlCol="0" anchor="ctr"/>
          <a:lstStyle/>
          <a:p>
            <a:pPr indent="0" marL="0">
              <a:buNone/>
            </a:pPr>
            <a:r>
              <a:rPr lang="en-US" sz="1320" b="1" dirty="0">
                <a:solidFill>
                  <a:srgbClr val="17324A"/>
                </a:solidFill>
              </a:rPr>
              <a:t>g:Profiler / Enrichr</a:t>
            </a:r>
            <a:endParaRPr lang="en-US" sz="1320" dirty="0"/>
          </a:p>
        </p:txBody>
      </p:sp>
      <p:sp>
        <p:nvSpPr>
          <p:cNvPr id="26" name="Text 23"/>
          <p:cNvSpPr/>
          <p:nvPr/>
        </p:nvSpPr>
        <p:spPr>
          <a:xfrm>
            <a:off x="2724912" y="4937760"/>
            <a:ext cx="5532120" cy="548640"/>
          </a:xfrm>
          <a:prstGeom prst="rect">
            <a:avLst/>
          </a:prstGeom>
          <a:solidFill>
            <a:srgbClr val="FFFFFF"/>
          </a:solidFill>
          <a:ln/>
        </p:spPr>
        <p:txBody>
          <a:bodyPr wrap="square" lIns="1016" tIns="1016" rIns="1016" bIns="1016" rtlCol="0" anchor="ctr"/>
          <a:lstStyle/>
          <a:p>
            <a:pPr indent="0" marL="0">
              <a:buNone/>
            </a:pPr>
            <a:r>
              <a:rPr lang="en-US" sz="1200" dirty="0">
                <a:solidFill>
                  <a:srgbClr val="17232C"/>
                </a:solidFill>
              </a:rPr>
              <a:t>GO/pathway enrichment</a:t>
            </a:r>
            <a:endParaRPr lang="en-US" sz="1200" dirty="0"/>
          </a:p>
        </p:txBody>
      </p:sp>
      <p:sp>
        <p:nvSpPr>
          <p:cNvPr id="27" name="Text 24"/>
          <p:cNvSpPr/>
          <p:nvPr/>
        </p:nvSpPr>
        <p:spPr>
          <a:xfrm>
            <a:off x="8275320" y="4937760"/>
            <a:ext cx="3246120" cy="548640"/>
          </a:xfrm>
          <a:prstGeom prst="rect">
            <a:avLst/>
          </a:prstGeom>
          <a:solidFill>
            <a:srgbClr val="FFFFFF"/>
          </a:solidFill>
          <a:ln/>
        </p:spPr>
        <p:txBody>
          <a:bodyPr wrap="square" lIns="1016" tIns="1016" rIns="1016" bIns="1016" rtlCol="0" anchor="ctr"/>
          <a:lstStyle/>
          <a:p>
            <a:pPr indent="0" marL="0">
              <a:buNone/>
            </a:pPr>
            <a:r>
              <a:rPr lang="en-US" sz="1200" b="1" dirty="0">
                <a:solidFill>
                  <a:srgbClr val="2D5B88"/>
                </a:solidFill>
              </a:rPr>
              <a:t>Fast functional annotation</a:t>
            </a:r>
            <a:endParaRPr lang="en-US" sz="1200" dirty="0"/>
          </a:p>
        </p:txBody>
      </p:sp>
      <p:sp>
        <p:nvSpPr>
          <p:cNvPr id="28" name="Text 25"/>
          <p:cNvSpPr/>
          <p:nvPr/>
        </p:nvSpPr>
        <p:spPr>
          <a:xfrm>
            <a:off x="749808" y="5806440"/>
            <a:ext cx="10744200" cy="438912"/>
          </a:xfrm>
          <a:prstGeom prst="rect">
            <a:avLst/>
          </a:prstGeom>
          <a:noFill/>
          <a:ln/>
        </p:spPr>
        <p:txBody>
          <a:bodyPr wrap="square" lIns="0" tIns="0" rIns="0" bIns="0" rtlCol="0" anchor="ctr"/>
          <a:lstStyle/>
          <a:p>
            <a:pPr algn="ctr" indent="0" marL="0">
              <a:buNone/>
            </a:pPr>
            <a:r>
              <a:rPr lang="en-US" sz="1700" b="1" dirty="0">
                <a:solidFill>
                  <a:srgbClr val="C83E4D"/>
                </a:solidFill>
              </a:rPr>
              <a:t>Use web tools to confirm or explore. For the final manuscript, keep a reproducible local analysis whenever possible.</a:t>
            </a:r>
            <a:endParaRPr lang="en-US" sz="17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Local R toolbox: the practical core</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 small set of packages covers most bulk-data papers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R WORKFLOW</a:t>
            </a:r>
            <a:endParaRPr lang="en-US" sz="950" dirty="0"/>
          </a:p>
        </p:txBody>
      </p:sp>
      <p:sp>
        <p:nvSpPr>
          <p:cNvPr id="7" name="Shape 4"/>
          <p:cNvSpPr/>
          <p:nvPr/>
        </p:nvSpPr>
        <p:spPr>
          <a:xfrm>
            <a:off x="731520" y="1216152"/>
            <a:ext cx="5074920" cy="749808"/>
          </a:xfrm>
          <a:prstGeom prst="roundRect">
            <a:avLst>
              <a:gd name="adj" fmla="val 4878"/>
            </a:avLst>
          </a:prstGeom>
          <a:solidFill>
            <a:srgbClr val="FFFFFF"/>
          </a:solidFill>
          <a:ln w="12700">
            <a:solidFill>
              <a:srgbClr val="DEE5EA"/>
            </a:solidFill>
            <a:prstDash val="solid"/>
          </a:ln>
        </p:spPr>
      </p:sp>
      <p:sp>
        <p:nvSpPr>
          <p:cNvPr id="8" name="Text 5"/>
          <p:cNvSpPr/>
          <p:nvPr/>
        </p:nvSpPr>
        <p:spPr>
          <a:xfrm>
            <a:off x="896112" y="1335024"/>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Data / plotting</a:t>
            </a:r>
            <a:endParaRPr lang="en-US" sz="1300" dirty="0"/>
          </a:p>
        </p:txBody>
      </p:sp>
      <p:sp>
        <p:nvSpPr>
          <p:cNvPr id="9" name="Text 6"/>
          <p:cNvSpPr/>
          <p:nvPr/>
        </p:nvSpPr>
        <p:spPr>
          <a:xfrm>
            <a:off x="2514600" y="1335024"/>
            <a:ext cx="3108960" cy="384048"/>
          </a:xfrm>
          <a:prstGeom prst="rect">
            <a:avLst/>
          </a:prstGeom>
          <a:noFill/>
          <a:ln/>
        </p:spPr>
        <p:txBody>
          <a:bodyPr wrap="square" lIns="0" tIns="0" rIns="0" bIns="0" rtlCol="0" anchor="ctr"/>
          <a:lstStyle/>
          <a:p>
            <a:pPr indent="0" marL="0">
              <a:buNone/>
            </a:pPr>
            <a:r>
              <a:rPr lang="en-US" sz="1170" dirty="0">
                <a:solidFill>
                  <a:srgbClr val="17232C"/>
                </a:solidFill>
              </a:rPr>
              <a:t>tidyverse, data.table, ggplot2, ComplexHeatmap</a:t>
            </a:r>
            <a:endParaRPr lang="en-US" sz="1170" dirty="0"/>
          </a:p>
        </p:txBody>
      </p:sp>
      <p:sp>
        <p:nvSpPr>
          <p:cNvPr id="10" name="Shape 7"/>
          <p:cNvSpPr/>
          <p:nvPr/>
        </p:nvSpPr>
        <p:spPr>
          <a:xfrm>
            <a:off x="731520" y="2148840"/>
            <a:ext cx="5074920" cy="749808"/>
          </a:xfrm>
          <a:prstGeom prst="roundRect">
            <a:avLst>
              <a:gd name="adj" fmla="val 4878"/>
            </a:avLst>
          </a:prstGeom>
          <a:solidFill>
            <a:srgbClr val="FFFFFF"/>
          </a:solidFill>
          <a:ln w="12700">
            <a:solidFill>
              <a:srgbClr val="DEE5EA"/>
            </a:solidFill>
            <a:prstDash val="solid"/>
          </a:ln>
        </p:spPr>
      </p:sp>
      <p:sp>
        <p:nvSpPr>
          <p:cNvPr id="11" name="Text 8"/>
          <p:cNvSpPr/>
          <p:nvPr/>
        </p:nvSpPr>
        <p:spPr>
          <a:xfrm>
            <a:off x="896112" y="2267712"/>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Differential expression</a:t>
            </a:r>
            <a:endParaRPr lang="en-US" sz="1300" dirty="0"/>
          </a:p>
        </p:txBody>
      </p:sp>
      <p:sp>
        <p:nvSpPr>
          <p:cNvPr id="12" name="Text 9"/>
          <p:cNvSpPr/>
          <p:nvPr/>
        </p:nvSpPr>
        <p:spPr>
          <a:xfrm>
            <a:off x="2514600" y="2267712"/>
            <a:ext cx="3108960" cy="384048"/>
          </a:xfrm>
          <a:prstGeom prst="rect">
            <a:avLst/>
          </a:prstGeom>
          <a:noFill/>
          <a:ln/>
        </p:spPr>
        <p:txBody>
          <a:bodyPr wrap="square" lIns="0" tIns="0" rIns="0" bIns="0" rtlCol="0" anchor="ctr"/>
          <a:lstStyle/>
          <a:p>
            <a:pPr indent="0" marL="0">
              <a:buNone/>
            </a:pPr>
            <a:r>
              <a:rPr lang="en-US" sz="1170" dirty="0">
                <a:solidFill>
                  <a:srgbClr val="17232C"/>
                </a:solidFill>
              </a:rPr>
              <a:t>limma, edgeR, DESeq2</a:t>
            </a:r>
            <a:endParaRPr lang="en-US" sz="1170" dirty="0"/>
          </a:p>
        </p:txBody>
      </p:sp>
      <p:sp>
        <p:nvSpPr>
          <p:cNvPr id="13" name="Shape 10"/>
          <p:cNvSpPr/>
          <p:nvPr/>
        </p:nvSpPr>
        <p:spPr>
          <a:xfrm>
            <a:off x="731520" y="3081528"/>
            <a:ext cx="5074920" cy="749808"/>
          </a:xfrm>
          <a:prstGeom prst="roundRect">
            <a:avLst>
              <a:gd name="adj" fmla="val 4878"/>
            </a:avLst>
          </a:prstGeom>
          <a:solidFill>
            <a:srgbClr val="FFFFFF"/>
          </a:solidFill>
          <a:ln w="12700">
            <a:solidFill>
              <a:srgbClr val="DEE5EA"/>
            </a:solidFill>
            <a:prstDash val="solid"/>
          </a:ln>
        </p:spPr>
      </p:sp>
      <p:sp>
        <p:nvSpPr>
          <p:cNvPr id="14" name="Text 11"/>
          <p:cNvSpPr/>
          <p:nvPr/>
        </p:nvSpPr>
        <p:spPr>
          <a:xfrm>
            <a:off x="896112" y="3200400"/>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Survival</a:t>
            </a:r>
            <a:endParaRPr lang="en-US" sz="1300" dirty="0"/>
          </a:p>
        </p:txBody>
      </p:sp>
      <p:sp>
        <p:nvSpPr>
          <p:cNvPr id="15" name="Text 12"/>
          <p:cNvSpPr/>
          <p:nvPr/>
        </p:nvSpPr>
        <p:spPr>
          <a:xfrm>
            <a:off x="2514600" y="3200400"/>
            <a:ext cx="3108960" cy="384048"/>
          </a:xfrm>
          <a:prstGeom prst="rect">
            <a:avLst/>
          </a:prstGeom>
          <a:noFill/>
          <a:ln/>
        </p:spPr>
        <p:txBody>
          <a:bodyPr wrap="square" lIns="0" tIns="0" rIns="0" bIns="0" rtlCol="0" anchor="ctr"/>
          <a:lstStyle/>
          <a:p>
            <a:pPr indent="0" marL="0">
              <a:buNone/>
            </a:pPr>
            <a:r>
              <a:rPr lang="en-US" sz="1170" dirty="0">
                <a:solidFill>
                  <a:srgbClr val="17232C"/>
                </a:solidFill>
              </a:rPr>
              <a:t>survival, survminer, timeROC / riskRegression</a:t>
            </a:r>
            <a:endParaRPr lang="en-US" sz="1170" dirty="0"/>
          </a:p>
        </p:txBody>
      </p:sp>
      <p:sp>
        <p:nvSpPr>
          <p:cNvPr id="16" name="Shape 13"/>
          <p:cNvSpPr/>
          <p:nvPr/>
        </p:nvSpPr>
        <p:spPr>
          <a:xfrm>
            <a:off x="731520" y="4014216"/>
            <a:ext cx="5074920" cy="749808"/>
          </a:xfrm>
          <a:prstGeom prst="roundRect">
            <a:avLst>
              <a:gd name="adj" fmla="val 4878"/>
            </a:avLst>
          </a:prstGeom>
          <a:solidFill>
            <a:srgbClr val="FFFFFF"/>
          </a:solidFill>
          <a:ln w="12700">
            <a:solidFill>
              <a:srgbClr val="DEE5EA"/>
            </a:solidFill>
            <a:prstDash val="solid"/>
          </a:ln>
        </p:spPr>
      </p:sp>
      <p:sp>
        <p:nvSpPr>
          <p:cNvPr id="17" name="Text 14"/>
          <p:cNvSpPr/>
          <p:nvPr/>
        </p:nvSpPr>
        <p:spPr>
          <a:xfrm>
            <a:off x="896112" y="4133088"/>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Enrichment</a:t>
            </a:r>
            <a:endParaRPr lang="en-US" sz="1300" dirty="0"/>
          </a:p>
        </p:txBody>
      </p:sp>
      <p:sp>
        <p:nvSpPr>
          <p:cNvPr id="18" name="Text 15"/>
          <p:cNvSpPr/>
          <p:nvPr/>
        </p:nvSpPr>
        <p:spPr>
          <a:xfrm>
            <a:off x="2514600" y="4133088"/>
            <a:ext cx="3108960" cy="384048"/>
          </a:xfrm>
          <a:prstGeom prst="rect">
            <a:avLst/>
          </a:prstGeom>
          <a:noFill/>
          <a:ln/>
        </p:spPr>
        <p:txBody>
          <a:bodyPr wrap="square" lIns="0" tIns="0" rIns="0" bIns="0" rtlCol="0" anchor="ctr"/>
          <a:lstStyle/>
          <a:p>
            <a:pPr indent="0" marL="0">
              <a:buNone/>
            </a:pPr>
            <a:r>
              <a:rPr lang="en-US" sz="1170" dirty="0">
                <a:solidFill>
                  <a:srgbClr val="17232C"/>
                </a:solidFill>
              </a:rPr>
              <a:t>clusterProfiler, enrichplot, fgsea, GSVA</a:t>
            </a:r>
            <a:endParaRPr lang="en-US" sz="1170" dirty="0"/>
          </a:p>
        </p:txBody>
      </p:sp>
      <p:sp>
        <p:nvSpPr>
          <p:cNvPr id="19" name="Shape 16"/>
          <p:cNvSpPr/>
          <p:nvPr/>
        </p:nvSpPr>
        <p:spPr>
          <a:xfrm>
            <a:off x="731520" y="4946904"/>
            <a:ext cx="5074920" cy="749808"/>
          </a:xfrm>
          <a:prstGeom prst="roundRect">
            <a:avLst>
              <a:gd name="adj" fmla="val 4878"/>
            </a:avLst>
          </a:prstGeom>
          <a:solidFill>
            <a:srgbClr val="FFFFFF"/>
          </a:solidFill>
          <a:ln w="12700">
            <a:solidFill>
              <a:srgbClr val="DEE5EA"/>
            </a:solidFill>
            <a:prstDash val="solid"/>
          </a:ln>
        </p:spPr>
      </p:sp>
      <p:sp>
        <p:nvSpPr>
          <p:cNvPr id="20" name="Text 17"/>
          <p:cNvSpPr/>
          <p:nvPr/>
        </p:nvSpPr>
        <p:spPr>
          <a:xfrm>
            <a:off x="896112" y="5065776"/>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Mutation</a:t>
            </a:r>
            <a:endParaRPr lang="en-US" sz="1300" dirty="0"/>
          </a:p>
        </p:txBody>
      </p:sp>
      <p:sp>
        <p:nvSpPr>
          <p:cNvPr id="21" name="Text 18"/>
          <p:cNvSpPr/>
          <p:nvPr/>
        </p:nvSpPr>
        <p:spPr>
          <a:xfrm>
            <a:off x="2514600" y="5065776"/>
            <a:ext cx="3108960" cy="384048"/>
          </a:xfrm>
          <a:prstGeom prst="rect">
            <a:avLst/>
          </a:prstGeom>
          <a:noFill/>
          <a:ln/>
        </p:spPr>
        <p:txBody>
          <a:bodyPr wrap="square" lIns="0" tIns="0" rIns="0" bIns="0" rtlCol="0" anchor="ctr"/>
          <a:lstStyle/>
          <a:p>
            <a:pPr indent="0" marL="0">
              <a:buNone/>
            </a:pPr>
            <a:r>
              <a:rPr lang="en-US" sz="1170" dirty="0">
                <a:solidFill>
                  <a:srgbClr val="17232C"/>
                </a:solidFill>
              </a:rPr>
              <a:t>maftools</a:t>
            </a:r>
            <a:endParaRPr lang="en-US" sz="1170" dirty="0"/>
          </a:p>
        </p:txBody>
      </p:sp>
      <p:sp>
        <p:nvSpPr>
          <p:cNvPr id="22" name="Shape 19"/>
          <p:cNvSpPr/>
          <p:nvPr/>
        </p:nvSpPr>
        <p:spPr>
          <a:xfrm>
            <a:off x="6172200" y="1216152"/>
            <a:ext cx="5074920" cy="749808"/>
          </a:xfrm>
          <a:prstGeom prst="roundRect">
            <a:avLst>
              <a:gd name="adj" fmla="val 4878"/>
            </a:avLst>
          </a:prstGeom>
          <a:solidFill>
            <a:srgbClr val="FFFFFF"/>
          </a:solidFill>
          <a:ln w="12700">
            <a:solidFill>
              <a:srgbClr val="DEE5EA"/>
            </a:solidFill>
            <a:prstDash val="solid"/>
          </a:ln>
        </p:spPr>
      </p:sp>
      <p:sp>
        <p:nvSpPr>
          <p:cNvPr id="23" name="Text 20"/>
          <p:cNvSpPr/>
          <p:nvPr/>
        </p:nvSpPr>
        <p:spPr>
          <a:xfrm>
            <a:off x="6336792" y="1335024"/>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Network</a:t>
            </a:r>
            <a:endParaRPr lang="en-US" sz="1300" dirty="0"/>
          </a:p>
        </p:txBody>
      </p:sp>
      <p:sp>
        <p:nvSpPr>
          <p:cNvPr id="24" name="Text 21"/>
          <p:cNvSpPr/>
          <p:nvPr/>
        </p:nvSpPr>
        <p:spPr>
          <a:xfrm>
            <a:off x="7955280" y="1335024"/>
            <a:ext cx="3108960" cy="384048"/>
          </a:xfrm>
          <a:prstGeom prst="rect">
            <a:avLst/>
          </a:prstGeom>
          <a:noFill/>
          <a:ln/>
        </p:spPr>
        <p:txBody>
          <a:bodyPr wrap="square" lIns="0" tIns="0" rIns="0" bIns="0" rtlCol="0" anchor="ctr"/>
          <a:lstStyle/>
          <a:p>
            <a:pPr indent="0" marL="0">
              <a:buNone/>
            </a:pPr>
            <a:r>
              <a:rPr lang="en-US" sz="1170" dirty="0">
                <a:solidFill>
                  <a:srgbClr val="17232C"/>
                </a:solidFill>
              </a:rPr>
              <a:t>WGCNA, igraph; STRING via web/API</a:t>
            </a:r>
            <a:endParaRPr lang="en-US" sz="1170" dirty="0"/>
          </a:p>
        </p:txBody>
      </p:sp>
      <p:sp>
        <p:nvSpPr>
          <p:cNvPr id="25" name="Shape 22"/>
          <p:cNvSpPr/>
          <p:nvPr/>
        </p:nvSpPr>
        <p:spPr>
          <a:xfrm>
            <a:off x="6172200" y="2148840"/>
            <a:ext cx="5074920" cy="749808"/>
          </a:xfrm>
          <a:prstGeom prst="roundRect">
            <a:avLst>
              <a:gd name="adj" fmla="val 4878"/>
            </a:avLst>
          </a:prstGeom>
          <a:solidFill>
            <a:srgbClr val="FFFFFF"/>
          </a:solidFill>
          <a:ln w="12700">
            <a:solidFill>
              <a:srgbClr val="DEE5EA"/>
            </a:solidFill>
            <a:prstDash val="solid"/>
          </a:ln>
        </p:spPr>
      </p:sp>
      <p:sp>
        <p:nvSpPr>
          <p:cNvPr id="26" name="Text 23"/>
          <p:cNvSpPr/>
          <p:nvPr/>
        </p:nvSpPr>
        <p:spPr>
          <a:xfrm>
            <a:off x="6336792" y="2267712"/>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Models</a:t>
            </a:r>
            <a:endParaRPr lang="en-US" sz="1300" dirty="0"/>
          </a:p>
        </p:txBody>
      </p:sp>
      <p:sp>
        <p:nvSpPr>
          <p:cNvPr id="27" name="Text 24"/>
          <p:cNvSpPr/>
          <p:nvPr/>
        </p:nvSpPr>
        <p:spPr>
          <a:xfrm>
            <a:off x="7955280" y="2267712"/>
            <a:ext cx="3108960" cy="384048"/>
          </a:xfrm>
          <a:prstGeom prst="rect">
            <a:avLst/>
          </a:prstGeom>
          <a:noFill/>
          <a:ln/>
        </p:spPr>
        <p:txBody>
          <a:bodyPr wrap="square" lIns="0" tIns="0" rIns="0" bIns="0" rtlCol="0" anchor="ctr"/>
          <a:lstStyle/>
          <a:p>
            <a:pPr indent="0" marL="0">
              <a:buNone/>
            </a:pPr>
            <a:r>
              <a:rPr lang="en-US" sz="1170" dirty="0">
                <a:solidFill>
                  <a:srgbClr val="17232C"/>
                </a:solidFill>
              </a:rPr>
              <a:t>glmnet, rms, caret / tidymodels</a:t>
            </a:r>
            <a:endParaRPr lang="en-US" sz="1170" dirty="0"/>
          </a:p>
        </p:txBody>
      </p:sp>
      <p:sp>
        <p:nvSpPr>
          <p:cNvPr id="28" name="Shape 25"/>
          <p:cNvSpPr/>
          <p:nvPr/>
        </p:nvSpPr>
        <p:spPr>
          <a:xfrm>
            <a:off x="6172200" y="3081528"/>
            <a:ext cx="5074920" cy="749808"/>
          </a:xfrm>
          <a:prstGeom prst="roundRect">
            <a:avLst>
              <a:gd name="adj" fmla="val 4878"/>
            </a:avLst>
          </a:prstGeom>
          <a:solidFill>
            <a:srgbClr val="FFFFFF"/>
          </a:solidFill>
          <a:ln w="12700">
            <a:solidFill>
              <a:srgbClr val="DEE5EA"/>
            </a:solidFill>
            <a:prstDash val="solid"/>
          </a:ln>
        </p:spPr>
      </p:sp>
      <p:sp>
        <p:nvSpPr>
          <p:cNvPr id="29" name="Text 26"/>
          <p:cNvSpPr/>
          <p:nvPr/>
        </p:nvSpPr>
        <p:spPr>
          <a:xfrm>
            <a:off x="6336792" y="3200400"/>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TCGA access</a:t>
            </a:r>
            <a:endParaRPr lang="en-US" sz="1300" dirty="0"/>
          </a:p>
        </p:txBody>
      </p:sp>
      <p:sp>
        <p:nvSpPr>
          <p:cNvPr id="30" name="Text 27"/>
          <p:cNvSpPr/>
          <p:nvPr/>
        </p:nvSpPr>
        <p:spPr>
          <a:xfrm>
            <a:off x="7955280" y="3200400"/>
            <a:ext cx="3108960" cy="384048"/>
          </a:xfrm>
          <a:prstGeom prst="rect">
            <a:avLst/>
          </a:prstGeom>
          <a:noFill/>
          <a:ln/>
        </p:spPr>
        <p:txBody>
          <a:bodyPr wrap="square" lIns="0" tIns="0" rIns="0" bIns="0" rtlCol="0" anchor="ctr"/>
          <a:lstStyle/>
          <a:p>
            <a:pPr indent="0" marL="0">
              <a:buNone/>
            </a:pPr>
            <a:r>
              <a:rPr lang="en-US" sz="1170" dirty="0">
                <a:solidFill>
                  <a:srgbClr val="17232C"/>
                </a:solidFill>
              </a:rPr>
              <a:t>TCGAbiolinks or downloaded GDC files</a:t>
            </a:r>
            <a:endParaRPr lang="en-US" sz="1170" dirty="0"/>
          </a:p>
        </p:txBody>
      </p:sp>
      <p:sp>
        <p:nvSpPr>
          <p:cNvPr id="31" name="Shape 28"/>
          <p:cNvSpPr/>
          <p:nvPr/>
        </p:nvSpPr>
        <p:spPr>
          <a:xfrm>
            <a:off x="6172200" y="4014216"/>
            <a:ext cx="5074920" cy="749808"/>
          </a:xfrm>
          <a:prstGeom prst="roundRect">
            <a:avLst>
              <a:gd name="adj" fmla="val 4878"/>
            </a:avLst>
          </a:prstGeom>
          <a:solidFill>
            <a:srgbClr val="FFFFFF"/>
          </a:solidFill>
          <a:ln w="12700">
            <a:solidFill>
              <a:srgbClr val="DEE5EA"/>
            </a:solidFill>
            <a:prstDash val="solid"/>
          </a:ln>
        </p:spPr>
      </p:sp>
      <p:sp>
        <p:nvSpPr>
          <p:cNvPr id="32" name="Text 29"/>
          <p:cNvSpPr/>
          <p:nvPr/>
        </p:nvSpPr>
        <p:spPr>
          <a:xfrm>
            <a:off x="6336792" y="4133088"/>
            <a:ext cx="1600200" cy="219456"/>
          </a:xfrm>
          <a:prstGeom prst="rect">
            <a:avLst/>
          </a:prstGeom>
          <a:noFill/>
          <a:ln/>
        </p:spPr>
        <p:txBody>
          <a:bodyPr wrap="square" lIns="0" tIns="0" rIns="0" bIns="0" rtlCol="0" anchor="ctr"/>
          <a:lstStyle/>
          <a:p>
            <a:pPr indent="0" marL="0">
              <a:buNone/>
            </a:pPr>
            <a:r>
              <a:rPr lang="en-US" sz="1300" b="1" dirty="0">
                <a:solidFill>
                  <a:srgbClr val="17324A"/>
                </a:solidFill>
              </a:rPr>
              <a:t>GEO access</a:t>
            </a:r>
            <a:endParaRPr lang="en-US" sz="1300" dirty="0"/>
          </a:p>
        </p:txBody>
      </p:sp>
      <p:sp>
        <p:nvSpPr>
          <p:cNvPr id="33" name="Text 30"/>
          <p:cNvSpPr/>
          <p:nvPr/>
        </p:nvSpPr>
        <p:spPr>
          <a:xfrm>
            <a:off x="7955280" y="4133088"/>
            <a:ext cx="3108960" cy="384048"/>
          </a:xfrm>
          <a:prstGeom prst="rect">
            <a:avLst/>
          </a:prstGeom>
          <a:noFill/>
          <a:ln/>
        </p:spPr>
        <p:txBody>
          <a:bodyPr wrap="square" lIns="0" tIns="0" rIns="0" bIns="0" rtlCol="0" anchor="ctr"/>
          <a:lstStyle/>
          <a:p>
            <a:pPr indent="0" marL="0">
              <a:buNone/>
            </a:pPr>
            <a:r>
              <a:rPr lang="en-US" sz="1170" dirty="0">
                <a:solidFill>
                  <a:srgbClr val="17232C"/>
                </a:solidFill>
              </a:rPr>
              <a:t>GEOquery</a:t>
            </a:r>
            <a:endParaRPr lang="en-US" sz="1170" dirty="0"/>
          </a:p>
        </p:txBody>
      </p:sp>
      <p:sp>
        <p:nvSpPr>
          <p:cNvPr id="34" name="Text 31"/>
          <p:cNvSpPr/>
          <p:nvPr/>
        </p:nvSpPr>
        <p:spPr>
          <a:xfrm>
            <a:off x="868680" y="5870448"/>
            <a:ext cx="10378440" cy="384048"/>
          </a:xfrm>
          <a:prstGeom prst="rect">
            <a:avLst/>
          </a:prstGeom>
          <a:noFill/>
          <a:ln/>
        </p:spPr>
        <p:txBody>
          <a:bodyPr wrap="square" lIns="0" tIns="0" rIns="0" bIns="0" rtlCol="0" anchor="ctr"/>
          <a:lstStyle/>
          <a:p>
            <a:pPr algn="ctr" indent="0" marL="0">
              <a:buNone/>
            </a:pPr>
            <a:r>
              <a:rPr lang="en-US" sz="1750" b="1" dirty="0">
                <a:solidFill>
                  <a:srgbClr val="2A9D8F"/>
                </a:solidFill>
              </a:rPr>
              <a:t>You do not need to memorize every package. Learn the statistical question first, then the package.</a:t>
            </a:r>
            <a:endParaRPr lang="en-US" sz="17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Example blueprint A — A focused single-gene paper</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 coherent 6–8 figure manuscript is better than 15 disconnected analyses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BLUEPRINT</a:t>
            </a:r>
            <a:endParaRPr lang="en-US" sz="950" dirty="0"/>
          </a:p>
        </p:txBody>
      </p:sp>
      <p:sp>
        <p:nvSpPr>
          <p:cNvPr id="7" name="Shape 4"/>
          <p:cNvSpPr/>
          <p:nvPr/>
        </p:nvSpPr>
        <p:spPr>
          <a:xfrm>
            <a:off x="685800" y="1188720"/>
            <a:ext cx="5257800" cy="914400"/>
          </a:xfrm>
          <a:prstGeom prst="roundRect">
            <a:avLst>
              <a:gd name="adj" fmla="val 4000"/>
            </a:avLst>
          </a:prstGeom>
          <a:solidFill>
            <a:srgbClr val="FFFFFF"/>
          </a:solidFill>
          <a:ln w="12700">
            <a:solidFill>
              <a:srgbClr val="DDE5EA"/>
            </a:solidFill>
            <a:prstDash val="solid"/>
          </a:ln>
        </p:spPr>
      </p:sp>
      <p:sp>
        <p:nvSpPr>
          <p:cNvPr id="8" name="Shape 5"/>
          <p:cNvSpPr/>
          <p:nvPr/>
        </p:nvSpPr>
        <p:spPr>
          <a:xfrm>
            <a:off x="822960" y="1353312"/>
            <a:ext cx="713232" cy="320040"/>
          </a:xfrm>
          <a:prstGeom prst="roundRect">
            <a:avLst>
              <a:gd name="adj" fmla="val 22857"/>
            </a:avLst>
          </a:prstGeom>
          <a:solidFill>
            <a:srgbClr val="2D5B88"/>
          </a:solidFill>
          <a:ln w="12700">
            <a:solidFill>
              <a:srgbClr val="2D5B88"/>
            </a:solidFill>
            <a:prstDash val="solid"/>
          </a:ln>
        </p:spPr>
      </p:sp>
      <p:sp>
        <p:nvSpPr>
          <p:cNvPr id="9" name="Text 6"/>
          <p:cNvSpPr/>
          <p:nvPr/>
        </p:nvSpPr>
        <p:spPr>
          <a:xfrm>
            <a:off x="868680" y="1421892"/>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1</a:t>
            </a:r>
            <a:endParaRPr lang="en-US" sz="1050" dirty="0"/>
          </a:p>
        </p:txBody>
      </p:sp>
      <p:sp>
        <p:nvSpPr>
          <p:cNvPr id="10" name="Text 7"/>
          <p:cNvSpPr/>
          <p:nvPr/>
        </p:nvSpPr>
        <p:spPr>
          <a:xfrm>
            <a:off x="1691640" y="1325880"/>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Cohort + expression</a:t>
            </a:r>
            <a:endParaRPr lang="en-US" sz="1350" dirty="0"/>
          </a:p>
        </p:txBody>
      </p:sp>
      <p:sp>
        <p:nvSpPr>
          <p:cNvPr id="11" name="Text 8"/>
          <p:cNvSpPr/>
          <p:nvPr/>
        </p:nvSpPr>
        <p:spPr>
          <a:xfrm>
            <a:off x="3264408" y="1298448"/>
            <a:ext cx="2423160" cy="457200"/>
          </a:xfrm>
          <a:prstGeom prst="rect">
            <a:avLst/>
          </a:prstGeom>
          <a:noFill/>
          <a:ln/>
        </p:spPr>
        <p:txBody>
          <a:bodyPr wrap="square" lIns="0" tIns="0" rIns="0" bIns="0" rtlCol="0" anchor="ctr"/>
          <a:lstStyle/>
          <a:p>
            <a:pPr indent="0" marL="0">
              <a:buNone/>
            </a:pPr>
            <a:r>
              <a:rPr lang="en-US" sz="1150" dirty="0">
                <a:solidFill>
                  <a:srgbClr val="17232C"/>
                </a:solidFill>
              </a:rPr>
              <a:t>Tumor/normal or subtype/grade association</a:t>
            </a:r>
            <a:endParaRPr lang="en-US" sz="1150" dirty="0"/>
          </a:p>
        </p:txBody>
      </p:sp>
      <p:sp>
        <p:nvSpPr>
          <p:cNvPr id="12" name="Shape 9"/>
          <p:cNvSpPr/>
          <p:nvPr/>
        </p:nvSpPr>
        <p:spPr>
          <a:xfrm>
            <a:off x="685800" y="2350008"/>
            <a:ext cx="5257800" cy="914400"/>
          </a:xfrm>
          <a:prstGeom prst="roundRect">
            <a:avLst>
              <a:gd name="adj" fmla="val 4000"/>
            </a:avLst>
          </a:prstGeom>
          <a:solidFill>
            <a:srgbClr val="FFFFFF"/>
          </a:solidFill>
          <a:ln w="12700">
            <a:solidFill>
              <a:srgbClr val="DDE5EA"/>
            </a:solidFill>
            <a:prstDash val="solid"/>
          </a:ln>
        </p:spPr>
      </p:sp>
      <p:sp>
        <p:nvSpPr>
          <p:cNvPr id="13" name="Shape 10"/>
          <p:cNvSpPr/>
          <p:nvPr/>
        </p:nvSpPr>
        <p:spPr>
          <a:xfrm>
            <a:off x="822960" y="2514600"/>
            <a:ext cx="713232" cy="320040"/>
          </a:xfrm>
          <a:prstGeom prst="roundRect">
            <a:avLst>
              <a:gd name="adj" fmla="val 22857"/>
            </a:avLst>
          </a:prstGeom>
          <a:solidFill>
            <a:srgbClr val="2D5B88"/>
          </a:solidFill>
          <a:ln w="12700">
            <a:solidFill>
              <a:srgbClr val="2D5B88"/>
            </a:solidFill>
            <a:prstDash val="solid"/>
          </a:ln>
        </p:spPr>
      </p:sp>
      <p:sp>
        <p:nvSpPr>
          <p:cNvPr id="14" name="Text 11"/>
          <p:cNvSpPr/>
          <p:nvPr/>
        </p:nvSpPr>
        <p:spPr>
          <a:xfrm>
            <a:off x="868680" y="2583180"/>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2</a:t>
            </a:r>
            <a:endParaRPr lang="en-US" sz="1050" dirty="0"/>
          </a:p>
        </p:txBody>
      </p:sp>
      <p:sp>
        <p:nvSpPr>
          <p:cNvPr id="15" name="Text 12"/>
          <p:cNvSpPr/>
          <p:nvPr/>
        </p:nvSpPr>
        <p:spPr>
          <a:xfrm>
            <a:off x="1691640" y="2487168"/>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Clinical phenotype</a:t>
            </a:r>
            <a:endParaRPr lang="en-US" sz="1350" dirty="0"/>
          </a:p>
        </p:txBody>
      </p:sp>
      <p:sp>
        <p:nvSpPr>
          <p:cNvPr id="16" name="Text 13"/>
          <p:cNvSpPr/>
          <p:nvPr/>
        </p:nvSpPr>
        <p:spPr>
          <a:xfrm>
            <a:off x="3264408" y="2459736"/>
            <a:ext cx="2423160" cy="457200"/>
          </a:xfrm>
          <a:prstGeom prst="rect">
            <a:avLst/>
          </a:prstGeom>
          <a:noFill/>
          <a:ln/>
        </p:spPr>
        <p:txBody>
          <a:bodyPr wrap="square" lIns="0" tIns="0" rIns="0" bIns="0" rtlCol="0" anchor="ctr"/>
          <a:lstStyle/>
          <a:p>
            <a:pPr indent="0" marL="0">
              <a:buNone/>
            </a:pPr>
            <a:r>
              <a:rPr lang="en-US" sz="1150" dirty="0">
                <a:solidFill>
                  <a:srgbClr val="17232C"/>
                </a:solidFill>
              </a:rPr>
              <a:t>Mutation status, stage/grade, ROC if diagnostic question</a:t>
            </a:r>
            <a:endParaRPr lang="en-US" sz="1150" dirty="0"/>
          </a:p>
        </p:txBody>
      </p:sp>
      <p:sp>
        <p:nvSpPr>
          <p:cNvPr id="17" name="Shape 14"/>
          <p:cNvSpPr/>
          <p:nvPr/>
        </p:nvSpPr>
        <p:spPr>
          <a:xfrm>
            <a:off x="685800" y="3511296"/>
            <a:ext cx="5257800" cy="914400"/>
          </a:xfrm>
          <a:prstGeom prst="roundRect">
            <a:avLst>
              <a:gd name="adj" fmla="val 4000"/>
            </a:avLst>
          </a:prstGeom>
          <a:solidFill>
            <a:srgbClr val="FFFFFF"/>
          </a:solidFill>
          <a:ln w="12700">
            <a:solidFill>
              <a:srgbClr val="DDE5EA"/>
            </a:solidFill>
            <a:prstDash val="solid"/>
          </a:ln>
        </p:spPr>
      </p:sp>
      <p:sp>
        <p:nvSpPr>
          <p:cNvPr id="18" name="Shape 15"/>
          <p:cNvSpPr/>
          <p:nvPr/>
        </p:nvSpPr>
        <p:spPr>
          <a:xfrm>
            <a:off x="822960" y="3675888"/>
            <a:ext cx="713232" cy="320040"/>
          </a:xfrm>
          <a:prstGeom prst="roundRect">
            <a:avLst>
              <a:gd name="adj" fmla="val 22857"/>
            </a:avLst>
          </a:prstGeom>
          <a:solidFill>
            <a:srgbClr val="2D5B88"/>
          </a:solidFill>
          <a:ln w="12700">
            <a:solidFill>
              <a:srgbClr val="2D5B88"/>
            </a:solidFill>
            <a:prstDash val="solid"/>
          </a:ln>
        </p:spPr>
      </p:sp>
      <p:sp>
        <p:nvSpPr>
          <p:cNvPr id="19" name="Text 16"/>
          <p:cNvSpPr/>
          <p:nvPr/>
        </p:nvSpPr>
        <p:spPr>
          <a:xfrm>
            <a:off x="868680" y="3744468"/>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3</a:t>
            </a:r>
            <a:endParaRPr lang="en-US" sz="1050" dirty="0"/>
          </a:p>
        </p:txBody>
      </p:sp>
      <p:sp>
        <p:nvSpPr>
          <p:cNvPr id="20" name="Text 17"/>
          <p:cNvSpPr/>
          <p:nvPr/>
        </p:nvSpPr>
        <p:spPr>
          <a:xfrm>
            <a:off x="1691640" y="3648456"/>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Prognosis</a:t>
            </a:r>
            <a:endParaRPr lang="en-US" sz="1350" dirty="0"/>
          </a:p>
        </p:txBody>
      </p:sp>
      <p:sp>
        <p:nvSpPr>
          <p:cNvPr id="21" name="Text 18"/>
          <p:cNvSpPr/>
          <p:nvPr/>
        </p:nvSpPr>
        <p:spPr>
          <a:xfrm>
            <a:off x="3264408" y="3621024"/>
            <a:ext cx="2423160" cy="457200"/>
          </a:xfrm>
          <a:prstGeom prst="rect">
            <a:avLst/>
          </a:prstGeom>
          <a:noFill/>
          <a:ln/>
        </p:spPr>
        <p:txBody>
          <a:bodyPr wrap="square" lIns="0" tIns="0" rIns="0" bIns="0" rtlCol="0" anchor="ctr"/>
          <a:lstStyle/>
          <a:p>
            <a:pPr indent="0" marL="0">
              <a:buNone/>
            </a:pPr>
            <a:r>
              <a:rPr lang="en-US" sz="1150" dirty="0">
                <a:solidFill>
                  <a:srgbClr val="17232C"/>
                </a:solidFill>
              </a:rPr>
              <a:t>KM + univariate/multivariable Cox</a:t>
            </a:r>
            <a:endParaRPr lang="en-US" sz="1150" dirty="0"/>
          </a:p>
        </p:txBody>
      </p:sp>
      <p:sp>
        <p:nvSpPr>
          <p:cNvPr id="22" name="Shape 19"/>
          <p:cNvSpPr/>
          <p:nvPr/>
        </p:nvSpPr>
        <p:spPr>
          <a:xfrm>
            <a:off x="685800" y="4672584"/>
            <a:ext cx="5257800" cy="914400"/>
          </a:xfrm>
          <a:prstGeom prst="roundRect">
            <a:avLst>
              <a:gd name="adj" fmla="val 4000"/>
            </a:avLst>
          </a:prstGeom>
          <a:solidFill>
            <a:srgbClr val="FFFFFF"/>
          </a:solidFill>
          <a:ln w="12700">
            <a:solidFill>
              <a:srgbClr val="DDE5EA"/>
            </a:solidFill>
            <a:prstDash val="solid"/>
          </a:ln>
        </p:spPr>
      </p:sp>
      <p:sp>
        <p:nvSpPr>
          <p:cNvPr id="23" name="Shape 20"/>
          <p:cNvSpPr/>
          <p:nvPr/>
        </p:nvSpPr>
        <p:spPr>
          <a:xfrm>
            <a:off x="822960" y="4837176"/>
            <a:ext cx="713232" cy="320040"/>
          </a:xfrm>
          <a:prstGeom prst="roundRect">
            <a:avLst>
              <a:gd name="adj" fmla="val 22857"/>
            </a:avLst>
          </a:prstGeom>
          <a:solidFill>
            <a:srgbClr val="2D5B88"/>
          </a:solidFill>
          <a:ln w="12700">
            <a:solidFill>
              <a:srgbClr val="2D5B88"/>
            </a:solidFill>
            <a:prstDash val="solid"/>
          </a:ln>
        </p:spPr>
      </p:sp>
      <p:sp>
        <p:nvSpPr>
          <p:cNvPr id="24" name="Text 21"/>
          <p:cNvSpPr/>
          <p:nvPr/>
        </p:nvSpPr>
        <p:spPr>
          <a:xfrm>
            <a:off x="868680" y="4905756"/>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4</a:t>
            </a:r>
            <a:endParaRPr lang="en-US" sz="1050" dirty="0"/>
          </a:p>
        </p:txBody>
      </p:sp>
      <p:sp>
        <p:nvSpPr>
          <p:cNvPr id="25" name="Text 22"/>
          <p:cNvSpPr/>
          <p:nvPr/>
        </p:nvSpPr>
        <p:spPr>
          <a:xfrm>
            <a:off x="1691640" y="4809744"/>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Mechanism</a:t>
            </a:r>
            <a:endParaRPr lang="en-US" sz="1350" dirty="0"/>
          </a:p>
        </p:txBody>
      </p:sp>
      <p:sp>
        <p:nvSpPr>
          <p:cNvPr id="26" name="Text 23"/>
          <p:cNvSpPr/>
          <p:nvPr/>
        </p:nvSpPr>
        <p:spPr>
          <a:xfrm>
            <a:off x="3264408" y="4782312"/>
            <a:ext cx="2423160" cy="457200"/>
          </a:xfrm>
          <a:prstGeom prst="rect">
            <a:avLst/>
          </a:prstGeom>
          <a:noFill/>
          <a:ln/>
        </p:spPr>
        <p:txBody>
          <a:bodyPr wrap="square" lIns="0" tIns="0" rIns="0" bIns="0" rtlCol="0" anchor="ctr"/>
          <a:lstStyle/>
          <a:p>
            <a:pPr indent="0" marL="0">
              <a:buNone/>
            </a:pPr>
            <a:r>
              <a:rPr lang="en-US" sz="1150" dirty="0">
                <a:solidFill>
                  <a:srgbClr val="17232C"/>
                </a:solidFill>
              </a:rPr>
              <a:t>High vs low expression → DEGs → GSEA/GO/KEGG</a:t>
            </a:r>
            <a:endParaRPr lang="en-US" sz="1150" dirty="0"/>
          </a:p>
        </p:txBody>
      </p:sp>
      <p:sp>
        <p:nvSpPr>
          <p:cNvPr id="27" name="Shape 24"/>
          <p:cNvSpPr/>
          <p:nvPr/>
        </p:nvSpPr>
        <p:spPr>
          <a:xfrm>
            <a:off x="6172200" y="1188720"/>
            <a:ext cx="5257800" cy="914400"/>
          </a:xfrm>
          <a:prstGeom prst="roundRect">
            <a:avLst>
              <a:gd name="adj" fmla="val 4000"/>
            </a:avLst>
          </a:prstGeom>
          <a:solidFill>
            <a:srgbClr val="FFFFFF"/>
          </a:solidFill>
          <a:ln w="12700">
            <a:solidFill>
              <a:srgbClr val="DDE5EA"/>
            </a:solidFill>
            <a:prstDash val="solid"/>
          </a:ln>
        </p:spPr>
      </p:sp>
      <p:sp>
        <p:nvSpPr>
          <p:cNvPr id="28" name="Shape 25"/>
          <p:cNvSpPr/>
          <p:nvPr/>
        </p:nvSpPr>
        <p:spPr>
          <a:xfrm>
            <a:off x="6309360" y="1353312"/>
            <a:ext cx="713232" cy="320040"/>
          </a:xfrm>
          <a:prstGeom prst="roundRect">
            <a:avLst>
              <a:gd name="adj" fmla="val 22857"/>
            </a:avLst>
          </a:prstGeom>
          <a:solidFill>
            <a:srgbClr val="2A9D8F"/>
          </a:solidFill>
          <a:ln w="12700">
            <a:solidFill>
              <a:srgbClr val="2A9D8F"/>
            </a:solidFill>
            <a:prstDash val="solid"/>
          </a:ln>
        </p:spPr>
      </p:sp>
      <p:sp>
        <p:nvSpPr>
          <p:cNvPr id="29" name="Text 26"/>
          <p:cNvSpPr/>
          <p:nvPr/>
        </p:nvSpPr>
        <p:spPr>
          <a:xfrm>
            <a:off x="6355080" y="1421892"/>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5</a:t>
            </a:r>
            <a:endParaRPr lang="en-US" sz="1050" dirty="0"/>
          </a:p>
        </p:txBody>
      </p:sp>
      <p:sp>
        <p:nvSpPr>
          <p:cNvPr id="30" name="Text 27"/>
          <p:cNvSpPr/>
          <p:nvPr/>
        </p:nvSpPr>
        <p:spPr>
          <a:xfrm>
            <a:off x="7178040" y="1325880"/>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Immune context</a:t>
            </a:r>
            <a:endParaRPr lang="en-US" sz="1350" dirty="0"/>
          </a:p>
        </p:txBody>
      </p:sp>
      <p:sp>
        <p:nvSpPr>
          <p:cNvPr id="31" name="Text 28"/>
          <p:cNvSpPr/>
          <p:nvPr/>
        </p:nvSpPr>
        <p:spPr>
          <a:xfrm>
            <a:off x="8750808" y="1298448"/>
            <a:ext cx="2423160" cy="457200"/>
          </a:xfrm>
          <a:prstGeom prst="rect">
            <a:avLst/>
          </a:prstGeom>
          <a:noFill/>
          <a:ln/>
        </p:spPr>
        <p:txBody>
          <a:bodyPr wrap="square" lIns="0" tIns="0" rIns="0" bIns="0" rtlCol="0" anchor="ctr"/>
          <a:lstStyle/>
          <a:p>
            <a:pPr indent="0" marL="0">
              <a:buNone/>
            </a:pPr>
            <a:r>
              <a:rPr lang="en-US" sz="1150" dirty="0">
                <a:solidFill>
                  <a:srgbClr val="17232C"/>
                </a:solidFill>
              </a:rPr>
              <a:t>Immune infiltration + checkpoint correlation</a:t>
            </a:r>
            <a:endParaRPr lang="en-US" sz="1150" dirty="0"/>
          </a:p>
        </p:txBody>
      </p:sp>
      <p:sp>
        <p:nvSpPr>
          <p:cNvPr id="32" name="Shape 29"/>
          <p:cNvSpPr/>
          <p:nvPr/>
        </p:nvSpPr>
        <p:spPr>
          <a:xfrm>
            <a:off x="6172200" y="2350008"/>
            <a:ext cx="5257800" cy="914400"/>
          </a:xfrm>
          <a:prstGeom prst="roundRect">
            <a:avLst>
              <a:gd name="adj" fmla="val 4000"/>
            </a:avLst>
          </a:prstGeom>
          <a:solidFill>
            <a:srgbClr val="FFFFFF"/>
          </a:solidFill>
          <a:ln w="12700">
            <a:solidFill>
              <a:srgbClr val="DDE5EA"/>
            </a:solidFill>
            <a:prstDash val="solid"/>
          </a:ln>
        </p:spPr>
      </p:sp>
      <p:sp>
        <p:nvSpPr>
          <p:cNvPr id="33" name="Shape 30"/>
          <p:cNvSpPr/>
          <p:nvPr/>
        </p:nvSpPr>
        <p:spPr>
          <a:xfrm>
            <a:off x="6309360" y="2514600"/>
            <a:ext cx="713232" cy="320040"/>
          </a:xfrm>
          <a:prstGeom prst="roundRect">
            <a:avLst>
              <a:gd name="adj" fmla="val 22857"/>
            </a:avLst>
          </a:prstGeom>
          <a:solidFill>
            <a:srgbClr val="2A9D8F"/>
          </a:solidFill>
          <a:ln w="12700">
            <a:solidFill>
              <a:srgbClr val="2A9D8F"/>
            </a:solidFill>
            <a:prstDash val="solid"/>
          </a:ln>
        </p:spPr>
      </p:sp>
      <p:sp>
        <p:nvSpPr>
          <p:cNvPr id="34" name="Text 31"/>
          <p:cNvSpPr/>
          <p:nvPr/>
        </p:nvSpPr>
        <p:spPr>
          <a:xfrm>
            <a:off x="6355080" y="2583180"/>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6</a:t>
            </a:r>
            <a:endParaRPr lang="en-US" sz="1050" dirty="0"/>
          </a:p>
        </p:txBody>
      </p:sp>
      <p:sp>
        <p:nvSpPr>
          <p:cNvPr id="35" name="Text 32"/>
          <p:cNvSpPr/>
          <p:nvPr/>
        </p:nvSpPr>
        <p:spPr>
          <a:xfrm>
            <a:off x="7178040" y="2487168"/>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Genomic context</a:t>
            </a:r>
            <a:endParaRPr lang="en-US" sz="1350" dirty="0"/>
          </a:p>
        </p:txBody>
      </p:sp>
      <p:sp>
        <p:nvSpPr>
          <p:cNvPr id="36" name="Text 33"/>
          <p:cNvSpPr/>
          <p:nvPr/>
        </p:nvSpPr>
        <p:spPr>
          <a:xfrm>
            <a:off x="8750808" y="2459736"/>
            <a:ext cx="2423160" cy="457200"/>
          </a:xfrm>
          <a:prstGeom prst="rect">
            <a:avLst/>
          </a:prstGeom>
          <a:noFill/>
          <a:ln/>
        </p:spPr>
        <p:txBody>
          <a:bodyPr wrap="square" lIns="0" tIns="0" rIns="0" bIns="0" rtlCol="0" anchor="ctr"/>
          <a:lstStyle/>
          <a:p>
            <a:pPr indent="0" marL="0">
              <a:buNone/>
            </a:pPr>
            <a:r>
              <a:rPr lang="en-US" sz="1150" dirty="0">
                <a:solidFill>
                  <a:srgbClr val="17232C"/>
                </a:solidFill>
              </a:rPr>
              <a:t>Mutation/CNV/methylation only if biologically relevant</a:t>
            </a:r>
            <a:endParaRPr lang="en-US" sz="1150" dirty="0"/>
          </a:p>
        </p:txBody>
      </p:sp>
      <p:sp>
        <p:nvSpPr>
          <p:cNvPr id="37" name="Shape 34"/>
          <p:cNvSpPr/>
          <p:nvPr/>
        </p:nvSpPr>
        <p:spPr>
          <a:xfrm>
            <a:off x="6172200" y="3511296"/>
            <a:ext cx="5257800" cy="914400"/>
          </a:xfrm>
          <a:prstGeom prst="roundRect">
            <a:avLst>
              <a:gd name="adj" fmla="val 4000"/>
            </a:avLst>
          </a:prstGeom>
          <a:solidFill>
            <a:srgbClr val="FFFFFF"/>
          </a:solidFill>
          <a:ln w="12700">
            <a:solidFill>
              <a:srgbClr val="DDE5EA"/>
            </a:solidFill>
            <a:prstDash val="solid"/>
          </a:ln>
        </p:spPr>
      </p:sp>
      <p:sp>
        <p:nvSpPr>
          <p:cNvPr id="38" name="Shape 35"/>
          <p:cNvSpPr/>
          <p:nvPr/>
        </p:nvSpPr>
        <p:spPr>
          <a:xfrm>
            <a:off x="6309360" y="3675888"/>
            <a:ext cx="713232" cy="320040"/>
          </a:xfrm>
          <a:prstGeom prst="roundRect">
            <a:avLst>
              <a:gd name="adj" fmla="val 22857"/>
            </a:avLst>
          </a:prstGeom>
          <a:solidFill>
            <a:srgbClr val="2A9D8F"/>
          </a:solidFill>
          <a:ln w="12700">
            <a:solidFill>
              <a:srgbClr val="2A9D8F"/>
            </a:solidFill>
            <a:prstDash val="solid"/>
          </a:ln>
        </p:spPr>
      </p:sp>
      <p:sp>
        <p:nvSpPr>
          <p:cNvPr id="39" name="Text 36"/>
          <p:cNvSpPr/>
          <p:nvPr/>
        </p:nvSpPr>
        <p:spPr>
          <a:xfrm>
            <a:off x="6355080" y="3744468"/>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7</a:t>
            </a:r>
            <a:endParaRPr lang="en-US" sz="1050" dirty="0"/>
          </a:p>
        </p:txBody>
      </p:sp>
      <p:sp>
        <p:nvSpPr>
          <p:cNvPr id="40" name="Text 37"/>
          <p:cNvSpPr/>
          <p:nvPr/>
        </p:nvSpPr>
        <p:spPr>
          <a:xfrm>
            <a:off x="7178040" y="3648456"/>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External validation</a:t>
            </a:r>
            <a:endParaRPr lang="en-US" sz="1350" dirty="0"/>
          </a:p>
        </p:txBody>
      </p:sp>
      <p:sp>
        <p:nvSpPr>
          <p:cNvPr id="41" name="Text 38"/>
          <p:cNvSpPr/>
          <p:nvPr/>
        </p:nvSpPr>
        <p:spPr>
          <a:xfrm>
            <a:off x="8750808" y="3621024"/>
            <a:ext cx="2423160" cy="457200"/>
          </a:xfrm>
          <a:prstGeom prst="rect">
            <a:avLst/>
          </a:prstGeom>
          <a:noFill/>
          <a:ln/>
        </p:spPr>
        <p:txBody>
          <a:bodyPr wrap="square" lIns="0" tIns="0" rIns="0" bIns="0" rtlCol="0" anchor="ctr"/>
          <a:lstStyle/>
          <a:p>
            <a:pPr indent="0" marL="0">
              <a:buNone/>
            </a:pPr>
            <a:r>
              <a:rPr lang="en-US" sz="1150" dirty="0">
                <a:solidFill>
                  <a:srgbClr val="17232C"/>
                </a:solidFill>
              </a:rPr>
              <a:t>Independent GEO/TCGA/CGGA cohort</a:t>
            </a:r>
            <a:endParaRPr lang="en-US" sz="1150" dirty="0"/>
          </a:p>
        </p:txBody>
      </p:sp>
      <p:sp>
        <p:nvSpPr>
          <p:cNvPr id="42" name="Shape 39"/>
          <p:cNvSpPr/>
          <p:nvPr/>
        </p:nvSpPr>
        <p:spPr>
          <a:xfrm>
            <a:off x="6172200" y="4672584"/>
            <a:ext cx="5257800" cy="914400"/>
          </a:xfrm>
          <a:prstGeom prst="roundRect">
            <a:avLst>
              <a:gd name="adj" fmla="val 4000"/>
            </a:avLst>
          </a:prstGeom>
          <a:solidFill>
            <a:srgbClr val="FFFFFF"/>
          </a:solidFill>
          <a:ln w="12700">
            <a:solidFill>
              <a:srgbClr val="DDE5EA"/>
            </a:solidFill>
            <a:prstDash val="solid"/>
          </a:ln>
        </p:spPr>
      </p:sp>
      <p:sp>
        <p:nvSpPr>
          <p:cNvPr id="43" name="Shape 40"/>
          <p:cNvSpPr/>
          <p:nvPr/>
        </p:nvSpPr>
        <p:spPr>
          <a:xfrm>
            <a:off x="6309360" y="4837176"/>
            <a:ext cx="713232" cy="320040"/>
          </a:xfrm>
          <a:prstGeom prst="roundRect">
            <a:avLst>
              <a:gd name="adj" fmla="val 22857"/>
            </a:avLst>
          </a:prstGeom>
          <a:solidFill>
            <a:srgbClr val="2A9D8F"/>
          </a:solidFill>
          <a:ln w="12700">
            <a:solidFill>
              <a:srgbClr val="2A9D8F"/>
            </a:solidFill>
            <a:prstDash val="solid"/>
          </a:ln>
        </p:spPr>
      </p:sp>
      <p:sp>
        <p:nvSpPr>
          <p:cNvPr id="44" name="Text 41"/>
          <p:cNvSpPr/>
          <p:nvPr/>
        </p:nvSpPr>
        <p:spPr>
          <a:xfrm>
            <a:off x="6355080" y="4905756"/>
            <a:ext cx="621792" cy="155448"/>
          </a:xfrm>
          <a:prstGeom prst="rect">
            <a:avLst/>
          </a:prstGeom>
          <a:noFill/>
          <a:ln/>
        </p:spPr>
        <p:txBody>
          <a:bodyPr wrap="square" lIns="0" tIns="0" rIns="0" bIns="0" rtlCol="0" anchor="ctr"/>
          <a:lstStyle/>
          <a:p>
            <a:pPr algn="ctr" indent="0" marL="0">
              <a:buNone/>
            </a:pPr>
            <a:r>
              <a:rPr lang="en-US" sz="1050" b="1" dirty="0">
                <a:solidFill>
                  <a:srgbClr val="FFFFFF"/>
                </a:solidFill>
              </a:rPr>
              <a:t>Fig. 8</a:t>
            </a:r>
            <a:endParaRPr lang="en-US" sz="1050" dirty="0"/>
          </a:p>
        </p:txBody>
      </p:sp>
      <p:sp>
        <p:nvSpPr>
          <p:cNvPr id="45" name="Text 42"/>
          <p:cNvSpPr/>
          <p:nvPr/>
        </p:nvSpPr>
        <p:spPr>
          <a:xfrm>
            <a:off x="7178040" y="4809744"/>
            <a:ext cx="1600200" cy="219456"/>
          </a:xfrm>
          <a:prstGeom prst="rect">
            <a:avLst/>
          </a:prstGeom>
          <a:noFill/>
          <a:ln/>
        </p:spPr>
        <p:txBody>
          <a:bodyPr wrap="square" lIns="0" tIns="0" rIns="0" bIns="0" rtlCol="0" anchor="ctr"/>
          <a:lstStyle/>
          <a:p>
            <a:pPr indent="0" marL="0">
              <a:buNone/>
            </a:pPr>
            <a:r>
              <a:rPr lang="en-US" sz="1350" b="1" dirty="0">
                <a:solidFill>
                  <a:srgbClr val="17324A"/>
                </a:solidFill>
              </a:rPr>
              <a:t>Integrated model</a:t>
            </a:r>
            <a:endParaRPr lang="en-US" sz="1350" dirty="0"/>
          </a:p>
        </p:txBody>
      </p:sp>
      <p:sp>
        <p:nvSpPr>
          <p:cNvPr id="46" name="Text 43"/>
          <p:cNvSpPr/>
          <p:nvPr/>
        </p:nvSpPr>
        <p:spPr>
          <a:xfrm>
            <a:off x="8750808" y="4782312"/>
            <a:ext cx="2423160" cy="457200"/>
          </a:xfrm>
          <a:prstGeom prst="rect">
            <a:avLst/>
          </a:prstGeom>
          <a:noFill/>
          <a:ln/>
        </p:spPr>
        <p:txBody>
          <a:bodyPr wrap="square" lIns="0" tIns="0" rIns="0" bIns="0" rtlCol="0" anchor="ctr"/>
          <a:lstStyle/>
          <a:p>
            <a:pPr indent="0" marL="0">
              <a:buNone/>
            </a:pPr>
            <a:r>
              <a:rPr lang="en-US" sz="1150" dirty="0">
                <a:solidFill>
                  <a:srgbClr val="17232C"/>
                </a:solidFill>
              </a:rPr>
              <a:t>Optional nomogram / drug response only if justified</a:t>
            </a:r>
            <a:endParaRPr lang="en-US" sz="1150" dirty="0"/>
          </a:p>
        </p:txBody>
      </p:sp>
      <p:sp>
        <p:nvSpPr>
          <p:cNvPr id="47" name="Text 44"/>
          <p:cNvSpPr/>
          <p:nvPr/>
        </p:nvSpPr>
        <p:spPr>
          <a:xfrm>
            <a:off x="822960" y="5907024"/>
            <a:ext cx="10515600" cy="365760"/>
          </a:xfrm>
          <a:prstGeom prst="rect">
            <a:avLst/>
          </a:prstGeom>
          <a:noFill/>
          <a:ln/>
        </p:spPr>
        <p:txBody>
          <a:bodyPr wrap="square" lIns="0" tIns="0" rIns="0" bIns="0" rtlCol="0" anchor="ctr"/>
          <a:lstStyle/>
          <a:p>
            <a:pPr algn="ctr" indent="0" marL="0">
              <a:buNone/>
            </a:pPr>
            <a:r>
              <a:rPr lang="en-US" sz="1650" b="1" dirty="0">
                <a:solidFill>
                  <a:srgbClr val="17324A"/>
                </a:solidFill>
              </a:rPr>
              <a:t>Best use case: a biologically motivated gene/pathway with a specific phenotype and credible external cohort.</a:t>
            </a:r>
            <a:endParaRPr lang="en-US" sz="16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Example blueprint B — A prognostic signature paper</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Modeling papers need stronger validation than single-gene association papers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BLUEPRINT</a:t>
            </a:r>
            <a:endParaRPr lang="en-US" sz="950" dirty="0"/>
          </a:p>
        </p:txBody>
      </p:sp>
      <p:sp>
        <p:nvSpPr>
          <p:cNvPr id="7" name="Shape 4"/>
          <p:cNvSpPr/>
          <p:nvPr/>
        </p:nvSpPr>
        <p:spPr>
          <a:xfrm>
            <a:off x="822960" y="1170432"/>
            <a:ext cx="10515600" cy="594360"/>
          </a:xfrm>
          <a:prstGeom prst="roundRect">
            <a:avLst>
              <a:gd name="adj" fmla="val 6154"/>
            </a:avLst>
          </a:prstGeom>
          <a:solidFill>
            <a:srgbClr val="FFFFFF"/>
          </a:solidFill>
          <a:ln w="12700">
            <a:solidFill>
              <a:srgbClr val="DDE5EA"/>
            </a:solidFill>
            <a:prstDash val="solid"/>
          </a:ln>
        </p:spPr>
      </p:sp>
      <p:sp>
        <p:nvSpPr>
          <p:cNvPr id="8" name="Text 5"/>
          <p:cNvSpPr/>
          <p:nvPr/>
        </p:nvSpPr>
        <p:spPr>
          <a:xfrm>
            <a:off x="987552" y="1335024"/>
            <a:ext cx="2103120" cy="182880"/>
          </a:xfrm>
          <a:prstGeom prst="rect">
            <a:avLst/>
          </a:prstGeom>
          <a:noFill/>
          <a:ln/>
        </p:spPr>
        <p:txBody>
          <a:bodyPr wrap="square" lIns="0" tIns="0" rIns="0" bIns="0" rtlCol="0" anchor="ctr"/>
          <a:lstStyle/>
          <a:p>
            <a:pPr indent="0" marL="0">
              <a:buNone/>
            </a:pPr>
            <a:r>
              <a:rPr lang="en-US" sz="1320" b="1" dirty="0">
                <a:solidFill>
                  <a:srgbClr val="2D5B88"/>
                </a:solidFill>
              </a:rPr>
              <a:t>1. Candidate space</a:t>
            </a:r>
            <a:endParaRPr lang="en-US" sz="1320" dirty="0"/>
          </a:p>
        </p:txBody>
      </p:sp>
      <p:sp>
        <p:nvSpPr>
          <p:cNvPr id="9" name="Text 6"/>
          <p:cNvSpPr/>
          <p:nvPr/>
        </p:nvSpPr>
        <p:spPr>
          <a:xfrm>
            <a:off x="3063240" y="1298448"/>
            <a:ext cx="7909560" cy="274320"/>
          </a:xfrm>
          <a:prstGeom prst="rect">
            <a:avLst/>
          </a:prstGeom>
          <a:noFill/>
          <a:ln/>
        </p:spPr>
        <p:txBody>
          <a:bodyPr wrap="square" lIns="0" tIns="0" rIns="0" bIns="0" rtlCol="0" anchor="ctr"/>
          <a:lstStyle/>
          <a:p>
            <a:pPr indent="0" marL="0">
              <a:buNone/>
            </a:pPr>
            <a:r>
              <a:rPr lang="en-US" sz="1230" dirty="0">
                <a:solidFill>
                  <a:srgbClr val="17232C"/>
                </a:solidFill>
              </a:rPr>
              <a:t>DEGs, pathway genes, immune genes, or literature-defined gene set</a:t>
            </a:r>
            <a:endParaRPr lang="en-US" sz="1230" dirty="0"/>
          </a:p>
        </p:txBody>
      </p:sp>
      <p:sp>
        <p:nvSpPr>
          <p:cNvPr id="10" name="Shape 7"/>
          <p:cNvSpPr/>
          <p:nvPr/>
        </p:nvSpPr>
        <p:spPr>
          <a:xfrm>
            <a:off x="822960" y="1883664"/>
            <a:ext cx="10515600" cy="594360"/>
          </a:xfrm>
          <a:prstGeom prst="roundRect">
            <a:avLst>
              <a:gd name="adj" fmla="val 6154"/>
            </a:avLst>
          </a:prstGeom>
          <a:solidFill>
            <a:srgbClr val="F2F7F7"/>
          </a:solidFill>
          <a:ln w="12700">
            <a:solidFill>
              <a:srgbClr val="DDE5EA"/>
            </a:solidFill>
            <a:prstDash val="solid"/>
          </a:ln>
        </p:spPr>
      </p:sp>
      <p:sp>
        <p:nvSpPr>
          <p:cNvPr id="11" name="Text 8"/>
          <p:cNvSpPr/>
          <p:nvPr/>
        </p:nvSpPr>
        <p:spPr>
          <a:xfrm>
            <a:off x="987552" y="2048256"/>
            <a:ext cx="2103120" cy="182880"/>
          </a:xfrm>
          <a:prstGeom prst="rect">
            <a:avLst/>
          </a:prstGeom>
          <a:noFill/>
          <a:ln/>
        </p:spPr>
        <p:txBody>
          <a:bodyPr wrap="square" lIns="0" tIns="0" rIns="0" bIns="0" rtlCol="0" anchor="ctr"/>
          <a:lstStyle/>
          <a:p>
            <a:pPr indent="0" marL="0">
              <a:buNone/>
            </a:pPr>
            <a:r>
              <a:rPr lang="en-US" sz="1320" b="1" dirty="0">
                <a:solidFill>
                  <a:srgbClr val="2D5B88"/>
                </a:solidFill>
              </a:rPr>
              <a:t>2. Training</a:t>
            </a:r>
            <a:endParaRPr lang="en-US" sz="1320" dirty="0"/>
          </a:p>
        </p:txBody>
      </p:sp>
      <p:sp>
        <p:nvSpPr>
          <p:cNvPr id="12" name="Text 9"/>
          <p:cNvSpPr/>
          <p:nvPr/>
        </p:nvSpPr>
        <p:spPr>
          <a:xfrm>
            <a:off x="3063240" y="2011680"/>
            <a:ext cx="7909560" cy="274320"/>
          </a:xfrm>
          <a:prstGeom prst="rect">
            <a:avLst/>
          </a:prstGeom>
          <a:noFill/>
          <a:ln/>
        </p:spPr>
        <p:txBody>
          <a:bodyPr wrap="square" lIns="0" tIns="0" rIns="0" bIns="0" rtlCol="0" anchor="ctr"/>
          <a:lstStyle/>
          <a:p>
            <a:pPr indent="0" marL="0">
              <a:buNone/>
            </a:pPr>
            <a:r>
              <a:rPr lang="en-US" sz="1230" dirty="0">
                <a:solidFill>
                  <a:srgbClr val="17232C"/>
                </a:solidFill>
              </a:rPr>
              <a:t>Univariate Cox → LASSO/elastic net → multivariable model</a:t>
            </a:r>
            <a:endParaRPr lang="en-US" sz="1230" dirty="0"/>
          </a:p>
        </p:txBody>
      </p:sp>
      <p:sp>
        <p:nvSpPr>
          <p:cNvPr id="13" name="Shape 10"/>
          <p:cNvSpPr/>
          <p:nvPr/>
        </p:nvSpPr>
        <p:spPr>
          <a:xfrm>
            <a:off x="822960" y="2596896"/>
            <a:ext cx="10515600" cy="594360"/>
          </a:xfrm>
          <a:prstGeom prst="roundRect">
            <a:avLst>
              <a:gd name="adj" fmla="val 6154"/>
            </a:avLst>
          </a:prstGeom>
          <a:solidFill>
            <a:srgbClr val="FFFFFF"/>
          </a:solidFill>
          <a:ln w="12700">
            <a:solidFill>
              <a:srgbClr val="DDE5EA"/>
            </a:solidFill>
            <a:prstDash val="solid"/>
          </a:ln>
        </p:spPr>
      </p:sp>
      <p:sp>
        <p:nvSpPr>
          <p:cNvPr id="14" name="Text 11"/>
          <p:cNvSpPr/>
          <p:nvPr/>
        </p:nvSpPr>
        <p:spPr>
          <a:xfrm>
            <a:off x="987552" y="2761488"/>
            <a:ext cx="2103120" cy="182880"/>
          </a:xfrm>
          <a:prstGeom prst="rect">
            <a:avLst/>
          </a:prstGeom>
          <a:noFill/>
          <a:ln/>
        </p:spPr>
        <p:txBody>
          <a:bodyPr wrap="square" lIns="0" tIns="0" rIns="0" bIns="0" rtlCol="0" anchor="ctr"/>
          <a:lstStyle/>
          <a:p>
            <a:pPr indent="0" marL="0">
              <a:buNone/>
            </a:pPr>
            <a:r>
              <a:rPr lang="en-US" sz="1320" b="1" dirty="0">
                <a:solidFill>
                  <a:srgbClr val="2A9D8F"/>
                </a:solidFill>
              </a:rPr>
              <a:t>3. Risk score</a:t>
            </a:r>
            <a:endParaRPr lang="en-US" sz="1320" dirty="0"/>
          </a:p>
        </p:txBody>
      </p:sp>
      <p:sp>
        <p:nvSpPr>
          <p:cNvPr id="15" name="Text 12"/>
          <p:cNvSpPr/>
          <p:nvPr/>
        </p:nvSpPr>
        <p:spPr>
          <a:xfrm>
            <a:off x="3063240" y="2724912"/>
            <a:ext cx="7909560" cy="274320"/>
          </a:xfrm>
          <a:prstGeom prst="rect">
            <a:avLst/>
          </a:prstGeom>
          <a:noFill/>
          <a:ln/>
        </p:spPr>
        <p:txBody>
          <a:bodyPr wrap="square" lIns="0" tIns="0" rIns="0" bIns="0" rtlCol="0" anchor="ctr"/>
          <a:lstStyle/>
          <a:p>
            <a:pPr indent="0" marL="0">
              <a:buNone/>
            </a:pPr>
            <a:r>
              <a:rPr lang="en-US" sz="1230" dirty="0">
                <a:solidFill>
                  <a:srgbClr val="17232C"/>
                </a:solidFill>
              </a:rPr>
              <a:t>Score = Σ(coefficient × expression)</a:t>
            </a:r>
            <a:endParaRPr lang="en-US" sz="1230" dirty="0"/>
          </a:p>
        </p:txBody>
      </p:sp>
      <p:sp>
        <p:nvSpPr>
          <p:cNvPr id="16" name="Shape 13"/>
          <p:cNvSpPr/>
          <p:nvPr/>
        </p:nvSpPr>
        <p:spPr>
          <a:xfrm>
            <a:off x="822960" y="3310128"/>
            <a:ext cx="10515600" cy="594360"/>
          </a:xfrm>
          <a:prstGeom prst="roundRect">
            <a:avLst>
              <a:gd name="adj" fmla="val 6154"/>
            </a:avLst>
          </a:prstGeom>
          <a:solidFill>
            <a:srgbClr val="F2F7F7"/>
          </a:solidFill>
          <a:ln w="12700">
            <a:solidFill>
              <a:srgbClr val="DDE5EA"/>
            </a:solidFill>
            <a:prstDash val="solid"/>
          </a:ln>
        </p:spPr>
      </p:sp>
      <p:sp>
        <p:nvSpPr>
          <p:cNvPr id="17" name="Text 14"/>
          <p:cNvSpPr/>
          <p:nvPr/>
        </p:nvSpPr>
        <p:spPr>
          <a:xfrm>
            <a:off x="987552" y="3474720"/>
            <a:ext cx="2103120" cy="182880"/>
          </a:xfrm>
          <a:prstGeom prst="rect">
            <a:avLst/>
          </a:prstGeom>
          <a:noFill/>
          <a:ln/>
        </p:spPr>
        <p:txBody>
          <a:bodyPr wrap="square" lIns="0" tIns="0" rIns="0" bIns="0" rtlCol="0" anchor="ctr"/>
          <a:lstStyle/>
          <a:p>
            <a:pPr indent="0" marL="0">
              <a:buNone/>
            </a:pPr>
            <a:r>
              <a:rPr lang="en-US" sz="1320" b="1" dirty="0">
                <a:solidFill>
                  <a:srgbClr val="2A9D8F"/>
                </a:solidFill>
              </a:rPr>
              <a:t>4. Internal validation</a:t>
            </a:r>
            <a:endParaRPr lang="en-US" sz="1320" dirty="0"/>
          </a:p>
        </p:txBody>
      </p:sp>
      <p:sp>
        <p:nvSpPr>
          <p:cNvPr id="18" name="Text 15"/>
          <p:cNvSpPr/>
          <p:nvPr/>
        </p:nvSpPr>
        <p:spPr>
          <a:xfrm>
            <a:off x="3063240" y="3438144"/>
            <a:ext cx="7909560" cy="274320"/>
          </a:xfrm>
          <a:prstGeom prst="rect">
            <a:avLst/>
          </a:prstGeom>
          <a:noFill/>
          <a:ln/>
        </p:spPr>
        <p:txBody>
          <a:bodyPr wrap="square" lIns="0" tIns="0" rIns="0" bIns="0" rtlCol="0" anchor="ctr"/>
          <a:lstStyle/>
          <a:p>
            <a:pPr indent="0" marL="0">
              <a:buNone/>
            </a:pPr>
            <a:r>
              <a:rPr lang="en-US" sz="1230" dirty="0">
                <a:solidFill>
                  <a:srgbClr val="17232C"/>
                </a:solidFill>
              </a:rPr>
              <a:t>Cross-validation / bootstrap; C-index and time-dependent AUC</a:t>
            </a:r>
            <a:endParaRPr lang="en-US" sz="1230" dirty="0"/>
          </a:p>
        </p:txBody>
      </p:sp>
      <p:sp>
        <p:nvSpPr>
          <p:cNvPr id="19" name="Shape 16"/>
          <p:cNvSpPr/>
          <p:nvPr/>
        </p:nvSpPr>
        <p:spPr>
          <a:xfrm>
            <a:off x="822960" y="4023360"/>
            <a:ext cx="10515600" cy="594360"/>
          </a:xfrm>
          <a:prstGeom prst="roundRect">
            <a:avLst>
              <a:gd name="adj" fmla="val 6154"/>
            </a:avLst>
          </a:prstGeom>
          <a:solidFill>
            <a:srgbClr val="FFFFFF"/>
          </a:solidFill>
          <a:ln w="12700">
            <a:solidFill>
              <a:srgbClr val="DDE5EA"/>
            </a:solidFill>
            <a:prstDash val="solid"/>
          </a:ln>
        </p:spPr>
      </p:sp>
      <p:sp>
        <p:nvSpPr>
          <p:cNvPr id="20" name="Text 17"/>
          <p:cNvSpPr/>
          <p:nvPr/>
        </p:nvSpPr>
        <p:spPr>
          <a:xfrm>
            <a:off x="987552" y="4187952"/>
            <a:ext cx="2103120" cy="182880"/>
          </a:xfrm>
          <a:prstGeom prst="rect">
            <a:avLst/>
          </a:prstGeom>
          <a:noFill/>
          <a:ln/>
        </p:spPr>
        <p:txBody>
          <a:bodyPr wrap="square" lIns="0" tIns="0" rIns="0" bIns="0" rtlCol="0" anchor="ctr"/>
          <a:lstStyle/>
          <a:p>
            <a:pPr indent="0" marL="0">
              <a:buNone/>
            </a:pPr>
            <a:r>
              <a:rPr lang="en-US" sz="1320" b="1" dirty="0">
                <a:solidFill>
                  <a:srgbClr val="2A9D8F"/>
                </a:solidFill>
              </a:rPr>
              <a:t>5. External validation</a:t>
            </a:r>
            <a:endParaRPr lang="en-US" sz="1320" dirty="0"/>
          </a:p>
        </p:txBody>
      </p:sp>
      <p:sp>
        <p:nvSpPr>
          <p:cNvPr id="21" name="Text 18"/>
          <p:cNvSpPr/>
          <p:nvPr/>
        </p:nvSpPr>
        <p:spPr>
          <a:xfrm>
            <a:off x="3063240" y="4151376"/>
            <a:ext cx="7909560" cy="274320"/>
          </a:xfrm>
          <a:prstGeom prst="rect">
            <a:avLst/>
          </a:prstGeom>
          <a:noFill/>
          <a:ln/>
        </p:spPr>
        <p:txBody>
          <a:bodyPr wrap="square" lIns="0" tIns="0" rIns="0" bIns="0" rtlCol="0" anchor="ctr"/>
          <a:lstStyle/>
          <a:p>
            <a:pPr indent="0" marL="0">
              <a:buNone/>
            </a:pPr>
            <a:r>
              <a:rPr lang="en-US" sz="1230" dirty="0">
                <a:solidFill>
                  <a:srgbClr val="17232C"/>
                </a:solidFill>
              </a:rPr>
              <a:t>Apply frozen coefficients to an independent cohort</a:t>
            </a:r>
            <a:endParaRPr lang="en-US" sz="1230" dirty="0"/>
          </a:p>
        </p:txBody>
      </p:sp>
      <p:sp>
        <p:nvSpPr>
          <p:cNvPr id="22" name="Shape 19"/>
          <p:cNvSpPr/>
          <p:nvPr/>
        </p:nvSpPr>
        <p:spPr>
          <a:xfrm>
            <a:off x="822960" y="4736592"/>
            <a:ext cx="10515600" cy="594360"/>
          </a:xfrm>
          <a:prstGeom prst="roundRect">
            <a:avLst>
              <a:gd name="adj" fmla="val 6154"/>
            </a:avLst>
          </a:prstGeom>
          <a:solidFill>
            <a:srgbClr val="F2F7F7"/>
          </a:solidFill>
          <a:ln w="12700">
            <a:solidFill>
              <a:srgbClr val="DDE5EA"/>
            </a:solidFill>
            <a:prstDash val="solid"/>
          </a:ln>
        </p:spPr>
      </p:sp>
      <p:sp>
        <p:nvSpPr>
          <p:cNvPr id="23" name="Text 20"/>
          <p:cNvSpPr/>
          <p:nvPr/>
        </p:nvSpPr>
        <p:spPr>
          <a:xfrm>
            <a:off x="987552" y="4901184"/>
            <a:ext cx="2103120" cy="182880"/>
          </a:xfrm>
          <a:prstGeom prst="rect">
            <a:avLst/>
          </a:prstGeom>
          <a:noFill/>
          <a:ln/>
        </p:spPr>
        <p:txBody>
          <a:bodyPr wrap="square" lIns="0" tIns="0" rIns="0" bIns="0" rtlCol="0" anchor="ctr"/>
          <a:lstStyle/>
          <a:p>
            <a:pPr indent="0" marL="0">
              <a:buNone/>
            </a:pPr>
            <a:r>
              <a:rPr lang="en-US" sz="1320" b="1" dirty="0">
                <a:solidFill>
                  <a:srgbClr val="E76F51"/>
                </a:solidFill>
              </a:rPr>
              <a:t>6. Clinical utility</a:t>
            </a:r>
            <a:endParaRPr lang="en-US" sz="1320" dirty="0"/>
          </a:p>
        </p:txBody>
      </p:sp>
      <p:sp>
        <p:nvSpPr>
          <p:cNvPr id="24" name="Text 21"/>
          <p:cNvSpPr/>
          <p:nvPr/>
        </p:nvSpPr>
        <p:spPr>
          <a:xfrm>
            <a:off x="3063240" y="4864608"/>
            <a:ext cx="7909560" cy="274320"/>
          </a:xfrm>
          <a:prstGeom prst="rect">
            <a:avLst/>
          </a:prstGeom>
          <a:noFill/>
          <a:ln/>
        </p:spPr>
        <p:txBody>
          <a:bodyPr wrap="square" lIns="0" tIns="0" rIns="0" bIns="0" rtlCol="0" anchor="ctr"/>
          <a:lstStyle/>
          <a:p>
            <a:pPr indent="0" marL="0">
              <a:buNone/>
            </a:pPr>
            <a:r>
              <a:rPr lang="en-US" sz="1230" dirty="0">
                <a:solidFill>
                  <a:srgbClr val="17232C"/>
                </a:solidFill>
              </a:rPr>
              <a:t>Independent Cox, calibration, optional nomogram/DCA</a:t>
            </a:r>
            <a:endParaRPr lang="en-US" sz="1230" dirty="0"/>
          </a:p>
        </p:txBody>
      </p:sp>
      <p:sp>
        <p:nvSpPr>
          <p:cNvPr id="25" name="Shape 22"/>
          <p:cNvSpPr/>
          <p:nvPr/>
        </p:nvSpPr>
        <p:spPr>
          <a:xfrm>
            <a:off x="822960" y="5449824"/>
            <a:ext cx="10515600" cy="594360"/>
          </a:xfrm>
          <a:prstGeom prst="roundRect">
            <a:avLst>
              <a:gd name="adj" fmla="val 6154"/>
            </a:avLst>
          </a:prstGeom>
          <a:solidFill>
            <a:srgbClr val="FFFFFF"/>
          </a:solidFill>
          <a:ln w="12700">
            <a:solidFill>
              <a:srgbClr val="DDE5EA"/>
            </a:solidFill>
            <a:prstDash val="solid"/>
          </a:ln>
        </p:spPr>
      </p:sp>
      <p:sp>
        <p:nvSpPr>
          <p:cNvPr id="26" name="Text 23"/>
          <p:cNvSpPr/>
          <p:nvPr/>
        </p:nvSpPr>
        <p:spPr>
          <a:xfrm>
            <a:off x="987552" y="5614416"/>
            <a:ext cx="2103120" cy="182880"/>
          </a:xfrm>
          <a:prstGeom prst="rect">
            <a:avLst/>
          </a:prstGeom>
          <a:noFill/>
          <a:ln/>
        </p:spPr>
        <p:txBody>
          <a:bodyPr wrap="square" lIns="0" tIns="0" rIns="0" bIns="0" rtlCol="0" anchor="ctr"/>
          <a:lstStyle/>
          <a:p>
            <a:pPr indent="0" marL="0">
              <a:buNone/>
            </a:pPr>
            <a:r>
              <a:rPr lang="en-US" sz="1320" b="1" dirty="0">
                <a:solidFill>
                  <a:srgbClr val="E76F51"/>
                </a:solidFill>
              </a:rPr>
              <a:t>7. Biology</a:t>
            </a:r>
            <a:endParaRPr lang="en-US" sz="1320" dirty="0"/>
          </a:p>
        </p:txBody>
      </p:sp>
      <p:sp>
        <p:nvSpPr>
          <p:cNvPr id="27" name="Text 24"/>
          <p:cNvSpPr/>
          <p:nvPr/>
        </p:nvSpPr>
        <p:spPr>
          <a:xfrm>
            <a:off x="3063240" y="5577840"/>
            <a:ext cx="7909560" cy="274320"/>
          </a:xfrm>
          <a:prstGeom prst="rect">
            <a:avLst/>
          </a:prstGeom>
          <a:noFill/>
          <a:ln/>
        </p:spPr>
        <p:txBody>
          <a:bodyPr wrap="square" lIns="0" tIns="0" rIns="0" bIns="0" rtlCol="0" anchor="ctr"/>
          <a:lstStyle/>
          <a:p>
            <a:pPr indent="0" marL="0">
              <a:buNone/>
            </a:pPr>
            <a:r>
              <a:rPr lang="en-US" sz="1230" dirty="0">
                <a:solidFill>
                  <a:srgbClr val="17232C"/>
                </a:solidFill>
              </a:rPr>
              <a:t>GSEA/immune/drug analyses comparing high- vs low-risk groups</a:t>
            </a:r>
            <a:endParaRPr lang="en-US" sz="1230" dirty="0"/>
          </a:p>
        </p:txBody>
      </p:sp>
      <p:sp>
        <p:nvSpPr>
          <p:cNvPr id="28" name="Text 25"/>
          <p:cNvSpPr/>
          <p:nvPr/>
        </p:nvSpPr>
        <p:spPr>
          <a:xfrm>
            <a:off x="822960" y="5650992"/>
            <a:ext cx="10469880" cy="475488"/>
          </a:xfrm>
          <a:prstGeom prst="rect">
            <a:avLst/>
          </a:prstGeom>
          <a:noFill/>
          <a:ln/>
        </p:spPr>
        <p:txBody>
          <a:bodyPr wrap="square" lIns="0" tIns="0" rIns="0" bIns="0" rtlCol="0" anchor="ctr"/>
          <a:lstStyle/>
          <a:p>
            <a:pPr algn="ctr" indent="0" marL="0">
              <a:buNone/>
            </a:pPr>
            <a:r>
              <a:rPr lang="en-US" sz="1650" b="1" dirty="0">
                <a:solidFill>
                  <a:srgbClr val="C83E4D"/>
                </a:solidFill>
              </a:rPr>
              <a:t>Most common failure: selecting genes using the entire dataset before splitting — this leaks test-set information into the model.</a:t>
            </a:r>
            <a:endParaRPr lang="en-US" sz="16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What reviewers commonly attack</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Fix these before adding more analyses</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QUALITY</a:t>
            </a:r>
            <a:endParaRPr lang="en-US" sz="950" dirty="0"/>
          </a:p>
        </p:txBody>
      </p:sp>
      <p:sp>
        <p:nvSpPr>
          <p:cNvPr id="7" name="Shape 4"/>
          <p:cNvSpPr/>
          <p:nvPr/>
        </p:nvSpPr>
        <p:spPr>
          <a:xfrm>
            <a:off x="685800" y="1325880"/>
            <a:ext cx="5303520" cy="4480560"/>
          </a:xfrm>
          <a:prstGeom prst="roundRect">
            <a:avLst>
              <a:gd name="adj" fmla="val 1224"/>
            </a:avLst>
          </a:prstGeom>
          <a:solidFill>
            <a:srgbClr val="FFFFFF"/>
          </a:solidFill>
          <a:ln w="12700">
            <a:solidFill>
              <a:srgbClr val="DDE5EA"/>
            </a:solidFill>
            <a:prstDash val="solid"/>
          </a:ln>
        </p:spPr>
      </p:sp>
      <p:sp>
        <p:nvSpPr>
          <p:cNvPr id="8" name="Shape 5"/>
          <p:cNvSpPr/>
          <p:nvPr/>
        </p:nvSpPr>
        <p:spPr>
          <a:xfrm>
            <a:off x="685800" y="1325880"/>
            <a:ext cx="73152" cy="4480560"/>
          </a:xfrm>
          <a:prstGeom prst="rect">
            <a:avLst/>
          </a:prstGeom>
          <a:solidFill>
            <a:srgbClr val="C83E4D"/>
          </a:solidFill>
          <a:ln w="12700">
            <a:solidFill>
              <a:srgbClr val="C83E4D"/>
            </a:solidFill>
            <a:prstDash val="solid"/>
          </a:ln>
        </p:spPr>
      </p:sp>
      <p:sp>
        <p:nvSpPr>
          <p:cNvPr id="9" name="Text 6"/>
          <p:cNvSpPr/>
          <p:nvPr/>
        </p:nvSpPr>
        <p:spPr>
          <a:xfrm>
            <a:off x="886968" y="1481328"/>
            <a:ext cx="4956048" cy="274320"/>
          </a:xfrm>
          <a:prstGeom prst="rect">
            <a:avLst/>
          </a:prstGeom>
          <a:noFill/>
          <a:ln/>
        </p:spPr>
        <p:txBody>
          <a:bodyPr wrap="square" lIns="0" tIns="0" rIns="0" bIns="0" rtlCol="0" anchor="ctr"/>
          <a:lstStyle/>
          <a:p>
            <a:pPr indent="0" marL="0">
              <a:buNone/>
            </a:pPr>
            <a:r>
              <a:rPr lang="en-US" sz="1700" b="1" dirty="0">
                <a:solidFill>
                  <a:srgbClr val="17324A"/>
                </a:solidFill>
              </a:rPr>
              <a:t>Statistical / design weaknesses</a:t>
            </a:r>
            <a:endParaRPr lang="en-US" sz="1700" dirty="0"/>
          </a:p>
        </p:txBody>
      </p:sp>
      <p:sp>
        <p:nvSpPr>
          <p:cNvPr id="10" name="Text 7"/>
          <p:cNvSpPr/>
          <p:nvPr/>
        </p:nvSpPr>
        <p:spPr>
          <a:xfrm>
            <a:off x="886968" y="1828800"/>
            <a:ext cx="4956048" cy="3840480"/>
          </a:xfrm>
          <a:prstGeom prst="rect">
            <a:avLst/>
          </a:prstGeom>
          <a:noFill/>
          <a:ln/>
        </p:spPr>
        <p:txBody>
          <a:bodyPr wrap="square" lIns="254" tIns="254" rIns="254" bIns="254" rtlCol="0" anchor="t"/>
          <a:lstStyle/>
          <a:p>
            <a:pPr indent="0" marL="0">
              <a:buNone/>
            </a:pPr>
            <a:r>
              <a:rPr lang="en-US" sz="1230" dirty="0">
                <a:solidFill>
                  <a:srgbClr val="17232C"/>
                </a:solidFill>
              </a:rPr>
              <a:t>• No external validation</a:t>
            </a:r>
            <a:endParaRPr lang="en-US" sz="1230" dirty="0"/>
          </a:p>
          <a:p>
            <a:pPr indent="0" marL="0">
              <a:buNone/>
            </a:pPr>
            <a:r>
              <a:rPr lang="en-US" sz="1230" dirty="0">
                <a:solidFill>
                  <a:srgbClr val="17232C"/>
                </a:solidFill>
              </a:rPr>
              <a:t>• Inconsistent preprocessing</a:t>
            </a:r>
            <a:endParaRPr lang="en-US" sz="1230" dirty="0"/>
          </a:p>
          <a:p>
            <a:pPr indent="0" marL="0">
              <a:buNone/>
            </a:pPr>
            <a:r>
              <a:rPr lang="en-US" sz="1230" dirty="0">
                <a:solidFill>
                  <a:srgbClr val="17232C"/>
                </a:solidFill>
              </a:rPr>
              <a:t>• Unclear endpoint or censoring</a:t>
            </a:r>
            <a:endParaRPr lang="en-US" sz="1230" dirty="0"/>
          </a:p>
          <a:p>
            <a:pPr indent="0" marL="0">
              <a:buNone/>
            </a:pPr>
            <a:r>
              <a:rPr lang="en-US" sz="1230" dirty="0">
                <a:solidFill>
                  <a:srgbClr val="17232C"/>
                </a:solidFill>
              </a:rPr>
              <a:t>• Multiple testing ignored</a:t>
            </a:r>
            <a:endParaRPr lang="en-US" sz="1230" dirty="0"/>
          </a:p>
          <a:p>
            <a:pPr indent="0" marL="0">
              <a:buNone/>
            </a:pPr>
            <a:r>
              <a:rPr lang="en-US" sz="1230" dirty="0">
                <a:solidFill>
                  <a:srgbClr val="17232C"/>
                </a:solidFill>
              </a:rPr>
              <a:t>• Confounding not adjusted</a:t>
            </a:r>
            <a:endParaRPr lang="en-US" sz="1230" dirty="0"/>
          </a:p>
          <a:p>
            <a:pPr indent="0" marL="0">
              <a:buNone/>
            </a:pPr>
            <a:r>
              <a:rPr lang="en-US" sz="1230" dirty="0">
                <a:solidFill>
                  <a:srgbClr val="17232C"/>
                </a:solidFill>
              </a:rPr>
              <a:t>• Arbitrary cutoffs everywhere</a:t>
            </a:r>
            <a:endParaRPr lang="en-US" sz="1230" dirty="0"/>
          </a:p>
        </p:txBody>
      </p:sp>
      <p:sp>
        <p:nvSpPr>
          <p:cNvPr id="11" name="Shape 8"/>
          <p:cNvSpPr/>
          <p:nvPr/>
        </p:nvSpPr>
        <p:spPr>
          <a:xfrm>
            <a:off x="6172200" y="1325880"/>
            <a:ext cx="5303520" cy="4480560"/>
          </a:xfrm>
          <a:prstGeom prst="roundRect">
            <a:avLst>
              <a:gd name="adj" fmla="val 1224"/>
            </a:avLst>
          </a:prstGeom>
          <a:solidFill>
            <a:srgbClr val="FFFFFF"/>
          </a:solidFill>
          <a:ln w="12700">
            <a:solidFill>
              <a:srgbClr val="DDE5EA"/>
            </a:solidFill>
            <a:prstDash val="solid"/>
          </a:ln>
        </p:spPr>
      </p:sp>
      <p:sp>
        <p:nvSpPr>
          <p:cNvPr id="12" name="Shape 9"/>
          <p:cNvSpPr/>
          <p:nvPr/>
        </p:nvSpPr>
        <p:spPr>
          <a:xfrm>
            <a:off x="6172200" y="1325880"/>
            <a:ext cx="73152" cy="4480560"/>
          </a:xfrm>
          <a:prstGeom prst="rect">
            <a:avLst/>
          </a:prstGeom>
          <a:solidFill>
            <a:srgbClr val="E76F51"/>
          </a:solidFill>
          <a:ln w="12700">
            <a:solidFill>
              <a:srgbClr val="E76F51"/>
            </a:solidFill>
            <a:prstDash val="solid"/>
          </a:ln>
        </p:spPr>
      </p:sp>
      <p:sp>
        <p:nvSpPr>
          <p:cNvPr id="13" name="Text 10"/>
          <p:cNvSpPr/>
          <p:nvPr/>
        </p:nvSpPr>
        <p:spPr>
          <a:xfrm>
            <a:off x="6373368" y="1481328"/>
            <a:ext cx="4956048" cy="274320"/>
          </a:xfrm>
          <a:prstGeom prst="rect">
            <a:avLst/>
          </a:prstGeom>
          <a:noFill/>
          <a:ln/>
        </p:spPr>
        <p:txBody>
          <a:bodyPr wrap="square" lIns="0" tIns="0" rIns="0" bIns="0" rtlCol="0" anchor="ctr"/>
          <a:lstStyle/>
          <a:p>
            <a:pPr indent="0" marL="0">
              <a:buNone/>
            </a:pPr>
            <a:r>
              <a:rPr lang="en-US" sz="1700" b="1" dirty="0">
                <a:solidFill>
                  <a:srgbClr val="17324A"/>
                </a:solidFill>
              </a:rPr>
              <a:t>Interpretation / reporting weaknesses</a:t>
            </a:r>
            <a:endParaRPr lang="en-US" sz="1700" dirty="0"/>
          </a:p>
        </p:txBody>
      </p:sp>
      <p:sp>
        <p:nvSpPr>
          <p:cNvPr id="14" name="Text 11"/>
          <p:cNvSpPr/>
          <p:nvPr/>
        </p:nvSpPr>
        <p:spPr>
          <a:xfrm>
            <a:off x="6373368" y="1828800"/>
            <a:ext cx="4956048" cy="3840480"/>
          </a:xfrm>
          <a:prstGeom prst="rect">
            <a:avLst/>
          </a:prstGeom>
          <a:noFill/>
          <a:ln/>
        </p:spPr>
        <p:txBody>
          <a:bodyPr wrap="square" lIns="254" tIns="254" rIns="254" bIns="254" rtlCol="0" anchor="t"/>
          <a:lstStyle/>
          <a:p>
            <a:pPr indent="0" marL="0">
              <a:buNone/>
            </a:pPr>
            <a:r>
              <a:rPr lang="en-US" sz="1230" dirty="0">
                <a:solidFill>
                  <a:srgbClr val="17232C"/>
                </a:solidFill>
              </a:rPr>
              <a:t>• Overfitted LASSO/model</a:t>
            </a:r>
            <a:endParaRPr lang="en-US" sz="1230" dirty="0"/>
          </a:p>
          <a:p>
            <a:pPr indent="0" marL="0">
              <a:buNone/>
            </a:pPr>
            <a:r>
              <a:rPr lang="en-US" sz="1230" dirty="0">
                <a:solidFill>
                  <a:srgbClr val="17232C"/>
                </a:solidFill>
              </a:rPr>
              <a:t>• Data leakage</a:t>
            </a:r>
            <a:endParaRPr lang="en-US" sz="1230" dirty="0"/>
          </a:p>
          <a:p>
            <a:pPr indent="0" marL="0">
              <a:buNone/>
            </a:pPr>
            <a:r>
              <a:rPr lang="en-US" sz="1230" dirty="0">
                <a:solidFill>
                  <a:srgbClr val="17232C"/>
                </a:solidFill>
              </a:rPr>
              <a:t>• Mechanistic claims from correlation</a:t>
            </a:r>
            <a:endParaRPr lang="en-US" sz="1230" dirty="0"/>
          </a:p>
          <a:p>
            <a:pPr indent="0" marL="0">
              <a:buNone/>
            </a:pPr>
            <a:r>
              <a:rPr lang="en-US" sz="1230" dirty="0">
                <a:solidFill>
                  <a:srgbClr val="17232C"/>
                </a:solidFill>
              </a:rPr>
              <a:t>• Website-only reproducibility</a:t>
            </a:r>
            <a:endParaRPr lang="en-US" sz="1230" dirty="0"/>
          </a:p>
          <a:p>
            <a:pPr indent="0" marL="0">
              <a:buNone/>
            </a:pPr>
            <a:r>
              <a:rPr lang="en-US" sz="1230" dirty="0">
                <a:solidFill>
                  <a:srgbClr val="17232C"/>
                </a:solidFill>
              </a:rPr>
              <a:t>• No effect sizes / CIs</a:t>
            </a:r>
            <a:endParaRPr lang="en-US" sz="1230" dirty="0"/>
          </a:p>
          <a:p>
            <a:pPr indent="0" marL="0">
              <a:buNone/>
            </a:pPr>
            <a:r>
              <a:rPr lang="en-US" sz="1230" dirty="0">
                <a:solidFill>
                  <a:srgbClr val="17232C"/>
                </a:solidFill>
              </a:rPr>
              <a:t>• Plots are redundant rather than complementary</a:t>
            </a:r>
            <a:endParaRPr lang="en-US" sz="1230" dirty="0"/>
          </a:p>
        </p:txBody>
      </p:sp>
      <p:sp>
        <p:nvSpPr>
          <p:cNvPr id="15" name="Text 12"/>
          <p:cNvSpPr/>
          <p:nvPr/>
        </p:nvSpPr>
        <p:spPr>
          <a:xfrm>
            <a:off x="822960" y="5879592"/>
            <a:ext cx="10424160" cy="384048"/>
          </a:xfrm>
          <a:prstGeom prst="rect">
            <a:avLst/>
          </a:prstGeom>
          <a:noFill/>
          <a:ln/>
        </p:spPr>
        <p:txBody>
          <a:bodyPr wrap="square" lIns="0" tIns="0" rIns="0" bIns="0" rtlCol="0" anchor="ctr"/>
          <a:lstStyle/>
          <a:p>
            <a:pPr algn="ctr" indent="0" marL="0">
              <a:buNone/>
            </a:pPr>
            <a:r>
              <a:rPr lang="en-US" sz="1720" b="1" dirty="0">
                <a:solidFill>
                  <a:srgbClr val="17324A"/>
                </a:solidFill>
              </a:rPr>
              <a:t>Before submission, ask: “Which result would still convince a reviewer if every decorative figure were removed?”</a:t>
            </a:r>
            <a:endParaRPr lang="en-US" sz="172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Recommended learning order for a beginner</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Learn the 80% that appears in most bulk-data manuscripts first</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LEARNING</a:t>
            </a:r>
            <a:endParaRPr lang="en-US" sz="950" dirty="0"/>
          </a:p>
        </p:txBody>
      </p:sp>
      <p:sp>
        <p:nvSpPr>
          <p:cNvPr id="7" name="Shape 4"/>
          <p:cNvSpPr/>
          <p:nvPr/>
        </p:nvSpPr>
        <p:spPr>
          <a:xfrm>
            <a:off x="822960" y="1298448"/>
            <a:ext cx="914400" cy="320040"/>
          </a:xfrm>
          <a:prstGeom prst="roundRect">
            <a:avLst>
              <a:gd name="adj" fmla="val 22857"/>
            </a:avLst>
          </a:prstGeom>
          <a:solidFill>
            <a:srgbClr val="2D5B88"/>
          </a:solidFill>
          <a:ln w="12700">
            <a:solidFill>
              <a:srgbClr val="2D5B88"/>
            </a:solidFill>
            <a:prstDash val="solid"/>
          </a:ln>
        </p:spPr>
      </p:sp>
      <p:sp>
        <p:nvSpPr>
          <p:cNvPr id="8" name="Text 5"/>
          <p:cNvSpPr/>
          <p:nvPr/>
        </p:nvSpPr>
        <p:spPr>
          <a:xfrm>
            <a:off x="868680" y="1367028"/>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1</a:t>
            </a:r>
            <a:endParaRPr lang="en-US" sz="1050" dirty="0"/>
          </a:p>
        </p:txBody>
      </p:sp>
      <p:sp>
        <p:nvSpPr>
          <p:cNvPr id="9" name="Text 6"/>
          <p:cNvSpPr/>
          <p:nvPr/>
        </p:nvSpPr>
        <p:spPr>
          <a:xfrm>
            <a:off x="1920240" y="1234440"/>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Data frames + ggplot2</a:t>
            </a:r>
            <a:endParaRPr lang="en-US" sz="1500" dirty="0"/>
          </a:p>
        </p:txBody>
      </p:sp>
      <p:sp>
        <p:nvSpPr>
          <p:cNvPr id="10" name="Text 7"/>
          <p:cNvSpPr/>
          <p:nvPr/>
        </p:nvSpPr>
        <p:spPr>
          <a:xfrm>
            <a:off x="4297680" y="1216152"/>
            <a:ext cx="6766560" cy="438912"/>
          </a:xfrm>
          <a:prstGeom prst="rect">
            <a:avLst/>
          </a:prstGeom>
          <a:noFill/>
          <a:ln/>
        </p:spPr>
        <p:txBody>
          <a:bodyPr wrap="square" lIns="0" tIns="0" rIns="0" bIns="0" rtlCol="0" anchor="ctr"/>
          <a:lstStyle/>
          <a:p>
            <a:pPr indent="0" marL="0">
              <a:buNone/>
            </a:pPr>
            <a:r>
              <a:rPr lang="en-US" sz="1220" dirty="0">
                <a:solidFill>
                  <a:srgbClr val="17232C"/>
                </a:solidFill>
              </a:rPr>
              <a:t>Read expression and clinical tables; merge IDs; make boxplots/heatmaps</a:t>
            </a:r>
            <a:endParaRPr lang="en-US" sz="1220" dirty="0"/>
          </a:p>
        </p:txBody>
      </p:sp>
      <p:sp>
        <p:nvSpPr>
          <p:cNvPr id="11" name="Shape 8"/>
          <p:cNvSpPr/>
          <p:nvPr/>
        </p:nvSpPr>
        <p:spPr>
          <a:xfrm>
            <a:off x="822960" y="2084832"/>
            <a:ext cx="914400" cy="320040"/>
          </a:xfrm>
          <a:prstGeom prst="roundRect">
            <a:avLst>
              <a:gd name="adj" fmla="val 22857"/>
            </a:avLst>
          </a:prstGeom>
          <a:solidFill>
            <a:srgbClr val="2D5B88"/>
          </a:solidFill>
          <a:ln w="12700">
            <a:solidFill>
              <a:srgbClr val="2D5B88"/>
            </a:solidFill>
            <a:prstDash val="solid"/>
          </a:ln>
        </p:spPr>
      </p:sp>
      <p:sp>
        <p:nvSpPr>
          <p:cNvPr id="12" name="Text 9"/>
          <p:cNvSpPr/>
          <p:nvPr/>
        </p:nvSpPr>
        <p:spPr>
          <a:xfrm>
            <a:off x="868680" y="2153412"/>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2</a:t>
            </a:r>
            <a:endParaRPr lang="en-US" sz="1050" dirty="0"/>
          </a:p>
        </p:txBody>
      </p:sp>
      <p:sp>
        <p:nvSpPr>
          <p:cNvPr id="13" name="Text 10"/>
          <p:cNvSpPr/>
          <p:nvPr/>
        </p:nvSpPr>
        <p:spPr>
          <a:xfrm>
            <a:off x="1920240" y="2020824"/>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Statistics + DEGs</a:t>
            </a:r>
            <a:endParaRPr lang="en-US" sz="1500" dirty="0"/>
          </a:p>
        </p:txBody>
      </p:sp>
      <p:sp>
        <p:nvSpPr>
          <p:cNvPr id="14" name="Text 11"/>
          <p:cNvSpPr/>
          <p:nvPr/>
        </p:nvSpPr>
        <p:spPr>
          <a:xfrm>
            <a:off x="4297680" y="2002536"/>
            <a:ext cx="6766560" cy="438912"/>
          </a:xfrm>
          <a:prstGeom prst="rect">
            <a:avLst/>
          </a:prstGeom>
          <a:noFill/>
          <a:ln/>
        </p:spPr>
        <p:txBody>
          <a:bodyPr wrap="square" lIns="0" tIns="0" rIns="0" bIns="0" rtlCol="0" anchor="ctr"/>
          <a:lstStyle/>
          <a:p>
            <a:pPr indent="0" marL="0">
              <a:buNone/>
            </a:pPr>
            <a:r>
              <a:rPr lang="en-US" sz="1220" dirty="0">
                <a:solidFill>
                  <a:srgbClr val="17232C"/>
                </a:solidFill>
              </a:rPr>
              <a:t>t/Wilcoxon, linear models, FDR; limma/DESeq2 basics</a:t>
            </a:r>
            <a:endParaRPr lang="en-US" sz="1220" dirty="0"/>
          </a:p>
        </p:txBody>
      </p:sp>
      <p:sp>
        <p:nvSpPr>
          <p:cNvPr id="15" name="Shape 12"/>
          <p:cNvSpPr/>
          <p:nvPr/>
        </p:nvSpPr>
        <p:spPr>
          <a:xfrm>
            <a:off x="822960" y="2871216"/>
            <a:ext cx="914400" cy="320040"/>
          </a:xfrm>
          <a:prstGeom prst="roundRect">
            <a:avLst>
              <a:gd name="adj" fmla="val 22857"/>
            </a:avLst>
          </a:prstGeom>
          <a:solidFill>
            <a:srgbClr val="2A9D8F"/>
          </a:solidFill>
          <a:ln w="12700">
            <a:solidFill>
              <a:srgbClr val="2A9D8F"/>
            </a:solidFill>
            <a:prstDash val="solid"/>
          </a:ln>
        </p:spPr>
      </p:sp>
      <p:sp>
        <p:nvSpPr>
          <p:cNvPr id="16" name="Text 13"/>
          <p:cNvSpPr/>
          <p:nvPr/>
        </p:nvSpPr>
        <p:spPr>
          <a:xfrm>
            <a:off x="868680" y="2939796"/>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3</a:t>
            </a:r>
            <a:endParaRPr lang="en-US" sz="1050" dirty="0"/>
          </a:p>
        </p:txBody>
      </p:sp>
      <p:sp>
        <p:nvSpPr>
          <p:cNvPr id="17" name="Text 14"/>
          <p:cNvSpPr/>
          <p:nvPr/>
        </p:nvSpPr>
        <p:spPr>
          <a:xfrm>
            <a:off x="1920240" y="2807208"/>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Survival</a:t>
            </a:r>
            <a:endParaRPr lang="en-US" sz="1500" dirty="0"/>
          </a:p>
        </p:txBody>
      </p:sp>
      <p:sp>
        <p:nvSpPr>
          <p:cNvPr id="18" name="Text 15"/>
          <p:cNvSpPr/>
          <p:nvPr/>
        </p:nvSpPr>
        <p:spPr>
          <a:xfrm>
            <a:off x="4297680" y="2788920"/>
            <a:ext cx="6766560" cy="438912"/>
          </a:xfrm>
          <a:prstGeom prst="rect">
            <a:avLst/>
          </a:prstGeom>
          <a:noFill/>
          <a:ln/>
        </p:spPr>
        <p:txBody>
          <a:bodyPr wrap="square" lIns="0" tIns="0" rIns="0" bIns="0" rtlCol="0" anchor="ctr"/>
          <a:lstStyle/>
          <a:p>
            <a:pPr indent="0" marL="0">
              <a:buNone/>
            </a:pPr>
            <a:r>
              <a:rPr lang="en-US" sz="1220" dirty="0">
                <a:solidFill>
                  <a:srgbClr val="17232C"/>
                </a:solidFill>
              </a:rPr>
              <a:t>Surv object, KM, log-rank, Cox, HR/CI interpretation</a:t>
            </a:r>
            <a:endParaRPr lang="en-US" sz="1220" dirty="0"/>
          </a:p>
        </p:txBody>
      </p:sp>
      <p:sp>
        <p:nvSpPr>
          <p:cNvPr id="19" name="Shape 16"/>
          <p:cNvSpPr/>
          <p:nvPr/>
        </p:nvSpPr>
        <p:spPr>
          <a:xfrm>
            <a:off x="822960" y="3657600"/>
            <a:ext cx="914400" cy="320040"/>
          </a:xfrm>
          <a:prstGeom prst="roundRect">
            <a:avLst>
              <a:gd name="adj" fmla="val 22857"/>
            </a:avLst>
          </a:prstGeom>
          <a:solidFill>
            <a:srgbClr val="2A9D8F"/>
          </a:solidFill>
          <a:ln w="12700">
            <a:solidFill>
              <a:srgbClr val="2A9D8F"/>
            </a:solidFill>
            <a:prstDash val="solid"/>
          </a:ln>
        </p:spPr>
      </p:sp>
      <p:sp>
        <p:nvSpPr>
          <p:cNvPr id="20" name="Text 17"/>
          <p:cNvSpPr/>
          <p:nvPr/>
        </p:nvSpPr>
        <p:spPr>
          <a:xfrm>
            <a:off x="868680" y="3726180"/>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4</a:t>
            </a:r>
            <a:endParaRPr lang="en-US" sz="1050" dirty="0"/>
          </a:p>
        </p:txBody>
      </p:sp>
      <p:sp>
        <p:nvSpPr>
          <p:cNvPr id="21" name="Text 18"/>
          <p:cNvSpPr/>
          <p:nvPr/>
        </p:nvSpPr>
        <p:spPr>
          <a:xfrm>
            <a:off x="1920240" y="3593592"/>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Enrichment</a:t>
            </a:r>
            <a:endParaRPr lang="en-US" sz="1500" dirty="0"/>
          </a:p>
        </p:txBody>
      </p:sp>
      <p:sp>
        <p:nvSpPr>
          <p:cNvPr id="22" name="Text 19"/>
          <p:cNvSpPr/>
          <p:nvPr/>
        </p:nvSpPr>
        <p:spPr>
          <a:xfrm>
            <a:off x="4297680" y="3575304"/>
            <a:ext cx="6766560" cy="438912"/>
          </a:xfrm>
          <a:prstGeom prst="rect">
            <a:avLst/>
          </a:prstGeom>
          <a:noFill/>
          <a:ln/>
        </p:spPr>
        <p:txBody>
          <a:bodyPr wrap="square" lIns="0" tIns="0" rIns="0" bIns="0" rtlCol="0" anchor="ctr"/>
          <a:lstStyle/>
          <a:p>
            <a:pPr indent="0" marL="0">
              <a:buNone/>
            </a:pPr>
            <a:r>
              <a:rPr lang="en-US" sz="1220" dirty="0">
                <a:solidFill>
                  <a:srgbClr val="17232C"/>
                </a:solidFill>
              </a:rPr>
              <a:t>GO/KEGG/GSEA/GSVA and how to interpret them</a:t>
            </a:r>
            <a:endParaRPr lang="en-US" sz="1220" dirty="0"/>
          </a:p>
        </p:txBody>
      </p:sp>
      <p:sp>
        <p:nvSpPr>
          <p:cNvPr id="23" name="Shape 20"/>
          <p:cNvSpPr/>
          <p:nvPr/>
        </p:nvSpPr>
        <p:spPr>
          <a:xfrm>
            <a:off x="822960" y="4443984"/>
            <a:ext cx="914400" cy="320040"/>
          </a:xfrm>
          <a:prstGeom prst="roundRect">
            <a:avLst>
              <a:gd name="adj" fmla="val 22857"/>
            </a:avLst>
          </a:prstGeom>
          <a:solidFill>
            <a:srgbClr val="E76F51"/>
          </a:solidFill>
          <a:ln w="12700">
            <a:solidFill>
              <a:srgbClr val="E76F51"/>
            </a:solidFill>
            <a:prstDash val="solid"/>
          </a:ln>
        </p:spPr>
      </p:sp>
      <p:sp>
        <p:nvSpPr>
          <p:cNvPr id="24" name="Text 21"/>
          <p:cNvSpPr/>
          <p:nvPr/>
        </p:nvSpPr>
        <p:spPr>
          <a:xfrm>
            <a:off x="868680" y="4512564"/>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5</a:t>
            </a:r>
            <a:endParaRPr lang="en-US" sz="1050" dirty="0"/>
          </a:p>
        </p:txBody>
      </p:sp>
      <p:sp>
        <p:nvSpPr>
          <p:cNvPr id="25" name="Text 22"/>
          <p:cNvSpPr/>
          <p:nvPr/>
        </p:nvSpPr>
        <p:spPr>
          <a:xfrm>
            <a:off x="1920240" y="4379976"/>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Immune + genomics</a:t>
            </a:r>
            <a:endParaRPr lang="en-US" sz="1500" dirty="0"/>
          </a:p>
        </p:txBody>
      </p:sp>
      <p:sp>
        <p:nvSpPr>
          <p:cNvPr id="26" name="Text 23"/>
          <p:cNvSpPr/>
          <p:nvPr/>
        </p:nvSpPr>
        <p:spPr>
          <a:xfrm>
            <a:off x="4297680" y="4361688"/>
            <a:ext cx="6766560" cy="438912"/>
          </a:xfrm>
          <a:prstGeom prst="rect">
            <a:avLst/>
          </a:prstGeom>
          <a:noFill/>
          <a:ln/>
        </p:spPr>
        <p:txBody>
          <a:bodyPr wrap="square" lIns="0" tIns="0" rIns="0" bIns="0" rtlCol="0" anchor="ctr"/>
          <a:lstStyle/>
          <a:p>
            <a:pPr indent="0" marL="0">
              <a:buNone/>
            </a:pPr>
            <a:r>
              <a:rPr lang="en-US" sz="1220" dirty="0">
                <a:solidFill>
                  <a:srgbClr val="17232C"/>
                </a:solidFill>
              </a:rPr>
              <a:t>TIMER/ESTIMATE/ssGSEA, maftools/cBioPortal</a:t>
            </a:r>
            <a:endParaRPr lang="en-US" sz="1220" dirty="0"/>
          </a:p>
        </p:txBody>
      </p:sp>
      <p:sp>
        <p:nvSpPr>
          <p:cNvPr id="27" name="Shape 24"/>
          <p:cNvSpPr/>
          <p:nvPr/>
        </p:nvSpPr>
        <p:spPr>
          <a:xfrm>
            <a:off x="822960" y="5230368"/>
            <a:ext cx="914400" cy="320040"/>
          </a:xfrm>
          <a:prstGeom prst="roundRect">
            <a:avLst>
              <a:gd name="adj" fmla="val 22857"/>
            </a:avLst>
          </a:prstGeom>
          <a:solidFill>
            <a:srgbClr val="E76F51"/>
          </a:solidFill>
          <a:ln w="12700">
            <a:solidFill>
              <a:srgbClr val="E76F51"/>
            </a:solidFill>
            <a:prstDash val="solid"/>
          </a:ln>
        </p:spPr>
      </p:sp>
      <p:sp>
        <p:nvSpPr>
          <p:cNvPr id="28" name="Text 25"/>
          <p:cNvSpPr/>
          <p:nvPr/>
        </p:nvSpPr>
        <p:spPr>
          <a:xfrm>
            <a:off x="868680" y="5298948"/>
            <a:ext cx="822960" cy="155448"/>
          </a:xfrm>
          <a:prstGeom prst="rect">
            <a:avLst/>
          </a:prstGeom>
          <a:noFill/>
          <a:ln/>
        </p:spPr>
        <p:txBody>
          <a:bodyPr wrap="square" lIns="0" tIns="0" rIns="0" bIns="0" rtlCol="0" anchor="ctr"/>
          <a:lstStyle/>
          <a:p>
            <a:pPr algn="ctr" indent="0" marL="0">
              <a:buNone/>
            </a:pPr>
            <a:r>
              <a:rPr lang="en-US" sz="1050" b="1" dirty="0">
                <a:solidFill>
                  <a:srgbClr val="FFFFFF"/>
                </a:solidFill>
              </a:rPr>
              <a:t>Week 6</a:t>
            </a:r>
            <a:endParaRPr lang="en-US" sz="1050" dirty="0"/>
          </a:p>
        </p:txBody>
      </p:sp>
      <p:sp>
        <p:nvSpPr>
          <p:cNvPr id="29" name="Text 26"/>
          <p:cNvSpPr/>
          <p:nvPr/>
        </p:nvSpPr>
        <p:spPr>
          <a:xfrm>
            <a:off x="1920240" y="5166360"/>
            <a:ext cx="2331720" cy="256032"/>
          </a:xfrm>
          <a:prstGeom prst="rect">
            <a:avLst/>
          </a:prstGeom>
          <a:noFill/>
          <a:ln/>
        </p:spPr>
        <p:txBody>
          <a:bodyPr wrap="square" lIns="0" tIns="0" rIns="0" bIns="0" rtlCol="0" anchor="ctr"/>
          <a:lstStyle/>
          <a:p>
            <a:pPr indent="0" marL="0">
              <a:buNone/>
            </a:pPr>
            <a:r>
              <a:rPr lang="en-US" sz="1500" b="1" dirty="0">
                <a:solidFill>
                  <a:srgbClr val="17324A"/>
                </a:solidFill>
              </a:rPr>
              <a:t>Validation + manuscript</a:t>
            </a:r>
            <a:endParaRPr lang="en-US" sz="1500" dirty="0"/>
          </a:p>
        </p:txBody>
      </p:sp>
      <p:sp>
        <p:nvSpPr>
          <p:cNvPr id="30" name="Text 27"/>
          <p:cNvSpPr/>
          <p:nvPr/>
        </p:nvSpPr>
        <p:spPr>
          <a:xfrm>
            <a:off x="4297680" y="5148072"/>
            <a:ext cx="6766560" cy="438912"/>
          </a:xfrm>
          <a:prstGeom prst="rect">
            <a:avLst/>
          </a:prstGeom>
          <a:noFill/>
          <a:ln/>
        </p:spPr>
        <p:txBody>
          <a:bodyPr wrap="square" lIns="0" tIns="0" rIns="0" bIns="0" rtlCol="0" anchor="ctr"/>
          <a:lstStyle/>
          <a:p>
            <a:pPr indent="0" marL="0">
              <a:buNone/>
            </a:pPr>
            <a:r>
              <a:rPr lang="en-US" sz="1220" dirty="0">
                <a:solidFill>
                  <a:srgbClr val="17232C"/>
                </a:solidFill>
              </a:rPr>
              <a:t>Independent cohort, reproducible scripts, figure story, limitations</a:t>
            </a:r>
            <a:endParaRPr lang="en-US" sz="1220" dirty="0"/>
          </a:p>
        </p:txBody>
      </p:sp>
      <p:sp>
        <p:nvSpPr>
          <p:cNvPr id="31" name="Text 28"/>
          <p:cNvSpPr/>
          <p:nvPr/>
        </p:nvSpPr>
        <p:spPr>
          <a:xfrm>
            <a:off x="822960" y="5897880"/>
            <a:ext cx="10469880" cy="365760"/>
          </a:xfrm>
          <a:prstGeom prst="rect">
            <a:avLst/>
          </a:prstGeom>
          <a:noFill/>
          <a:ln/>
        </p:spPr>
        <p:txBody>
          <a:bodyPr wrap="square" lIns="0" tIns="0" rIns="0" bIns="0" rtlCol="0" anchor="ctr"/>
          <a:lstStyle/>
          <a:p>
            <a:pPr algn="ctr" indent="0" marL="0">
              <a:buNone/>
            </a:pPr>
            <a:r>
              <a:rPr lang="en-US" sz="1680" b="1" dirty="0">
                <a:solidFill>
                  <a:srgbClr val="C83E4D"/>
                </a:solidFill>
              </a:rPr>
              <a:t>Do not begin with single-cell, deep learning, or raw FASTQ processing unless your research question truly requires them.</a:t>
            </a:r>
            <a:endParaRPr lang="en-US" sz="168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Take-home checklist</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A compact standard for planning your first public-data bioinformatics paper</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SUMMARY</a:t>
            </a:r>
            <a:endParaRPr lang="en-US" sz="950" dirty="0"/>
          </a:p>
        </p:txBody>
      </p:sp>
      <p:sp>
        <p:nvSpPr>
          <p:cNvPr id="7" name="Shape 4"/>
          <p:cNvSpPr/>
          <p:nvPr/>
        </p:nvSpPr>
        <p:spPr>
          <a:xfrm>
            <a:off x="658368" y="1280160"/>
            <a:ext cx="6400800" cy="4480560"/>
          </a:xfrm>
          <a:prstGeom prst="roundRect">
            <a:avLst>
              <a:gd name="adj" fmla="val 1224"/>
            </a:avLst>
          </a:prstGeom>
          <a:solidFill>
            <a:srgbClr val="FFFFFF"/>
          </a:solidFill>
          <a:ln w="12700">
            <a:solidFill>
              <a:srgbClr val="DDE5EA"/>
            </a:solidFill>
            <a:prstDash val="solid"/>
          </a:ln>
        </p:spPr>
      </p:sp>
      <p:sp>
        <p:nvSpPr>
          <p:cNvPr id="8" name="Shape 5"/>
          <p:cNvSpPr/>
          <p:nvPr/>
        </p:nvSpPr>
        <p:spPr>
          <a:xfrm>
            <a:off x="658368" y="1280160"/>
            <a:ext cx="73152" cy="4480560"/>
          </a:xfrm>
          <a:prstGeom prst="rect">
            <a:avLst/>
          </a:prstGeom>
          <a:solidFill>
            <a:srgbClr val="2A9D8F"/>
          </a:solidFill>
          <a:ln w="12700">
            <a:solidFill>
              <a:srgbClr val="2A9D8F"/>
            </a:solidFill>
            <a:prstDash val="solid"/>
          </a:ln>
        </p:spPr>
      </p:sp>
      <p:sp>
        <p:nvSpPr>
          <p:cNvPr id="9" name="Text 6"/>
          <p:cNvSpPr/>
          <p:nvPr/>
        </p:nvSpPr>
        <p:spPr>
          <a:xfrm>
            <a:off x="859536" y="1435608"/>
            <a:ext cx="6053328" cy="274320"/>
          </a:xfrm>
          <a:prstGeom prst="rect">
            <a:avLst/>
          </a:prstGeom>
          <a:noFill/>
          <a:ln/>
        </p:spPr>
        <p:txBody>
          <a:bodyPr wrap="square" lIns="0" tIns="0" rIns="0" bIns="0" rtlCol="0" anchor="ctr"/>
          <a:lstStyle/>
          <a:p>
            <a:pPr indent="0" marL="0">
              <a:buNone/>
            </a:pPr>
            <a:r>
              <a:rPr lang="en-US" sz="1700" b="1" dirty="0">
                <a:solidFill>
                  <a:srgbClr val="17324A"/>
                </a:solidFill>
              </a:rPr>
              <a:t>Before you start coding</a:t>
            </a:r>
            <a:endParaRPr lang="en-US" sz="1700" dirty="0"/>
          </a:p>
        </p:txBody>
      </p:sp>
      <p:sp>
        <p:nvSpPr>
          <p:cNvPr id="10" name="Text 7"/>
          <p:cNvSpPr/>
          <p:nvPr/>
        </p:nvSpPr>
        <p:spPr>
          <a:xfrm>
            <a:off x="859536" y="1783080"/>
            <a:ext cx="6053328" cy="3840480"/>
          </a:xfrm>
          <a:prstGeom prst="rect">
            <a:avLst/>
          </a:prstGeom>
          <a:noFill/>
          <a:ln/>
        </p:spPr>
        <p:txBody>
          <a:bodyPr wrap="square" lIns="254" tIns="254" rIns="254" bIns="254" rtlCol="0" anchor="t"/>
          <a:lstStyle/>
          <a:p>
            <a:pPr indent="0" marL="0">
              <a:buNone/>
            </a:pPr>
            <a:r>
              <a:rPr lang="en-US" sz="1230" dirty="0">
                <a:solidFill>
                  <a:srgbClr val="17232C"/>
                </a:solidFill>
              </a:rPr>
              <a:t>□ One precise biological/clinical question</a:t>
            </a:r>
            <a:endParaRPr lang="en-US" sz="1230" dirty="0"/>
          </a:p>
          <a:p>
            <a:pPr indent="0" marL="0">
              <a:buNone/>
            </a:pPr>
            <a:r>
              <a:rPr lang="en-US" sz="1230" dirty="0">
                <a:solidFill>
                  <a:srgbClr val="17232C"/>
                </a:solidFill>
              </a:rPr>
              <a:t>□ Discovery cohort + independent validation cohort</a:t>
            </a:r>
            <a:endParaRPr lang="en-US" sz="1230" dirty="0"/>
          </a:p>
          <a:p>
            <a:pPr indent="0" marL="0">
              <a:buNone/>
            </a:pPr>
            <a:r>
              <a:rPr lang="en-US" sz="1230" dirty="0">
                <a:solidFill>
                  <a:srgbClr val="17232C"/>
                </a:solidFill>
              </a:rPr>
              <a:t>□ Correct data type and endpoint definitions</a:t>
            </a:r>
            <a:endParaRPr lang="en-US" sz="1230" dirty="0"/>
          </a:p>
          <a:p>
            <a:pPr indent="0" marL="0">
              <a:buNone/>
            </a:pPr>
            <a:r>
              <a:rPr lang="en-US" sz="1230" dirty="0">
                <a:solidFill>
                  <a:srgbClr val="17232C"/>
                </a:solidFill>
              </a:rPr>
              <a:t>□ Core analysis selected because it answers the question</a:t>
            </a:r>
            <a:endParaRPr lang="en-US" sz="1230" dirty="0"/>
          </a:p>
          <a:p>
            <a:pPr indent="0" marL="0">
              <a:buNone/>
            </a:pPr>
            <a:r>
              <a:rPr lang="en-US" sz="1230" dirty="0">
                <a:solidFill>
                  <a:srgbClr val="17232C"/>
                </a:solidFill>
              </a:rPr>
              <a:t>□ Multivariable adjustment when prognosis is claimed</a:t>
            </a:r>
            <a:endParaRPr lang="en-US" sz="1230" dirty="0"/>
          </a:p>
          <a:p>
            <a:pPr indent="0" marL="0">
              <a:buNone/>
            </a:pPr>
            <a:r>
              <a:rPr lang="en-US" sz="1230" dirty="0">
                <a:solidFill>
                  <a:srgbClr val="17232C"/>
                </a:solidFill>
              </a:rPr>
              <a:t>□ FDR/effect sizes/CI reported</a:t>
            </a:r>
            <a:endParaRPr lang="en-US" sz="1230" dirty="0"/>
          </a:p>
          <a:p>
            <a:pPr indent="0" marL="0">
              <a:buNone/>
            </a:pPr>
            <a:r>
              <a:rPr lang="en-US" sz="1230" dirty="0">
                <a:solidFill>
                  <a:srgbClr val="17232C"/>
                </a:solidFill>
              </a:rPr>
              <a:t>□ No data leakage in predictive modeling</a:t>
            </a:r>
            <a:endParaRPr lang="en-US" sz="1230" dirty="0"/>
          </a:p>
          <a:p>
            <a:pPr indent="0" marL="0">
              <a:buNone/>
            </a:pPr>
            <a:r>
              <a:rPr lang="en-US" sz="1230" dirty="0">
                <a:solidFill>
                  <a:srgbClr val="17232C"/>
                </a:solidFill>
              </a:rPr>
              <a:t>□ Limitations stated honestly</a:t>
            </a:r>
            <a:endParaRPr lang="en-US" sz="1230" dirty="0"/>
          </a:p>
        </p:txBody>
      </p:sp>
      <p:sp>
        <p:nvSpPr>
          <p:cNvPr id="11" name="Shape 8"/>
          <p:cNvSpPr/>
          <p:nvPr/>
        </p:nvSpPr>
        <p:spPr>
          <a:xfrm>
            <a:off x="7269480" y="1280160"/>
            <a:ext cx="4251960" cy="2011680"/>
          </a:xfrm>
          <a:prstGeom prst="roundRect">
            <a:avLst>
              <a:gd name="adj" fmla="val 2727"/>
            </a:avLst>
          </a:prstGeom>
          <a:solidFill>
            <a:srgbClr val="FFFFFF"/>
          </a:solidFill>
          <a:ln w="12700">
            <a:solidFill>
              <a:srgbClr val="DDE5EA"/>
            </a:solidFill>
            <a:prstDash val="solid"/>
          </a:ln>
        </p:spPr>
      </p:sp>
      <p:sp>
        <p:nvSpPr>
          <p:cNvPr id="12" name="Shape 9"/>
          <p:cNvSpPr/>
          <p:nvPr/>
        </p:nvSpPr>
        <p:spPr>
          <a:xfrm>
            <a:off x="7269480" y="1280160"/>
            <a:ext cx="73152" cy="2011680"/>
          </a:xfrm>
          <a:prstGeom prst="rect">
            <a:avLst/>
          </a:prstGeom>
          <a:solidFill>
            <a:srgbClr val="2D5B88"/>
          </a:solidFill>
          <a:ln w="12700">
            <a:solidFill>
              <a:srgbClr val="2D5B88"/>
            </a:solidFill>
            <a:prstDash val="solid"/>
          </a:ln>
        </p:spPr>
      </p:sp>
      <p:sp>
        <p:nvSpPr>
          <p:cNvPr id="13" name="Text 10"/>
          <p:cNvSpPr/>
          <p:nvPr/>
        </p:nvSpPr>
        <p:spPr>
          <a:xfrm>
            <a:off x="7470648" y="1435608"/>
            <a:ext cx="3904488" cy="274320"/>
          </a:xfrm>
          <a:prstGeom prst="rect">
            <a:avLst/>
          </a:prstGeom>
          <a:noFill/>
          <a:ln/>
        </p:spPr>
        <p:txBody>
          <a:bodyPr wrap="square" lIns="0" tIns="0" rIns="0" bIns="0" rtlCol="0" anchor="ctr"/>
          <a:lstStyle/>
          <a:p>
            <a:pPr indent="0" marL="0">
              <a:buNone/>
            </a:pPr>
            <a:r>
              <a:rPr lang="en-US" sz="1700" b="1" dirty="0">
                <a:solidFill>
                  <a:srgbClr val="17324A"/>
                </a:solidFill>
              </a:rPr>
              <a:t>The minimal “good” chain</a:t>
            </a:r>
            <a:endParaRPr lang="en-US" sz="1700" dirty="0"/>
          </a:p>
        </p:txBody>
      </p:sp>
      <p:sp>
        <p:nvSpPr>
          <p:cNvPr id="14" name="Text 11"/>
          <p:cNvSpPr/>
          <p:nvPr/>
        </p:nvSpPr>
        <p:spPr>
          <a:xfrm>
            <a:off x="7470648" y="1783080"/>
            <a:ext cx="3904488" cy="1371600"/>
          </a:xfrm>
          <a:prstGeom prst="rect">
            <a:avLst/>
          </a:prstGeom>
          <a:noFill/>
          <a:ln/>
        </p:spPr>
        <p:txBody>
          <a:bodyPr wrap="square" lIns="254" tIns="254" rIns="254" bIns="254" rtlCol="0" anchor="t"/>
          <a:lstStyle/>
          <a:p>
            <a:pPr indent="0" marL="0">
              <a:buNone/>
            </a:pPr>
            <a:r>
              <a:rPr lang="en-US" sz="1230" dirty="0">
                <a:solidFill>
                  <a:srgbClr val="17232C"/>
                </a:solidFill>
              </a:rPr>
              <a:t>Question → clean cohort → discovery → mechanism → clinical relevance → external validation → reproducible figures</a:t>
            </a:r>
            <a:endParaRPr lang="en-US" sz="1230" dirty="0"/>
          </a:p>
        </p:txBody>
      </p:sp>
      <p:sp>
        <p:nvSpPr>
          <p:cNvPr id="15" name="Shape 12"/>
          <p:cNvSpPr/>
          <p:nvPr/>
        </p:nvSpPr>
        <p:spPr>
          <a:xfrm>
            <a:off x="7269480" y="3520440"/>
            <a:ext cx="4251960" cy="2240280"/>
          </a:xfrm>
          <a:prstGeom prst="roundRect">
            <a:avLst>
              <a:gd name="adj" fmla="val 2449"/>
            </a:avLst>
          </a:prstGeom>
          <a:solidFill>
            <a:srgbClr val="FFFFFF"/>
          </a:solidFill>
          <a:ln w="12700">
            <a:solidFill>
              <a:srgbClr val="DDE5EA"/>
            </a:solidFill>
            <a:prstDash val="solid"/>
          </a:ln>
        </p:spPr>
      </p:sp>
      <p:sp>
        <p:nvSpPr>
          <p:cNvPr id="16" name="Shape 13"/>
          <p:cNvSpPr/>
          <p:nvPr/>
        </p:nvSpPr>
        <p:spPr>
          <a:xfrm>
            <a:off x="7269480" y="3520440"/>
            <a:ext cx="73152" cy="2240280"/>
          </a:xfrm>
          <a:prstGeom prst="rect">
            <a:avLst/>
          </a:prstGeom>
          <a:solidFill>
            <a:srgbClr val="E76F51"/>
          </a:solidFill>
          <a:ln w="12700">
            <a:solidFill>
              <a:srgbClr val="E76F51"/>
            </a:solidFill>
            <a:prstDash val="solid"/>
          </a:ln>
        </p:spPr>
      </p:sp>
      <p:sp>
        <p:nvSpPr>
          <p:cNvPr id="17" name="Text 14"/>
          <p:cNvSpPr/>
          <p:nvPr/>
        </p:nvSpPr>
        <p:spPr>
          <a:xfrm>
            <a:off x="7470648" y="3675888"/>
            <a:ext cx="3904488" cy="274320"/>
          </a:xfrm>
          <a:prstGeom prst="rect">
            <a:avLst/>
          </a:prstGeom>
          <a:noFill/>
          <a:ln/>
        </p:spPr>
        <p:txBody>
          <a:bodyPr wrap="square" lIns="0" tIns="0" rIns="0" bIns="0" rtlCol="0" anchor="ctr"/>
          <a:lstStyle/>
          <a:p>
            <a:pPr indent="0" marL="0">
              <a:buNone/>
            </a:pPr>
            <a:r>
              <a:rPr lang="en-US" sz="1700" b="1" dirty="0">
                <a:solidFill>
                  <a:srgbClr val="17324A"/>
                </a:solidFill>
              </a:rPr>
              <a:t>Official starting points</a:t>
            </a:r>
            <a:endParaRPr lang="en-US" sz="1700" dirty="0"/>
          </a:p>
        </p:txBody>
      </p:sp>
      <p:sp>
        <p:nvSpPr>
          <p:cNvPr id="18" name="Text 15"/>
          <p:cNvSpPr/>
          <p:nvPr/>
        </p:nvSpPr>
        <p:spPr>
          <a:xfrm>
            <a:off x="7470648" y="4023360"/>
            <a:ext cx="3904488" cy="1600200"/>
          </a:xfrm>
          <a:prstGeom prst="rect">
            <a:avLst/>
          </a:prstGeom>
          <a:noFill/>
          <a:ln/>
        </p:spPr>
        <p:txBody>
          <a:bodyPr wrap="square" lIns="254" tIns="254" rIns="254" bIns="254" rtlCol="0" anchor="t"/>
          <a:lstStyle/>
          <a:p>
            <a:pPr indent="0" marL="0">
              <a:buNone/>
            </a:pPr>
            <a:r>
              <a:rPr lang="en-US" sz="1230" dirty="0">
                <a:solidFill>
                  <a:srgbClr val="17232C"/>
                </a:solidFill>
              </a:rPr>
              <a:t>NCI Genomic Data Commons (TCGA)</a:t>
            </a:r>
            <a:endParaRPr lang="en-US" sz="1230" dirty="0"/>
          </a:p>
          <a:p>
            <a:pPr indent="0" marL="0">
              <a:buNone/>
            </a:pPr>
            <a:r>
              <a:rPr lang="en-US" sz="1230" dirty="0">
                <a:solidFill>
                  <a:srgbClr val="17232C"/>
                </a:solidFill>
              </a:rPr>
              <a:t>NCBI Gene Expression Omnibus (GEO)</a:t>
            </a:r>
            <a:endParaRPr lang="en-US" sz="1230" dirty="0"/>
          </a:p>
          <a:p>
            <a:pPr indent="0" marL="0">
              <a:buNone/>
            </a:pPr>
            <a:r>
              <a:rPr lang="en-US" sz="1230" dirty="0">
                <a:solidFill>
                  <a:srgbClr val="17232C"/>
                </a:solidFill>
              </a:rPr>
              <a:t>cBioPortal</a:t>
            </a:r>
            <a:endParaRPr lang="en-US" sz="1230" dirty="0"/>
          </a:p>
          <a:p>
            <a:pPr indent="0" marL="0">
              <a:buNone/>
            </a:pPr>
            <a:r>
              <a:rPr lang="en-US" sz="1230" dirty="0">
                <a:solidFill>
                  <a:srgbClr val="17232C"/>
                </a:solidFill>
              </a:rPr>
              <a:t>STRING</a:t>
            </a:r>
            <a:endParaRPr lang="en-US" sz="1230" dirty="0"/>
          </a:p>
          <a:p>
            <a:pPr indent="0" marL="0">
              <a:buNone/>
            </a:pPr>
            <a:r>
              <a:rPr lang="en-US" sz="1230" dirty="0">
                <a:solidFill>
                  <a:srgbClr val="17232C"/>
                </a:solidFill>
              </a:rPr>
              <a:t>R/Bioconductor documentation</a:t>
            </a:r>
            <a:endParaRPr lang="en-US" sz="1230" dirty="0"/>
          </a:p>
        </p:txBody>
      </p:sp>
      <p:sp>
        <p:nvSpPr>
          <p:cNvPr id="19" name="Text 16"/>
          <p:cNvSpPr/>
          <p:nvPr/>
        </p:nvSpPr>
        <p:spPr>
          <a:xfrm>
            <a:off x="731520" y="5925312"/>
            <a:ext cx="10789920" cy="365760"/>
          </a:xfrm>
          <a:prstGeom prst="rect">
            <a:avLst/>
          </a:prstGeom>
          <a:noFill/>
          <a:ln/>
        </p:spPr>
        <p:txBody>
          <a:bodyPr wrap="square" lIns="0" tIns="0" rIns="0" bIns="0" rtlCol="0" anchor="ctr"/>
          <a:lstStyle/>
          <a:p>
            <a:pPr algn="ctr" indent="0" marL="0">
              <a:buNone/>
            </a:pPr>
            <a:r>
              <a:rPr lang="en-US" sz="2000" b="1" dirty="0">
                <a:solidFill>
                  <a:srgbClr val="17324A"/>
                </a:solidFill>
              </a:rPr>
              <a:t>Core principle: fewer analyses, stronger logic, cleaner validation.</a:t>
            </a:r>
            <a:endParaRPr lang="en-US" sz="200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nvSpPr>
        <p:spPr>
          <a:xfrm>
            <a:off x="530352" y="310896"/>
            <a:ext cx="11109960" cy="475488"/>
          </a:xfrm>
          <a:prstGeom prst="rect">
            <a:avLst/>
          </a:prstGeom>
          <a:noFill/>
          <a:ln/>
        </p:spPr>
        <p:txBody>
          <a:bodyPr wrap="square" lIns="0" tIns="0" rIns="0" bIns="0" rtlCol="0" anchor="ctr"/>
          <a:lstStyle/>
          <a:p>
            <a:pPr indent="0" marL="0">
              <a:buNone/>
            </a:pPr>
            <a:r>
              <a:rPr lang="en-US" sz="2800" b="1" dirty="0">
                <a:solidFill>
                  <a:srgbClr val="17324A"/>
                </a:solidFill>
                <a:latin typeface="Aptos Display" pitchFamily="34" charset="0"/>
                <a:ea typeface="Aptos Display" pitchFamily="34" charset="-122"/>
                <a:cs typeface="Aptos Display" pitchFamily="34" charset="-120"/>
              </a:rPr>
              <a:t>Selected resources and documentation</a:t>
            </a:r>
            <a:endParaRPr lang="en-US" sz="2800" dirty="0"/>
          </a:p>
        </p:txBody>
      </p:sp>
      <p:sp>
        <p:nvSpPr>
          <p:cNvPr id="4" name="Text 1"/>
          <p:cNvSpPr/>
          <p:nvPr/>
        </p:nvSpPr>
        <p:spPr>
          <a:xfrm>
            <a:off x="548640" y="832104"/>
            <a:ext cx="10972800" cy="310896"/>
          </a:xfrm>
          <a:prstGeom prst="rect">
            <a:avLst/>
          </a:prstGeom>
          <a:noFill/>
          <a:ln/>
        </p:spPr>
        <p:txBody>
          <a:bodyPr wrap="square" lIns="0" tIns="0" rIns="0" bIns="0" rtlCol="0" anchor="ctr"/>
          <a:lstStyle/>
          <a:p>
            <a:pPr indent="0" marL="0">
              <a:buNone/>
            </a:pPr>
            <a:r>
              <a:rPr lang="en-US" sz="1350" dirty="0">
                <a:solidFill>
                  <a:srgbClr val="6B7280"/>
                </a:solidFill>
                <a:latin typeface="Aptos" pitchFamily="34" charset="0"/>
                <a:ea typeface="Aptos" pitchFamily="34" charset="-122"/>
                <a:cs typeface="Aptos" pitchFamily="34" charset="-120"/>
              </a:rPr>
              <a:t>Use current official documentation when implementing a workflow</a:t>
            </a:r>
            <a:endParaRPr lang="en-US" sz="1350" dirty="0"/>
          </a:p>
        </p:txBody>
      </p:sp>
      <p:sp>
        <p:nvSpPr>
          <p:cNvPr id="5" name="Shape 2"/>
          <p:cNvSpPr/>
          <p:nvPr/>
        </p:nvSpPr>
        <p:spPr>
          <a:xfrm>
            <a:off x="9857232" y="338328"/>
            <a:ext cx="1783080" cy="310896"/>
          </a:xfrm>
          <a:prstGeom prst="roundRect">
            <a:avLst>
              <a:gd name="adj" fmla="val 20588"/>
            </a:avLst>
          </a:prstGeom>
          <a:solidFill>
            <a:srgbClr val="EDF3F6"/>
          </a:solidFill>
          <a:ln w="12700">
            <a:solidFill>
              <a:srgbClr val="EDF3F6"/>
            </a:solidFill>
            <a:prstDash val="solid"/>
          </a:ln>
        </p:spPr>
      </p:sp>
      <p:sp>
        <p:nvSpPr>
          <p:cNvPr id="6" name="Text 3"/>
          <p:cNvSpPr/>
          <p:nvPr/>
        </p:nvSpPr>
        <p:spPr>
          <a:xfrm>
            <a:off x="9948672" y="397764"/>
            <a:ext cx="1600200" cy="128016"/>
          </a:xfrm>
          <a:prstGeom prst="rect">
            <a:avLst/>
          </a:prstGeom>
          <a:noFill/>
          <a:ln/>
        </p:spPr>
        <p:txBody>
          <a:bodyPr wrap="square" lIns="0" tIns="0" rIns="0" bIns="0" rtlCol="0" anchor="ctr"/>
          <a:lstStyle/>
          <a:p>
            <a:pPr algn="ctr" indent="0" marL="0">
              <a:buNone/>
            </a:pPr>
            <a:r>
              <a:rPr lang="en-US" sz="950" b="1" dirty="0">
                <a:solidFill>
                  <a:srgbClr val="2D5B88"/>
                </a:solidFill>
              </a:rPr>
              <a:t>REFERENCES</a:t>
            </a:r>
            <a:endParaRPr lang="en-US" sz="950" dirty="0"/>
          </a:p>
        </p:txBody>
      </p:sp>
      <p:sp>
        <p:nvSpPr>
          <p:cNvPr id="7" name="Text 4"/>
          <p:cNvSpPr/>
          <p:nvPr/>
        </p:nvSpPr>
        <p:spPr>
          <a:xfrm>
            <a:off x="777240" y="1325880"/>
            <a:ext cx="10607040" cy="4343400"/>
          </a:xfrm>
          <a:prstGeom prst="rect">
            <a:avLst/>
          </a:prstGeom>
          <a:noFill/>
          <a:ln/>
        </p:spPr>
        <p:txBody>
          <a:bodyPr wrap="square" lIns="254" tIns="254" rIns="254" bIns="254" rtlCol="0" anchor="ctr"/>
          <a:lstStyle/>
          <a:p>
            <a:pPr marL="177800" indent="-177800">
              <a:buSzPct val="100000"/>
              <a:buChar char="•"/>
            </a:pPr>
            <a:r>
              <a:rPr lang="en-US" sz="1520" dirty="0">
                <a:solidFill>
                  <a:srgbClr val="17232C"/>
                </a:solidFill>
              </a:rPr>
              <a:t>NCI Genomic Data Commons (GDC): harmonized TCGA/TARGET cancer genomic and clinical data.</a:t>
            </a:r>
            <a:endParaRPr lang="en-US" sz="1520" dirty="0"/>
          </a:p>
          <a:p>
            <a:pPr marL="177800" indent="-177800">
              <a:buSzPct val="100000"/>
              <a:buChar char="•"/>
            </a:pPr>
            <a:r>
              <a:rPr lang="en-US" sz="1520" dirty="0">
                <a:solidFill>
                  <a:srgbClr val="17232C"/>
                </a:solidFill>
              </a:rPr>
              <a:t>NCBI Gene Expression Omnibus (GEO): public functional genomics repository; GEO2R for quick study-level comparisons.</a:t>
            </a:r>
            <a:endParaRPr lang="en-US" sz="1520" dirty="0"/>
          </a:p>
          <a:p>
            <a:pPr marL="177800" indent="-177800">
              <a:buSzPct val="100000"/>
              <a:buChar char="•"/>
            </a:pPr>
            <a:r>
              <a:rPr lang="en-US" sz="1520" dirty="0">
                <a:solidFill>
                  <a:srgbClr val="17232C"/>
                </a:solidFill>
              </a:rPr>
              <a:t>cBioPortal for Cancer Genomics: interactive exploration of multidimensional cancer genomic and clinical datasets.</a:t>
            </a:r>
            <a:endParaRPr lang="en-US" sz="1520" dirty="0"/>
          </a:p>
          <a:p>
            <a:pPr marL="177800" indent="-177800">
              <a:buSzPct val="100000"/>
              <a:buChar char="•"/>
            </a:pPr>
            <a:r>
              <a:rPr lang="en-US" sz="1520" dirty="0">
                <a:solidFill>
                  <a:srgbClr val="17232C"/>
                </a:solidFill>
              </a:rPr>
              <a:t>STRING: known and predicted protein–protein / functional association networks and enrichment.</a:t>
            </a:r>
            <a:endParaRPr lang="en-US" sz="1520" dirty="0"/>
          </a:p>
          <a:p>
            <a:pPr marL="177800" indent="-177800">
              <a:buSzPct val="100000"/>
              <a:buChar char="•"/>
            </a:pPr>
            <a:r>
              <a:rPr lang="en-US" sz="1520" dirty="0">
                <a:solidFill>
                  <a:srgbClr val="17232C"/>
                </a:solidFill>
              </a:rPr>
              <a:t>Bioconductor packages: limma, edgeR, DESeq2, clusterProfiler, GSVA, GEOquery, TCGAbiolinks.</a:t>
            </a:r>
            <a:endParaRPr lang="en-US" sz="1520" dirty="0"/>
          </a:p>
          <a:p>
            <a:pPr marL="177800" indent="-177800">
              <a:buSzPct val="100000"/>
              <a:buChar char="•"/>
            </a:pPr>
            <a:r>
              <a:rPr lang="en-US" sz="1520" dirty="0">
                <a:solidFill>
                  <a:srgbClr val="17232C"/>
                </a:solidFill>
              </a:rPr>
              <a:t>R survival ecosystem: survival and survminer for Kaplan–Meier and Cox proportional-hazards analysis.</a:t>
            </a:r>
            <a:endParaRPr lang="en-US" sz="1520" dirty="0"/>
          </a:p>
        </p:txBody>
      </p:sp>
      <p:sp>
        <p:nvSpPr>
          <p:cNvPr id="8" name="Text 5"/>
          <p:cNvSpPr/>
          <p:nvPr/>
        </p:nvSpPr>
        <p:spPr>
          <a:xfrm>
            <a:off x="822960" y="5715000"/>
            <a:ext cx="10424160" cy="502920"/>
          </a:xfrm>
          <a:prstGeom prst="rect">
            <a:avLst/>
          </a:prstGeom>
          <a:noFill/>
          <a:ln/>
        </p:spPr>
        <p:txBody>
          <a:bodyPr wrap="square" lIns="0" tIns="0" rIns="0" bIns="0" rtlCol="0" anchor="ctr"/>
          <a:lstStyle/>
          <a:p>
            <a:pPr algn="ctr" indent="0" marL="0">
              <a:buNone/>
            </a:pPr>
            <a:r>
              <a:rPr lang="en-US" sz="1550" b="1" dirty="0">
                <a:solidFill>
                  <a:srgbClr val="C83E4D"/>
                </a:solidFill>
              </a:rPr>
              <a:t>This deck is a methodological teaching summary. It does not imply that any specific analysis combination guarantees acceptance or a particular impact factor.</a:t>
            </a:r>
            <a:endParaRPr lang="en-US" sz="1550" dirty="0"/>
          </a:p>
        </p:txBody>
      </p:sp>
      <p:sp>
        <p:nvSpPr>
          <p:cNvPr id="25" name="Slide Number Placeholder 0"/>
          <p:cNvSpPr>
            <a:spLocks noGrp="1"/>
          </p:cNvSpPr>
          <p:nvPr>
            <p:ph type="sldNum" sz="quarter" idx="4294967295"/>
          </p:nvPr>
        </p:nvSpPr>
        <p:spPr>
          <a:xfrm>
            <a:off x="11722608" y="648309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7A8794"/>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Public-Data Bioinformatics: From TCGA/GEO to a Publishable Study</dc:title>
  <dc:subject>Teaching deck: public-data bioinformatics workflow for small-to-mid impact papers</dc:subject>
  <dc:creator>OpenAI</dc:creator>
  <cp:lastModifiedBy>OpenAI</cp:lastModifiedBy>
  <cp:revision>1</cp:revision>
  <dcterms:created xsi:type="dcterms:W3CDTF">2026-08-07T16:46:23Z</dcterms:created>
  <dcterms:modified xsi:type="dcterms:W3CDTF">2026-08-07T16:46:23Z</dcterms:modified>
</cp:coreProperties>
</file>