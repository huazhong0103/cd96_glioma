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27c0bcc96d41f7" /><Relationship Type="http://schemas.openxmlformats.org/officeDocument/2006/relationships/extended-properties" Target="/docProps/app.xml" Id="R995d3c15bcff411e" /><Relationship Type="http://schemas.openxmlformats.org/officeDocument/2006/relationships/officeDocument" Target="/ppt/presentation.xml" Id="R199b0339e942458b" /></Relationships>
</file>

<file path=ppt/presentation.xml><?xml version="1.0" encoding="utf-8"?>
<p:presentation xmlns:p="http://schemas.openxmlformats.org/presentationml/2006/main">
  <p:sldMasterIdLst>
    <p:sldMasterId xmlns:r="http://schemas.openxmlformats.org/officeDocument/2006/relationships" id="2147483648" r:id="R9c57edbe7a7f4f89"/>
  </p:sldMasterIdLst>
  <p:notesMasterIdLst>
    <p:notesMasterId xmlns:r="http://schemas.openxmlformats.org/officeDocument/2006/relationships" r:id="Re634a3a048de4e65"/>
  </p:notesMasterIdLst>
  <p:sldIdLst>
    <p:sldId xmlns:r="http://schemas.openxmlformats.org/officeDocument/2006/relationships" id="256" r:id="Raab384c5fe544b1f"/>
    <p:sldId xmlns:r="http://schemas.openxmlformats.org/officeDocument/2006/relationships" id="257" r:id="Rd141dc340a034e60"/>
    <p:sldId xmlns:r="http://schemas.openxmlformats.org/officeDocument/2006/relationships" id="258" r:id="Racdd3a162b3f43a9"/>
    <p:sldId xmlns:r="http://schemas.openxmlformats.org/officeDocument/2006/relationships" id="259" r:id="R49e54d3b57744414"/>
    <p:sldId xmlns:r="http://schemas.openxmlformats.org/officeDocument/2006/relationships" id="260" r:id="R950e18499cb542fe"/>
    <p:sldId xmlns:r="http://schemas.openxmlformats.org/officeDocument/2006/relationships" id="261" r:id="Rbd1eb8aa27e74a44"/>
    <p:sldId xmlns:r="http://schemas.openxmlformats.org/officeDocument/2006/relationships" id="262" r:id="Rca6c7ae9b5684699"/>
    <p:sldId xmlns:r="http://schemas.openxmlformats.org/officeDocument/2006/relationships" id="263" r:id="Re77828c986fe4abd"/>
    <p:sldId xmlns:r="http://schemas.openxmlformats.org/officeDocument/2006/relationships" id="264" r:id="R6f3e1d82943641f5"/>
    <p:sldId xmlns:r="http://schemas.openxmlformats.org/officeDocument/2006/relationships" id="265" r:id="Ra79470072bc8478c"/>
    <p:sldId xmlns:r="http://schemas.openxmlformats.org/officeDocument/2006/relationships" id="266" r:id="Rd137feb9ae634eab"/>
    <p:sldId xmlns:r="http://schemas.openxmlformats.org/officeDocument/2006/relationships" id="267" r:id="Red5886a2be9c4598"/>
    <p:sldId xmlns:r="http://schemas.openxmlformats.org/officeDocument/2006/relationships" id="268" r:id="Rab76dac07a4d449b"/>
    <p:sldId xmlns:r="http://schemas.openxmlformats.org/officeDocument/2006/relationships" id="269" r:id="R85f0567995484446"/>
    <p:sldId xmlns:r="http://schemas.openxmlformats.org/officeDocument/2006/relationships" id="270" r:id="Rc432d5ec081c45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c3712d88004bde" /><Relationship Type="http://schemas.openxmlformats.org/officeDocument/2006/relationships/slideMaster" Target="/ppt/slideMasters/slideMaster1.xml" Id="R9c57edbe7a7f4f89" /><Relationship Type="http://schemas.openxmlformats.org/officeDocument/2006/relationships/notesMaster" Target="/ppt/notesMasters/notesMaster1.xml" Id="Re634a3a048de4e65" /><Relationship Type="http://schemas.openxmlformats.org/officeDocument/2006/relationships/presProps" Target="/ppt/presProps.xml" Id="R506a439e67a54ba6" /><Relationship Type="http://schemas.openxmlformats.org/officeDocument/2006/relationships/tableStyles" Target="/ppt/tableStyles.xml" Id="R54842fb8011e42ba" /><Relationship Type="http://schemas.openxmlformats.org/officeDocument/2006/relationships/slide" Target="/ppt/slides/slide1.xml" Id="Raab384c5fe544b1f" /><Relationship Type="http://schemas.openxmlformats.org/officeDocument/2006/relationships/slide" Target="/ppt/slides/slide2.xml" Id="Rd141dc340a034e60" /><Relationship Type="http://schemas.openxmlformats.org/officeDocument/2006/relationships/slide" Target="/ppt/slides/slide3.xml" Id="Racdd3a162b3f43a9" /><Relationship Type="http://schemas.openxmlformats.org/officeDocument/2006/relationships/slide" Target="/ppt/slides/slide4.xml" Id="R49e54d3b57744414" /><Relationship Type="http://schemas.openxmlformats.org/officeDocument/2006/relationships/slide" Target="/ppt/slides/slide5.xml" Id="R950e18499cb542fe" /><Relationship Type="http://schemas.openxmlformats.org/officeDocument/2006/relationships/slide" Target="/ppt/slides/slide6.xml" Id="Rbd1eb8aa27e74a44" /><Relationship Type="http://schemas.openxmlformats.org/officeDocument/2006/relationships/slide" Target="/ppt/slides/slide7.xml" Id="Rca6c7ae9b5684699" /><Relationship Type="http://schemas.openxmlformats.org/officeDocument/2006/relationships/slide" Target="/ppt/slides/slide8.xml" Id="Re77828c986fe4abd" /><Relationship Type="http://schemas.openxmlformats.org/officeDocument/2006/relationships/slide" Target="/ppt/slides/slide9.xml" Id="R6f3e1d82943641f5" /><Relationship Type="http://schemas.openxmlformats.org/officeDocument/2006/relationships/slide" Target="/ppt/slides/slide10.xml" Id="Ra79470072bc8478c" /><Relationship Type="http://schemas.openxmlformats.org/officeDocument/2006/relationships/slide" Target="/ppt/slides/slide11.xml" Id="Rd137feb9ae634eab" /><Relationship Type="http://schemas.openxmlformats.org/officeDocument/2006/relationships/slide" Target="/ppt/slides/slide12.xml" Id="Red5886a2be9c4598" /><Relationship Type="http://schemas.openxmlformats.org/officeDocument/2006/relationships/slide" Target="/ppt/slides/slide13.xml" Id="Rab76dac07a4d449b" /><Relationship Type="http://schemas.openxmlformats.org/officeDocument/2006/relationships/slide" Target="/ppt/slides/slide14.xml" Id="R85f0567995484446" /><Relationship Type="http://schemas.openxmlformats.org/officeDocument/2006/relationships/slide" Target="/ppt/slides/slide15.xml" Id="Rc432d5ec081c45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7b84ab4d5444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d1e0fb83d941d5" /><Relationship Type="http://schemas.openxmlformats.org/officeDocument/2006/relationships/notesMaster" Target="/ppt/notesMasters/notesMaster1.xml" Id="R3d027db699c340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1fd8f0c4b94014" /><Relationship Type="http://schemas.openxmlformats.org/officeDocument/2006/relationships/notesMaster" Target="/ppt/notesMasters/notesMaster1.xml" Id="R11b2feee485244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fa61a259f44e7e" /><Relationship Type="http://schemas.openxmlformats.org/officeDocument/2006/relationships/notesMaster" Target="/ppt/notesMasters/notesMaster1.xml" Id="Rac14e69b858c47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e04d7d26bd48ac" /><Relationship Type="http://schemas.openxmlformats.org/officeDocument/2006/relationships/notesMaster" Target="/ppt/notesMasters/notesMaster1.xml" Id="R0ee497a2f9d548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7276b0cefb4887" /><Relationship Type="http://schemas.openxmlformats.org/officeDocument/2006/relationships/notesMaster" Target="/ppt/notesMasters/notesMaster1.xml" Id="R9beb2c4e02c540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96fc4ee2344102" /><Relationship Type="http://schemas.openxmlformats.org/officeDocument/2006/relationships/notesMaster" Target="/ppt/notesMasters/notesMaster1.xml" Id="Rd5f8e6ea5aad48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1cdeb9fbdf4004" /><Relationship Type="http://schemas.openxmlformats.org/officeDocument/2006/relationships/notesMaster" Target="/ppt/notesMasters/notesMaster1.xml" Id="R1eb6938381dc45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0928f8db404546" /><Relationship Type="http://schemas.openxmlformats.org/officeDocument/2006/relationships/notesMaster" Target="/ppt/notesMasters/notesMaster1.xml" Id="Rf5633a23bace49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f964cce0e1491a" /><Relationship Type="http://schemas.openxmlformats.org/officeDocument/2006/relationships/notesMaster" Target="/ppt/notesMasters/notesMaster1.xml" Id="R654f705dd7c84b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18da2073d3456e" /><Relationship Type="http://schemas.openxmlformats.org/officeDocument/2006/relationships/notesMaster" Target="/ppt/notesMasters/notesMaster1.xml" Id="R04c9579c17504a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3c427738694b31" /><Relationship Type="http://schemas.openxmlformats.org/officeDocument/2006/relationships/notesMaster" Target="/ppt/notesMasters/notesMaster1.xml" Id="Red200f1472dd4c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188f2e025342e2" /><Relationship Type="http://schemas.openxmlformats.org/officeDocument/2006/relationships/notesMaster" Target="/ppt/notesMasters/notesMaster1.xml" Id="R87849c93a0bf4c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7f0cdb0c2841d1" /><Relationship Type="http://schemas.openxmlformats.org/officeDocument/2006/relationships/notesMaster" Target="/ppt/notesMasters/notesMaster1.xml" Id="R27fee5bfe89f42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5ea6820ab146a0" /><Relationship Type="http://schemas.openxmlformats.org/officeDocument/2006/relationships/notesMaster" Target="/ppt/notesMasters/notesMaster1.xml" Id="R1989426b06ce469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73db333ade4c93" /><Relationship Type="http://schemas.openxmlformats.org/officeDocument/2006/relationships/notesMaster" Target="/ppt/notesMasters/notesMaster1.xml" Id="R3ec2a82a60b04c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will learn how WGCNA turns thousands of expression profiles into a small number of co-expression modules. The goal is not to memorize formulas. Instead, focus on the workflow, the meaning of each output, and the decisions that affect interpretation. We will finish with a runnable R demonstration using simulated RNA-seq-like data.</a:t>
            </a:r>
          </a:p>
          <a:p xmlns:a="http://schemas.openxmlformats.org/drawingml/2006/main">
            <a:r>
              <a:t/>
            </a:r>
          </a:p>
          <a:p xmlns:a="http://schemas.openxmlformats.org/drawingml/2006/main">
            <a:r>
              <a:t>[Sources]</a:t>
            </a:r>
          </a:p>
          <a:p xmlns:a="http://schemas.openxmlformats.org/drawingml/2006/main">
            <a:r>
              <a:t>- Langfelder P, Horvath S. BMC Bioinformatics. 2008;9:559. https://doi.org/10.1186/1471-2105-9-559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four learning outcomes. First, we will prepare an appropriate expression matrix. Second, we will construct a weighted network. Third, we will interpret modules using sample traits, enrichment analysis, and hub genes. Finally, we will discuss limitations so that our biological claims remain appropriately cautious.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Traditional differential-expression analysis evaluates genes individually. WGCNA takes a complementary systems-level view. It asks which genes have similar expression patterns across samples, groups those genes into modules, and summarizes each module. The result is a lower-dimensional representation that can be related to phenotype, treatment, disease status, or other sample-level traits.</a:t>
            </a:r>
          </a:p>
          <a:p xmlns:a="http://schemas.openxmlformats.org/drawingml/2006/main">
            <a:r>
              <a:t/>
            </a:r>
          </a:p>
          <a:p xmlns:a="http://schemas.openxmlformats.org/drawingml/2006/main">
            <a:r>
              <a:t>[Sources]</a:t>
            </a:r>
          </a:p>
          <a:p xmlns:a="http://schemas.openxmlformats.org/drawingml/2006/main">
            <a:r>
              <a:t>- Langfelder &amp; Horvath, 2008. https://doi.org/10.1186/1471-2105-9-559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WGCNA expects rows to be samples and columns to be genes. For RNA-seq, do not use raw counts directly. Use a suitable normalized and variance-stabilized expression scale, then remove uninformative genes. Also check missing values, zero variance, sample outliers, and the exact ordering of the trait table. Misaligned sample identifiers are a common and serious error.</a:t>
            </a:r>
          </a:p>
          <a:p xmlns:a="http://schemas.openxmlformats.org/drawingml/2006/main">
            <a:r>
              <a:t/>
            </a:r>
          </a:p>
          <a:p xmlns:a="http://schemas.openxmlformats.org/drawingml/2006/main">
            <a:r>
              <a:t>[Sources]</a:t>
            </a:r>
          </a:p>
          <a:p xmlns:a="http://schemas.openxmlformats.org/drawingml/2006/main">
            <a:r>
              <a:t>- WGCNA package manual, goodSamplesGenes and blockwiseModules.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workflow. We begin with quality control. We choose the soft-thresholding power beta, calculate the weighted adjacency and topological overlap, identify and merge modules, relate module eigengenes to traits, and finally interpret the modules. The important point is that WGCNA is not a single black-box command. Each decision should be recorded and justified.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WGCNA uses a soft threshold rather than a hard correlation cutoff. Strong correlations receive much larger weights, while weak relationships are reduced without being forced immediately to zero. We inspect the scale-free topology fit and mean connectivity across candidate powers. Do not select beta only because one curve crosses a line; also consider connectivity and network stability.</a:t>
            </a:r>
          </a:p>
          <a:p xmlns:a="http://schemas.openxmlformats.org/drawingml/2006/main">
            <a:r>
              <a:t/>
            </a:r>
          </a:p>
          <a:p xmlns:a="http://schemas.openxmlformats.org/drawingml/2006/main">
            <a:r>
              <a:t>[Sources]</a:t>
            </a:r>
          </a:p>
          <a:p xmlns:a="http://schemas.openxmlformats.org/drawingml/2006/main">
            <a:r>
              <a:t>- WGCNA package manual: pickSoftThreshold.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converting correlations to adjacency, WGCNA calculates topological overlap, or TOM. Two genes receive a high TOM when they are directly connected and also share many neighbors. This network context helps stabilize clustering. We then use one minus TOM as a dissimilarity measure for hierarchical clustering.</a:t>
            </a:r>
          </a:p>
          <a:p xmlns:a="http://schemas.openxmlformats.org/drawingml/2006/main">
            <a:r>
              <a:t/>
            </a:r>
          </a:p>
          <a:p xmlns:a="http://schemas.openxmlformats.org/drawingml/2006/main">
            <a:r>
              <a:t>[Sources]</a:t>
            </a:r>
          </a:p>
          <a:p xmlns:a="http://schemas.openxmlformats.org/drawingml/2006/main">
            <a:r>
              <a:t>- Langfelder &amp; Horvath, 2008. https://doi.org/10.1186/1471-2105-9-559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Genes are clustered using TOM-based dissimilarity. Dynamic tree cutting identifies branches as preliminary modules. Modules with highly similar eigengenes can then be merged. The module eigengene is the first principal component of the genes in that module, so it provides one representative expression profile per sample.</a:t>
            </a:r>
          </a:p>
          <a:p xmlns:a="http://schemas.openxmlformats.org/drawingml/2006/main">
            <a:r>
              <a:t/>
            </a:r>
          </a:p>
          <a:p xmlns:a="http://schemas.openxmlformats.org/drawingml/2006/main">
            <a:r>
              <a:t>[Sources]</a:t>
            </a:r>
          </a:p>
          <a:p xmlns:a="http://schemas.openxmlformats.org/drawingml/2006/main">
            <a:r>
              <a:t>- WGCNA package manual: cutreeDynamic, mergeCloseModules, moduleEigengenes.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correlate module eigengenes with sample traits. The sign gives direction and the magnitude gives the strength of association. Always report the p-value and sample size, and consider covariates and repeated measures. A strong module–trait correlation prioritizes a module for follow-up, but it does not show that the module causes the trait.</a:t>
            </a:r>
          </a:p>
          <a:p xmlns:a="http://schemas.openxmlformats.org/drawingml/2006/main">
            <a:r>
              <a:t/>
            </a:r>
          </a:p>
          <a:p xmlns:a="http://schemas.openxmlformats.org/drawingml/2006/main">
            <a:r>
              <a:t>[Sources]</a:t>
            </a:r>
          </a:p>
          <a:p xmlns:a="http://schemas.openxmlformats.org/drawingml/2006/main">
            <a:r>
              <a:t>- Langfelder &amp; Horvath, 2008. https://doi.org/10.1186/1471-2105-9-559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hubs often have high module membership, strong intramodular connectivity, and meaningful association with the phenotype. But a hub is defined by the observed network, which depends on the dataset and preprocessing. Treat hubs as candidates. Support them with pathway enrichment, external datasets, functional evidence, and appropriate experimental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demonstration, we simulate forty samples and one thousand genes. Three blocks of genes share latent expression patterns, and one block is shifted in disease samples. Because we know the data-generating structure, we can see whether WGCNA recovers the intended module and its relationship to disease. This is a teaching example, not a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first code block creates a reproducible teaching dataset. WGCNA requires samples in rows and genes in columns, so the simulated matrix already has the correct orientation. The goodSamplesGenes function checks missingness and zero variance. In a real RNA-seq analysis, replace this simulation with your normalized and transformed expression matrix, and perform filtering before this step.</a:t>
            </a:r>
          </a:p>
          <a:p xmlns:a="http://schemas.openxmlformats.org/drawingml/2006/main">
            <a:r>
              <a:t/>
            </a:r>
          </a:p>
          <a:p xmlns:a="http://schemas.openxmlformats.org/drawingml/2006/main">
            <a:r>
              <a:t>[Sources]</a:t>
            </a:r>
          </a:p>
          <a:p xmlns:a="http://schemas.openxmlformats.org/drawingml/2006/main">
            <a:r>
              <a:t>- WGCNA package manual: goodSamplesGenes.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evaluate candidate powers with pickSoftThreshold, inspect both scale-free fit and connectivity, then choose a defensible beta. The blockwiseModules function performs network construction, TOM calculation, clustering, dynamic tree cutting, and module merging. For teaching, I show commonly used starting values. They are not universal defaults; sensitivity analysis is recommended.</a:t>
            </a:r>
          </a:p>
          <a:p xmlns:a="http://schemas.openxmlformats.org/drawingml/2006/main">
            <a:r>
              <a:t/>
            </a:r>
          </a:p>
          <a:p xmlns:a="http://schemas.openxmlformats.org/drawingml/2006/main">
            <a:r>
              <a:t>[Sources]</a:t>
            </a:r>
          </a:p>
          <a:p xmlns:a="http://schemas.openxmlformats.org/drawingml/2006/main">
            <a:r>
              <a:t>- WGCNA package manual: pickSoftThreshold and blockwiseModules.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we correlate module eigengenes with disease status. We identify the module with the largest absolute correlation, then rank genes inside that module using absolute module membership and gene significance. In a real study, retain the direction of effects, calculate p-values, adjust for covariates where appropriate, and validate the module and hubs in independent data.</a:t>
            </a:r>
          </a:p>
          <a:p xmlns:a="http://schemas.openxmlformats.org/drawingml/2006/main">
            <a:r>
              <a:t/>
            </a:r>
          </a:p>
          <a:p xmlns:a="http://schemas.openxmlformats.org/drawingml/2006/main">
            <a:r>
              <a:t>[Sources]</a:t>
            </a:r>
          </a:p>
          <a:p xmlns:a="http://schemas.openxmlformats.org/drawingml/2006/main">
            <a:r>
              <a:t>- WGCNA package manual: orderMEs, corPvalueStudent, signedKME.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message is simple. WGCNA is powerful for discovering coordinated expression programs, reducing dimensionality, relating those programs to phenotypes, and prioritizing candidate genes. Its conclusions still depend on preprocessing, sample size, parameter choices, and confounding. Use it as a discovery framework, and support the final biological interpretation with replication and orthogonal evidence.</a:t>
            </a:r>
          </a:p>
          <a:p xmlns:a="http://schemas.openxmlformats.org/drawingml/2006/main">
            <a:r>
              <a:t/>
            </a:r>
          </a:p>
          <a:p xmlns:a="http://schemas.openxmlformats.org/drawingml/2006/main">
            <a:r>
              <a:t>[Sources]</a:t>
            </a:r>
          </a:p>
          <a:p xmlns:a="http://schemas.openxmlformats.org/drawingml/2006/main">
            <a:r>
              <a:t>- Langfelder P, Horvath S. BMC Bioinformatics. 2008;9:559. https://doi.org/10.1186/1471-2105-9-559</a:t>
            </a:r>
          </a:p>
          <a:p xmlns:a="http://schemas.openxmlformats.org/drawingml/2006/main">
            <a:r>
              <a:t>- WGCNA package manual. https://cran.r-universe.dev/WGCNA/doc/manual.html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025dff7f2a4a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1e54280bf74716" /><Relationship Type="http://schemas.openxmlformats.org/officeDocument/2006/relationships/slideLayout" Target="/ppt/slideLayouts/slideLayout1.xml" Id="R3969084847e94a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69084847e94a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7b1468922a4afa" /><Relationship Type="http://schemas.openxmlformats.org/officeDocument/2006/relationships/notesSlide" Target="/ppt/notesSlides/notesSlide1.xml" Id="Rbc3645fd41b743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d0497d48e746ec" /><Relationship Type="http://schemas.openxmlformats.org/officeDocument/2006/relationships/notesSlide" Target="/ppt/notesSlides/notesSlide2.xml" Id="Rc801971e623d42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c653d2261249f8" /><Relationship Type="http://schemas.openxmlformats.org/officeDocument/2006/relationships/notesSlide" Target="/ppt/notesSlides/notesSlide3.xml" Id="R2893c4c09b3547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2dacc1b59745a2" /><Relationship Type="http://schemas.openxmlformats.org/officeDocument/2006/relationships/notesSlide" Target="/ppt/notesSlides/notesSlide4.xml" Id="R7ad40fa9921c4d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5d1470e0ca4fdc" /><Relationship Type="http://schemas.openxmlformats.org/officeDocument/2006/relationships/notesSlide" Target="/ppt/notesSlides/notesSlide5.xml" Id="R8b8b48c6946046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ee852fef9a45d7" /><Relationship Type="http://schemas.openxmlformats.org/officeDocument/2006/relationships/notesSlide" Target="/ppt/notesSlides/notesSlide6.xml" Id="R368af503b31843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fec67e220e47ab" /><Relationship Type="http://schemas.openxmlformats.org/officeDocument/2006/relationships/notesSlide" Target="/ppt/notesSlides/notesSlide7.xml" Id="R5fa4e13e3f3042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b6872da28c4b16" /><Relationship Type="http://schemas.openxmlformats.org/officeDocument/2006/relationships/notesSlide" Target="/ppt/notesSlides/notesSlide8.xml" Id="Rbefce047b6604a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e4c6218d1734c68" /><Relationship Type="http://schemas.openxmlformats.org/officeDocument/2006/relationships/notesSlide" Target="/ppt/notesSlides/notesSlide9.xml" Id="R3c11affec4a043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80332cab6948ad" /><Relationship Type="http://schemas.openxmlformats.org/officeDocument/2006/relationships/notesSlide" Target="/ppt/notesSlides/notesSlide10.xml" Id="R071a0493fe154d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0c1525dce449a7" /><Relationship Type="http://schemas.openxmlformats.org/officeDocument/2006/relationships/notesSlide" Target="/ppt/notesSlides/notesSlide11.xml" Id="R7846dcd1200e46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98085c250a47e4" /><Relationship Type="http://schemas.openxmlformats.org/officeDocument/2006/relationships/notesSlide" Target="/ppt/notesSlides/notesSlide12.xml" Id="Rbc93be841f354b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b65e1ffdd4845d7" /><Relationship Type="http://schemas.openxmlformats.org/officeDocument/2006/relationships/notesSlide" Target="/ppt/notesSlides/notesSlide13.xml" Id="Rdf685bec34274b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ebaea7e64d4df5" /><Relationship Type="http://schemas.openxmlformats.org/officeDocument/2006/relationships/notesSlide" Target="/ppt/notesSlides/notesSlide14.xml" Id="R63fa0a2499ea42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16f5efb7b64dba" /><Relationship Type="http://schemas.openxmlformats.org/officeDocument/2006/relationships/notesSlide" Target="/ppt/notesSlides/notesSlide15.xml" Id="R871bb1f215dd44e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C329254-A093-4900-AF10-2E7E7B51857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773623-148E-4394-BE92-29CAEE9D6D47}"/>
              </a:ext>
            </a:extLst>
          </p:cNvPr>
          <p:cNvSpPr>
            <a:spLocks xmlns:a="http://schemas.openxmlformats.org/drawingml/2006/main" noGrp="1"/>
          </p:cNvSpPr>
          <p:nvPr/>
        </p:nvSpPr>
        <p:spPr>
          <a:xfrm xmlns:a="http://schemas.openxmlformats.org/drawingml/2006/main">
            <a:off x="723900" y="1295400"/>
            <a:ext cx="7810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200" b="1">
                <a:solidFill>
                  <a:srgbClr val="111827"/>
                </a:solidFill>
              </a:defRPr>
            </a:pPr>
            <a:r>
              <a:rPr sz="4200" b="1">
                <a:solidFill>
                  <a:srgbClr val="111827"/>
                </a:solidFill>
              </a:rPr>
              <a:t>Weighted Gene Co-expression</a:t>
            </a:r>
          </a:p>
          <a:p xmlns:a="http://schemas.openxmlformats.org/drawingml/2006/main">
            <a:pPr algn="l">
              <a:defRPr sz="4200" b="1">
                <a:solidFill>
                  <a:srgbClr val="111827"/>
                </a:solidFill>
              </a:defRPr>
            </a:pPr>
            <a:r>
              <a:rPr sz="4200" b="1">
                <a:solidFill>
                  <a:srgbClr val="111827"/>
                </a:solidFill>
              </a:rPr>
              <a:t>Network Analysis</a:t>
            </a:r>
          </a:p>
        </p:txBody>
      </p:sp>
      <p:sp>
        <p:nvSpPr>
          <p:cNvPr id="3" name="">
            <a:extLst xmlns:a="http://schemas.openxmlformats.org/drawingml/2006/main">
              <a:ext uri="{FF2B5EF4-FFF2-40B4-BE49-F238E27FC236}">
                <a16:creationId xmlns:a16="http://schemas.microsoft.com/office/drawing/2014/main" id="{294A8358-82C5-4BDF-ABD3-580212CD1560}"/>
              </a:ext>
            </a:extLst>
          </p:cNvPr>
          <p:cNvSpPr>
            <a:spLocks xmlns:a="http://schemas.openxmlformats.org/drawingml/2006/main" noGrp="1"/>
          </p:cNvSpPr>
          <p:nvPr/>
        </p:nvSpPr>
        <p:spPr>
          <a:xfrm xmlns:a="http://schemas.openxmlformats.org/drawingml/2006/main">
            <a:off x="762000" y="33528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563EB"/>
                </a:solidFill>
              </a:defRPr>
            </a:pPr>
            <a:r>
              <a:rPr sz="2025" b="1">
                <a:solidFill>
                  <a:srgbClr val="2563EB"/>
                </a:solidFill>
              </a:rPr>
              <a:t>A practical introduction to WGCNA in R</a:t>
            </a:r>
          </a:p>
        </p:txBody>
      </p:sp>
      <p:sp>
        <p:nvSpPr>
          <p:cNvPr id="4" name="">
            <a:extLst xmlns:a="http://schemas.openxmlformats.org/drawingml/2006/main">
              <a:ext uri="{FF2B5EF4-FFF2-40B4-BE49-F238E27FC236}">
                <a16:creationId xmlns:a16="http://schemas.microsoft.com/office/drawing/2014/main" id="{2A97D95C-BA94-4DB5-A2D9-791E64FEFCDB}"/>
              </a:ext>
            </a:extLst>
          </p:cNvPr>
          <p:cNvSpPr>
            <a:spLocks xmlns:a="http://schemas.openxmlformats.org/drawingml/2006/main" noGrp="1"/>
          </p:cNvSpPr>
          <p:nvPr/>
        </p:nvSpPr>
        <p:spPr>
          <a:xfrm xmlns:a="http://schemas.openxmlformats.org/drawingml/2006/main">
            <a:off x="762000" y="3962400"/>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579"/>
                </a:solidFill>
              </a:defRPr>
            </a:pPr>
            <a:r>
              <a:rPr sz="1650" b="0">
                <a:solidFill>
                  <a:srgbClr val="596579"/>
                </a:solidFill>
              </a:rPr>
              <a:t>From expression matrix → gene modules → biological interpretation</a:t>
            </a:r>
          </a:p>
        </p:txBody>
      </p:sp>
      <p:sp>
        <p:nvSpPr>
          <p:cNvPr id="5" name="">
            <a:extLst xmlns:a="http://schemas.openxmlformats.org/drawingml/2006/main">
              <a:ext uri="{FF2B5EF4-FFF2-40B4-BE49-F238E27FC236}">
                <a16:creationId xmlns:a16="http://schemas.microsoft.com/office/drawing/2014/main" id="{71211E59-AF12-4335-A36A-0ADD9EA502D9}"/>
              </a:ext>
            </a:extLst>
          </p:cNvPr>
          <p:cNvSpPr>
            <a:spLocks xmlns:a="http://schemas.openxmlformats.org/drawingml/2006/main" noGrp="1"/>
          </p:cNvSpPr>
          <p:nvPr/>
        </p:nvSpPr>
        <p:spPr>
          <a:xfrm xmlns:a="http://schemas.openxmlformats.org/drawingml/2006/main">
            <a:off x="9239250" y="1066800"/>
            <a:ext cx="1524000" cy="15240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C468D0-A3A1-45A0-BA0B-2A7B647E0758}"/>
              </a:ext>
            </a:extLst>
          </p:cNvPr>
          <p:cNvSpPr>
            <a:spLocks xmlns:a="http://schemas.openxmlformats.org/drawingml/2006/main" noGrp="1"/>
          </p:cNvSpPr>
          <p:nvPr/>
        </p:nvSpPr>
        <p:spPr>
          <a:xfrm xmlns:a="http://schemas.openxmlformats.org/drawingml/2006/main">
            <a:off x="10458450" y="1733550"/>
            <a:ext cx="190500" cy="1905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9ECF1A4-7B81-4EFA-A816-E69F75A4F0B8}"/>
              </a:ext>
            </a:extLst>
          </p:cNvPr>
          <p:cNvSpPr>
            <a:spLocks xmlns:a="http://schemas.openxmlformats.org/drawingml/2006/main" noGrp="1"/>
          </p:cNvSpPr>
          <p:nvPr/>
        </p:nvSpPr>
        <p:spPr>
          <a:xfrm xmlns:a="http://schemas.openxmlformats.org/drawingml/2006/main">
            <a:off x="10001250" y="182880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8" name="">
            <a:extLst xmlns:a="http://schemas.openxmlformats.org/drawingml/2006/main">
              <a:ext uri="{FF2B5EF4-FFF2-40B4-BE49-F238E27FC236}">
                <a16:creationId xmlns:a16="http://schemas.microsoft.com/office/drawing/2014/main" id="{BE62120C-861E-492C-B8ED-9E44A155B102}"/>
              </a:ext>
            </a:extLst>
          </p:cNvPr>
          <p:cNvSpPr>
            <a:spLocks xmlns:a="http://schemas.openxmlformats.org/drawingml/2006/main" noGrp="1"/>
          </p:cNvSpPr>
          <p:nvPr/>
        </p:nvSpPr>
        <p:spPr>
          <a:xfrm xmlns:a="http://schemas.openxmlformats.org/drawingml/2006/main">
            <a:off x="10182225" y="2211986"/>
            <a:ext cx="190500" cy="190500"/>
          </a:xfrm>
          <a:prstGeom xmlns:a="http://schemas.openxmlformats.org/drawingml/2006/main" prst="ellipse">
            <a:avLst/>
          </a:prstGeom>
          <a:solidFill xmlns:a="http://schemas.openxmlformats.org/drawingml/2006/main">
            <a:srgbClr val="38BD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CB7129-2632-4CEF-B031-F2F26B772796}"/>
              </a:ext>
            </a:extLst>
          </p:cNvPr>
          <p:cNvSpPr>
            <a:spLocks xmlns:a="http://schemas.openxmlformats.org/drawingml/2006/main" noGrp="1"/>
          </p:cNvSpPr>
          <p:nvPr/>
        </p:nvSpPr>
        <p:spPr>
          <a:xfrm xmlns:a="http://schemas.openxmlformats.org/drawingml/2006/main">
            <a:off x="10001250" y="1828800"/>
            <a:ext cx="276225" cy="478436"/>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0" name="">
            <a:extLst xmlns:a="http://schemas.openxmlformats.org/drawingml/2006/main">
              <a:ext uri="{FF2B5EF4-FFF2-40B4-BE49-F238E27FC236}">
                <a16:creationId xmlns:a16="http://schemas.microsoft.com/office/drawing/2014/main" id="{12C85BD8-4591-4E12-B995-5D3B376C6A43}"/>
              </a:ext>
            </a:extLst>
          </p:cNvPr>
          <p:cNvSpPr>
            <a:spLocks xmlns:a="http://schemas.openxmlformats.org/drawingml/2006/main" noGrp="1"/>
          </p:cNvSpPr>
          <p:nvPr/>
        </p:nvSpPr>
        <p:spPr>
          <a:xfrm xmlns:a="http://schemas.openxmlformats.org/drawingml/2006/main">
            <a:off x="9629775" y="2211986"/>
            <a:ext cx="190500" cy="1905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02CA539-1565-44F0-9E2F-DEF49D1725EB}"/>
              </a:ext>
            </a:extLst>
          </p:cNvPr>
          <p:cNvSpPr>
            <a:spLocks xmlns:a="http://schemas.openxmlformats.org/drawingml/2006/main" noGrp="1"/>
          </p:cNvSpPr>
          <p:nvPr/>
        </p:nvSpPr>
        <p:spPr>
          <a:xfrm xmlns:a="http://schemas.openxmlformats.org/drawingml/2006/main">
            <a:off x="9725025" y="1828800"/>
            <a:ext cx="276225" cy="478436"/>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A29704EB-F61A-4BF9-A9BA-6F8B3CB0A7D1}"/>
              </a:ext>
            </a:extLst>
          </p:cNvPr>
          <p:cNvSpPr>
            <a:spLocks xmlns:a="http://schemas.openxmlformats.org/drawingml/2006/main" noGrp="1"/>
          </p:cNvSpPr>
          <p:nvPr/>
        </p:nvSpPr>
        <p:spPr>
          <a:xfrm xmlns:a="http://schemas.openxmlformats.org/drawingml/2006/main">
            <a:off x="9353550" y="1733550"/>
            <a:ext cx="190500" cy="19050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44A560-34AA-4D83-B335-574E87F3B6BD}"/>
              </a:ext>
            </a:extLst>
          </p:cNvPr>
          <p:cNvSpPr>
            <a:spLocks xmlns:a="http://schemas.openxmlformats.org/drawingml/2006/main" noGrp="1"/>
          </p:cNvSpPr>
          <p:nvPr/>
        </p:nvSpPr>
        <p:spPr>
          <a:xfrm xmlns:a="http://schemas.openxmlformats.org/drawingml/2006/main">
            <a:off x="9448800" y="182880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29840D4C-6324-4A26-9DA2-C3D155E8F4F4}"/>
              </a:ext>
            </a:extLst>
          </p:cNvPr>
          <p:cNvSpPr>
            <a:spLocks xmlns:a="http://schemas.openxmlformats.org/drawingml/2006/main" noGrp="1"/>
          </p:cNvSpPr>
          <p:nvPr/>
        </p:nvSpPr>
        <p:spPr>
          <a:xfrm xmlns:a="http://schemas.openxmlformats.org/drawingml/2006/main">
            <a:off x="9629775" y="1255114"/>
            <a:ext cx="190500" cy="190500"/>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4FBF71-9F7B-4240-854C-CDA5F515BE62}"/>
              </a:ext>
            </a:extLst>
          </p:cNvPr>
          <p:cNvSpPr>
            <a:spLocks xmlns:a="http://schemas.openxmlformats.org/drawingml/2006/main" noGrp="1"/>
          </p:cNvSpPr>
          <p:nvPr/>
        </p:nvSpPr>
        <p:spPr>
          <a:xfrm xmlns:a="http://schemas.openxmlformats.org/drawingml/2006/main">
            <a:off x="9725025" y="1350364"/>
            <a:ext cx="276225" cy="478436"/>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7B9AF6EB-A7A1-48D4-9FB2-0BFF39FF94E9}"/>
              </a:ext>
            </a:extLst>
          </p:cNvPr>
          <p:cNvSpPr>
            <a:spLocks xmlns:a="http://schemas.openxmlformats.org/drawingml/2006/main" noGrp="1"/>
          </p:cNvSpPr>
          <p:nvPr/>
        </p:nvSpPr>
        <p:spPr>
          <a:xfrm xmlns:a="http://schemas.openxmlformats.org/drawingml/2006/main">
            <a:off x="10182225" y="1255114"/>
            <a:ext cx="190500" cy="190500"/>
          </a:xfrm>
          <a:prstGeom xmlns:a="http://schemas.openxmlformats.org/drawingml/2006/main" prst="ellipse">
            <a:avLst/>
          </a:prstGeom>
          <a:solidFill xmlns:a="http://schemas.openxmlformats.org/drawingml/2006/main">
            <a:srgbClr val="DC5A5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55D06F0-928F-4D0B-A22F-2361504D8E3B}"/>
              </a:ext>
            </a:extLst>
          </p:cNvPr>
          <p:cNvSpPr>
            <a:spLocks xmlns:a="http://schemas.openxmlformats.org/drawingml/2006/main" noGrp="1"/>
          </p:cNvSpPr>
          <p:nvPr/>
        </p:nvSpPr>
        <p:spPr>
          <a:xfrm xmlns:a="http://schemas.openxmlformats.org/drawingml/2006/main">
            <a:off x="10001250" y="1350364"/>
            <a:ext cx="276225" cy="478436"/>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 name="">
            <a:extLst xmlns:a="http://schemas.openxmlformats.org/drawingml/2006/main">
              <a:ext uri="{FF2B5EF4-FFF2-40B4-BE49-F238E27FC236}">
                <a16:creationId xmlns:a16="http://schemas.microsoft.com/office/drawing/2014/main" id="{59FB4004-4C2E-4CA7-9A48-15E131A6822F}"/>
              </a:ext>
            </a:extLst>
          </p:cNvPr>
          <p:cNvSpPr>
            <a:spLocks xmlns:a="http://schemas.openxmlformats.org/drawingml/2006/main" noGrp="1"/>
          </p:cNvSpPr>
          <p:nvPr/>
        </p:nvSpPr>
        <p:spPr>
          <a:xfrm xmlns:a="http://schemas.openxmlformats.org/drawingml/2006/main">
            <a:off x="9867900" y="1695450"/>
            <a:ext cx="266700" cy="26670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4DA95B5-9FEE-480B-AA90-D17402B531E3}"/>
              </a:ext>
            </a:extLst>
          </p:cNvPr>
          <p:cNvSpPr>
            <a:spLocks xmlns:a="http://schemas.openxmlformats.org/drawingml/2006/main" noGrp="1"/>
          </p:cNvSpPr>
          <p:nvPr/>
        </p:nvSpPr>
        <p:spPr>
          <a:xfrm xmlns:a="http://schemas.openxmlformats.org/drawingml/2006/main">
            <a:off x="762000" y="5943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96579"/>
                </a:solidFill>
              </a:defRPr>
            </a:pPr>
            <a:r>
              <a:rPr sz="1200" b="0">
                <a:solidFill>
                  <a:srgbClr val="596579"/>
                </a:solidFill>
              </a:rPr>
              <a:t>Bioinformatics classroom • English slides and speaker notes</a:t>
            </a:r>
          </a:p>
        </p:txBody>
      </p:sp>
    </p:spTree>
    <p:extLst>
      <p:ext uri="{BB962C8B-B14F-4D97-AF65-F5344CB8AC3E}">
        <p14:creationId xmlns:p14="http://schemas.microsoft.com/office/powerpoint/2010/main" val="116328013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12EACC5-A26D-414C-9F46-EF3CD9506C1C}"/>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LEARNING OUTCOMES</a:t>
            </a:r>
          </a:p>
        </p:txBody>
      </p:sp>
      <p:sp>
        <p:nvSpPr>
          <p:cNvPr id="2" name="">
            <a:extLst xmlns:a="http://schemas.openxmlformats.org/drawingml/2006/main">
              <a:ext uri="{FF2B5EF4-FFF2-40B4-BE49-F238E27FC236}">
                <a16:creationId xmlns:a16="http://schemas.microsoft.com/office/drawing/2014/main" id="{B0B99508-0023-40D4-AA49-C3F473228286}"/>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By the end, you can run and explain a basic WGCNA</a:t>
            </a:r>
          </a:p>
        </p:txBody>
      </p:sp>
      <p:sp>
        <p:nvSpPr>
          <p:cNvPr id="3" name="">
            <a:extLst xmlns:a="http://schemas.openxmlformats.org/drawingml/2006/main">
              <a:ext uri="{FF2B5EF4-FFF2-40B4-BE49-F238E27FC236}">
                <a16:creationId xmlns:a16="http://schemas.microsoft.com/office/drawing/2014/main" id="{688DE675-AFA5-4C47-A7D6-439BC89B878B}"/>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36F049-8DB1-460A-86AA-864565A4D434}"/>
              </a:ext>
            </a:extLst>
          </p:cNvPr>
          <p:cNvSpPr>
            <a:spLocks xmlns:a="http://schemas.openxmlformats.org/drawingml/2006/main" noGrp="1"/>
          </p:cNvSpPr>
          <p:nvPr/>
        </p:nvSpPr>
        <p:spPr>
          <a:xfrm xmlns:a="http://schemas.openxmlformats.org/drawingml/2006/main">
            <a:off x="704850" y="1885950"/>
            <a:ext cx="114300" cy="1143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597CC3-6A0F-4DD8-A2C2-0ECA0E5195CB}"/>
              </a:ext>
            </a:extLst>
          </p:cNvPr>
          <p:cNvSpPr>
            <a:spLocks xmlns:a="http://schemas.openxmlformats.org/drawingml/2006/main" noGrp="1"/>
          </p:cNvSpPr>
          <p:nvPr/>
        </p:nvSpPr>
        <p:spPr>
          <a:xfrm xmlns:a="http://schemas.openxmlformats.org/drawingml/2006/main">
            <a:off x="990600" y="1809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Prepare</a:t>
            </a:r>
          </a:p>
        </p:txBody>
      </p:sp>
      <p:sp>
        <p:nvSpPr>
          <p:cNvPr id="6" name="">
            <a:extLst xmlns:a="http://schemas.openxmlformats.org/drawingml/2006/main">
              <a:ext uri="{FF2B5EF4-FFF2-40B4-BE49-F238E27FC236}">
                <a16:creationId xmlns:a16="http://schemas.microsoft.com/office/drawing/2014/main" id="{398F28EA-B7B0-43DC-B66C-B65B5E00801E}"/>
              </a:ext>
            </a:extLst>
          </p:cNvPr>
          <p:cNvSpPr>
            <a:spLocks xmlns:a="http://schemas.openxmlformats.org/drawingml/2006/main" noGrp="1"/>
          </p:cNvSpPr>
          <p:nvPr/>
        </p:nvSpPr>
        <p:spPr>
          <a:xfrm xmlns:a="http://schemas.openxmlformats.org/drawingml/2006/main">
            <a:off x="3714750" y="1809750"/>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579"/>
                </a:solidFill>
              </a:defRPr>
            </a:pPr>
            <a:r>
              <a:rPr sz="1500" b="0">
                <a:solidFill>
                  <a:srgbClr val="596579"/>
                </a:solidFill>
              </a:rPr>
              <a:t>Arrange expression as samples × genes, filter weak genes, and detect outliers.</a:t>
            </a:r>
          </a:p>
        </p:txBody>
      </p:sp>
      <p:sp>
        <p:nvSpPr>
          <p:cNvPr id="7" name="">
            <a:extLst xmlns:a="http://schemas.openxmlformats.org/drawingml/2006/main">
              <a:ext uri="{FF2B5EF4-FFF2-40B4-BE49-F238E27FC236}">
                <a16:creationId xmlns:a16="http://schemas.microsoft.com/office/drawing/2014/main" id="{22B2B396-8DB8-438C-A089-8E5067E601DC}"/>
              </a:ext>
            </a:extLst>
          </p:cNvPr>
          <p:cNvSpPr>
            <a:spLocks xmlns:a="http://schemas.openxmlformats.org/drawingml/2006/main" noGrp="1"/>
          </p:cNvSpPr>
          <p:nvPr/>
        </p:nvSpPr>
        <p:spPr>
          <a:xfrm xmlns:a="http://schemas.openxmlformats.org/drawingml/2006/main">
            <a:off x="704850" y="2790825"/>
            <a:ext cx="114300" cy="114300"/>
          </a:xfrm>
          <a:prstGeom xmlns:a="http://schemas.openxmlformats.org/drawingml/2006/main" prst="ellipse">
            <a:avLst/>
          </a:prstGeom>
          <a:solidFill xmlns:a="http://schemas.openxmlformats.org/drawingml/2006/main">
            <a:srgbClr val="38BD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BF25F3-1D9C-4A6B-BE23-E1ADFB6CB267}"/>
              </a:ext>
            </a:extLst>
          </p:cNvPr>
          <p:cNvSpPr>
            <a:spLocks xmlns:a="http://schemas.openxmlformats.org/drawingml/2006/main" noGrp="1"/>
          </p:cNvSpPr>
          <p:nvPr/>
        </p:nvSpPr>
        <p:spPr>
          <a:xfrm xmlns:a="http://schemas.openxmlformats.org/drawingml/2006/main">
            <a:off x="990600" y="27146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Construct</a:t>
            </a:r>
          </a:p>
        </p:txBody>
      </p:sp>
      <p:sp>
        <p:nvSpPr>
          <p:cNvPr id="9" name="">
            <a:extLst xmlns:a="http://schemas.openxmlformats.org/drawingml/2006/main">
              <a:ext uri="{FF2B5EF4-FFF2-40B4-BE49-F238E27FC236}">
                <a16:creationId xmlns:a16="http://schemas.microsoft.com/office/drawing/2014/main" id="{AB588123-8196-4336-BFCC-783BF789B014}"/>
              </a:ext>
            </a:extLst>
          </p:cNvPr>
          <p:cNvSpPr>
            <a:spLocks xmlns:a="http://schemas.openxmlformats.org/drawingml/2006/main" noGrp="1"/>
          </p:cNvSpPr>
          <p:nvPr/>
        </p:nvSpPr>
        <p:spPr>
          <a:xfrm xmlns:a="http://schemas.openxmlformats.org/drawingml/2006/main">
            <a:off x="3714750" y="2714625"/>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579"/>
                </a:solidFill>
              </a:defRPr>
            </a:pPr>
            <a:r>
              <a:rPr sz="1500" b="0">
                <a:solidFill>
                  <a:srgbClr val="596579"/>
                </a:solidFill>
              </a:rPr>
              <a:t>Choose a soft-thresholding power and build a weighted network.</a:t>
            </a:r>
          </a:p>
        </p:txBody>
      </p:sp>
      <p:sp>
        <p:nvSpPr>
          <p:cNvPr id="10" name="">
            <a:extLst xmlns:a="http://schemas.openxmlformats.org/drawingml/2006/main">
              <a:ext uri="{FF2B5EF4-FFF2-40B4-BE49-F238E27FC236}">
                <a16:creationId xmlns:a16="http://schemas.microsoft.com/office/drawing/2014/main" id="{A6E7D0EF-A183-4607-B037-57C43FF3F592}"/>
              </a:ext>
            </a:extLst>
          </p:cNvPr>
          <p:cNvSpPr>
            <a:spLocks xmlns:a="http://schemas.openxmlformats.org/drawingml/2006/main" noGrp="1"/>
          </p:cNvSpPr>
          <p:nvPr/>
        </p:nvSpPr>
        <p:spPr>
          <a:xfrm xmlns:a="http://schemas.openxmlformats.org/drawingml/2006/main">
            <a:off x="704850" y="3695700"/>
            <a:ext cx="114300" cy="1143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8704CD-FD40-4A3D-8AE7-35F86E33E96C}"/>
              </a:ext>
            </a:extLst>
          </p:cNvPr>
          <p:cNvSpPr>
            <a:spLocks xmlns:a="http://schemas.openxmlformats.org/drawingml/2006/main" noGrp="1"/>
          </p:cNvSpPr>
          <p:nvPr/>
        </p:nvSpPr>
        <p:spPr>
          <a:xfrm xmlns:a="http://schemas.openxmlformats.org/drawingml/2006/main">
            <a:off x="990600" y="3619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Interpret</a:t>
            </a:r>
          </a:p>
        </p:txBody>
      </p:sp>
      <p:sp>
        <p:nvSpPr>
          <p:cNvPr id="12" name="">
            <a:extLst xmlns:a="http://schemas.openxmlformats.org/drawingml/2006/main">
              <a:ext uri="{FF2B5EF4-FFF2-40B4-BE49-F238E27FC236}">
                <a16:creationId xmlns:a16="http://schemas.microsoft.com/office/drawing/2014/main" id="{2A2D755D-5750-4237-BCB5-5F1ECE9D03C6}"/>
              </a:ext>
            </a:extLst>
          </p:cNvPr>
          <p:cNvSpPr>
            <a:spLocks xmlns:a="http://schemas.openxmlformats.org/drawingml/2006/main" noGrp="1"/>
          </p:cNvSpPr>
          <p:nvPr/>
        </p:nvSpPr>
        <p:spPr>
          <a:xfrm xmlns:a="http://schemas.openxmlformats.org/drawingml/2006/main">
            <a:off x="3714750" y="3619500"/>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579"/>
                </a:solidFill>
              </a:defRPr>
            </a:pPr>
            <a:r>
              <a:rPr sz="1500" b="0">
                <a:solidFill>
                  <a:srgbClr val="596579"/>
                </a:solidFill>
              </a:rPr>
              <a:t>Relate module eigengenes to traits and identify candidate hub genes.</a:t>
            </a:r>
          </a:p>
        </p:txBody>
      </p:sp>
      <p:sp>
        <p:nvSpPr>
          <p:cNvPr id="13" name="">
            <a:extLst xmlns:a="http://schemas.openxmlformats.org/drawingml/2006/main">
              <a:ext uri="{FF2B5EF4-FFF2-40B4-BE49-F238E27FC236}">
                <a16:creationId xmlns:a16="http://schemas.microsoft.com/office/drawing/2014/main" id="{B761434A-4A31-4210-9796-F95915010CF5}"/>
              </a:ext>
            </a:extLst>
          </p:cNvPr>
          <p:cNvSpPr>
            <a:spLocks xmlns:a="http://schemas.openxmlformats.org/drawingml/2006/main" noGrp="1"/>
          </p:cNvSpPr>
          <p:nvPr/>
        </p:nvSpPr>
        <p:spPr>
          <a:xfrm xmlns:a="http://schemas.openxmlformats.org/drawingml/2006/main">
            <a:off x="704850" y="4600575"/>
            <a:ext cx="114300" cy="11430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AC6F57-878D-4F2D-B0E8-6237F8E35C51}"/>
              </a:ext>
            </a:extLst>
          </p:cNvPr>
          <p:cNvSpPr>
            <a:spLocks xmlns:a="http://schemas.openxmlformats.org/drawingml/2006/main" noGrp="1"/>
          </p:cNvSpPr>
          <p:nvPr/>
        </p:nvSpPr>
        <p:spPr>
          <a:xfrm xmlns:a="http://schemas.openxmlformats.org/drawingml/2006/main">
            <a:off x="990600" y="45243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827"/>
                </a:solidFill>
              </a:defRPr>
            </a:pPr>
            <a:r>
              <a:rPr sz="1725" b="1">
                <a:solidFill>
                  <a:srgbClr val="111827"/>
                </a:solidFill>
              </a:rPr>
              <a:t>Communicate</a:t>
            </a:r>
          </a:p>
        </p:txBody>
      </p:sp>
      <p:sp>
        <p:nvSpPr>
          <p:cNvPr id="15" name="">
            <a:extLst xmlns:a="http://schemas.openxmlformats.org/drawingml/2006/main">
              <a:ext uri="{FF2B5EF4-FFF2-40B4-BE49-F238E27FC236}">
                <a16:creationId xmlns:a16="http://schemas.microsoft.com/office/drawing/2014/main" id="{545AE8E1-C9DE-4EA0-A4B2-18CFAC8F26C8}"/>
              </a:ext>
            </a:extLst>
          </p:cNvPr>
          <p:cNvSpPr>
            <a:spLocks xmlns:a="http://schemas.openxmlformats.org/drawingml/2006/main" noGrp="1"/>
          </p:cNvSpPr>
          <p:nvPr/>
        </p:nvSpPr>
        <p:spPr>
          <a:xfrm xmlns:a="http://schemas.openxmlformats.org/drawingml/2006/main">
            <a:off x="3714750" y="4524375"/>
            <a:ext cx="752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579"/>
                </a:solidFill>
              </a:defRPr>
            </a:pPr>
            <a:r>
              <a:rPr sz="1500" b="0">
                <a:solidFill>
                  <a:srgbClr val="596579"/>
                </a:solidFill>
              </a:rPr>
              <a:t>Explain what WGCNA supports—and what it does not prove.</a:t>
            </a:r>
          </a:p>
        </p:txBody>
      </p:sp>
      <p:sp>
        <p:nvSpPr>
          <p:cNvPr id="16" name="">
            <a:extLst xmlns:a="http://schemas.openxmlformats.org/drawingml/2006/main">
              <a:ext uri="{FF2B5EF4-FFF2-40B4-BE49-F238E27FC236}">
                <a16:creationId xmlns:a16="http://schemas.microsoft.com/office/drawing/2014/main" id="{F6614FFA-425F-45C1-9BC7-3A172A1C648B}"/>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02</a:t>
            </a:r>
          </a:p>
        </p:txBody>
      </p:sp>
    </p:spTree>
    <p:extLst>
      <p:ext uri="{BB962C8B-B14F-4D97-AF65-F5344CB8AC3E}">
        <p14:creationId xmlns:p14="http://schemas.microsoft.com/office/powerpoint/2010/main" val="825523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F12FD5DE-E9CC-4517-9903-4D8AA5EDCB8C}"/>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639B490E-316A-440A-914D-3AB4C6836D6D}"/>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WGCNA asks which genes change together across samples</a:t>
            </a:r>
          </a:p>
        </p:txBody>
      </p:sp>
      <p:sp>
        <p:nvSpPr>
          <p:cNvPr id="3" name="">
            <a:extLst xmlns:a="http://schemas.openxmlformats.org/drawingml/2006/main">
              <a:ext uri="{FF2B5EF4-FFF2-40B4-BE49-F238E27FC236}">
                <a16:creationId xmlns:a16="http://schemas.microsoft.com/office/drawing/2014/main" id="{01A3B601-A03E-47FB-B148-8514BAA96AF2}"/>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DFC1A4-2D01-4E30-AFE9-9BF6725614D5}"/>
              </a:ext>
            </a:extLst>
          </p:cNvPr>
          <p:cNvSpPr>
            <a:spLocks xmlns:a="http://schemas.openxmlformats.org/drawingml/2006/main" noGrp="1"/>
          </p:cNvSpPr>
          <p:nvPr/>
        </p:nvSpPr>
        <p:spPr>
          <a:xfrm xmlns:a="http://schemas.openxmlformats.org/drawingml/2006/main">
            <a:off x="666750" y="17145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596579"/>
                </a:solidFill>
              </a:defRPr>
            </a:pPr>
            <a:r>
              <a:rPr sz="1875" b="1">
                <a:solidFill>
                  <a:srgbClr val="596579"/>
                </a:solidFill>
              </a:rPr>
              <a:t>Instead of testing one gene at a time…</a:t>
            </a:r>
          </a:p>
        </p:txBody>
      </p:sp>
      <p:sp>
        <p:nvSpPr>
          <p:cNvPr id="5" name="">
            <a:extLst xmlns:a="http://schemas.openxmlformats.org/drawingml/2006/main">
              <a:ext uri="{FF2B5EF4-FFF2-40B4-BE49-F238E27FC236}">
                <a16:creationId xmlns:a16="http://schemas.microsoft.com/office/drawing/2014/main" id="{99581A24-295A-4509-83CD-A319C62376FE}"/>
              </a:ext>
            </a:extLst>
          </p:cNvPr>
          <p:cNvSpPr>
            <a:spLocks xmlns:a="http://schemas.openxmlformats.org/drawingml/2006/main" noGrp="1"/>
          </p:cNvSpPr>
          <p:nvPr/>
        </p:nvSpPr>
        <p:spPr>
          <a:xfrm xmlns:a="http://schemas.openxmlformats.org/drawingml/2006/main">
            <a:off x="6667500" y="17145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563EB"/>
                </a:solidFill>
              </a:defRPr>
            </a:pPr>
            <a:r>
              <a:rPr sz="1875" b="1">
                <a:solidFill>
                  <a:srgbClr val="2563EB"/>
                </a:solidFill>
              </a:rPr>
              <a:t>…WGCNA searches for coordinated systems</a:t>
            </a:r>
          </a:p>
        </p:txBody>
      </p:sp>
      <p:sp>
        <p:nvSpPr>
          <p:cNvPr id="6" name="">
            <a:extLst xmlns:a="http://schemas.openxmlformats.org/drawingml/2006/main">
              <a:ext uri="{FF2B5EF4-FFF2-40B4-BE49-F238E27FC236}">
                <a16:creationId xmlns:a16="http://schemas.microsoft.com/office/drawing/2014/main" id="{89C9DEDB-3CC2-4DCA-BA75-9026AF74F70B}"/>
              </a:ext>
            </a:extLst>
          </p:cNvPr>
          <p:cNvSpPr>
            <a:spLocks xmlns:a="http://schemas.openxmlformats.org/drawingml/2006/main" noGrp="1"/>
          </p:cNvSpPr>
          <p:nvPr/>
        </p:nvSpPr>
        <p:spPr>
          <a:xfrm xmlns:a="http://schemas.openxmlformats.org/drawingml/2006/main">
            <a:off x="857250" y="2400300"/>
            <a:ext cx="2416006" cy="152400"/>
          </a:xfrm>
          <a:prstGeom xmlns:a="http://schemas.openxmlformats.org/drawingml/2006/main" prst="rect">
            <a:avLst/>
          </a:prstGeom>
          <a:solidFill xmlns:a="http://schemas.openxmlformats.org/drawingml/2006/main">
            <a:srgbClr val="9CA3A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9FBFB6-BC50-43EC-A2E7-0DD288E1C5FE}"/>
              </a:ext>
            </a:extLst>
          </p:cNvPr>
          <p:cNvSpPr>
            <a:spLocks xmlns:a="http://schemas.openxmlformats.org/drawingml/2006/main" noGrp="1"/>
          </p:cNvSpPr>
          <p:nvPr/>
        </p:nvSpPr>
        <p:spPr>
          <a:xfrm xmlns:a="http://schemas.openxmlformats.org/drawingml/2006/main">
            <a:off x="857250" y="2800350"/>
            <a:ext cx="2583971" cy="1524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495854-64E7-42EF-B709-567E3A32F485}"/>
              </a:ext>
            </a:extLst>
          </p:cNvPr>
          <p:cNvSpPr>
            <a:spLocks xmlns:a="http://schemas.openxmlformats.org/drawingml/2006/main" noGrp="1"/>
          </p:cNvSpPr>
          <p:nvPr/>
        </p:nvSpPr>
        <p:spPr>
          <a:xfrm xmlns:a="http://schemas.openxmlformats.org/drawingml/2006/main">
            <a:off x="857250" y="3200400"/>
            <a:ext cx="1442631" cy="152400"/>
          </a:xfrm>
          <a:prstGeom xmlns:a="http://schemas.openxmlformats.org/drawingml/2006/main" prst="rect">
            <a:avLst/>
          </a:prstGeom>
          <a:solidFill xmlns:a="http://schemas.openxmlformats.org/drawingml/2006/main">
            <a:srgbClr val="9CA3A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CA67517-E4CF-4DEC-B85E-AB514A7DC173}"/>
              </a:ext>
            </a:extLst>
          </p:cNvPr>
          <p:cNvSpPr>
            <a:spLocks xmlns:a="http://schemas.openxmlformats.org/drawingml/2006/main" noGrp="1"/>
          </p:cNvSpPr>
          <p:nvPr/>
        </p:nvSpPr>
        <p:spPr>
          <a:xfrm xmlns:a="http://schemas.openxmlformats.org/drawingml/2006/main">
            <a:off x="857250" y="3600450"/>
            <a:ext cx="2224596" cy="1524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EA6181-032E-4C07-92FF-3583ACD7D9F9}"/>
              </a:ext>
            </a:extLst>
          </p:cNvPr>
          <p:cNvSpPr>
            <a:spLocks xmlns:a="http://schemas.openxmlformats.org/drawingml/2006/main" noGrp="1"/>
          </p:cNvSpPr>
          <p:nvPr/>
        </p:nvSpPr>
        <p:spPr>
          <a:xfrm xmlns:a="http://schemas.openxmlformats.org/drawingml/2006/main">
            <a:off x="857250" y="4000500"/>
            <a:ext cx="2715111" cy="152400"/>
          </a:xfrm>
          <a:prstGeom xmlns:a="http://schemas.openxmlformats.org/drawingml/2006/main" prst="rect">
            <a:avLst/>
          </a:prstGeom>
          <a:solidFill xmlns:a="http://schemas.openxmlformats.org/drawingml/2006/main">
            <a:srgbClr val="9CA3A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AA18335-6041-4D38-BD00-5FC496596657}"/>
              </a:ext>
            </a:extLst>
          </p:cNvPr>
          <p:cNvSpPr>
            <a:spLocks xmlns:a="http://schemas.openxmlformats.org/drawingml/2006/main" noGrp="1"/>
          </p:cNvSpPr>
          <p:nvPr/>
        </p:nvSpPr>
        <p:spPr>
          <a:xfrm xmlns:a="http://schemas.openxmlformats.org/drawingml/2006/main">
            <a:off x="857250" y="4400550"/>
            <a:ext cx="1524894" cy="1524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3A5907-6F92-4B20-9C2C-47A7505A01DA}"/>
              </a:ext>
            </a:extLst>
          </p:cNvPr>
          <p:cNvSpPr>
            <a:spLocks xmlns:a="http://schemas.openxmlformats.org/drawingml/2006/main" noGrp="1"/>
          </p:cNvSpPr>
          <p:nvPr/>
        </p:nvSpPr>
        <p:spPr>
          <a:xfrm xmlns:a="http://schemas.openxmlformats.org/drawingml/2006/main">
            <a:off x="857250" y="4800600"/>
            <a:ext cx="2024989" cy="152400"/>
          </a:xfrm>
          <a:prstGeom xmlns:a="http://schemas.openxmlformats.org/drawingml/2006/main" prst="rect">
            <a:avLst/>
          </a:prstGeom>
          <a:solidFill xmlns:a="http://schemas.openxmlformats.org/drawingml/2006/main">
            <a:srgbClr val="9CA3A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3A9A9AC-5284-4646-954C-083A51666F75}"/>
              </a:ext>
            </a:extLst>
          </p:cNvPr>
          <p:cNvSpPr>
            <a:spLocks xmlns:a="http://schemas.openxmlformats.org/drawingml/2006/main" noGrp="1"/>
          </p:cNvSpPr>
          <p:nvPr/>
        </p:nvSpPr>
        <p:spPr>
          <a:xfrm xmlns:a="http://schemas.openxmlformats.org/drawingml/2006/main">
            <a:off x="857250" y="5200650"/>
            <a:ext cx="2798980" cy="1524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72CDA41-D77C-4257-92AD-32D386497289}"/>
              </a:ext>
            </a:extLst>
          </p:cNvPr>
          <p:cNvSpPr>
            <a:spLocks xmlns:a="http://schemas.openxmlformats.org/drawingml/2006/main" noGrp="1"/>
          </p:cNvSpPr>
          <p:nvPr/>
        </p:nvSpPr>
        <p:spPr>
          <a:xfrm xmlns:a="http://schemas.openxmlformats.org/drawingml/2006/main">
            <a:off x="5286375" y="3476625"/>
            <a:ext cx="1133475" cy="9525"/>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5" name="">
            <a:extLst xmlns:a="http://schemas.openxmlformats.org/drawingml/2006/main">
              <a:ext uri="{FF2B5EF4-FFF2-40B4-BE49-F238E27FC236}">
                <a16:creationId xmlns:a16="http://schemas.microsoft.com/office/drawing/2014/main" id="{C8B33457-DA46-4DCD-BD15-3C126F7111F6}"/>
              </a:ext>
            </a:extLst>
          </p:cNvPr>
          <p:cNvSpPr>
            <a:spLocks xmlns:a="http://schemas.openxmlformats.org/drawingml/2006/main" noGrp="1"/>
          </p:cNvSpPr>
          <p:nvPr/>
        </p:nvSpPr>
        <p:spPr>
          <a:xfrm xmlns:a="http://schemas.openxmlformats.org/drawingml/2006/main">
            <a:off x="7524750" y="266700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7C97101A-D3E1-4E40-BEEB-378D55D656B1}"/>
              </a:ext>
            </a:extLst>
          </p:cNvPr>
          <p:cNvSpPr>
            <a:spLocks xmlns:a="http://schemas.openxmlformats.org/drawingml/2006/main" noGrp="1"/>
          </p:cNvSpPr>
          <p:nvPr/>
        </p:nvSpPr>
        <p:spPr>
          <a:xfrm xmlns:a="http://schemas.openxmlformats.org/drawingml/2006/main">
            <a:off x="7991475" y="2581275"/>
            <a:ext cx="171450" cy="1714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548DE0B-668D-4FED-B87C-EBF9D7BDBE1A}"/>
              </a:ext>
            </a:extLst>
          </p:cNvPr>
          <p:cNvSpPr>
            <a:spLocks xmlns:a="http://schemas.openxmlformats.org/drawingml/2006/main" noGrp="1"/>
          </p:cNvSpPr>
          <p:nvPr/>
        </p:nvSpPr>
        <p:spPr>
          <a:xfrm xmlns:a="http://schemas.openxmlformats.org/drawingml/2006/main">
            <a:off x="7524750" y="2667000"/>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 name="">
            <a:extLst xmlns:a="http://schemas.openxmlformats.org/drawingml/2006/main">
              <a:ext uri="{FF2B5EF4-FFF2-40B4-BE49-F238E27FC236}">
                <a16:creationId xmlns:a16="http://schemas.microsoft.com/office/drawing/2014/main" id="{18C1D6FF-9DBB-43D0-8FF4-D3EE5631DFAB}"/>
              </a:ext>
            </a:extLst>
          </p:cNvPr>
          <p:cNvSpPr>
            <a:spLocks xmlns:a="http://schemas.openxmlformats.org/drawingml/2006/main" noGrp="1"/>
          </p:cNvSpPr>
          <p:nvPr/>
        </p:nvSpPr>
        <p:spPr>
          <a:xfrm xmlns:a="http://schemas.openxmlformats.org/drawingml/2006/main">
            <a:off x="7715250" y="2977222"/>
            <a:ext cx="171450" cy="1714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4B000E1-B4D3-45CB-B71C-EDE476967569}"/>
              </a:ext>
            </a:extLst>
          </p:cNvPr>
          <p:cNvSpPr>
            <a:spLocks xmlns:a="http://schemas.openxmlformats.org/drawingml/2006/main" noGrp="1"/>
          </p:cNvSpPr>
          <p:nvPr/>
        </p:nvSpPr>
        <p:spPr>
          <a:xfrm xmlns:a="http://schemas.openxmlformats.org/drawingml/2006/main">
            <a:off x="7248525" y="2667000"/>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20" name="">
            <a:extLst xmlns:a="http://schemas.openxmlformats.org/drawingml/2006/main">
              <a:ext uri="{FF2B5EF4-FFF2-40B4-BE49-F238E27FC236}">
                <a16:creationId xmlns:a16="http://schemas.microsoft.com/office/drawing/2014/main" id="{E6A24FD1-CB8F-4A3A-A2C3-B90B23CBBCC6}"/>
              </a:ext>
            </a:extLst>
          </p:cNvPr>
          <p:cNvSpPr>
            <a:spLocks xmlns:a="http://schemas.openxmlformats.org/drawingml/2006/main" noGrp="1"/>
          </p:cNvSpPr>
          <p:nvPr/>
        </p:nvSpPr>
        <p:spPr>
          <a:xfrm xmlns:a="http://schemas.openxmlformats.org/drawingml/2006/main">
            <a:off x="7162800" y="2977222"/>
            <a:ext cx="171450" cy="1714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821419E-9F38-434A-8546-8D9CF294006F}"/>
              </a:ext>
            </a:extLst>
          </p:cNvPr>
          <p:cNvSpPr>
            <a:spLocks xmlns:a="http://schemas.openxmlformats.org/drawingml/2006/main" noGrp="1"/>
          </p:cNvSpPr>
          <p:nvPr/>
        </p:nvSpPr>
        <p:spPr>
          <a:xfrm xmlns:a="http://schemas.openxmlformats.org/drawingml/2006/main">
            <a:off x="6972300" y="266700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22" name="">
            <a:extLst xmlns:a="http://schemas.openxmlformats.org/drawingml/2006/main">
              <a:ext uri="{FF2B5EF4-FFF2-40B4-BE49-F238E27FC236}">
                <a16:creationId xmlns:a16="http://schemas.microsoft.com/office/drawing/2014/main" id="{91DCC91A-D8C8-432A-AB67-B1FD79D908BC}"/>
              </a:ext>
            </a:extLst>
          </p:cNvPr>
          <p:cNvSpPr>
            <a:spLocks xmlns:a="http://schemas.openxmlformats.org/drawingml/2006/main" noGrp="1"/>
          </p:cNvSpPr>
          <p:nvPr/>
        </p:nvSpPr>
        <p:spPr>
          <a:xfrm xmlns:a="http://schemas.openxmlformats.org/drawingml/2006/main">
            <a:off x="6886575" y="2581275"/>
            <a:ext cx="171450" cy="1714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360A15B-73EA-4464-8A5D-71FA76E54839}"/>
              </a:ext>
            </a:extLst>
          </p:cNvPr>
          <p:cNvSpPr>
            <a:spLocks xmlns:a="http://schemas.openxmlformats.org/drawingml/2006/main" noGrp="1"/>
          </p:cNvSpPr>
          <p:nvPr/>
        </p:nvSpPr>
        <p:spPr>
          <a:xfrm xmlns:a="http://schemas.openxmlformats.org/drawingml/2006/main">
            <a:off x="7248525" y="2271053"/>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24" name="">
            <a:extLst xmlns:a="http://schemas.openxmlformats.org/drawingml/2006/main">
              <a:ext uri="{FF2B5EF4-FFF2-40B4-BE49-F238E27FC236}">
                <a16:creationId xmlns:a16="http://schemas.microsoft.com/office/drawing/2014/main" id="{0D20F0E2-CECB-4C22-9D46-C5007343DBF4}"/>
              </a:ext>
            </a:extLst>
          </p:cNvPr>
          <p:cNvSpPr>
            <a:spLocks xmlns:a="http://schemas.openxmlformats.org/drawingml/2006/main" noGrp="1"/>
          </p:cNvSpPr>
          <p:nvPr/>
        </p:nvSpPr>
        <p:spPr>
          <a:xfrm xmlns:a="http://schemas.openxmlformats.org/drawingml/2006/main">
            <a:off x="7162800" y="2185328"/>
            <a:ext cx="171450" cy="1714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231F24-BED2-4ECF-B3D2-54A933FFEFA9}"/>
              </a:ext>
            </a:extLst>
          </p:cNvPr>
          <p:cNvSpPr>
            <a:spLocks xmlns:a="http://schemas.openxmlformats.org/drawingml/2006/main" noGrp="1"/>
          </p:cNvSpPr>
          <p:nvPr/>
        </p:nvSpPr>
        <p:spPr>
          <a:xfrm xmlns:a="http://schemas.openxmlformats.org/drawingml/2006/main">
            <a:off x="7524750" y="2271053"/>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26" name="">
            <a:extLst xmlns:a="http://schemas.openxmlformats.org/drawingml/2006/main">
              <a:ext uri="{FF2B5EF4-FFF2-40B4-BE49-F238E27FC236}">
                <a16:creationId xmlns:a16="http://schemas.microsoft.com/office/drawing/2014/main" id="{ED5B4090-C3E6-4598-A3CB-2B40644AC776}"/>
              </a:ext>
            </a:extLst>
          </p:cNvPr>
          <p:cNvSpPr>
            <a:spLocks xmlns:a="http://schemas.openxmlformats.org/drawingml/2006/main" noGrp="1"/>
          </p:cNvSpPr>
          <p:nvPr/>
        </p:nvSpPr>
        <p:spPr>
          <a:xfrm xmlns:a="http://schemas.openxmlformats.org/drawingml/2006/main">
            <a:off x="7715250" y="2185328"/>
            <a:ext cx="171450" cy="1714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003C1C1-F5BA-4B3E-925E-BBAA20C8BB17}"/>
              </a:ext>
            </a:extLst>
          </p:cNvPr>
          <p:cNvSpPr>
            <a:spLocks xmlns:a="http://schemas.openxmlformats.org/drawingml/2006/main" noGrp="1"/>
          </p:cNvSpPr>
          <p:nvPr/>
        </p:nvSpPr>
        <p:spPr>
          <a:xfrm xmlns:a="http://schemas.openxmlformats.org/drawingml/2006/main">
            <a:off x="7391400" y="2533650"/>
            <a:ext cx="266700" cy="26670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F9960A1-F326-48DB-8E6E-E81E9B8623D4}"/>
              </a:ext>
            </a:extLst>
          </p:cNvPr>
          <p:cNvSpPr>
            <a:spLocks xmlns:a="http://schemas.openxmlformats.org/drawingml/2006/main" noGrp="1"/>
          </p:cNvSpPr>
          <p:nvPr/>
        </p:nvSpPr>
        <p:spPr>
          <a:xfrm xmlns:a="http://schemas.openxmlformats.org/drawingml/2006/main">
            <a:off x="7000875" y="3333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96579"/>
                </a:solidFill>
              </a:defRPr>
            </a:pPr>
            <a:r>
              <a:rPr sz="1200" b="1">
                <a:solidFill>
                  <a:srgbClr val="596579"/>
                </a:solidFill>
              </a:rPr>
              <a:t>Module 1</a:t>
            </a:r>
          </a:p>
        </p:txBody>
      </p:sp>
      <p:sp>
        <p:nvSpPr>
          <p:cNvPr id="29" name="">
            <a:extLst xmlns:a="http://schemas.openxmlformats.org/drawingml/2006/main">
              <a:ext uri="{FF2B5EF4-FFF2-40B4-BE49-F238E27FC236}">
                <a16:creationId xmlns:a16="http://schemas.microsoft.com/office/drawing/2014/main" id="{93DADEDE-8DE6-41C8-AB49-B5FA25B45A79}"/>
              </a:ext>
            </a:extLst>
          </p:cNvPr>
          <p:cNvSpPr>
            <a:spLocks xmlns:a="http://schemas.openxmlformats.org/drawingml/2006/main" noGrp="1"/>
          </p:cNvSpPr>
          <p:nvPr/>
        </p:nvSpPr>
        <p:spPr>
          <a:xfrm xmlns:a="http://schemas.openxmlformats.org/drawingml/2006/main">
            <a:off x="9620250" y="285750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0" name="">
            <a:extLst xmlns:a="http://schemas.openxmlformats.org/drawingml/2006/main">
              <a:ext uri="{FF2B5EF4-FFF2-40B4-BE49-F238E27FC236}">
                <a16:creationId xmlns:a16="http://schemas.microsoft.com/office/drawing/2014/main" id="{E3CF7018-BBFE-42B2-8E37-4EBDEA24A0DD}"/>
              </a:ext>
            </a:extLst>
          </p:cNvPr>
          <p:cNvSpPr>
            <a:spLocks xmlns:a="http://schemas.openxmlformats.org/drawingml/2006/main" noGrp="1"/>
          </p:cNvSpPr>
          <p:nvPr/>
        </p:nvSpPr>
        <p:spPr>
          <a:xfrm xmlns:a="http://schemas.openxmlformats.org/drawingml/2006/main">
            <a:off x="10086975" y="2771775"/>
            <a:ext cx="171450" cy="1714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4294804-441A-43AD-96E2-100C8FC35CAC}"/>
              </a:ext>
            </a:extLst>
          </p:cNvPr>
          <p:cNvSpPr>
            <a:spLocks xmlns:a="http://schemas.openxmlformats.org/drawingml/2006/main" noGrp="1"/>
          </p:cNvSpPr>
          <p:nvPr/>
        </p:nvSpPr>
        <p:spPr>
          <a:xfrm xmlns:a="http://schemas.openxmlformats.org/drawingml/2006/main">
            <a:off x="9620250" y="2857500"/>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2" name="">
            <a:extLst xmlns:a="http://schemas.openxmlformats.org/drawingml/2006/main">
              <a:ext uri="{FF2B5EF4-FFF2-40B4-BE49-F238E27FC236}">
                <a16:creationId xmlns:a16="http://schemas.microsoft.com/office/drawing/2014/main" id="{DB611A8D-62FB-42A6-AF4E-D2B1F5A0F27E}"/>
              </a:ext>
            </a:extLst>
          </p:cNvPr>
          <p:cNvSpPr>
            <a:spLocks xmlns:a="http://schemas.openxmlformats.org/drawingml/2006/main" noGrp="1"/>
          </p:cNvSpPr>
          <p:nvPr/>
        </p:nvSpPr>
        <p:spPr>
          <a:xfrm xmlns:a="http://schemas.openxmlformats.org/drawingml/2006/main">
            <a:off x="9810750" y="3167722"/>
            <a:ext cx="171450" cy="1714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3DEC6DB-77EC-4490-80B2-45D5B8223981}"/>
              </a:ext>
            </a:extLst>
          </p:cNvPr>
          <p:cNvSpPr>
            <a:spLocks xmlns:a="http://schemas.openxmlformats.org/drawingml/2006/main" noGrp="1"/>
          </p:cNvSpPr>
          <p:nvPr/>
        </p:nvSpPr>
        <p:spPr>
          <a:xfrm xmlns:a="http://schemas.openxmlformats.org/drawingml/2006/main">
            <a:off x="9344025" y="2857500"/>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4" name="">
            <a:extLst xmlns:a="http://schemas.openxmlformats.org/drawingml/2006/main">
              <a:ext uri="{FF2B5EF4-FFF2-40B4-BE49-F238E27FC236}">
                <a16:creationId xmlns:a16="http://schemas.microsoft.com/office/drawing/2014/main" id="{1F9E5CEC-FDB4-4A33-A128-2A8274ED735C}"/>
              </a:ext>
            </a:extLst>
          </p:cNvPr>
          <p:cNvSpPr>
            <a:spLocks xmlns:a="http://schemas.openxmlformats.org/drawingml/2006/main" noGrp="1"/>
          </p:cNvSpPr>
          <p:nvPr/>
        </p:nvSpPr>
        <p:spPr>
          <a:xfrm xmlns:a="http://schemas.openxmlformats.org/drawingml/2006/main">
            <a:off x="9258300" y="3167722"/>
            <a:ext cx="171450" cy="1714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7DBABA-E049-420E-8065-602F31D02225}"/>
              </a:ext>
            </a:extLst>
          </p:cNvPr>
          <p:cNvSpPr>
            <a:spLocks xmlns:a="http://schemas.openxmlformats.org/drawingml/2006/main" noGrp="1"/>
          </p:cNvSpPr>
          <p:nvPr/>
        </p:nvSpPr>
        <p:spPr>
          <a:xfrm xmlns:a="http://schemas.openxmlformats.org/drawingml/2006/main">
            <a:off x="9067800" y="285750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6" name="">
            <a:extLst xmlns:a="http://schemas.openxmlformats.org/drawingml/2006/main">
              <a:ext uri="{FF2B5EF4-FFF2-40B4-BE49-F238E27FC236}">
                <a16:creationId xmlns:a16="http://schemas.microsoft.com/office/drawing/2014/main" id="{01AD2632-2969-415B-8880-CB23168D27BB}"/>
              </a:ext>
            </a:extLst>
          </p:cNvPr>
          <p:cNvSpPr>
            <a:spLocks xmlns:a="http://schemas.openxmlformats.org/drawingml/2006/main" noGrp="1"/>
          </p:cNvSpPr>
          <p:nvPr/>
        </p:nvSpPr>
        <p:spPr>
          <a:xfrm xmlns:a="http://schemas.openxmlformats.org/drawingml/2006/main">
            <a:off x="8982075" y="2771775"/>
            <a:ext cx="171450" cy="1714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C3BE95A-7AD7-4835-B908-9C2581E042F3}"/>
              </a:ext>
            </a:extLst>
          </p:cNvPr>
          <p:cNvSpPr>
            <a:spLocks xmlns:a="http://schemas.openxmlformats.org/drawingml/2006/main" noGrp="1"/>
          </p:cNvSpPr>
          <p:nvPr/>
        </p:nvSpPr>
        <p:spPr>
          <a:xfrm xmlns:a="http://schemas.openxmlformats.org/drawingml/2006/main">
            <a:off x="9344025" y="2461553"/>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8" name="">
            <a:extLst xmlns:a="http://schemas.openxmlformats.org/drawingml/2006/main">
              <a:ext uri="{FF2B5EF4-FFF2-40B4-BE49-F238E27FC236}">
                <a16:creationId xmlns:a16="http://schemas.microsoft.com/office/drawing/2014/main" id="{6B0A8701-3117-4D7F-81C9-8D2F8D157190}"/>
              </a:ext>
            </a:extLst>
          </p:cNvPr>
          <p:cNvSpPr>
            <a:spLocks xmlns:a="http://schemas.openxmlformats.org/drawingml/2006/main" noGrp="1"/>
          </p:cNvSpPr>
          <p:nvPr/>
        </p:nvSpPr>
        <p:spPr>
          <a:xfrm xmlns:a="http://schemas.openxmlformats.org/drawingml/2006/main">
            <a:off x="9258300" y="2375828"/>
            <a:ext cx="171450" cy="1714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C911F4F-5BAD-4F08-9F10-15B8CF4B7260}"/>
              </a:ext>
            </a:extLst>
          </p:cNvPr>
          <p:cNvSpPr>
            <a:spLocks xmlns:a="http://schemas.openxmlformats.org/drawingml/2006/main" noGrp="1"/>
          </p:cNvSpPr>
          <p:nvPr/>
        </p:nvSpPr>
        <p:spPr>
          <a:xfrm xmlns:a="http://schemas.openxmlformats.org/drawingml/2006/main">
            <a:off x="9620250" y="2461553"/>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0" name="">
            <a:extLst xmlns:a="http://schemas.openxmlformats.org/drawingml/2006/main">
              <a:ext uri="{FF2B5EF4-FFF2-40B4-BE49-F238E27FC236}">
                <a16:creationId xmlns:a16="http://schemas.microsoft.com/office/drawing/2014/main" id="{9DB1CDDC-8108-40D7-A026-572E19831786}"/>
              </a:ext>
            </a:extLst>
          </p:cNvPr>
          <p:cNvSpPr>
            <a:spLocks xmlns:a="http://schemas.openxmlformats.org/drawingml/2006/main" noGrp="1"/>
          </p:cNvSpPr>
          <p:nvPr/>
        </p:nvSpPr>
        <p:spPr>
          <a:xfrm xmlns:a="http://schemas.openxmlformats.org/drawingml/2006/main">
            <a:off x="9810750" y="2375828"/>
            <a:ext cx="171450" cy="1714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BFCD02B-1F1B-4420-820C-68EE5D452D78}"/>
              </a:ext>
            </a:extLst>
          </p:cNvPr>
          <p:cNvSpPr>
            <a:spLocks xmlns:a="http://schemas.openxmlformats.org/drawingml/2006/main" noGrp="1"/>
          </p:cNvSpPr>
          <p:nvPr/>
        </p:nvSpPr>
        <p:spPr>
          <a:xfrm xmlns:a="http://schemas.openxmlformats.org/drawingml/2006/main">
            <a:off x="9486900" y="2724150"/>
            <a:ext cx="266700" cy="26670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84C75D2-0B48-4EA8-AC91-0FD95FC0CEEA}"/>
              </a:ext>
            </a:extLst>
          </p:cNvPr>
          <p:cNvSpPr>
            <a:spLocks xmlns:a="http://schemas.openxmlformats.org/drawingml/2006/main" noGrp="1"/>
          </p:cNvSpPr>
          <p:nvPr/>
        </p:nvSpPr>
        <p:spPr>
          <a:xfrm xmlns:a="http://schemas.openxmlformats.org/drawingml/2006/main">
            <a:off x="9096375" y="35242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96579"/>
                </a:solidFill>
              </a:defRPr>
            </a:pPr>
            <a:r>
              <a:rPr sz="1200" b="1">
                <a:solidFill>
                  <a:srgbClr val="596579"/>
                </a:solidFill>
              </a:rPr>
              <a:t>Module 2</a:t>
            </a:r>
          </a:p>
        </p:txBody>
      </p:sp>
      <p:sp>
        <p:nvSpPr>
          <p:cNvPr id="43" name="">
            <a:extLst xmlns:a="http://schemas.openxmlformats.org/drawingml/2006/main">
              <a:ext uri="{FF2B5EF4-FFF2-40B4-BE49-F238E27FC236}">
                <a16:creationId xmlns:a16="http://schemas.microsoft.com/office/drawing/2014/main" id="{73FD5E40-9D07-4A16-8DF8-3B06E0183C57}"/>
              </a:ext>
            </a:extLst>
          </p:cNvPr>
          <p:cNvSpPr>
            <a:spLocks xmlns:a="http://schemas.openxmlformats.org/drawingml/2006/main" noGrp="1"/>
          </p:cNvSpPr>
          <p:nvPr/>
        </p:nvSpPr>
        <p:spPr>
          <a:xfrm xmlns:a="http://schemas.openxmlformats.org/drawingml/2006/main">
            <a:off x="8191500" y="447675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4" name="">
            <a:extLst xmlns:a="http://schemas.openxmlformats.org/drawingml/2006/main">
              <a:ext uri="{FF2B5EF4-FFF2-40B4-BE49-F238E27FC236}">
                <a16:creationId xmlns:a16="http://schemas.microsoft.com/office/drawing/2014/main" id="{49B925E4-6ABB-4B9C-93CC-BDC6958BD508}"/>
              </a:ext>
            </a:extLst>
          </p:cNvPr>
          <p:cNvSpPr>
            <a:spLocks xmlns:a="http://schemas.openxmlformats.org/drawingml/2006/main" noGrp="1"/>
          </p:cNvSpPr>
          <p:nvPr/>
        </p:nvSpPr>
        <p:spPr>
          <a:xfrm xmlns:a="http://schemas.openxmlformats.org/drawingml/2006/main">
            <a:off x="8658225" y="4391025"/>
            <a:ext cx="171450" cy="17145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DD8DF37-9853-4561-B1E5-744F39B42182}"/>
              </a:ext>
            </a:extLst>
          </p:cNvPr>
          <p:cNvSpPr>
            <a:spLocks xmlns:a="http://schemas.openxmlformats.org/drawingml/2006/main" noGrp="1"/>
          </p:cNvSpPr>
          <p:nvPr/>
        </p:nvSpPr>
        <p:spPr>
          <a:xfrm xmlns:a="http://schemas.openxmlformats.org/drawingml/2006/main">
            <a:off x="8191500" y="4476750"/>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6" name="">
            <a:extLst xmlns:a="http://schemas.openxmlformats.org/drawingml/2006/main">
              <a:ext uri="{FF2B5EF4-FFF2-40B4-BE49-F238E27FC236}">
                <a16:creationId xmlns:a16="http://schemas.microsoft.com/office/drawing/2014/main" id="{AFAF0107-0221-4177-9120-9850D1E2857A}"/>
              </a:ext>
            </a:extLst>
          </p:cNvPr>
          <p:cNvSpPr>
            <a:spLocks xmlns:a="http://schemas.openxmlformats.org/drawingml/2006/main" noGrp="1"/>
          </p:cNvSpPr>
          <p:nvPr/>
        </p:nvSpPr>
        <p:spPr>
          <a:xfrm xmlns:a="http://schemas.openxmlformats.org/drawingml/2006/main">
            <a:off x="8382000" y="4786972"/>
            <a:ext cx="171450" cy="17145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485F5F0-D49C-4330-992F-2756B84E4DF5}"/>
              </a:ext>
            </a:extLst>
          </p:cNvPr>
          <p:cNvSpPr>
            <a:spLocks xmlns:a="http://schemas.openxmlformats.org/drawingml/2006/main" noGrp="1"/>
          </p:cNvSpPr>
          <p:nvPr/>
        </p:nvSpPr>
        <p:spPr>
          <a:xfrm xmlns:a="http://schemas.openxmlformats.org/drawingml/2006/main">
            <a:off x="7915275" y="4476750"/>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8" name="">
            <a:extLst xmlns:a="http://schemas.openxmlformats.org/drawingml/2006/main">
              <a:ext uri="{FF2B5EF4-FFF2-40B4-BE49-F238E27FC236}">
                <a16:creationId xmlns:a16="http://schemas.microsoft.com/office/drawing/2014/main" id="{E27C17DE-8856-4DF5-8D5F-FA9BD0F3B760}"/>
              </a:ext>
            </a:extLst>
          </p:cNvPr>
          <p:cNvSpPr>
            <a:spLocks xmlns:a="http://schemas.openxmlformats.org/drawingml/2006/main" noGrp="1"/>
          </p:cNvSpPr>
          <p:nvPr/>
        </p:nvSpPr>
        <p:spPr>
          <a:xfrm xmlns:a="http://schemas.openxmlformats.org/drawingml/2006/main">
            <a:off x="7829550" y="4786972"/>
            <a:ext cx="171450" cy="17145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6EB1BB2-E792-4865-A01B-A67D8CAFC37B}"/>
              </a:ext>
            </a:extLst>
          </p:cNvPr>
          <p:cNvSpPr>
            <a:spLocks xmlns:a="http://schemas.openxmlformats.org/drawingml/2006/main" noGrp="1"/>
          </p:cNvSpPr>
          <p:nvPr/>
        </p:nvSpPr>
        <p:spPr>
          <a:xfrm xmlns:a="http://schemas.openxmlformats.org/drawingml/2006/main">
            <a:off x="7639050" y="4476750"/>
            <a:ext cx="5524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50" name="">
            <a:extLst xmlns:a="http://schemas.openxmlformats.org/drawingml/2006/main">
              <a:ext uri="{FF2B5EF4-FFF2-40B4-BE49-F238E27FC236}">
                <a16:creationId xmlns:a16="http://schemas.microsoft.com/office/drawing/2014/main" id="{7EE44952-B5B9-40B3-BB6F-A1EB366B6B81}"/>
              </a:ext>
            </a:extLst>
          </p:cNvPr>
          <p:cNvSpPr>
            <a:spLocks xmlns:a="http://schemas.openxmlformats.org/drawingml/2006/main" noGrp="1"/>
          </p:cNvSpPr>
          <p:nvPr/>
        </p:nvSpPr>
        <p:spPr>
          <a:xfrm xmlns:a="http://schemas.openxmlformats.org/drawingml/2006/main">
            <a:off x="7553325" y="4391025"/>
            <a:ext cx="171450" cy="17145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1E43EFC2-AF55-4B3F-AFE9-13A75CC77F0C}"/>
              </a:ext>
            </a:extLst>
          </p:cNvPr>
          <p:cNvSpPr>
            <a:spLocks xmlns:a="http://schemas.openxmlformats.org/drawingml/2006/main" noGrp="1"/>
          </p:cNvSpPr>
          <p:nvPr/>
        </p:nvSpPr>
        <p:spPr>
          <a:xfrm xmlns:a="http://schemas.openxmlformats.org/drawingml/2006/main">
            <a:off x="7915275" y="4080803"/>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52" name="">
            <a:extLst xmlns:a="http://schemas.openxmlformats.org/drawingml/2006/main">
              <a:ext uri="{FF2B5EF4-FFF2-40B4-BE49-F238E27FC236}">
                <a16:creationId xmlns:a16="http://schemas.microsoft.com/office/drawing/2014/main" id="{F43DF370-AD04-4A2A-9603-92973EF75C14}"/>
              </a:ext>
            </a:extLst>
          </p:cNvPr>
          <p:cNvSpPr>
            <a:spLocks xmlns:a="http://schemas.openxmlformats.org/drawingml/2006/main" noGrp="1"/>
          </p:cNvSpPr>
          <p:nvPr/>
        </p:nvSpPr>
        <p:spPr>
          <a:xfrm xmlns:a="http://schemas.openxmlformats.org/drawingml/2006/main">
            <a:off x="7829550" y="3995078"/>
            <a:ext cx="171450" cy="17145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0E5F12C-212B-43B3-8296-B61273FCCD23}"/>
              </a:ext>
            </a:extLst>
          </p:cNvPr>
          <p:cNvSpPr>
            <a:spLocks xmlns:a="http://schemas.openxmlformats.org/drawingml/2006/main" noGrp="1"/>
          </p:cNvSpPr>
          <p:nvPr/>
        </p:nvSpPr>
        <p:spPr>
          <a:xfrm xmlns:a="http://schemas.openxmlformats.org/drawingml/2006/main">
            <a:off x="8191500" y="4080803"/>
            <a:ext cx="276225" cy="395947"/>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54" name="">
            <a:extLst xmlns:a="http://schemas.openxmlformats.org/drawingml/2006/main">
              <a:ext uri="{FF2B5EF4-FFF2-40B4-BE49-F238E27FC236}">
                <a16:creationId xmlns:a16="http://schemas.microsoft.com/office/drawing/2014/main" id="{DF9E1A67-036D-465E-BA37-F075F65EC6F2}"/>
              </a:ext>
            </a:extLst>
          </p:cNvPr>
          <p:cNvSpPr>
            <a:spLocks xmlns:a="http://schemas.openxmlformats.org/drawingml/2006/main" noGrp="1"/>
          </p:cNvSpPr>
          <p:nvPr/>
        </p:nvSpPr>
        <p:spPr>
          <a:xfrm xmlns:a="http://schemas.openxmlformats.org/drawingml/2006/main">
            <a:off x="8382000" y="3995078"/>
            <a:ext cx="171450" cy="171450"/>
          </a:xfrm>
          <a:prstGeom xmlns:a="http://schemas.openxmlformats.org/drawingml/2006/main" prst="ellipse">
            <a:avLst/>
          </a:prstGeom>
          <a:solidFill xmlns:a="http://schemas.openxmlformats.org/drawingml/2006/main">
            <a:srgbClr val="F59E0B"/>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04979ADF-F082-4A1B-A3D4-5F42C28264A0}"/>
              </a:ext>
            </a:extLst>
          </p:cNvPr>
          <p:cNvSpPr>
            <a:spLocks xmlns:a="http://schemas.openxmlformats.org/drawingml/2006/main" noGrp="1"/>
          </p:cNvSpPr>
          <p:nvPr/>
        </p:nvSpPr>
        <p:spPr>
          <a:xfrm xmlns:a="http://schemas.openxmlformats.org/drawingml/2006/main">
            <a:off x="8058150" y="4343400"/>
            <a:ext cx="266700" cy="26670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FF67243D-432D-4F36-8177-357D24085A23}"/>
              </a:ext>
            </a:extLst>
          </p:cNvPr>
          <p:cNvSpPr>
            <a:spLocks xmlns:a="http://schemas.openxmlformats.org/drawingml/2006/main" noGrp="1"/>
          </p:cNvSpPr>
          <p:nvPr/>
        </p:nvSpPr>
        <p:spPr>
          <a:xfrm xmlns:a="http://schemas.openxmlformats.org/drawingml/2006/main">
            <a:off x="7667625" y="51435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596579"/>
                </a:solidFill>
              </a:defRPr>
            </a:pPr>
            <a:r>
              <a:rPr sz="1200" b="1">
                <a:solidFill>
                  <a:srgbClr val="596579"/>
                </a:solidFill>
              </a:rPr>
              <a:t>Module 3</a:t>
            </a:r>
          </a:p>
        </p:txBody>
      </p:sp>
      <p:sp>
        <p:nvSpPr>
          <p:cNvPr id="57" name="">
            <a:extLst xmlns:a="http://schemas.openxmlformats.org/drawingml/2006/main">
              <a:ext uri="{FF2B5EF4-FFF2-40B4-BE49-F238E27FC236}">
                <a16:creationId xmlns:a16="http://schemas.microsoft.com/office/drawing/2014/main" id="{26ABB7CD-DD73-4BD1-9572-2A9C87FFAB98}"/>
              </a:ext>
            </a:extLst>
          </p:cNvPr>
          <p:cNvSpPr>
            <a:spLocks xmlns:a="http://schemas.openxmlformats.org/drawingml/2006/main" noGrp="1"/>
          </p:cNvSpPr>
          <p:nvPr/>
        </p:nvSpPr>
        <p:spPr>
          <a:xfrm xmlns:a="http://schemas.openxmlformats.org/drawingml/2006/main">
            <a:off x="1809750" y="58293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827"/>
                </a:solidFill>
              </a:defRPr>
            </a:pPr>
            <a:r>
              <a:rPr sz="1725" b="1">
                <a:solidFill>
                  <a:srgbClr val="111827"/>
                </a:solidFill>
              </a:rPr>
              <a:t>Output: modules, module eigengenes, trait associations, and hub candidates</a:t>
            </a:r>
          </a:p>
        </p:txBody>
      </p:sp>
      <p:sp>
        <p:nvSpPr>
          <p:cNvPr id="58" name="">
            <a:extLst xmlns:a="http://schemas.openxmlformats.org/drawingml/2006/main">
              <a:ext uri="{FF2B5EF4-FFF2-40B4-BE49-F238E27FC236}">
                <a16:creationId xmlns:a16="http://schemas.microsoft.com/office/drawing/2014/main" id="{A101FEDF-0BFE-429B-A24F-32D5CD4B1FEA}"/>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03</a:t>
            </a:r>
          </a:p>
        </p:txBody>
      </p:sp>
    </p:spTree>
    <p:extLst>
      <p:ext uri="{BB962C8B-B14F-4D97-AF65-F5344CB8AC3E}">
        <p14:creationId xmlns:p14="http://schemas.microsoft.com/office/powerpoint/2010/main" val="8184824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43A8CAD8-3309-4C88-BD8B-CB3E52D362DF}"/>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289DA01E-F369-4570-BEA5-2828663161B8}"/>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The input matrix is samples × genes—not the other way around</a:t>
            </a:r>
          </a:p>
        </p:txBody>
      </p:sp>
      <p:sp>
        <p:nvSpPr>
          <p:cNvPr id="3" name="">
            <a:extLst xmlns:a="http://schemas.openxmlformats.org/drawingml/2006/main">
              <a:ext uri="{FF2B5EF4-FFF2-40B4-BE49-F238E27FC236}">
                <a16:creationId xmlns:a16="http://schemas.microsoft.com/office/drawing/2014/main" id="{BA7B1D10-AAD9-4139-B347-8216BA6467FC}"/>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C1C15A-8555-4010-AFEC-F1F8F5E41390}"/>
              </a:ext>
            </a:extLst>
          </p:cNvPr>
          <p:cNvSpPr>
            <a:spLocks xmlns:a="http://schemas.openxmlformats.org/drawingml/2006/main" noGrp="1"/>
          </p:cNvSpPr>
          <p:nvPr/>
        </p:nvSpPr>
        <p:spPr>
          <a:xfrm xmlns:a="http://schemas.openxmlformats.org/drawingml/2006/main">
            <a:off x="704850" y="1409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defRPr>
            </a:pPr>
            <a:r>
              <a:rPr sz="1650" b="1">
                <a:solidFill>
                  <a:srgbClr val="2563EB"/>
                </a:solidFill>
              </a:rPr>
              <a:t>datExpr</a:t>
            </a:r>
          </a:p>
        </p:txBody>
      </p:sp>
      <p:sp>
        <p:nvSpPr>
          <p:cNvPr id="5" name="">
            <a:extLst xmlns:a="http://schemas.openxmlformats.org/drawingml/2006/main">
              <a:ext uri="{FF2B5EF4-FFF2-40B4-BE49-F238E27FC236}">
                <a16:creationId xmlns:a16="http://schemas.microsoft.com/office/drawing/2014/main" id="{4006E9E2-A7F1-43FE-B7E1-D85CC6FA228A}"/>
              </a:ext>
            </a:extLst>
          </p:cNvPr>
          <p:cNvSpPr>
            <a:spLocks xmlns:a="http://schemas.openxmlformats.org/drawingml/2006/main" noGrp="1"/>
          </p:cNvSpPr>
          <p:nvPr/>
        </p:nvSpPr>
        <p:spPr>
          <a:xfrm xmlns:a="http://schemas.openxmlformats.org/drawingml/2006/main">
            <a:off x="70485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6" name="">
            <a:extLst xmlns:a="http://schemas.openxmlformats.org/drawingml/2006/main">
              <a:ext uri="{FF2B5EF4-FFF2-40B4-BE49-F238E27FC236}">
                <a16:creationId xmlns:a16="http://schemas.microsoft.com/office/drawing/2014/main" id="{EB651670-5D58-4A75-91FD-EF915277E2CB}"/>
              </a:ext>
            </a:extLst>
          </p:cNvPr>
          <p:cNvSpPr>
            <a:spLocks xmlns:a="http://schemas.openxmlformats.org/drawingml/2006/main" noGrp="1"/>
          </p:cNvSpPr>
          <p:nvPr/>
        </p:nvSpPr>
        <p:spPr>
          <a:xfrm xmlns:a="http://schemas.openxmlformats.org/drawingml/2006/main">
            <a:off x="171450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FBFBDD9E-A21E-408E-B051-CB70A579F18E}"/>
              </a:ext>
            </a:extLst>
          </p:cNvPr>
          <p:cNvSpPr>
            <a:spLocks xmlns:a="http://schemas.openxmlformats.org/drawingml/2006/main" noGrp="1"/>
          </p:cNvSpPr>
          <p:nvPr/>
        </p:nvSpPr>
        <p:spPr>
          <a:xfrm xmlns:a="http://schemas.openxmlformats.org/drawingml/2006/main">
            <a:off x="272415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51F2B36-5A2B-4078-94BB-773DA6EBBC5F}"/>
              </a:ext>
            </a:extLst>
          </p:cNvPr>
          <p:cNvSpPr>
            <a:spLocks xmlns:a="http://schemas.openxmlformats.org/drawingml/2006/main" noGrp="1"/>
          </p:cNvSpPr>
          <p:nvPr/>
        </p:nvSpPr>
        <p:spPr>
          <a:xfrm xmlns:a="http://schemas.openxmlformats.org/drawingml/2006/main">
            <a:off x="373380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76213E4D-7B2C-46E2-9020-000784B0F79C}"/>
              </a:ext>
            </a:extLst>
          </p:cNvPr>
          <p:cNvSpPr>
            <a:spLocks xmlns:a="http://schemas.openxmlformats.org/drawingml/2006/main" noGrp="1"/>
          </p:cNvSpPr>
          <p:nvPr/>
        </p:nvSpPr>
        <p:spPr>
          <a:xfrm xmlns:a="http://schemas.openxmlformats.org/drawingml/2006/main">
            <a:off x="474345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4471588-F4B9-4845-A66E-125D74DA9140}"/>
              </a:ext>
            </a:extLst>
          </p:cNvPr>
          <p:cNvSpPr>
            <a:spLocks xmlns:a="http://schemas.openxmlformats.org/drawingml/2006/main" noGrp="1"/>
          </p:cNvSpPr>
          <p:nvPr/>
        </p:nvSpPr>
        <p:spPr>
          <a:xfrm xmlns:a="http://schemas.openxmlformats.org/drawingml/2006/main">
            <a:off x="575310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362FCD93-47E7-4FA6-B5CD-204FB43053F1}"/>
              </a:ext>
            </a:extLst>
          </p:cNvPr>
          <p:cNvSpPr>
            <a:spLocks xmlns:a="http://schemas.openxmlformats.org/drawingml/2006/main" noGrp="1"/>
          </p:cNvSpPr>
          <p:nvPr/>
        </p:nvSpPr>
        <p:spPr>
          <a:xfrm xmlns:a="http://schemas.openxmlformats.org/drawingml/2006/main">
            <a:off x="6762750" y="1809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351B37CA-1C3B-4953-B217-6F17F2530C90}"/>
              </a:ext>
            </a:extLst>
          </p:cNvPr>
          <p:cNvSpPr>
            <a:spLocks xmlns:a="http://schemas.openxmlformats.org/drawingml/2006/main" noGrp="1"/>
          </p:cNvSpPr>
          <p:nvPr/>
        </p:nvSpPr>
        <p:spPr>
          <a:xfrm xmlns:a="http://schemas.openxmlformats.org/drawingml/2006/main">
            <a:off x="704850" y="22669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0B179AD-32E7-42C3-B428-5ED37E3A9A22}"/>
              </a:ext>
            </a:extLst>
          </p:cNvPr>
          <p:cNvSpPr>
            <a:spLocks xmlns:a="http://schemas.openxmlformats.org/drawingml/2006/main" noGrp="1"/>
          </p:cNvSpPr>
          <p:nvPr/>
        </p:nvSpPr>
        <p:spPr>
          <a:xfrm xmlns:a="http://schemas.openxmlformats.org/drawingml/2006/main">
            <a:off x="1714500" y="22669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FBEB54E-1B50-42CD-9713-1DDCA06ADBB7}"/>
              </a:ext>
            </a:extLst>
          </p:cNvPr>
          <p:cNvSpPr>
            <a:spLocks xmlns:a="http://schemas.openxmlformats.org/drawingml/2006/main" noGrp="1"/>
          </p:cNvSpPr>
          <p:nvPr/>
        </p:nvSpPr>
        <p:spPr>
          <a:xfrm xmlns:a="http://schemas.openxmlformats.org/drawingml/2006/main">
            <a:off x="2724150" y="22669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19B87C9C-DA04-4968-A3E8-7184AE663957}"/>
              </a:ext>
            </a:extLst>
          </p:cNvPr>
          <p:cNvSpPr>
            <a:spLocks xmlns:a="http://schemas.openxmlformats.org/drawingml/2006/main" noGrp="1"/>
          </p:cNvSpPr>
          <p:nvPr/>
        </p:nvSpPr>
        <p:spPr>
          <a:xfrm xmlns:a="http://schemas.openxmlformats.org/drawingml/2006/main">
            <a:off x="3733800" y="22669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E8D7D051-6C59-40C7-8C7B-40FEA9A8678B}"/>
              </a:ext>
            </a:extLst>
          </p:cNvPr>
          <p:cNvSpPr>
            <a:spLocks xmlns:a="http://schemas.openxmlformats.org/drawingml/2006/main" noGrp="1"/>
          </p:cNvSpPr>
          <p:nvPr/>
        </p:nvSpPr>
        <p:spPr>
          <a:xfrm xmlns:a="http://schemas.openxmlformats.org/drawingml/2006/main">
            <a:off x="4743450" y="22669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A1ED07D9-18BF-42C3-8813-9825AAFA7FA6}"/>
              </a:ext>
            </a:extLst>
          </p:cNvPr>
          <p:cNvSpPr>
            <a:spLocks xmlns:a="http://schemas.openxmlformats.org/drawingml/2006/main" noGrp="1"/>
          </p:cNvSpPr>
          <p:nvPr/>
        </p:nvSpPr>
        <p:spPr>
          <a:xfrm xmlns:a="http://schemas.openxmlformats.org/drawingml/2006/main">
            <a:off x="5753100" y="22669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2AD56E49-A062-41BB-AB97-12215D0256CB}"/>
              </a:ext>
            </a:extLst>
          </p:cNvPr>
          <p:cNvSpPr>
            <a:spLocks xmlns:a="http://schemas.openxmlformats.org/drawingml/2006/main" noGrp="1"/>
          </p:cNvSpPr>
          <p:nvPr/>
        </p:nvSpPr>
        <p:spPr>
          <a:xfrm xmlns:a="http://schemas.openxmlformats.org/drawingml/2006/main">
            <a:off x="6762750" y="22669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002DFDCF-840F-4F3D-A0B2-8F5EDC0F4078}"/>
              </a:ext>
            </a:extLst>
          </p:cNvPr>
          <p:cNvSpPr>
            <a:spLocks xmlns:a="http://schemas.openxmlformats.org/drawingml/2006/main" noGrp="1"/>
          </p:cNvSpPr>
          <p:nvPr/>
        </p:nvSpPr>
        <p:spPr>
          <a:xfrm xmlns:a="http://schemas.openxmlformats.org/drawingml/2006/main">
            <a:off x="704850" y="27241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3D775D8-EB35-442B-8693-6D116419848B}"/>
              </a:ext>
            </a:extLst>
          </p:cNvPr>
          <p:cNvSpPr>
            <a:spLocks xmlns:a="http://schemas.openxmlformats.org/drawingml/2006/main" noGrp="1"/>
          </p:cNvSpPr>
          <p:nvPr/>
        </p:nvSpPr>
        <p:spPr>
          <a:xfrm xmlns:a="http://schemas.openxmlformats.org/drawingml/2006/main">
            <a:off x="1714500" y="27241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38EC7353-E8E8-484B-A682-3BF76633B1F4}"/>
              </a:ext>
            </a:extLst>
          </p:cNvPr>
          <p:cNvSpPr>
            <a:spLocks xmlns:a="http://schemas.openxmlformats.org/drawingml/2006/main" noGrp="1"/>
          </p:cNvSpPr>
          <p:nvPr/>
        </p:nvSpPr>
        <p:spPr>
          <a:xfrm xmlns:a="http://schemas.openxmlformats.org/drawingml/2006/main">
            <a:off x="2724150" y="27241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38B1FC8D-C5A8-402C-BDD0-AD5849BE0E97}"/>
              </a:ext>
            </a:extLst>
          </p:cNvPr>
          <p:cNvSpPr>
            <a:spLocks xmlns:a="http://schemas.openxmlformats.org/drawingml/2006/main" noGrp="1"/>
          </p:cNvSpPr>
          <p:nvPr/>
        </p:nvSpPr>
        <p:spPr>
          <a:xfrm xmlns:a="http://schemas.openxmlformats.org/drawingml/2006/main">
            <a:off x="3733800" y="27241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C3CD1649-9291-49E7-BD17-D6175C066EBE}"/>
              </a:ext>
            </a:extLst>
          </p:cNvPr>
          <p:cNvSpPr>
            <a:spLocks xmlns:a="http://schemas.openxmlformats.org/drawingml/2006/main" noGrp="1"/>
          </p:cNvSpPr>
          <p:nvPr/>
        </p:nvSpPr>
        <p:spPr>
          <a:xfrm xmlns:a="http://schemas.openxmlformats.org/drawingml/2006/main">
            <a:off x="4743450" y="27241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C0224881-C193-495F-971D-ED0F5DF53638}"/>
              </a:ext>
            </a:extLst>
          </p:cNvPr>
          <p:cNvSpPr>
            <a:spLocks xmlns:a="http://schemas.openxmlformats.org/drawingml/2006/main" noGrp="1"/>
          </p:cNvSpPr>
          <p:nvPr/>
        </p:nvSpPr>
        <p:spPr>
          <a:xfrm xmlns:a="http://schemas.openxmlformats.org/drawingml/2006/main">
            <a:off x="5753100" y="27241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1A277F60-1637-4602-AC9D-327199C58710}"/>
              </a:ext>
            </a:extLst>
          </p:cNvPr>
          <p:cNvSpPr>
            <a:spLocks xmlns:a="http://schemas.openxmlformats.org/drawingml/2006/main" noGrp="1"/>
          </p:cNvSpPr>
          <p:nvPr/>
        </p:nvSpPr>
        <p:spPr>
          <a:xfrm xmlns:a="http://schemas.openxmlformats.org/drawingml/2006/main">
            <a:off x="6762750" y="27241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B0087320-8FFF-46A4-8EB2-C0BB311A84A5}"/>
              </a:ext>
            </a:extLst>
          </p:cNvPr>
          <p:cNvSpPr>
            <a:spLocks xmlns:a="http://schemas.openxmlformats.org/drawingml/2006/main" noGrp="1"/>
          </p:cNvSpPr>
          <p:nvPr/>
        </p:nvSpPr>
        <p:spPr>
          <a:xfrm xmlns:a="http://schemas.openxmlformats.org/drawingml/2006/main">
            <a:off x="704850" y="31813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F797DC5E-B4BD-4A92-8F00-25D420E3B1A7}"/>
              </a:ext>
            </a:extLst>
          </p:cNvPr>
          <p:cNvSpPr>
            <a:spLocks xmlns:a="http://schemas.openxmlformats.org/drawingml/2006/main" noGrp="1"/>
          </p:cNvSpPr>
          <p:nvPr/>
        </p:nvSpPr>
        <p:spPr>
          <a:xfrm xmlns:a="http://schemas.openxmlformats.org/drawingml/2006/main">
            <a:off x="1714500" y="31813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84119F5A-BA29-425D-955E-F3F272FED543}"/>
              </a:ext>
            </a:extLst>
          </p:cNvPr>
          <p:cNvSpPr>
            <a:spLocks xmlns:a="http://schemas.openxmlformats.org/drawingml/2006/main" noGrp="1"/>
          </p:cNvSpPr>
          <p:nvPr/>
        </p:nvSpPr>
        <p:spPr>
          <a:xfrm xmlns:a="http://schemas.openxmlformats.org/drawingml/2006/main">
            <a:off x="2724150" y="31813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A34354E6-B869-4A86-BEC7-39BDB163EB43}"/>
              </a:ext>
            </a:extLst>
          </p:cNvPr>
          <p:cNvSpPr>
            <a:spLocks xmlns:a="http://schemas.openxmlformats.org/drawingml/2006/main" noGrp="1"/>
          </p:cNvSpPr>
          <p:nvPr/>
        </p:nvSpPr>
        <p:spPr>
          <a:xfrm xmlns:a="http://schemas.openxmlformats.org/drawingml/2006/main">
            <a:off x="3733800" y="31813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433B0215-4DC2-4E02-A2A0-03A21D32A1B9}"/>
              </a:ext>
            </a:extLst>
          </p:cNvPr>
          <p:cNvSpPr>
            <a:spLocks xmlns:a="http://schemas.openxmlformats.org/drawingml/2006/main" noGrp="1"/>
          </p:cNvSpPr>
          <p:nvPr/>
        </p:nvSpPr>
        <p:spPr>
          <a:xfrm xmlns:a="http://schemas.openxmlformats.org/drawingml/2006/main">
            <a:off x="4743450" y="31813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0D8D8635-D5C8-4C90-B981-4025E8FE235C}"/>
              </a:ext>
            </a:extLst>
          </p:cNvPr>
          <p:cNvSpPr>
            <a:spLocks xmlns:a="http://schemas.openxmlformats.org/drawingml/2006/main" noGrp="1"/>
          </p:cNvSpPr>
          <p:nvPr/>
        </p:nvSpPr>
        <p:spPr>
          <a:xfrm xmlns:a="http://schemas.openxmlformats.org/drawingml/2006/main">
            <a:off x="5753100" y="31813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D17A8E16-435E-41C7-8C03-6671F711332C}"/>
              </a:ext>
            </a:extLst>
          </p:cNvPr>
          <p:cNvSpPr>
            <a:spLocks xmlns:a="http://schemas.openxmlformats.org/drawingml/2006/main" noGrp="1"/>
          </p:cNvSpPr>
          <p:nvPr/>
        </p:nvSpPr>
        <p:spPr>
          <a:xfrm xmlns:a="http://schemas.openxmlformats.org/drawingml/2006/main">
            <a:off x="6762750" y="31813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CD122D9A-9722-4442-8359-54069D10E489}"/>
              </a:ext>
            </a:extLst>
          </p:cNvPr>
          <p:cNvSpPr>
            <a:spLocks xmlns:a="http://schemas.openxmlformats.org/drawingml/2006/main" noGrp="1"/>
          </p:cNvSpPr>
          <p:nvPr/>
        </p:nvSpPr>
        <p:spPr>
          <a:xfrm xmlns:a="http://schemas.openxmlformats.org/drawingml/2006/main">
            <a:off x="704850" y="36385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34" name="">
            <a:extLst xmlns:a="http://schemas.openxmlformats.org/drawingml/2006/main">
              <a:ext uri="{FF2B5EF4-FFF2-40B4-BE49-F238E27FC236}">
                <a16:creationId xmlns:a16="http://schemas.microsoft.com/office/drawing/2014/main" id="{446F426B-2E51-4D8D-A04F-A1292B742BAD}"/>
              </a:ext>
            </a:extLst>
          </p:cNvPr>
          <p:cNvSpPr>
            <a:spLocks xmlns:a="http://schemas.openxmlformats.org/drawingml/2006/main" noGrp="1"/>
          </p:cNvSpPr>
          <p:nvPr/>
        </p:nvSpPr>
        <p:spPr>
          <a:xfrm xmlns:a="http://schemas.openxmlformats.org/drawingml/2006/main">
            <a:off x="1714500" y="36385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1C50A56B-038D-4F3A-97ED-62C163C40C5A}"/>
              </a:ext>
            </a:extLst>
          </p:cNvPr>
          <p:cNvSpPr>
            <a:spLocks xmlns:a="http://schemas.openxmlformats.org/drawingml/2006/main" noGrp="1"/>
          </p:cNvSpPr>
          <p:nvPr/>
        </p:nvSpPr>
        <p:spPr>
          <a:xfrm xmlns:a="http://schemas.openxmlformats.org/drawingml/2006/main">
            <a:off x="2724150" y="36385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D2F0CB0F-E39A-4635-B696-A1ACBAA354F8}"/>
              </a:ext>
            </a:extLst>
          </p:cNvPr>
          <p:cNvSpPr>
            <a:spLocks xmlns:a="http://schemas.openxmlformats.org/drawingml/2006/main" noGrp="1"/>
          </p:cNvSpPr>
          <p:nvPr/>
        </p:nvSpPr>
        <p:spPr>
          <a:xfrm xmlns:a="http://schemas.openxmlformats.org/drawingml/2006/main">
            <a:off x="3733800" y="36385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4F38E28A-45D6-46D8-997E-C432C86B7F48}"/>
              </a:ext>
            </a:extLst>
          </p:cNvPr>
          <p:cNvSpPr>
            <a:spLocks xmlns:a="http://schemas.openxmlformats.org/drawingml/2006/main" noGrp="1"/>
          </p:cNvSpPr>
          <p:nvPr/>
        </p:nvSpPr>
        <p:spPr>
          <a:xfrm xmlns:a="http://schemas.openxmlformats.org/drawingml/2006/main">
            <a:off x="4743450" y="36385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BF938B2D-34F3-4E7D-A968-1754E5AA812E}"/>
              </a:ext>
            </a:extLst>
          </p:cNvPr>
          <p:cNvSpPr>
            <a:spLocks xmlns:a="http://schemas.openxmlformats.org/drawingml/2006/main" noGrp="1"/>
          </p:cNvSpPr>
          <p:nvPr/>
        </p:nvSpPr>
        <p:spPr>
          <a:xfrm xmlns:a="http://schemas.openxmlformats.org/drawingml/2006/main">
            <a:off x="5753100" y="36385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B27533CD-20EF-427B-A97A-72355FA79386}"/>
              </a:ext>
            </a:extLst>
          </p:cNvPr>
          <p:cNvSpPr>
            <a:spLocks xmlns:a="http://schemas.openxmlformats.org/drawingml/2006/main" noGrp="1"/>
          </p:cNvSpPr>
          <p:nvPr/>
        </p:nvSpPr>
        <p:spPr>
          <a:xfrm xmlns:a="http://schemas.openxmlformats.org/drawingml/2006/main">
            <a:off x="6762750" y="36385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0" name="">
            <a:extLst xmlns:a="http://schemas.openxmlformats.org/drawingml/2006/main">
              <a:ext uri="{FF2B5EF4-FFF2-40B4-BE49-F238E27FC236}">
                <a16:creationId xmlns:a16="http://schemas.microsoft.com/office/drawing/2014/main" id="{715CE343-EF53-4EA2-B7EF-4E79E52B0BDF}"/>
              </a:ext>
            </a:extLst>
          </p:cNvPr>
          <p:cNvSpPr>
            <a:spLocks xmlns:a="http://schemas.openxmlformats.org/drawingml/2006/main" noGrp="1"/>
          </p:cNvSpPr>
          <p:nvPr/>
        </p:nvSpPr>
        <p:spPr>
          <a:xfrm xmlns:a="http://schemas.openxmlformats.org/drawingml/2006/main">
            <a:off x="704850" y="4095750"/>
            <a:ext cx="971550" cy="419100"/>
          </a:xfrm>
          <a:prstGeom xmlns:a="http://schemas.openxmlformats.org/drawingml/2006/main" prst="rect">
            <a:avLst/>
          </a:prstGeom>
          <a:solidFill xmlns:a="http://schemas.openxmlformats.org/drawingml/2006/main">
            <a:srgbClr val="F1F3F5"/>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8D71FE2C-3D0A-42E4-A1BB-59C374B3E139}"/>
              </a:ext>
            </a:extLst>
          </p:cNvPr>
          <p:cNvSpPr>
            <a:spLocks xmlns:a="http://schemas.openxmlformats.org/drawingml/2006/main" noGrp="1"/>
          </p:cNvSpPr>
          <p:nvPr/>
        </p:nvSpPr>
        <p:spPr>
          <a:xfrm xmlns:a="http://schemas.openxmlformats.org/drawingml/2006/main">
            <a:off x="1714500" y="40957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42" name="">
            <a:extLst xmlns:a="http://schemas.openxmlformats.org/drawingml/2006/main">
              <a:ext uri="{FF2B5EF4-FFF2-40B4-BE49-F238E27FC236}">
                <a16:creationId xmlns:a16="http://schemas.microsoft.com/office/drawing/2014/main" id="{75B334CD-A08B-45F5-AF8C-F8C63F0AA84E}"/>
              </a:ext>
            </a:extLst>
          </p:cNvPr>
          <p:cNvSpPr>
            <a:spLocks xmlns:a="http://schemas.openxmlformats.org/drawingml/2006/main" noGrp="1"/>
          </p:cNvSpPr>
          <p:nvPr/>
        </p:nvSpPr>
        <p:spPr>
          <a:xfrm xmlns:a="http://schemas.openxmlformats.org/drawingml/2006/main">
            <a:off x="2724150" y="40957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2083D188-A16C-4211-ADFD-C96C9AA4C34A}"/>
              </a:ext>
            </a:extLst>
          </p:cNvPr>
          <p:cNvSpPr>
            <a:spLocks xmlns:a="http://schemas.openxmlformats.org/drawingml/2006/main" noGrp="1"/>
          </p:cNvSpPr>
          <p:nvPr/>
        </p:nvSpPr>
        <p:spPr>
          <a:xfrm xmlns:a="http://schemas.openxmlformats.org/drawingml/2006/main">
            <a:off x="3733800" y="40957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4" name="">
            <a:extLst xmlns:a="http://schemas.openxmlformats.org/drawingml/2006/main">
              <a:ext uri="{FF2B5EF4-FFF2-40B4-BE49-F238E27FC236}">
                <a16:creationId xmlns:a16="http://schemas.microsoft.com/office/drawing/2014/main" id="{4BCCFC77-339A-4522-879D-B1B34F98B6CB}"/>
              </a:ext>
            </a:extLst>
          </p:cNvPr>
          <p:cNvSpPr>
            <a:spLocks xmlns:a="http://schemas.openxmlformats.org/drawingml/2006/main" noGrp="1"/>
          </p:cNvSpPr>
          <p:nvPr/>
        </p:nvSpPr>
        <p:spPr>
          <a:xfrm xmlns:a="http://schemas.openxmlformats.org/drawingml/2006/main">
            <a:off x="4743450" y="4095750"/>
            <a:ext cx="971550" cy="419100"/>
          </a:xfrm>
          <a:prstGeom xmlns:a="http://schemas.openxmlformats.org/drawingml/2006/main" prst="rect">
            <a:avLst/>
          </a:prstGeom>
          <a:solidFill xmlns:a="http://schemas.openxmlformats.org/drawingml/2006/main">
            <a:srgbClr val="EAF4FF"/>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C06C0B08-B0C5-4468-A8BE-8E2A9E7B749B}"/>
              </a:ext>
            </a:extLst>
          </p:cNvPr>
          <p:cNvSpPr>
            <a:spLocks xmlns:a="http://schemas.openxmlformats.org/drawingml/2006/main" noGrp="1"/>
          </p:cNvSpPr>
          <p:nvPr/>
        </p:nvSpPr>
        <p:spPr>
          <a:xfrm xmlns:a="http://schemas.openxmlformats.org/drawingml/2006/main">
            <a:off x="5753100" y="40957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6" name="">
            <a:extLst xmlns:a="http://schemas.openxmlformats.org/drawingml/2006/main">
              <a:ext uri="{FF2B5EF4-FFF2-40B4-BE49-F238E27FC236}">
                <a16:creationId xmlns:a16="http://schemas.microsoft.com/office/drawing/2014/main" id="{078324B4-D43B-45C5-8269-014358DBC26E}"/>
              </a:ext>
            </a:extLst>
          </p:cNvPr>
          <p:cNvSpPr>
            <a:spLocks xmlns:a="http://schemas.openxmlformats.org/drawingml/2006/main" noGrp="1"/>
          </p:cNvSpPr>
          <p:nvPr/>
        </p:nvSpPr>
        <p:spPr>
          <a:xfrm xmlns:a="http://schemas.openxmlformats.org/drawingml/2006/main">
            <a:off x="6762750" y="4095750"/>
            <a:ext cx="97155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7" name="">
            <a:extLst xmlns:a="http://schemas.openxmlformats.org/drawingml/2006/main">
              <a:ext uri="{FF2B5EF4-FFF2-40B4-BE49-F238E27FC236}">
                <a16:creationId xmlns:a16="http://schemas.microsoft.com/office/drawing/2014/main" id="{F2DA1766-2BD1-4A4B-9640-564C73072F9F}"/>
              </a:ext>
            </a:extLst>
          </p:cNvPr>
          <p:cNvSpPr>
            <a:spLocks xmlns:a="http://schemas.openxmlformats.org/drawingml/2006/main" noGrp="1"/>
          </p:cNvSpPr>
          <p:nvPr/>
        </p:nvSpPr>
        <p:spPr>
          <a:xfrm xmlns:a="http://schemas.openxmlformats.org/drawingml/2006/main">
            <a:off x="74295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48" name="">
            <a:extLst xmlns:a="http://schemas.openxmlformats.org/drawingml/2006/main">
              <a:ext uri="{FF2B5EF4-FFF2-40B4-BE49-F238E27FC236}">
                <a16:creationId xmlns:a16="http://schemas.microsoft.com/office/drawing/2014/main" id="{6B38B3FE-0AD2-46B5-B1E7-943F16F0CFD7}"/>
              </a:ext>
            </a:extLst>
          </p:cNvPr>
          <p:cNvSpPr>
            <a:spLocks xmlns:a="http://schemas.openxmlformats.org/drawingml/2006/main" noGrp="1"/>
          </p:cNvSpPr>
          <p:nvPr/>
        </p:nvSpPr>
        <p:spPr>
          <a:xfrm xmlns:a="http://schemas.openxmlformats.org/drawingml/2006/main">
            <a:off x="175260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Gene A</a:t>
            </a:r>
          </a:p>
        </p:txBody>
      </p:sp>
      <p:sp>
        <p:nvSpPr>
          <p:cNvPr id="49" name="">
            <a:extLst xmlns:a="http://schemas.openxmlformats.org/drawingml/2006/main">
              <a:ext uri="{FF2B5EF4-FFF2-40B4-BE49-F238E27FC236}">
                <a16:creationId xmlns:a16="http://schemas.microsoft.com/office/drawing/2014/main" id="{B81DAA90-1935-403B-8FA9-E18B807E1A56}"/>
              </a:ext>
            </a:extLst>
          </p:cNvPr>
          <p:cNvSpPr>
            <a:spLocks xmlns:a="http://schemas.openxmlformats.org/drawingml/2006/main" noGrp="1"/>
          </p:cNvSpPr>
          <p:nvPr/>
        </p:nvSpPr>
        <p:spPr>
          <a:xfrm xmlns:a="http://schemas.openxmlformats.org/drawingml/2006/main">
            <a:off x="276225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Gene B</a:t>
            </a:r>
          </a:p>
        </p:txBody>
      </p:sp>
      <p:sp>
        <p:nvSpPr>
          <p:cNvPr id="50" name="">
            <a:extLst xmlns:a="http://schemas.openxmlformats.org/drawingml/2006/main">
              <a:ext uri="{FF2B5EF4-FFF2-40B4-BE49-F238E27FC236}">
                <a16:creationId xmlns:a16="http://schemas.microsoft.com/office/drawing/2014/main" id="{75DBE3F1-2F89-4E87-ABA8-91D11E396822}"/>
              </a:ext>
            </a:extLst>
          </p:cNvPr>
          <p:cNvSpPr>
            <a:spLocks xmlns:a="http://schemas.openxmlformats.org/drawingml/2006/main" noGrp="1"/>
          </p:cNvSpPr>
          <p:nvPr/>
        </p:nvSpPr>
        <p:spPr>
          <a:xfrm xmlns:a="http://schemas.openxmlformats.org/drawingml/2006/main">
            <a:off x="377190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Gene C</a:t>
            </a:r>
          </a:p>
        </p:txBody>
      </p:sp>
      <p:sp>
        <p:nvSpPr>
          <p:cNvPr id="51" name="">
            <a:extLst xmlns:a="http://schemas.openxmlformats.org/drawingml/2006/main">
              <a:ext uri="{FF2B5EF4-FFF2-40B4-BE49-F238E27FC236}">
                <a16:creationId xmlns:a16="http://schemas.microsoft.com/office/drawing/2014/main" id="{48DAC8B7-7F17-4AC3-B716-F8CC0927B9BC}"/>
              </a:ext>
            </a:extLst>
          </p:cNvPr>
          <p:cNvSpPr>
            <a:spLocks xmlns:a="http://schemas.openxmlformats.org/drawingml/2006/main" noGrp="1"/>
          </p:cNvSpPr>
          <p:nvPr/>
        </p:nvSpPr>
        <p:spPr>
          <a:xfrm xmlns:a="http://schemas.openxmlformats.org/drawingml/2006/main">
            <a:off x="478155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a:t>
            </a:r>
          </a:p>
        </p:txBody>
      </p:sp>
      <p:sp>
        <p:nvSpPr>
          <p:cNvPr id="52" name="">
            <a:extLst xmlns:a="http://schemas.openxmlformats.org/drawingml/2006/main">
              <a:ext uri="{FF2B5EF4-FFF2-40B4-BE49-F238E27FC236}">
                <a16:creationId xmlns:a16="http://schemas.microsoft.com/office/drawing/2014/main" id="{F883D513-386C-4409-9661-9FA8FB91EDEB}"/>
              </a:ext>
            </a:extLst>
          </p:cNvPr>
          <p:cNvSpPr>
            <a:spLocks xmlns:a="http://schemas.openxmlformats.org/drawingml/2006/main" noGrp="1"/>
          </p:cNvSpPr>
          <p:nvPr/>
        </p:nvSpPr>
        <p:spPr>
          <a:xfrm xmlns:a="http://schemas.openxmlformats.org/drawingml/2006/main">
            <a:off x="579120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Gene Y</a:t>
            </a:r>
          </a:p>
        </p:txBody>
      </p:sp>
      <p:sp>
        <p:nvSpPr>
          <p:cNvPr id="53" name="">
            <a:extLst xmlns:a="http://schemas.openxmlformats.org/drawingml/2006/main">
              <a:ext uri="{FF2B5EF4-FFF2-40B4-BE49-F238E27FC236}">
                <a16:creationId xmlns:a16="http://schemas.microsoft.com/office/drawing/2014/main" id="{D16CA4BD-0BC8-47AB-94BD-095ADE5CF501}"/>
              </a:ext>
            </a:extLst>
          </p:cNvPr>
          <p:cNvSpPr>
            <a:spLocks xmlns:a="http://schemas.openxmlformats.org/drawingml/2006/main" noGrp="1"/>
          </p:cNvSpPr>
          <p:nvPr/>
        </p:nvSpPr>
        <p:spPr>
          <a:xfrm xmlns:a="http://schemas.openxmlformats.org/drawingml/2006/main">
            <a:off x="6800850" y="1905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Gene Z</a:t>
            </a:r>
          </a:p>
        </p:txBody>
      </p:sp>
      <p:sp>
        <p:nvSpPr>
          <p:cNvPr id="54" name="">
            <a:extLst xmlns:a="http://schemas.openxmlformats.org/drawingml/2006/main">
              <a:ext uri="{FF2B5EF4-FFF2-40B4-BE49-F238E27FC236}">
                <a16:creationId xmlns:a16="http://schemas.microsoft.com/office/drawing/2014/main" id="{3A7D7C40-B5A1-45DD-8BC0-9EBAD2B1A910}"/>
              </a:ext>
            </a:extLst>
          </p:cNvPr>
          <p:cNvSpPr>
            <a:spLocks xmlns:a="http://schemas.openxmlformats.org/drawingml/2006/main" noGrp="1"/>
          </p:cNvSpPr>
          <p:nvPr/>
        </p:nvSpPr>
        <p:spPr>
          <a:xfrm xmlns:a="http://schemas.openxmlformats.org/drawingml/2006/main">
            <a:off x="742950" y="23622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S01</a:t>
            </a:r>
          </a:p>
        </p:txBody>
      </p:sp>
      <p:sp>
        <p:nvSpPr>
          <p:cNvPr id="55" name="">
            <a:extLst xmlns:a="http://schemas.openxmlformats.org/drawingml/2006/main">
              <a:ext uri="{FF2B5EF4-FFF2-40B4-BE49-F238E27FC236}">
                <a16:creationId xmlns:a16="http://schemas.microsoft.com/office/drawing/2014/main" id="{26CFDF5D-16A8-4B89-B63A-81F3B77E9E66}"/>
              </a:ext>
            </a:extLst>
          </p:cNvPr>
          <p:cNvSpPr>
            <a:spLocks xmlns:a="http://schemas.openxmlformats.org/drawingml/2006/main" noGrp="1"/>
          </p:cNvSpPr>
          <p:nvPr/>
        </p:nvSpPr>
        <p:spPr>
          <a:xfrm xmlns:a="http://schemas.openxmlformats.org/drawingml/2006/main">
            <a:off x="742950" y="28194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S02</a:t>
            </a:r>
          </a:p>
        </p:txBody>
      </p:sp>
      <p:sp>
        <p:nvSpPr>
          <p:cNvPr id="56" name="">
            <a:extLst xmlns:a="http://schemas.openxmlformats.org/drawingml/2006/main">
              <a:ext uri="{FF2B5EF4-FFF2-40B4-BE49-F238E27FC236}">
                <a16:creationId xmlns:a16="http://schemas.microsoft.com/office/drawing/2014/main" id="{08E1E4BF-6119-45FD-AE79-7EECBAFC15F5}"/>
              </a:ext>
            </a:extLst>
          </p:cNvPr>
          <p:cNvSpPr>
            <a:spLocks xmlns:a="http://schemas.openxmlformats.org/drawingml/2006/main" noGrp="1"/>
          </p:cNvSpPr>
          <p:nvPr/>
        </p:nvSpPr>
        <p:spPr>
          <a:xfrm xmlns:a="http://schemas.openxmlformats.org/drawingml/2006/main">
            <a:off x="742950" y="32766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S03</a:t>
            </a:r>
          </a:p>
        </p:txBody>
      </p:sp>
      <p:sp>
        <p:nvSpPr>
          <p:cNvPr id="57" name="">
            <a:extLst xmlns:a="http://schemas.openxmlformats.org/drawingml/2006/main">
              <a:ext uri="{FF2B5EF4-FFF2-40B4-BE49-F238E27FC236}">
                <a16:creationId xmlns:a16="http://schemas.microsoft.com/office/drawing/2014/main" id="{57D66923-57F3-403E-8C6F-FBAB3DA4BA8B}"/>
              </a:ext>
            </a:extLst>
          </p:cNvPr>
          <p:cNvSpPr>
            <a:spLocks xmlns:a="http://schemas.openxmlformats.org/drawingml/2006/main" noGrp="1"/>
          </p:cNvSpPr>
          <p:nvPr/>
        </p:nvSpPr>
        <p:spPr>
          <a:xfrm xmlns:a="http://schemas.openxmlformats.org/drawingml/2006/main">
            <a:off x="742950" y="37338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a:t>
            </a:r>
          </a:p>
        </p:txBody>
      </p:sp>
      <p:sp>
        <p:nvSpPr>
          <p:cNvPr id="58" name="">
            <a:extLst xmlns:a="http://schemas.openxmlformats.org/drawingml/2006/main">
              <a:ext uri="{FF2B5EF4-FFF2-40B4-BE49-F238E27FC236}">
                <a16:creationId xmlns:a16="http://schemas.microsoft.com/office/drawing/2014/main" id="{908F2F20-21FA-4C66-9B24-4382BEFA50F1}"/>
              </a:ext>
            </a:extLst>
          </p:cNvPr>
          <p:cNvSpPr>
            <a:spLocks xmlns:a="http://schemas.openxmlformats.org/drawingml/2006/main" noGrp="1"/>
          </p:cNvSpPr>
          <p:nvPr/>
        </p:nvSpPr>
        <p:spPr>
          <a:xfrm xmlns:a="http://schemas.openxmlformats.org/drawingml/2006/main">
            <a:off x="742950" y="4191000"/>
            <a:ext cx="89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11827"/>
                </a:solidFill>
              </a:defRPr>
            </a:pPr>
            <a:r>
              <a:rPr sz="1125" b="1">
                <a:solidFill>
                  <a:srgbClr val="111827"/>
                </a:solidFill>
              </a:rPr>
              <a:t>S39</a:t>
            </a:r>
          </a:p>
        </p:txBody>
      </p:sp>
      <p:sp>
        <p:nvSpPr>
          <p:cNvPr id="59" name="">
            <a:extLst xmlns:a="http://schemas.openxmlformats.org/drawingml/2006/main">
              <a:ext uri="{FF2B5EF4-FFF2-40B4-BE49-F238E27FC236}">
                <a16:creationId xmlns:a16="http://schemas.microsoft.com/office/drawing/2014/main" id="{5ED07915-F20C-42F6-A602-6F0CAB180B8D}"/>
              </a:ext>
            </a:extLst>
          </p:cNvPr>
          <p:cNvSpPr>
            <a:spLocks xmlns:a="http://schemas.openxmlformats.org/drawingml/2006/main" noGrp="1"/>
          </p:cNvSpPr>
          <p:nvPr/>
        </p:nvSpPr>
        <p:spPr>
          <a:xfrm xmlns:a="http://schemas.openxmlformats.org/drawingml/2006/main">
            <a:off x="8191500" y="1790700"/>
            <a:ext cx="228600" cy="2286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1D66963F-6F8E-4515-B9E9-8005DB23D72E}"/>
              </a:ext>
            </a:extLst>
          </p:cNvPr>
          <p:cNvSpPr>
            <a:spLocks xmlns:a="http://schemas.openxmlformats.org/drawingml/2006/main" noGrp="1"/>
          </p:cNvSpPr>
          <p:nvPr/>
        </p:nvSpPr>
        <p:spPr>
          <a:xfrm xmlns:a="http://schemas.openxmlformats.org/drawingml/2006/main">
            <a:off x="8239125" y="17907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defRPr>
            </a:pPr>
            <a:r>
              <a:rPr sz="1125" b="1">
                <a:solidFill>
                  <a:srgbClr val="FFFFFF"/>
                </a:solidFill>
              </a:rPr>
              <a:t>✓</a:t>
            </a:r>
          </a:p>
        </p:txBody>
      </p:sp>
      <p:sp>
        <p:nvSpPr>
          <p:cNvPr id="61" name="">
            <a:extLst xmlns:a="http://schemas.openxmlformats.org/drawingml/2006/main">
              <a:ext uri="{FF2B5EF4-FFF2-40B4-BE49-F238E27FC236}">
                <a16:creationId xmlns:a16="http://schemas.microsoft.com/office/drawing/2014/main" id="{3029FFA5-DECF-4049-9A0C-7F9C96C13A83}"/>
              </a:ext>
            </a:extLst>
          </p:cNvPr>
          <p:cNvSpPr>
            <a:spLocks xmlns:a="http://schemas.openxmlformats.org/drawingml/2006/main" noGrp="1"/>
          </p:cNvSpPr>
          <p:nvPr/>
        </p:nvSpPr>
        <p:spPr>
          <a:xfrm xmlns:a="http://schemas.openxmlformats.org/drawingml/2006/main">
            <a:off x="8572500" y="17526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defRPr>
            </a:pPr>
            <a:r>
              <a:rPr sz="1425" b="0">
                <a:solidFill>
                  <a:srgbClr val="111827"/>
                </a:solidFill>
              </a:rPr>
              <a:t>Normalized and transformed</a:t>
            </a:r>
          </a:p>
        </p:txBody>
      </p:sp>
      <p:sp>
        <p:nvSpPr>
          <p:cNvPr id="62" name="">
            <a:extLst xmlns:a="http://schemas.openxmlformats.org/drawingml/2006/main">
              <a:ext uri="{FF2B5EF4-FFF2-40B4-BE49-F238E27FC236}">
                <a16:creationId xmlns:a16="http://schemas.microsoft.com/office/drawing/2014/main" id="{D5EF9F98-181A-4AB4-A8FA-890455120718}"/>
              </a:ext>
            </a:extLst>
          </p:cNvPr>
          <p:cNvSpPr>
            <a:spLocks xmlns:a="http://schemas.openxmlformats.org/drawingml/2006/main" noGrp="1"/>
          </p:cNvSpPr>
          <p:nvPr/>
        </p:nvSpPr>
        <p:spPr>
          <a:xfrm xmlns:a="http://schemas.openxmlformats.org/drawingml/2006/main">
            <a:off x="8191500" y="2514600"/>
            <a:ext cx="228600" cy="2286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5FDBF249-C8C4-4539-9937-4CC8641F6457}"/>
              </a:ext>
            </a:extLst>
          </p:cNvPr>
          <p:cNvSpPr>
            <a:spLocks xmlns:a="http://schemas.openxmlformats.org/drawingml/2006/main" noGrp="1"/>
          </p:cNvSpPr>
          <p:nvPr/>
        </p:nvSpPr>
        <p:spPr>
          <a:xfrm xmlns:a="http://schemas.openxmlformats.org/drawingml/2006/main">
            <a:off x="8239125" y="25146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defRPr>
            </a:pPr>
            <a:r>
              <a:rPr sz="1125" b="1">
                <a:solidFill>
                  <a:srgbClr val="FFFFFF"/>
                </a:solidFill>
              </a:rPr>
              <a:t>✓</a:t>
            </a:r>
          </a:p>
        </p:txBody>
      </p:sp>
      <p:sp>
        <p:nvSpPr>
          <p:cNvPr id="64" name="">
            <a:extLst xmlns:a="http://schemas.openxmlformats.org/drawingml/2006/main">
              <a:ext uri="{FF2B5EF4-FFF2-40B4-BE49-F238E27FC236}">
                <a16:creationId xmlns:a16="http://schemas.microsoft.com/office/drawing/2014/main" id="{96B1465E-414E-4774-A746-1EF83AB65BDE}"/>
              </a:ext>
            </a:extLst>
          </p:cNvPr>
          <p:cNvSpPr>
            <a:spLocks xmlns:a="http://schemas.openxmlformats.org/drawingml/2006/main" noGrp="1"/>
          </p:cNvSpPr>
          <p:nvPr/>
        </p:nvSpPr>
        <p:spPr>
          <a:xfrm xmlns:a="http://schemas.openxmlformats.org/drawingml/2006/main">
            <a:off x="857250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defRPr>
            </a:pPr>
            <a:r>
              <a:rPr sz="1425" b="0">
                <a:solidFill>
                  <a:srgbClr val="111827"/>
                </a:solidFill>
              </a:rPr>
              <a:t>Low-count / low-variance genes filtered</a:t>
            </a:r>
          </a:p>
        </p:txBody>
      </p:sp>
      <p:sp>
        <p:nvSpPr>
          <p:cNvPr id="65" name="">
            <a:extLst xmlns:a="http://schemas.openxmlformats.org/drawingml/2006/main">
              <a:ext uri="{FF2B5EF4-FFF2-40B4-BE49-F238E27FC236}">
                <a16:creationId xmlns:a16="http://schemas.microsoft.com/office/drawing/2014/main" id="{84D44999-57A1-45F5-ADDC-2E166C5CB54C}"/>
              </a:ext>
            </a:extLst>
          </p:cNvPr>
          <p:cNvSpPr>
            <a:spLocks xmlns:a="http://schemas.openxmlformats.org/drawingml/2006/main" noGrp="1"/>
          </p:cNvSpPr>
          <p:nvPr/>
        </p:nvSpPr>
        <p:spPr>
          <a:xfrm xmlns:a="http://schemas.openxmlformats.org/drawingml/2006/main">
            <a:off x="8191500" y="3238500"/>
            <a:ext cx="228600" cy="2286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F2461446-F66E-4149-82DF-B1A40E869204}"/>
              </a:ext>
            </a:extLst>
          </p:cNvPr>
          <p:cNvSpPr>
            <a:spLocks xmlns:a="http://schemas.openxmlformats.org/drawingml/2006/main" noGrp="1"/>
          </p:cNvSpPr>
          <p:nvPr/>
        </p:nvSpPr>
        <p:spPr>
          <a:xfrm xmlns:a="http://schemas.openxmlformats.org/drawingml/2006/main">
            <a:off x="8239125" y="32385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defRPr>
            </a:pPr>
            <a:r>
              <a:rPr sz="1125" b="1">
                <a:solidFill>
                  <a:srgbClr val="FFFFFF"/>
                </a:solidFill>
              </a:rPr>
              <a:t>✓</a:t>
            </a:r>
          </a:p>
        </p:txBody>
      </p:sp>
      <p:sp>
        <p:nvSpPr>
          <p:cNvPr id="67" name="">
            <a:extLst xmlns:a="http://schemas.openxmlformats.org/drawingml/2006/main">
              <a:ext uri="{FF2B5EF4-FFF2-40B4-BE49-F238E27FC236}">
                <a16:creationId xmlns:a16="http://schemas.microsoft.com/office/drawing/2014/main" id="{3EDF8254-AF63-4D37-BA37-A2D366645A4A}"/>
              </a:ext>
            </a:extLst>
          </p:cNvPr>
          <p:cNvSpPr>
            <a:spLocks xmlns:a="http://schemas.openxmlformats.org/drawingml/2006/main" noGrp="1"/>
          </p:cNvSpPr>
          <p:nvPr/>
        </p:nvSpPr>
        <p:spPr>
          <a:xfrm xmlns:a="http://schemas.openxmlformats.org/drawingml/2006/main">
            <a:off x="8572500" y="3200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defRPr>
            </a:pPr>
            <a:r>
              <a:rPr sz="1425" b="0">
                <a:solidFill>
                  <a:srgbClr val="111827"/>
                </a:solidFill>
              </a:rPr>
              <a:t>Missingness and zero variance checked</a:t>
            </a:r>
          </a:p>
        </p:txBody>
      </p:sp>
      <p:sp>
        <p:nvSpPr>
          <p:cNvPr id="68" name="">
            <a:extLst xmlns:a="http://schemas.openxmlformats.org/drawingml/2006/main">
              <a:ext uri="{FF2B5EF4-FFF2-40B4-BE49-F238E27FC236}">
                <a16:creationId xmlns:a16="http://schemas.microsoft.com/office/drawing/2014/main" id="{42FE850C-427D-42E6-89E3-D93964682582}"/>
              </a:ext>
            </a:extLst>
          </p:cNvPr>
          <p:cNvSpPr>
            <a:spLocks xmlns:a="http://schemas.openxmlformats.org/drawingml/2006/main" noGrp="1"/>
          </p:cNvSpPr>
          <p:nvPr/>
        </p:nvSpPr>
        <p:spPr>
          <a:xfrm xmlns:a="http://schemas.openxmlformats.org/drawingml/2006/main">
            <a:off x="8191500" y="3962400"/>
            <a:ext cx="228600" cy="2286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0B7A6E0-81E5-4EF4-8982-0B480C94DFE8}"/>
              </a:ext>
            </a:extLst>
          </p:cNvPr>
          <p:cNvSpPr>
            <a:spLocks xmlns:a="http://schemas.openxmlformats.org/drawingml/2006/main" noGrp="1"/>
          </p:cNvSpPr>
          <p:nvPr/>
        </p:nvSpPr>
        <p:spPr>
          <a:xfrm xmlns:a="http://schemas.openxmlformats.org/drawingml/2006/main">
            <a:off x="8239125" y="39624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defRPr>
            </a:pPr>
            <a:r>
              <a:rPr sz="1125" b="1">
                <a:solidFill>
                  <a:srgbClr val="FFFFFF"/>
                </a:solidFill>
              </a:rPr>
              <a:t>✓</a:t>
            </a:r>
          </a:p>
        </p:txBody>
      </p:sp>
      <p:sp>
        <p:nvSpPr>
          <p:cNvPr id="70" name="">
            <a:extLst xmlns:a="http://schemas.openxmlformats.org/drawingml/2006/main">
              <a:ext uri="{FF2B5EF4-FFF2-40B4-BE49-F238E27FC236}">
                <a16:creationId xmlns:a16="http://schemas.microsoft.com/office/drawing/2014/main" id="{EC57BCDE-3F27-411B-A0AA-0AAF2948FF92}"/>
              </a:ext>
            </a:extLst>
          </p:cNvPr>
          <p:cNvSpPr>
            <a:spLocks xmlns:a="http://schemas.openxmlformats.org/drawingml/2006/main" noGrp="1"/>
          </p:cNvSpPr>
          <p:nvPr/>
        </p:nvSpPr>
        <p:spPr>
          <a:xfrm xmlns:a="http://schemas.openxmlformats.org/drawingml/2006/main">
            <a:off x="8572500" y="39243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827"/>
                </a:solidFill>
              </a:defRPr>
            </a:pPr>
            <a:r>
              <a:rPr sz="1425" b="0">
                <a:solidFill>
                  <a:srgbClr val="111827"/>
                </a:solidFill>
              </a:rPr>
              <a:t>Outlier samples inspected</a:t>
            </a:r>
          </a:p>
        </p:txBody>
      </p:sp>
      <p:sp>
        <p:nvSpPr>
          <p:cNvPr id="71" name="">
            <a:extLst xmlns:a="http://schemas.openxmlformats.org/drawingml/2006/main">
              <a:ext uri="{FF2B5EF4-FFF2-40B4-BE49-F238E27FC236}">
                <a16:creationId xmlns:a16="http://schemas.microsoft.com/office/drawing/2014/main" id="{E57B5C2B-2E14-4E71-8CE4-0B1129B83287}"/>
              </a:ext>
            </a:extLst>
          </p:cNvPr>
          <p:cNvSpPr>
            <a:spLocks xmlns:a="http://schemas.openxmlformats.org/drawingml/2006/main" noGrp="1"/>
          </p:cNvSpPr>
          <p:nvPr/>
        </p:nvSpPr>
        <p:spPr>
          <a:xfrm xmlns:a="http://schemas.openxmlformats.org/drawingml/2006/main">
            <a:off x="8191500" y="4686300"/>
            <a:ext cx="228600" cy="2286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B25280D9-00B0-46E7-8D4F-5CFA10DA5228}"/>
              </a:ext>
            </a:extLst>
          </p:cNvPr>
          <p:cNvSpPr>
            <a:spLocks xmlns:a="http://schemas.openxmlformats.org/drawingml/2006/main" noGrp="1"/>
          </p:cNvSpPr>
          <p:nvPr/>
        </p:nvSpPr>
        <p:spPr>
          <a:xfrm xmlns:a="http://schemas.openxmlformats.org/drawingml/2006/main">
            <a:off x="8239125" y="46863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FFFFF"/>
                </a:solidFill>
              </a:defRPr>
            </a:pPr>
            <a:r>
              <a:rPr sz="1125" b="1">
                <a:solidFill>
                  <a:srgbClr val="FFFFFF"/>
                </a:solidFill>
              </a:rPr>
              <a:t>✓</a:t>
            </a:r>
          </a:p>
        </p:txBody>
      </p:sp>
      <p:sp>
        <p:nvSpPr>
          <p:cNvPr id="73" name="">
            <a:extLst xmlns:a="http://schemas.openxmlformats.org/drawingml/2006/main">
              <a:ext uri="{FF2B5EF4-FFF2-40B4-BE49-F238E27FC236}">
                <a16:creationId xmlns:a16="http://schemas.microsoft.com/office/drawing/2014/main" id="{FFC81418-F6B3-47E9-B179-3201FC8A0590}"/>
              </a:ext>
            </a:extLst>
          </p:cNvPr>
          <p:cNvSpPr>
            <a:spLocks xmlns:a="http://schemas.openxmlformats.org/drawingml/2006/main" noGrp="1"/>
          </p:cNvSpPr>
          <p:nvPr/>
        </p:nvSpPr>
        <p:spPr>
          <a:xfrm xmlns:a="http://schemas.openxmlformats.org/drawingml/2006/main">
            <a:off x="8572500" y="46482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827"/>
                </a:solidFill>
              </a:defRPr>
            </a:pPr>
            <a:r>
              <a:rPr sz="1425" b="1">
                <a:solidFill>
                  <a:srgbClr val="111827"/>
                </a:solidFill>
              </a:rPr>
              <a:t>Trait rows aligned to expression rows</a:t>
            </a:r>
          </a:p>
        </p:txBody>
      </p:sp>
      <p:sp>
        <p:nvSpPr>
          <p:cNvPr id="74" name="">
            <a:extLst xmlns:a="http://schemas.openxmlformats.org/drawingml/2006/main">
              <a:ext uri="{FF2B5EF4-FFF2-40B4-BE49-F238E27FC236}">
                <a16:creationId xmlns:a16="http://schemas.microsoft.com/office/drawing/2014/main" id="{3F9C6455-2061-427C-A10B-B919541DF0D6}"/>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04</a:t>
            </a:r>
          </a:p>
        </p:txBody>
      </p:sp>
    </p:spTree>
    <p:extLst>
      <p:ext uri="{BB962C8B-B14F-4D97-AF65-F5344CB8AC3E}">
        <p14:creationId xmlns:p14="http://schemas.microsoft.com/office/powerpoint/2010/main" val="183191236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323D697-9856-4EEE-AFC5-970275C548CA}"/>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4E69751B-7214-4FFC-8AB2-26DE07ACDE52}"/>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A complete analysis follows six decisions</a:t>
            </a:r>
          </a:p>
        </p:txBody>
      </p:sp>
      <p:sp>
        <p:nvSpPr>
          <p:cNvPr id="3" name="">
            <a:extLst xmlns:a="http://schemas.openxmlformats.org/drawingml/2006/main">
              <a:ext uri="{FF2B5EF4-FFF2-40B4-BE49-F238E27FC236}">
                <a16:creationId xmlns:a16="http://schemas.microsoft.com/office/drawing/2014/main" id="{E3B14E01-C3E0-4658-B3AE-BB26979A1D39}"/>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31A955-83D1-4435-A4BF-A9FBD40CCEF3}"/>
              </a:ext>
            </a:extLst>
          </p:cNvPr>
          <p:cNvSpPr>
            <a:spLocks xmlns:a="http://schemas.openxmlformats.org/drawingml/2006/main" noGrp="1"/>
          </p:cNvSpPr>
          <p:nvPr/>
        </p:nvSpPr>
        <p:spPr>
          <a:xfrm xmlns:a="http://schemas.openxmlformats.org/drawingml/2006/main">
            <a:off x="1981200" y="2971800"/>
            <a:ext cx="4000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5" name="">
            <a:extLst xmlns:a="http://schemas.openxmlformats.org/drawingml/2006/main">
              <a:ext uri="{FF2B5EF4-FFF2-40B4-BE49-F238E27FC236}">
                <a16:creationId xmlns:a16="http://schemas.microsoft.com/office/drawing/2014/main" id="{5A286730-4B8D-41B9-8229-83094CA7E773}"/>
              </a:ext>
            </a:extLst>
          </p:cNvPr>
          <p:cNvSpPr>
            <a:spLocks xmlns:a="http://schemas.openxmlformats.org/drawingml/2006/main" noGrp="1"/>
          </p:cNvSpPr>
          <p:nvPr/>
        </p:nvSpPr>
        <p:spPr>
          <a:xfrm xmlns:a="http://schemas.openxmlformats.org/drawingml/2006/main">
            <a:off x="857250" y="2333625"/>
            <a:ext cx="1123950" cy="1123950"/>
          </a:xfrm>
          <a:prstGeom xmlns:a="http://schemas.openxmlformats.org/drawingml/2006/main" prst="ellipse">
            <a:avLst/>
          </a:prstGeom>
          <a:solidFill xmlns:a="http://schemas.openxmlformats.org/drawingml/2006/main">
            <a:srgbClr val="EAF4FF"/>
          </a:solidFill>
          <a:ln xmlns:a="http://schemas.openxmlformats.org/drawingml/2006/main" w="9525">
            <a:solidFill>
              <a:srgbClr val="CBD5E1"/>
            </a:solidFill>
            <a:prstDash val="solid"/>
          </a:ln>
        </p:spPr>
      </p:sp>
      <p:sp>
        <p:nvSpPr>
          <p:cNvPr id="6" name="">
            <a:extLst xmlns:a="http://schemas.openxmlformats.org/drawingml/2006/main">
              <a:ext uri="{FF2B5EF4-FFF2-40B4-BE49-F238E27FC236}">
                <a16:creationId xmlns:a16="http://schemas.microsoft.com/office/drawing/2014/main" id="{F9DE213C-CAF4-4100-A6F9-0556DF8EBF04}"/>
              </a:ext>
            </a:extLst>
          </p:cNvPr>
          <p:cNvSpPr>
            <a:spLocks xmlns:a="http://schemas.openxmlformats.org/drawingml/2006/main" noGrp="1"/>
          </p:cNvSpPr>
          <p:nvPr/>
        </p:nvSpPr>
        <p:spPr>
          <a:xfrm xmlns:a="http://schemas.openxmlformats.org/drawingml/2006/main">
            <a:off x="1257300" y="2524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1</a:t>
            </a:r>
          </a:p>
        </p:txBody>
      </p:sp>
      <p:sp>
        <p:nvSpPr>
          <p:cNvPr id="7" name="">
            <a:extLst xmlns:a="http://schemas.openxmlformats.org/drawingml/2006/main">
              <a:ext uri="{FF2B5EF4-FFF2-40B4-BE49-F238E27FC236}">
                <a16:creationId xmlns:a16="http://schemas.microsoft.com/office/drawing/2014/main" id="{0740A1A9-0CC2-447D-8233-9B9A27BFED70}"/>
              </a:ext>
            </a:extLst>
          </p:cNvPr>
          <p:cNvSpPr>
            <a:spLocks xmlns:a="http://schemas.openxmlformats.org/drawingml/2006/main" noGrp="1"/>
          </p:cNvSpPr>
          <p:nvPr/>
        </p:nvSpPr>
        <p:spPr>
          <a:xfrm xmlns:a="http://schemas.openxmlformats.org/drawingml/2006/main">
            <a:off x="971550" y="2924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11827"/>
                </a:solidFill>
              </a:defRPr>
            </a:pPr>
            <a:r>
              <a:rPr sz="1575" b="1">
                <a:solidFill>
                  <a:srgbClr val="111827"/>
                </a:solidFill>
              </a:rPr>
              <a:t>QC</a:t>
            </a:r>
          </a:p>
        </p:txBody>
      </p:sp>
      <p:sp>
        <p:nvSpPr>
          <p:cNvPr id="8" name="">
            <a:extLst xmlns:a="http://schemas.openxmlformats.org/drawingml/2006/main">
              <a:ext uri="{FF2B5EF4-FFF2-40B4-BE49-F238E27FC236}">
                <a16:creationId xmlns:a16="http://schemas.microsoft.com/office/drawing/2014/main" id="{E0203367-271F-4307-B6E7-1DD58CF6FD84}"/>
              </a:ext>
            </a:extLst>
          </p:cNvPr>
          <p:cNvSpPr>
            <a:spLocks xmlns:a="http://schemas.openxmlformats.org/drawingml/2006/main" noGrp="1"/>
          </p:cNvSpPr>
          <p:nvPr/>
        </p:nvSpPr>
        <p:spPr>
          <a:xfrm xmlns:a="http://schemas.openxmlformats.org/drawingml/2006/main">
            <a:off x="571500" y="3714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96579"/>
                </a:solidFill>
              </a:defRPr>
            </a:pPr>
            <a:r>
              <a:rPr sz="1275" b="0">
                <a:solidFill>
                  <a:srgbClr val="596579"/>
                </a:solidFill>
              </a:rPr>
              <a:t>samples + genes</a:t>
            </a:r>
          </a:p>
        </p:txBody>
      </p:sp>
      <p:sp>
        <p:nvSpPr>
          <p:cNvPr id="9" name="">
            <a:extLst xmlns:a="http://schemas.openxmlformats.org/drawingml/2006/main">
              <a:ext uri="{FF2B5EF4-FFF2-40B4-BE49-F238E27FC236}">
                <a16:creationId xmlns:a16="http://schemas.microsoft.com/office/drawing/2014/main" id="{BBDF00DB-57EA-49BB-86FF-370183332347}"/>
              </a:ext>
            </a:extLst>
          </p:cNvPr>
          <p:cNvSpPr>
            <a:spLocks xmlns:a="http://schemas.openxmlformats.org/drawingml/2006/main" noGrp="1"/>
          </p:cNvSpPr>
          <p:nvPr/>
        </p:nvSpPr>
        <p:spPr>
          <a:xfrm xmlns:a="http://schemas.openxmlformats.org/drawingml/2006/main">
            <a:off x="3905250" y="2971800"/>
            <a:ext cx="4000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0" name="">
            <a:extLst xmlns:a="http://schemas.openxmlformats.org/drawingml/2006/main">
              <a:ext uri="{FF2B5EF4-FFF2-40B4-BE49-F238E27FC236}">
                <a16:creationId xmlns:a16="http://schemas.microsoft.com/office/drawing/2014/main" id="{381D9D6E-8226-401A-9779-C67322E1CA44}"/>
              </a:ext>
            </a:extLst>
          </p:cNvPr>
          <p:cNvSpPr>
            <a:spLocks xmlns:a="http://schemas.openxmlformats.org/drawingml/2006/main" noGrp="1"/>
          </p:cNvSpPr>
          <p:nvPr/>
        </p:nvSpPr>
        <p:spPr>
          <a:xfrm xmlns:a="http://schemas.openxmlformats.org/drawingml/2006/main">
            <a:off x="2781300" y="2333625"/>
            <a:ext cx="1123950" cy="1123950"/>
          </a:xfrm>
          <a:prstGeom xmlns:a="http://schemas.openxmlformats.org/drawingml/2006/main" prst="ellipse">
            <a:avLst/>
          </a:prstGeom>
          <a:solidFill xmlns:a="http://schemas.openxmlformats.org/drawingml/2006/main">
            <a:srgbClr val="EAF4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879F668-014A-4AE1-B093-3D08D027C0FE}"/>
              </a:ext>
            </a:extLst>
          </p:cNvPr>
          <p:cNvSpPr>
            <a:spLocks xmlns:a="http://schemas.openxmlformats.org/drawingml/2006/main" noGrp="1"/>
          </p:cNvSpPr>
          <p:nvPr/>
        </p:nvSpPr>
        <p:spPr>
          <a:xfrm xmlns:a="http://schemas.openxmlformats.org/drawingml/2006/main">
            <a:off x="3181350" y="2524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2</a:t>
            </a:r>
          </a:p>
        </p:txBody>
      </p:sp>
      <p:sp>
        <p:nvSpPr>
          <p:cNvPr id="12" name="">
            <a:extLst xmlns:a="http://schemas.openxmlformats.org/drawingml/2006/main">
              <a:ext uri="{FF2B5EF4-FFF2-40B4-BE49-F238E27FC236}">
                <a16:creationId xmlns:a16="http://schemas.microsoft.com/office/drawing/2014/main" id="{F169D426-0DD1-4F80-BFF2-2D8723470E4D}"/>
              </a:ext>
            </a:extLst>
          </p:cNvPr>
          <p:cNvSpPr>
            <a:spLocks xmlns:a="http://schemas.openxmlformats.org/drawingml/2006/main" noGrp="1"/>
          </p:cNvSpPr>
          <p:nvPr/>
        </p:nvSpPr>
        <p:spPr>
          <a:xfrm xmlns:a="http://schemas.openxmlformats.org/drawingml/2006/main">
            <a:off x="2895600" y="2924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11827"/>
                </a:solidFill>
              </a:defRPr>
            </a:pPr>
            <a:r>
              <a:rPr sz="1575" b="1">
                <a:solidFill>
                  <a:srgbClr val="111827"/>
                </a:solidFill>
              </a:rPr>
              <a:t>β</a:t>
            </a:r>
          </a:p>
        </p:txBody>
      </p:sp>
      <p:sp>
        <p:nvSpPr>
          <p:cNvPr id="13" name="">
            <a:extLst xmlns:a="http://schemas.openxmlformats.org/drawingml/2006/main">
              <a:ext uri="{FF2B5EF4-FFF2-40B4-BE49-F238E27FC236}">
                <a16:creationId xmlns:a16="http://schemas.microsoft.com/office/drawing/2014/main" id="{7618C1F8-BB9A-494F-A7B0-399DFB810536}"/>
              </a:ext>
            </a:extLst>
          </p:cNvPr>
          <p:cNvSpPr>
            <a:spLocks xmlns:a="http://schemas.openxmlformats.org/drawingml/2006/main" noGrp="1"/>
          </p:cNvSpPr>
          <p:nvPr/>
        </p:nvSpPr>
        <p:spPr>
          <a:xfrm xmlns:a="http://schemas.openxmlformats.org/drawingml/2006/main">
            <a:off x="2495550" y="3714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96579"/>
                </a:solidFill>
              </a:defRPr>
            </a:pPr>
            <a:r>
              <a:rPr sz="1275" b="0">
                <a:solidFill>
                  <a:srgbClr val="596579"/>
                </a:solidFill>
              </a:rPr>
              <a:t>soft threshold</a:t>
            </a:r>
          </a:p>
        </p:txBody>
      </p:sp>
      <p:sp>
        <p:nvSpPr>
          <p:cNvPr id="14" name="">
            <a:extLst xmlns:a="http://schemas.openxmlformats.org/drawingml/2006/main">
              <a:ext uri="{FF2B5EF4-FFF2-40B4-BE49-F238E27FC236}">
                <a16:creationId xmlns:a16="http://schemas.microsoft.com/office/drawing/2014/main" id="{C9D0870E-BE12-409B-AA3B-2397BB0CB1AF}"/>
              </a:ext>
            </a:extLst>
          </p:cNvPr>
          <p:cNvSpPr>
            <a:spLocks xmlns:a="http://schemas.openxmlformats.org/drawingml/2006/main" noGrp="1"/>
          </p:cNvSpPr>
          <p:nvPr/>
        </p:nvSpPr>
        <p:spPr>
          <a:xfrm xmlns:a="http://schemas.openxmlformats.org/drawingml/2006/main">
            <a:off x="5829300" y="2971800"/>
            <a:ext cx="4000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 name="">
            <a:extLst xmlns:a="http://schemas.openxmlformats.org/drawingml/2006/main">
              <a:ext uri="{FF2B5EF4-FFF2-40B4-BE49-F238E27FC236}">
                <a16:creationId xmlns:a16="http://schemas.microsoft.com/office/drawing/2014/main" id="{A679132D-4583-42B8-A1C5-01B160889840}"/>
              </a:ext>
            </a:extLst>
          </p:cNvPr>
          <p:cNvSpPr>
            <a:spLocks xmlns:a="http://schemas.openxmlformats.org/drawingml/2006/main" noGrp="1"/>
          </p:cNvSpPr>
          <p:nvPr/>
        </p:nvSpPr>
        <p:spPr>
          <a:xfrm xmlns:a="http://schemas.openxmlformats.org/drawingml/2006/main">
            <a:off x="4705350" y="2333625"/>
            <a:ext cx="1123950" cy="1123950"/>
          </a:xfrm>
          <a:prstGeom xmlns:a="http://schemas.openxmlformats.org/drawingml/2006/main" prst="ellipse">
            <a:avLst/>
          </a:prstGeom>
          <a:solidFill xmlns:a="http://schemas.openxmlformats.org/drawingml/2006/main">
            <a:srgbClr val="EAF4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D05860E1-9C4B-4614-93C1-D7589C279D8B}"/>
              </a:ext>
            </a:extLst>
          </p:cNvPr>
          <p:cNvSpPr>
            <a:spLocks xmlns:a="http://schemas.openxmlformats.org/drawingml/2006/main" noGrp="1"/>
          </p:cNvSpPr>
          <p:nvPr/>
        </p:nvSpPr>
        <p:spPr>
          <a:xfrm xmlns:a="http://schemas.openxmlformats.org/drawingml/2006/main">
            <a:off x="5105400" y="2524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3</a:t>
            </a:r>
          </a:p>
        </p:txBody>
      </p:sp>
      <p:sp>
        <p:nvSpPr>
          <p:cNvPr id="17" name="">
            <a:extLst xmlns:a="http://schemas.openxmlformats.org/drawingml/2006/main">
              <a:ext uri="{FF2B5EF4-FFF2-40B4-BE49-F238E27FC236}">
                <a16:creationId xmlns:a16="http://schemas.microsoft.com/office/drawing/2014/main" id="{26906CF9-B6F7-4CA1-A9BB-D94D307F5E3A}"/>
              </a:ext>
            </a:extLst>
          </p:cNvPr>
          <p:cNvSpPr>
            <a:spLocks xmlns:a="http://schemas.openxmlformats.org/drawingml/2006/main" noGrp="1"/>
          </p:cNvSpPr>
          <p:nvPr/>
        </p:nvSpPr>
        <p:spPr>
          <a:xfrm xmlns:a="http://schemas.openxmlformats.org/drawingml/2006/main">
            <a:off x="4819650" y="2924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11827"/>
                </a:solidFill>
              </a:defRPr>
            </a:pPr>
            <a:r>
              <a:rPr sz="1575" b="1">
                <a:solidFill>
                  <a:srgbClr val="111827"/>
                </a:solidFill>
              </a:rPr>
              <a:t>Network</a:t>
            </a:r>
          </a:p>
        </p:txBody>
      </p:sp>
      <p:sp>
        <p:nvSpPr>
          <p:cNvPr id="18" name="">
            <a:extLst xmlns:a="http://schemas.openxmlformats.org/drawingml/2006/main">
              <a:ext uri="{FF2B5EF4-FFF2-40B4-BE49-F238E27FC236}">
                <a16:creationId xmlns:a16="http://schemas.microsoft.com/office/drawing/2014/main" id="{E506679A-D87D-47B3-B22B-23B96D6141C5}"/>
              </a:ext>
            </a:extLst>
          </p:cNvPr>
          <p:cNvSpPr>
            <a:spLocks xmlns:a="http://schemas.openxmlformats.org/drawingml/2006/main" noGrp="1"/>
          </p:cNvSpPr>
          <p:nvPr/>
        </p:nvSpPr>
        <p:spPr>
          <a:xfrm xmlns:a="http://schemas.openxmlformats.org/drawingml/2006/main">
            <a:off x="4419600" y="3714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96579"/>
                </a:solidFill>
              </a:defRPr>
            </a:pPr>
            <a:r>
              <a:rPr sz="1275" b="0">
                <a:solidFill>
                  <a:srgbClr val="596579"/>
                </a:solidFill>
              </a:rPr>
              <a:t>adjacency + TOM</a:t>
            </a:r>
          </a:p>
        </p:txBody>
      </p:sp>
      <p:sp>
        <p:nvSpPr>
          <p:cNvPr id="19" name="">
            <a:extLst xmlns:a="http://schemas.openxmlformats.org/drawingml/2006/main">
              <a:ext uri="{FF2B5EF4-FFF2-40B4-BE49-F238E27FC236}">
                <a16:creationId xmlns:a16="http://schemas.microsoft.com/office/drawing/2014/main" id="{E81D64F7-4670-4E5A-8F34-5547B3C29AF6}"/>
              </a:ext>
            </a:extLst>
          </p:cNvPr>
          <p:cNvSpPr>
            <a:spLocks xmlns:a="http://schemas.openxmlformats.org/drawingml/2006/main" noGrp="1"/>
          </p:cNvSpPr>
          <p:nvPr/>
        </p:nvSpPr>
        <p:spPr>
          <a:xfrm xmlns:a="http://schemas.openxmlformats.org/drawingml/2006/main">
            <a:off x="7753350" y="2971800"/>
            <a:ext cx="4000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20" name="">
            <a:extLst xmlns:a="http://schemas.openxmlformats.org/drawingml/2006/main">
              <a:ext uri="{FF2B5EF4-FFF2-40B4-BE49-F238E27FC236}">
                <a16:creationId xmlns:a16="http://schemas.microsoft.com/office/drawing/2014/main" id="{546C72B1-1676-4109-A2C5-2CB2912DB935}"/>
              </a:ext>
            </a:extLst>
          </p:cNvPr>
          <p:cNvSpPr>
            <a:spLocks xmlns:a="http://schemas.openxmlformats.org/drawingml/2006/main" noGrp="1"/>
          </p:cNvSpPr>
          <p:nvPr/>
        </p:nvSpPr>
        <p:spPr>
          <a:xfrm xmlns:a="http://schemas.openxmlformats.org/drawingml/2006/main">
            <a:off x="6629400" y="2333625"/>
            <a:ext cx="1123950" cy="1123950"/>
          </a:xfrm>
          <a:prstGeom xmlns:a="http://schemas.openxmlformats.org/drawingml/2006/main" prst="ellipse">
            <a:avLst/>
          </a:prstGeom>
          <a:solidFill xmlns:a="http://schemas.openxmlformats.org/drawingml/2006/main">
            <a:srgbClr val="F1F3F5"/>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086D7EE3-36D7-406F-9AF1-F9C9A08AC3BA}"/>
              </a:ext>
            </a:extLst>
          </p:cNvPr>
          <p:cNvSpPr>
            <a:spLocks xmlns:a="http://schemas.openxmlformats.org/drawingml/2006/main" noGrp="1"/>
          </p:cNvSpPr>
          <p:nvPr/>
        </p:nvSpPr>
        <p:spPr>
          <a:xfrm xmlns:a="http://schemas.openxmlformats.org/drawingml/2006/main">
            <a:off x="7029450" y="2524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4</a:t>
            </a:r>
          </a:p>
        </p:txBody>
      </p:sp>
      <p:sp>
        <p:nvSpPr>
          <p:cNvPr id="22" name="">
            <a:extLst xmlns:a="http://schemas.openxmlformats.org/drawingml/2006/main">
              <a:ext uri="{FF2B5EF4-FFF2-40B4-BE49-F238E27FC236}">
                <a16:creationId xmlns:a16="http://schemas.microsoft.com/office/drawing/2014/main" id="{B18B49A8-B938-4C9D-BCD3-C888788A444E}"/>
              </a:ext>
            </a:extLst>
          </p:cNvPr>
          <p:cNvSpPr>
            <a:spLocks xmlns:a="http://schemas.openxmlformats.org/drawingml/2006/main" noGrp="1"/>
          </p:cNvSpPr>
          <p:nvPr/>
        </p:nvSpPr>
        <p:spPr>
          <a:xfrm xmlns:a="http://schemas.openxmlformats.org/drawingml/2006/main">
            <a:off x="6743700" y="2924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11827"/>
                </a:solidFill>
              </a:defRPr>
            </a:pPr>
            <a:r>
              <a:rPr sz="1575" b="1">
                <a:solidFill>
                  <a:srgbClr val="111827"/>
                </a:solidFill>
              </a:rPr>
              <a:t>Modules</a:t>
            </a:r>
          </a:p>
        </p:txBody>
      </p:sp>
      <p:sp>
        <p:nvSpPr>
          <p:cNvPr id="23" name="">
            <a:extLst xmlns:a="http://schemas.openxmlformats.org/drawingml/2006/main">
              <a:ext uri="{FF2B5EF4-FFF2-40B4-BE49-F238E27FC236}">
                <a16:creationId xmlns:a16="http://schemas.microsoft.com/office/drawing/2014/main" id="{50695773-F273-4449-AAEB-D6CDB6DA7296}"/>
              </a:ext>
            </a:extLst>
          </p:cNvPr>
          <p:cNvSpPr>
            <a:spLocks xmlns:a="http://schemas.openxmlformats.org/drawingml/2006/main" noGrp="1"/>
          </p:cNvSpPr>
          <p:nvPr/>
        </p:nvSpPr>
        <p:spPr>
          <a:xfrm xmlns:a="http://schemas.openxmlformats.org/drawingml/2006/main">
            <a:off x="6343650" y="3714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96579"/>
                </a:solidFill>
              </a:defRPr>
            </a:pPr>
            <a:r>
              <a:rPr sz="1275" b="0">
                <a:solidFill>
                  <a:srgbClr val="596579"/>
                </a:solidFill>
              </a:rPr>
              <a:t>tree cut + merge</a:t>
            </a:r>
          </a:p>
        </p:txBody>
      </p:sp>
      <p:sp>
        <p:nvSpPr>
          <p:cNvPr id="24" name="">
            <a:extLst xmlns:a="http://schemas.openxmlformats.org/drawingml/2006/main">
              <a:ext uri="{FF2B5EF4-FFF2-40B4-BE49-F238E27FC236}">
                <a16:creationId xmlns:a16="http://schemas.microsoft.com/office/drawing/2014/main" id="{A2AEC32E-84BC-4193-9470-6A1B7A1579BD}"/>
              </a:ext>
            </a:extLst>
          </p:cNvPr>
          <p:cNvSpPr>
            <a:spLocks xmlns:a="http://schemas.openxmlformats.org/drawingml/2006/main" noGrp="1"/>
          </p:cNvSpPr>
          <p:nvPr/>
        </p:nvSpPr>
        <p:spPr>
          <a:xfrm xmlns:a="http://schemas.openxmlformats.org/drawingml/2006/main">
            <a:off x="9677400" y="2971800"/>
            <a:ext cx="4000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25" name="">
            <a:extLst xmlns:a="http://schemas.openxmlformats.org/drawingml/2006/main">
              <a:ext uri="{FF2B5EF4-FFF2-40B4-BE49-F238E27FC236}">
                <a16:creationId xmlns:a16="http://schemas.microsoft.com/office/drawing/2014/main" id="{A2F2C284-9325-4FFF-91BC-D196C857B10E}"/>
              </a:ext>
            </a:extLst>
          </p:cNvPr>
          <p:cNvSpPr>
            <a:spLocks xmlns:a="http://schemas.openxmlformats.org/drawingml/2006/main" noGrp="1"/>
          </p:cNvSpPr>
          <p:nvPr/>
        </p:nvSpPr>
        <p:spPr>
          <a:xfrm xmlns:a="http://schemas.openxmlformats.org/drawingml/2006/main">
            <a:off x="8553450" y="2333625"/>
            <a:ext cx="1123950" cy="1123950"/>
          </a:xfrm>
          <a:prstGeom xmlns:a="http://schemas.openxmlformats.org/drawingml/2006/main" prst="ellipse">
            <a:avLst/>
          </a:prstGeom>
          <a:solidFill xmlns:a="http://schemas.openxmlformats.org/drawingml/2006/main">
            <a:srgbClr val="F1F3F5"/>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21595AD8-BE64-4D23-B3E4-35D76A0FE8F8}"/>
              </a:ext>
            </a:extLst>
          </p:cNvPr>
          <p:cNvSpPr>
            <a:spLocks xmlns:a="http://schemas.openxmlformats.org/drawingml/2006/main" noGrp="1"/>
          </p:cNvSpPr>
          <p:nvPr/>
        </p:nvSpPr>
        <p:spPr>
          <a:xfrm xmlns:a="http://schemas.openxmlformats.org/drawingml/2006/main">
            <a:off x="8953500" y="2524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5</a:t>
            </a:r>
          </a:p>
        </p:txBody>
      </p:sp>
      <p:sp>
        <p:nvSpPr>
          <p:cNvPr id="27" name="">
            <a:extLst xmlns:a="http://schemas.openxmlformats.org/drawingml/2006/main">
              <a:ext uri="{FF2B5EF4-FFF2-40B4-BE49-F238E27FC236}">
                <a16:creationId xmlns:a16="http://schemas.microsoft.com/office/drawing/2014/main" id="{92C904D7-0B68-496D-B143-C958B63D5302}"/>
              </a:ext>
            </a:extLst>
          </p:cNvPr>
          <p:cNvSpPr>
            <a:spLocks xmlns:a="http://schemas.openxmlformats.org/drawingml/2006/main" noGrp="1"/>
          </p:cNvSpPr>
          <p:nvPr/>
        </p:nvSpPr>
        <p:spPr>
          <a:xfrm xmlns:a="http://schemas.openxmlformats.org/drawingml/2006/main">
            <a:off x="8667750" y="2924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11827"/>
                </a:solidFill>
              </a:defRPr>
            </a:pPr>
            <a:r>
              <a:rPr sz="1575" b="1">
                <a:solidFill>
                  <a:srgbClr val="111827"/>
                </a:solidFill>
              </a:rPr>
              <a:t>Traits</a:t>
            </a:r>
          </a:p>
        </p:txBody>
      </p:sp>
      <p:sp>
        <p:nvSpPr>
          <p:cNvPr id="28" name="">
            <a:extLst xmlns:a="http://schemas.openxmlformats.org/drawingml/2006/main">
              <a:ext uri="{FF2B5EF4-FFF2-40B4-BE49-F238E27FC236}">
                <a16:creationId xmlns:a16="http://schemas.microsoft.com/office/drawing/2014/main" id="{3C490AB1-F3FC-4E23-9B43-05BE6E6D3B19}"/>
              </a:ext>
            </a:extLst>
          </p:cNvPr>
          <p:cNvSpPr>
            <a:spLocks xmlns:a="http://schemas.openxmlformats.org/drawingml/2006/main" noGrp="1"/>
          </p:cNvSpPr>
          <p:nvPr/>
        </p:nvSpPr>
        <p:spPr>
          <a:xfrm xmlns:a="http://schemas.openxmlformats.org/drawingml/2006/main">
            <a:off x="8267700" y="3714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96579"/>
                </a:solidFill>
              </a:defRPr>
            </a:pPr>
            <a:r>
              <a:rPr sz="1275" b="0">
                <a:solidFill>
                  <a:srgbClr val="596579"/>
                </a:solidFill>
              </a:rPr>
              <a:t>eigengene links</a:t>
            </a:r>
          </a:p>
        </p:txBody>
      </p:sp>
      <p:sp>
        <p:nvSpPr>
          <p:cNvPr id="29" name="">
            <a:extLst xmlns:a="http://schemas.openxmlformats.org/drawingml/2006/main">
              <a:ext uri="{FF2B5EF4-FFF2-40B4-BE49-F238E27FC236}">
                <a16:creationId xmlns:a16="http://schemas.microsoft.com/office/drawing/2014/main" id="{7548D298-FA76-4B7D-B107-A9469844A2D1}"/>
              </a:ext>
            </a:extLst>
          </p:cNvPr>
          <p:cNvSpPr>
            <a:spLocks xmlns:a="http://schemas.openxmlformats.org/drawingml/2006/main" noGrp="1"/>
          </p:cNvSpPr>
          <p:nvPr/>
        </p:nvSpPr>
        <p:spPr>
          <a:xfrm xmlns:a="http://schemas.openxmlformats.org/drawingml/2006/main">
            <a:off x="10477500" y="2333625"/>
            <a:ext cx="1123950" cy="1123950"/>
          </a:xfrm>
          <a:prstGeom xmlns:a="http://schemas.openxmlformats.org/drawingml/2006/main" prst="ellipse">
            <a:avLst/>
          </a:prstGeom>
          <a:solidFill xmlns:a="http://schemas.openxmlformats.org/drawingml/2006/main">
            <a:srgbClr val="F1F3F5"/>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E8399667-25E0-4473-BD30-15E565A88041}"/>
              </a:ext>
            </a:extLst>
          </p:cNvPr>
          <p:cNvSpPr>
            <a:spLocks xmlns:a="http://schemas.openxmlformats.org/drawingml/2006/main" noGrp="1"/>
          </p:cNvSpPr>
          <p:nvPr/>
        </p:nvSpPr>
        <p:spPr>
          <a:xfrm xmlns:a="http://schemas.openxmlformats.org/drawingml/2006/main">
            <a:off x="10877550" y="2524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6</a:t>
            </a:r>
          </a:p>
        </p:txBody>
      </p:sp>
      <p:sp>
        <p:nvSpPr>
          <p:cNvPr id="31" name="">
            <a:extLst xmlns:a="http://schemas.openxmlformats.org/drawingml/2006/main">
              <a:ext uri="{FF2B5EF4-FFF2-40B4-BE49-F238E27FC236}">
                <a16:creationId xmlns:a16="http://schemas.microsoft.com/office/drawing/2014/main" id="{6D2C60F6-1A3F-4C3B-9849-83EF5C6C140E}"/>
              </a:ext>
            </a:extLst>
          </p:cNvPr>
          <p:cNvSpPr>
            <a:spLocks xmlns:a="http://schemas.openxmlformats.org/drawingml/2006/main" noGrp="1"/>
          </p:cNvSpPr>
          <p:nvPr/>
        </p:nvSpPr>
        <p:spPr>
          <a:xfrm xmlns:a="http://schemas.openxmlformats.org/drawingml/2006/main">
            <a:off x="10591800" y="2924175"/>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11827"/>
                </a:solidFill>
              </a:defRPr>
            </a:pPr>
            <a:r>
              <a:rPr sz="1575" b="1">
                <a:solidFill>
                  <a:srgbClr val="111827"/>
                </a:solidFill>
              </a:rPr>
              <a:t>Biology</a:t>
            </a:r>
          </a:p>
        </p:txBody>
      </p:sp>
      <p:sp>
        <p:nvSpPr>
          <p:cNvPr id="32" name="">
            <a:extLst xmlns:a="http://schemas.openxmlformats.org/drawingml/2006/main">
              <a:ext uri="{FF2B5EF4-FFF2-40B4-BE49-F238E27FC236}">
                <a16:creationId xmlns:a16="http://schemas.microsoft.com/office/drawing/2014/main" id="{758AB4BF-5B9E-4671-BA71-33A07A223D12}"/>
              </a:ext>
            </a:extLst>
          </p:cNvPr>
          <p:cNvSpPr>
            <a:spLocks xmlns:a="http://schemas.openxmlformats.org/drawingml/2006/main" noGrp="1"/>
          </p:cNvSpPr>
          <p:nvPr/>
        </p:nvSpPr>
        <p:spPr>
          <a:xfrm xmlns:a="http://schemas.openxmlformats.org/drawingml/2006/main">
            <a:off x="10191750" y="3714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96579"/>
                </a:solidFill>
              </a:defRPr>
            </a:pPr>
            <a:r>
              <a:rPr sz="1275" b="0">
                <a:solidFill>
                  <a:srgbClr val="596579"/>
                </a:solidFill>
              </a:rPr>
              <a:t>hubs + enrichment</a:t>
            </a:r>
          </a:p>
        </p:txBody>
      </p:sp>
      <p:sp>
        <p:nvSpPr>
          <p:cNvPr id="33" name="">
            <a:extLst xmlns:a="http://schemas.openxmlformats.org/drawingml/2006/main">
              <a:ext uri="{FF2B5EF4-FFF2-40B4-BE49-F238E27FC236}">
                <a16:creationId xmlns:a16="http://schemas.microsoft.com/office/drawing/2014/main" id="{AC53E178-63DF-4AEA-A10B-87A7D40FD34A}"/>
              </a:ext>
            </a:extLst>
          </p:cNvPr>
          <p:cNvSpPr>
            <a:spLocks xmlns:a="http://schemas.openxmlformats.org/drawingml/2006/main" noGrp="1"/>
          </p:cNvSpPr>
          <p:nvPr/>
        </p:nvSpPr>
        <p:spPr>
          <a:xfrm xmlns:a="http://schemas.openxmlformats.org/drawingml/2006/main">
            <a:off x="1714500" y="509587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11827"/>
                </a:solidFill>
              </a:defRPr>
            </a:pPr>
            <a:r>
              <a:rPr sz="2025" b="1">
                <a:solidFill>
                  <a:srgbClr val="111827"/>
                </a:solidFill>
              </a:rPr>
              <a:t>Each step changes the biological question that the final network can answer.</a:t>
            </a:r>
          </a:p>
        </p:txBody>
      </p:sp>
      <p:sp>
        <p:nvSpPr>
          <p:cNvPr id="34" name="">
            <a:extLst xmlns:a="http://schemas.openxmlformats.org/drawingml/2006/main">
              <a:ext uri="{FF2B5EF4-FFF2-40B4-BE49-F238E27FC236}">
                <a16:creationId xmlns:a16="http://schemas.microsoft.com/office/drawing/2014/main" id="{487B266A-1D6B-41D6-8DA7-171E15A23177}"/>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05</a:t>
            </a:r>
          </a:p>
        </p:txBody>
      </p:sp>
    </p:spTree>
    <p:extLst>
      <p:ext uri="{BB962C8B-B14F-4D97-AF65-F5344CB8AC3E}">
        <p14:creationId xmlns:p14="http://schemas.microsoft.com/office/powerpoint/2010/main" val="18464651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B1DE58-89DA-44AA-AF37-A21B11BBD7B2}"/>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9DEF4B99-186B-4F9A-A4C7-636BC0F996AA}"/>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The soft threshold preserves graded relationships</a:t>
            </a:r>
          </a:p>
        </p:txBody>
      </p:sp>
      <p:sp>
        <p:nvSpPr>
          <p:cNvPr id="3" name="">
            <a:extLst xmlns:a="http://schemas.openxmlformats.org/drawingml/2006/main">
              <a:ext uri="{FF2B5EF4-FFF2-40B4-BE49-F238E27FC236}">
                <a16:creationId xmlns:a16="http://schemas.microsoft.com/office/drawing/2014/main" id="{57397B41-6260-4A9D-8CEC-47E7413CDF55}"/>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71C3A5-CFE9-45DD-8BBE-C20484272D9E}"/>
              </a:ext>
            </a:extLst>
          </p:cNvPr>
          <p:cNvSpPr>
            <a:spLocks xmlns:a="http://schemas.openxmlformats.org/drawingml/2006/main" noGrp="1"/>
          </p:cNvSpPr>
          <p:nvPr/>
        </p:nvSpPr>
        <p:spPr>
          <a:xfrm xmlns:a="http://schemas.openxmlformats.org/drawingml/2006/main">
            <a:off x="704850" y="17907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96579"/>
                </a:solidFill>
              </a:defRPr>
            </a:pPr>
            <a:r>
              <a:rPr sz="1650" b="1">
                <a:solidFill>
                  <a:srgbClr val="596579"/>
                </a:solidFill>
              </a:rPr>
              <a:t>Correlation</a:t>
            </a:r>
          </a:p>
        </p:txBody>
      </p:sp>
      <p:sp>
        <p:nvSpPr>
          <p:cNvPr id="5" name="">
            <a:extLst xmlns:a="http://schemas.openxmlformats.org/drawingml/2006/main">
              <a:ext uri="{FF2B5EF4-FFF2-40B4-BE49-F238E27FC236}">
                <a16:creationId xmlns:a16="http://schemas.microsoft.com/office/drawing/2014/main" id="{648A51C0-0765-4D00-83B0-9084054EEDE4}"/>
              </a:ext>
            </a:extLst>
          </p:cNvPr>
          <p:cNvSpPr>
            <a:spLocks xmlns:a="http://schemas.openxmlformats.org/drawingml/2006/main" noGrp="1"/>
          </p:cNvSpPr>
          <p:nvPr/>
        </p:nvSpPr>
        <p:spPr>
          <a:xfrm xmlns:a="http://schemas.openxmlformats.org/drawingml/2006/main">
            <a:off x="4495800" y="17907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563EB"/>
                </a:solidFill>
              </a:defRPr>
            </a:pPr>
            <a:r>
              <a:rPr sz="1650" b="1">
                <a:solidFill>
                  <a:srgbClr val="2563EB"/>
                </a:solidFill>
              </a:rPr>
              <a:t>Weighted adjacency</a:t>
            </a:r>
          </a:p>
        </p:txBody>
      </p:sp>
      <p:sp>
        <p:nvSpPr>
          <p:cNvPr id="6" name="">
            <a:extLst xmlns:a="http://schemas.openxmlformats.org/drawingml/2006/main">
              <a:ext uri="{FF2B5EF4-FFF2-40B4-BE49-F238E27FC236}">
                <a16:creationId xmlns:a16="http://schemas.microsoft.com/office/drawing/2014/main" id="{321A3ADA-64C0-4724-A598-5765DF795E0E}"/>
              </a:ext>
            </a:extLst>
          </p:cNvPr>
          <p:cNvSpPr>
            <a:spLocks xmlns:a="http://schemas.openxmlformats.org/drawingml/2006/main" noGrp="1"/>
          </p:cNvSpPr>
          <p:nvPr/>
        </p:nvSpPr>
        <p:spPr>
          <a:xfrm xmlns:a="http://schemas.openxmlformats.org/drawingml/2006/main">
            <a:off x="8458200" y="17907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9D7A"/>
                </a:solidFill>
              </a:defRPr>
            </a:pPr>
            <a:r>
              <a:rPr sz="1650" b="1">
                <a:solidFill>
                  <a:srgbClr val="0F9D7A"/>
                </a:solidFill>
              </a:rPr>
              <a:t>Network emphasis</a:t>
            </a:r>
          </a:p>
        </p:txBody>
      </p:sp>
      <p:sp>
        <p:nvSpPr>
          <p:cNvPr id="7" name="">
            <a:extLst xmlns:a="http://schemas.openxmlformats.org/drawingml/2006/main">
              <a:ext uri="{FF2B5EF4-FFF2-40B4-BE49-F238E27FC236}">
                <a16:creationId xmlns:a16="http://schemas.microsoft.com/office/drawing/2014/main" id="{D174388C-8B51-45B1-BF90-D755D42A66ED}"/>
              </a:ext>
            </a:extLst>
          </p:cNvPr>
          <p:cNvSpPr>
            <a:spLocks xmlns:a="http://schemas.openxmlformats.org/drawingml/2006/main" noGrp="1"/>
          </p:cNvSpPr>
          <p:nvPr/>
        </p:nvSpPr>
        <p:spPr>
          <a:xfrm xmlns:a="http://schemas.openxmlformats.org/drawingml/2006/main">
            <a:off x="952500" y="24193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defRPr>
            </a:pPr>
            <a:r>
              <a:rPr sz="2025" b="1">
                <a:solidFill>
                  <a:srgbClr val="111827"/>
                </a:solidFill>
              </a:rPr>
              <a:t>0.90</a:t>
            </a:r>
          </a:p>
        </p:txBody>
      </p:sp>
      <p:sp>
        <p:nvSpPr>
          <p:cNvPr id="8" name="">
            <a:extLst xmlns:a="http://schemas.openxmlformats.org/drawingml/2006/main">
              <a:ext uri="{FF2B5EF4-FFF2-40B4-BE49-F238E27FC236}">
                <a16:creationId xmlns:a16="http://schemas.microsoft.com/office/drawing/2014/main" id="{D9043EB5-1C25-48FB-A99D-FB880CE657AF}"/>
              </a:ext>
            </a:extLst>
          </p:cNvPr>
          <p:cNvSpPr>
            <a:spLocks xmlns:a="http://schemas.openxmlformats.org/drawingml/2006/main" noGrp="1"/>
          </p:cNvSpPr>
          <p:nvPr/>
        </p:nvSpPr>
        <p:spPr>
          <a:xfrm xmlns:a="http://schemas.openxmlformats.org/drawingml/2006/main">
            <a:off x="2381250" y="2571750"/>
            <a:ext cx="171450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303FE3A3-052A-48A5-9CE8-2D253F3E2B2C}"/>
              </a:ext>
            </a:extLst>
          </p:cNvPr>
          <p:cNvSpPr>
            <a:spLocks xmlns:a="http://schemas.openxmlformats.org/drawingml/2006/main" noGrp="1"/>
          </p:cNvSpPr>
          <p:nvPr/>
        </p:nvSpPr>
        <p:spPr>
          <a:xfrm xmlns:a="http://schemas.openxmlformats.org/drawingml/2006/main">
            <a:off x="4810125" y="2447925"/>
            <a:ext cx="2000250" cy="23812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DF7340-6278-44BB-8EC6-E7D62DFF1ECE}"/>
              </a:ext>
            </a:extLst>
          </p:cNvPr>
          <p:cNvSpPr>
            <a:spLocks xmlns:a="http://schemas.openxmlformats.org/drawingml/2006/main" noGrp="1"/>
          </p:cNvSpPr>
          <p:nvPr/>
        </p:nvSpPr>
        <p:spPr>
          <a:xfrm xmlns:a="http://schemas.openxmlformats.org/drawingml/2006/main">
            <a:off x="8763000" y="24193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F9D7A"/>
                </a:solidFill>
              </a:defRPr>
            </a:pPr>
            <a:r>
              <a:rPr sz="1725" b="1">
                <a:solidFill>
                  <a:srgbClr val="0F9D7A"/>
                </a:solidFill>
              </a:rPr>
              <a:t>strong</a:t>
            </a:r>
          </a:p>
        </p:txBody>
      </p:sp>
      <p:sp>
        <p:nvSpPr>
          <p:cNvPr id="11" name="">
            <a:extLst xmlns:a="http://schemas.openxmlformats.org/drawingml/2006/main">
              <a:ext uri="{FF2B5EF4-FFF2-40B4-BE49-F238E27FC236}">
                <a16:creationId xmlns:a16="http://schemas.microsoft.com/office/drawing/2014/main" id="{CBB9C17C-3705-401A-8C1E-1724C417D2BE}"/>
              </a:ext>
            </a:extLst>
          </p:cNvPr>
          <p:cNvSpPr>
            <a:spLocks xmlns:a="http://schemas.openxmlformats.org/drawingml/2006/main" noGrp="1"/>
          </p:cNvSpPr>
          <p:nvPr/>
        </p:nvSpPr>
        <p:spPr>
          <a:xfrm xmlns:a="http://schemas.openxmlformats.org/drawingml/2006/main">
            <a:off x="952500" y="33337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defRPr>
            </a:pPr>
            <a:r>
              <a:rPr sz="2025" b="1">
                <a:solidFill>
                  <a:srgbClr val="111827"/>
                </a:solidFill>
              </a:rPr>
              <a:t>0.55</a:t>
            </a:r>
          </a:p>
        </p:txBody>
      </p:sp>
      <p:sp>
        <p:nvSpPr>
          <p:cNvPr id="12" name="">
            <a:extLst xmlns:a="http://schemas.openxmlformats.org/drawingml/2006/main">
              <a:ext uri="{FF2B5EF4-FFF2-40B4-BE49-F238E27FC236}">
                <a16:creationId xmlns:a16="http://schemas.microsoft.com/office/drawing/2014/main" id="{81844D2B-E4D0-421D-9905-1EE3A2A8CEE4}"/>
              </a:ext>
            </a:extLst>
          </p:cNvPr>
          <p:cNvSpPr>
            <a:spLocks xmlns:a="http://schemas.openxmlformats.org/drawingml/2006/main" noGrp="1"/>
          </p:cNvSpPr>
          <p:nvPr/>
        </p:nvSpPr>
        <p:spPr>
          <a:xfrm xmlns:a="http://schemas.openxmlformats.org/drawingml/2006/main">
            <a:off x="2381250" y="3486150"/>
            <a:ext cx="171450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 name="">
            <a:extLst xmlns:a="http://schemas.openxmlformats.org/drawingml/2006/main">
              <a:ext uri="{FF2B5EF4-FFF2-40B4-BE49-F238E27FC236}">
                <a16:creationId xmlns:a16="http://schemas.microsoft.com/office/drawing/2014/main" id="{4CB1580B-06EA-42ED-BD1A-0BA2424AC5DB}"/>
              </a:ext>
            </a:extLst>
          </p:cNvPr>
          <p:cNvSpPr>
            <a:spLocks xmlns:a="http://schemas.openxmlformats.org/drawingml/2006/main" noGrp="1"/>
          </p:cNvSpPr>
          <p:nvPr/>
        </p:nvSpPr>
        <p:spPr>
          <a:xfrm xmlns:a="http://schemas.openxmlformats.org/drawingml/2006/main">
            <a:off x="4810125" y="3362325"/>
            <a:ext cx="876300" cy="238125"/>
          </a:xfrm>
          <a:prstGeom xmlns:a="http://schemas.openxmlformats.org/drawingml/2006/main" prst="rect">
            <a:avLst/>
          </a:prstGeom>
          <a:solidFill xmlns:a="http://schemas.openxmlformats.org/drawingml/2006/main">
            <a:srgbClr val="38BD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C66673-96F5-49D8-90B0-F64CEEA3B503}"/>
              </a:ext>
            </a:extLst>
          </p:cNvPr>
          <p:cNvSpPr>
            <a:spLocks xmlns:a="http://schemas.openxmlformats.org/drawingml/2006/main" noGrp="1"/>
          </p:cNvSpPr>
          <p:nvPr/>
        </p:nvSpPr>
        <p:spPr>
          <a:xfrm xmlns:a="http://schemas.openxmlformats.org/drawingml/2006/main">
            <a:off x="8763000" y="3333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59E0B"/>
                </a:solidFill>
              </a:defRPr>
            </a:pPr>
            <a:r>
              <a:rPr sz="1725" b="1">
                <a:solidFill>
                  <a:srgbClr val="F59E0B"/>
                </a:solidFill>
              </a:rPr>
              <a:t>moderate</a:t>
            </a:r>
          </a:p>
        </p:txBody>
      </p:sp>
      <p:sp>
        <p:nvSpPr>
          <p:cNvPr id="15" name="">
            <a:extLst xmlns:a="http://schemas.openxmlformats.org/drawingml/2006/main">
              <a:ext uri="{FF2B5EF4-FFF2-40B4-BE49-F238E27FC236}">
                <a16:creationId xmlns:a16="http://schemas.microsoft.com/office/drawing/2014/main" id="{4D3B1016-7872-4F81-982E-02B39E94A7FC}"/>
              </a:ext>
            </a:extLst>
          </p:cNvPr>
          <p:cNvSpPr>
            <a:spLocks xmlns:a="http://schemas.openxmlformats.org/drawingml/2006/main" noGrp="1"/>
          </p:cNvSpPr>
          <p:nvPr/>
        </p:nvSpPr>
        <p:spPr>
          <a:xfrm xmlns:a="http://schemas.openxmlformats.org/drawingml/2006/main">
            <a:off x="952500" y="42481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827"/>
                </a:solidFill>
              </a:defRPr>
            </a:pPr>
            <a:r>
              <a:rPr sz="2025" b="1">
                <a:solidFill>
                  <a:srgbClr val="111827"/>
                </a:solidFill>
              </a:rPr>
              <a:t>0.15</a:t>
            </a:r>
          </a:p>
        </p:txBody>
      </p:sp>
      <p:sp>
        <p:nvSpPr>
          <p:cNvPr id="16" name="">
            <a:extLst xmlns:a="http://schemas.openxmlformats.org/drawingml/2006/main">
              <a:ext uri="{FF2B5EF4-FFF2-40B4-BE49-F238E27FC236}">
                <a16:creationId xmlns:a16="http://schemas.microsoft.com/office/drawing/2014/main" id="{2CBD72CF-C05B-4933-9FFB-1512E1D22B1A}"/>
              </a:ext>
            </a:extLst>
          </p:cNvPr>
          <p:cNvSpPr>
            <a:spLocks xmlns:a="http://schemas.openxmlformats.org/drawingml/2006/main" noGrp="1"/>
          </p:cNvSpPr>
          <p:nvPr/>
        </p:nvSpPr>
        <p:spPr>
          <a:xfrm xmlns:a="http://schemas.openxmlformats.org/drawingml/2006/main">
            <a:off x="2381250" y="4400550"/>
            <a:ext cx="171450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7" name="">
            <a:extLst xmlns:a="http://schemas.openxmlformats.org/drawingml/2006/main">
              <a:ext uri="{FF2B5EF4-FFF2-40B4-BE49-F238E27FC236}">
                <a16:creationId xmlns:a16="http://schemas.microsoft.com/office/drawing/2014/main" id="{7DF6704F-2CE5-4485-87E8-394C6B6226EA}"/>
              </a:ext>
            </a:extLst>
          </p:cNvPr>
          <p:cNvSpPr>
            <a:spLocks xmlns:a="http://schemas.openxmlformats.org/drawingml/2006/main" noGrp="1"/>
          </p:cNvSpPr>
          <p:nvPr/>
        </p:nvSpPr>
        <p:spPr>
          <a:xfrm xmlns:a="http://schemas.openxmlformats.org/drawingml/2006/main">
            <a:off x="4810125" y="4276725"/>
            <a:ext cx="171450" cy="2381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E9EE61-27BD-4627-932B-6CDDDB9620AE}"/>
              </a:ext>
            </a:extLst>
          </p:cNvPr>
          <p:cNvSpPr>
            <a:spLocks xmlns:a="http://schemas.openxmlformats.org/drawingml/2006/main" noGrp="1"/>
          </p:cNvSpPr>
          <p:nvPr/>
        </p:nvSpPr>
        <p:spPr>
          <a:xfrm xmlns:a="http://schemas.openxmlformats.org/drawingml/2006/main">
            <a:off x="8763000" y="42481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596579"/>
                </a:solidFill>
              </a:defRPr>
            </a:pPr>
            <a:r>
              <a:rPr sz="1725" b="1">
                <a:solidFill>
                  <a:srgbClr val="596579"/>
                </a:solidFill>
              </a:rPr>
              <a:t>weak</a:t>
            </a:r>
          </a:p>
        </p:txBody>
      </p:sp>
      <p:sp>
        <p:nvSpPr>
          <p:cNvPr id="19" name="">
            <a:extLst xmlns:a="http://schemas.openxmlformats.org/drawingml/2006/main">
              <a:ext uri="{FF2B5EF4-FFF2-40B4-BE49-F238E27FC236}">
                <a16:creationId xmlns:a16="http://schemas.microsoft.com/office/drawing/2014/main" id="{49777E55-9F9F-49EE-B180-9D9922B1BAE0}"/>
              </a:ext>
            </a:extLst>
          </p:cNvPr>
          <p:cNvSpPr>
            <a:spLocks xmlns:a="http://schemas.openxmlformats.org/drawingml/2006/main" noGrp="1"/>
          </p:cNvSpPr>
          <p:nvPr/>
        </p:nvSpPr>
        <p:spPr>
          <a:xfrm xmlns:a="http://schemas.openxmlformats.org/drawingml/2006/main">
            <a:off x="685800" y="5219700"/>
            <a:ext cx="10820400" cy="6858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2CD5130-D328-48A4-B501-AC4DEA9B15CF}"/>
              </a:ext>
            </a:extLst>
          </p:cNvPr>
          <p:cNvSpPr>
            <a:spLocks xmlns:a="http://schemas.openxmlformats.org/drawingml/2006/main" noGrp="1"/>
          </p:cNvSpPr>
          <p:nvPr/>
        </p:nvSpPr>
        <p:spPr>
          <a:xfrm xmlns:a="http://schemas.openxmlformats.org/drawingml/2006/main">
            <a:off x="1047750" y="5419725"/>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827"/>
                </a:solidFill>
              </a:defRPr>
            </a:pPr>
            <a:r>
              <a:rPr sz="1725" b="1">
                <a:solidFill>
                  <a:srgbClr val="111827"/>
                </a:solidFill>
              </a:rPr>
              <a:t>Choose β where scale-free fit is acceptable and mean connectivity remains usable.</a:t>
            </a:r>
          </a:p>
        </p:txBody>
      </p:sp>
      <p:sp>
        <p:nvSpPr>
          <p:cNvPr id="21" name="">
            <a:extLst xmlns:a="http://schemas.openxmlformats.org/drawingml/2006/main">
              <a:ext uri="{FF2B5EF4-FFF2-40B4-BE49-F238E27FC236}">
                <a16:creationId xmlns:a16="http://schemas.microsoft.com/office/drawing/2014/main" id="{62FEBEC7-3169-46C4-A366-657A275A9C1D}"/>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06</a:t>
            </a:r>
          </a:p>
        </p:txBody>
      </p:sp>
    </p:spTree>
    <p:extLst>
      <p:ext uri="{BB962C8B-B14F-4D97-AF65-F5344CB8AC3E}">
        <p14:creationId xmlns:p14="http://schemas.microsoft.com/office/powerpoint/2010/main" val="17554961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48F51BD-6B97-4C13-B2E8-D170D971000D}"/>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F327C410-D91A-444A-9BFE-2BCA48E7B907}"/>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Topological overlap rewards genes that share neighbors</a:t>
            </a:r>
          </a:p>
        </p:txBody>
      </p:sp>
      <p:sp>
        <p:nvSpPr>
          <p:cNvPr id="3" name="">
            <a:extLst xmlns:a="http://schemas.openxmlformats.org/drawingml/2006/main">
              <a:ext uri="{FF2B5EF4-FFF2-40B4-BE49-F238E27FC236}">
                <a16:creationId xmlns:a16="http://schemas.microsoft.com/office/drawing/2014/main" id="{675166F8-73F3-47F6-9079-52CF8014FA52}"/>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FB0ABC-5FA6-4C5B-B8FA-40080F7038E4}"/>
              </a:ext>
            </a:extLst>
          </p:cNvPr>
          <p:cNvSpPr>
            <a:spLocks xmlns:a="http://schemas.openxmlformats.org/drawingml/2006/main" noGrp="1"/>
          </p:cNvSpPr>
          <p:nvPr/>
        </p:nvSpPr>
        <p:spPr>
          <a:xfrm xmlns:a="http://schemas.openxmlformats.org/drawingml/2006/main">
            <a:off x="762000" y="1952625"/>
            <a:ext cx="3143250" cy="2476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67F132-18F9-475E-9321-FF3A43011DBB}"/>
              </a:ext>
            </a:extLst>
          </p:cNvPr>
          <p:cNvSpPr>
            <a:spLocks xmlns:a="http://schemas.openxmlformats.org/drawingml/2006/main" noGrp="1"/>
          </p:cNvSpPr>
          <p:nvPr/>
        </p:nvSpPr>
        <p:spPr>
          <a:xfrm xmlns:a="http://schemas.openxmlformats.org/drawingml/2006/main">
            <a:off x="990600" y="21907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563EB"/>
                </a:solidFill>
              </a:defRPr>
            </a:pPr>
            <a:r>
              <a:rPr sz="1950" b="1">
                <a:solidFill>
                  <a:srgbClr val="2563EB"/>
                </a:solidFill>
              </a:rPr>
              <a:t>Correlation</a:t>
            </a:r>
          </a:p>
        </p:txBody>
      </p:sp>
      <p:sp>
        <p:nvSpPr>
          <p:cNvPr id="6" name="">
            <a:extLst xmlns:a="http://schemas.openxmlformats.org/drawingml/2006/main">
              <a:ext uri="{FF2B5EF4-FFF2-40B4-BE49-F238E27FC236}">
                <a16:creationId xmlns:a16="http://schemas.microsoft.com/office/drawing/2014/main" id="{9BACEA75-44DF-4981-A57E-44D9C386BA10}"/>
              </a:ext>
            </a:extLst>
          </p:cNvPr>
          <p:cNvSpPr>
            <a:spLocks xmlns:a="http://schemas.openxmlformats.org/drawingml/2006/main" noGrp="1"/>
          </p:cNvSpPr>
          <p:nvPr/>
        </p:nvSpPr>
        <p:spPr>
          <a:xfrm xmlns:a="http://schemas.openxmlformats.org/drawingml/2006/main">
            <a:off x="990600" y="27241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11827"/>
                </a:solidFill>
              </a:defRPr>
            </a:pPr>
            <a:r>
              <a:rPr sz="1575" b="0">
                <a:solidFill>
                  <a:srgbClr val="111827"/>
                </a:solidFill>
              </a:rPr>
              <a:t>Do two genes move together?</a:t>
            </a:r>
          </a:p>
        </p:txBody>
      </p:sp>
      <p:sp>
        <p:nvSpPr>
          <p:cNvPr id="7" name="">
            <a:extLst xmlns:a="http://schemas.openxmlformats.org/drawingml/2006/main">
              <a:ext uri="{FF2B5EF4-FFF2-40B4-BE49-F238E27FC236}">
                <a16:creationId xmlns:a16="http://schemas.microsoft.com/office/drawing/2014/main" id="{A138B5D8-AC19-44E8-BD62-F692297BF54B}"/>
              </a:ext>
            </a:extLst>
          </p:cNvPr>
          <p:cNvSpPr>
            <a:spLocks xmlns:a="http://schemas.openxmlformats.org/drawingml/2006/main" noGrp="1"/>
          </p:cNvSpPr>
          <p:nvPr/>
        </p:nvSpPr>
        <p:spPr>
          <a:xfrm xmlns:a="http://schemas.openxmlformats.org/drawingml/2006/main">
            <a:off x="3905250" y="3190875"/>
            <a:ext cx="4762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8" name="">
            <a:extLst xmlns:a="http://schemas.openxmlformats.org/drawingml/2006/main">
              <a:ext uri="{FF2B5EF4-FFF2-40B4-BE49-F238E27FC236}">
                <a16:creationId xmlns:a16="http://schemas.microsoft.com/office/drawing/2014/main" id="{75767916-6C55-4702-AF39-F9604D1AEA3C}"/>
              </a:ext>
            </a:extLst>
          </p:cNvPr>
          <p:cNvSpPr>
            <a:spLocks xmlns:a="http://schemas.openxmlformats.org/drawingml/2006/main" noGrp="1"/>
          </p:cNvSpPr>
          <p:nvPr/>
        </p:nvSpPr>
        <p:spPr>
          <a:xfrm xmlns:a="http://schemas.openxmlformats.org/drawingml/2006/main">
            <a:off x="4476750" y="1952625"/>
            <a:ext cx="3143250" cy="2476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980A41-6197-4841-9853-0BEBA9422A5A}"/>
              </a:ext>
            </a:extLst>
          </p:cNvPr>
          <p:cNvSpPr>
            <a:spLocks xmlns:a="http://schemas.openxmlformats.org/drawingml/2006/main" noGrp="1"/>
          </p:cNvSpPr>
          <p:nvPr/>
        </p:nvSpPr>
        <p:spPr>
          <a:xfrm xmlns:a="http://schemas.openxmlformats.org/drawingml/2006/main">
            <a:off x="4705350" y="21907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38BDF8"/>
                </a:solidFill>
              </a:defRPr>
            </a:pPr>
            <a:r>
              <a:rPr sz="1950" b="1">
                <a:solidFill>
                  <a:srgbClr val="38BDF8"/>
                </a:solidFill>
              </a:rPr>
              <a:t>Adjacency</a:t>
            </a:r>
          </a:p>
        </p:txBody>
      </p:sp>
      <p:sp>
        <p:nvSpPr>
          <p:cNvPr id="10" name="">
            <a:extLst xmlns:a="http://schemas.openxmlformats.org/drawingml/2006/main">
              <a:ext uri="{FF2B5EF4-FFF2-40B4-BE49-F238E27FC236}">
                <a16:creationId xmlns:a16="http://schemas.microsoft.com/office/drawing/2014/main" id="{CE8AE458-6EDE-4E31-8BD7-FA29267373FF}"/>
              </a:ext>
            </a:extLst>
          </p:cNvPr>
          <p:cNvSpPr>
            <a:spLocks xmlns:a="http://schemas.openxmlformats.org/drawingml/2006/main" noGrp="1"/>
          </p:cNvSpPr>
          <p:nvPr/>
        </p:nvSpPr>
        <p:spPr>
          <a:xfrm xmlns:a="http://schemas.openxmlformats.org/drawingml/2006/main">
            <a:off x="4705350" y="27241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11827"/>
                </a:solidFill>
              </a:defRPr>
            </a:pPr>
            <a:r>
              <a:rPr sz="1575" b="0">
                <a:solidFill>
                  <a:srgbClr val="111827"/>
                </a:solidFill>
              </a:rPr>
              <a:t>How strong is their weighted link?</a:t>
            </a:r>
          </a:p>
        </p:txBody>
      </p:sp>
      <p:sp>
        <p:nvSpPr>
          <p:cNvPr id="11" name="">
            <a:extLst xmlns:a="http://schemas.openxmlformats.org/drawingml/2006/main">
              <a:ext uri="{FF2B5EF4-FFF2-40B4-BE49-F238E27FC236}">
                <a16:creationId xmlns:a16="http://schemas.microsoft.com/office/drawing/2014/main" id="{C5E4A262-5C22-43D1-9619-EAF70584B091}"/>
              </a:ext>
            </a:extLst>
          </p:cNvPr>
          <p:cNvSpPr>
            <a:spLocks xmlns:a="http://schemas.openxmlformats.org/drawingml/2006/main" noGrp="1"/>
          </p:cNvSpPr>
          <p:nvPr/>
        </p:nvSpPr>
        <p:spPr>
          <a:xfrm xmlns:a="http://schemas.openxmlformats.org/drawingml/2006/main">
            <a:off x="7620000" y="3190875"/>
            <a:ext cx="476250"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6F18F69C-96C1-4CF2-9057-9B800664AC80}"/>
              </a:ext>
            </a:extLst>
          </p:cNvPr>
          <p:cNvSpPr>
            <a:spLocks xmlns:a="http://schemas.openxmlformats.org/drawingml/2006/main" noGrp="1"/>
          </p:cNvSpPr>
          <p:nvPr/>
        </p:nvSpPr>
        <p:spPr>
          <a:xfrm xmlns:a="http://schemas.openxmlformats.org/drawingml/2006/main">
            <a:off x="8191500" y="1952625"/>
            <a:ext cx="3143250" cy="2476500"/>
          </a:xfrm>
          <a:prstGeom xmlns:a="http://schemas.openxmlformats.org/drawingml/2006/main" prst="rect">
            <a:avLst/>
          </a:prstGeom>
          <a:solidFill xmlns:a="http://schemas.openxmlformats.org/drawingml/2006/main">
            <a:srgbClr val="EAF8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22D2B9-0784-404B-B49A-E8583D7E9410}"/>
              </a:ext>
            </a:extLst>
          </p:cNvPr>
          <p:cNvSpPr>
            <a:spLocks xmlns:a="http://schemas.openxmlformats.org/drawingml/2006/main" noGrp="1"/>
          </p:cNvSpPr>
          <p:nvPr/>
        </p:nvSpPr>
        <p:spPr>
          <a:xfrm xmlns:a="http://schemas.openxmlformats.org/drawingml/2006/main">
            <a:off x="8420100" y="21907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F9D7A"/>
                </a:solidFill>
              </a:defRPr>
            </a:pPr>
            <a:r>
              <a:rPr sz="1950" b="1">
                <a:solidFill>
                  <a:srgbClr val="0F9D7A"/>
                </a:solidFill>
              </a:rPr>
              <a:t>TOM</a:t>
            </a:r>
          </a:p>
        </p:txBody>
      </p:sp>
      <p:sp>
        <p:nvSpPr>
          <p:cNvPr id="14" name="">
            <a:extLst xmlns:a="http://schemas.openxmlformats.org/drawingml/2006/main">
              <a:ext uri="{FF2B5EF4-FFF2-40B4-BE49-F238E27FC236}">
                <a16:creationId xmlns:a16="http://schemas.microsoft.com/office/drawing/2014/main" id="{1F1DC472-4DFB-4B22-B0EC-8423F5A1E9FA}"/>
              </a:ext>
            </a:extLst>
          </p:cNvPr>
          <p:cNvSpPr>
            <a:spLocks xmlns:a="http://schemas.openxmlformats.org/drawingml/2006/main" noGrp="1"/>
          </p:cNvSpPr>
          <p:nvPr/>
        </p:nvSpPr>
        <p:spPr>
          <a:xfrm xmlns:a="http://schemas.openxmlformats.org/drawingml/2006/main">
            <a:off x="8420100" y="27241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11827"/>
                </a:solidFill>
              </a:defRPr>
            </a:pPr>
            <a:r>
              <a:rPr sz="1575" b="0">
                <a:solidFill>
                  <a:srgbClr val="111827"/>
                </a:solidFill>
              </a:rPr>
              <a:t>Do they share network neighbors?</a:t>
            </a:r>
          </a:p>
        </p:txBody>
      </p:sp>
      <p:sp>
        <p:nvSpPr>
          <p:cNvPr id="15" name="">
            <a:extLst xmlns:a="http://schemas.openxmlformats.org/drawingml/2006/main">
              <a:ext uri="{FF2B5EF4-FFF2-40B4-BE49-F238E27FC236}">
                <a16:creationId xmlns:a16="http://schemas.microsoft.com/office/drawing/2014/main" id="{9B738210-31D0-4698-8D32-F9B50D675342}"/>
              </a:ext>
            </a:extLst>
          </p:cNvPr>
          <p:cNvSpPr>
            <a:spLocks xmlns:a="http://schemas.openxmlformats.org/drawingml/2006/main" noGrp="1"/>
          </p:cNvSpPr>
          <p:nvPr/>
        </p:nvSpPr>
        <p:spPr>
          <a:xfrm xmlns:a="http://schemas.openxmlformats.org/drawingml/2006/main">
            <a:off x="8858250" y="3667125"/>
            <a:ext cx="142875" cy="142875"/>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76A79B2-5953-48C9-9FB4-D103876B1055}"/>
              </a:ext>
            </a:extLst>
          </p:cNvPr>
          <p:cNvSpPr>
            <a:spLocks xmlns:a="http://schemas.openxmlformats.org/drawingml/2006/main" noGrp="1"/>
          </p:cNvSpPr>
          <p:nvPr/>
        </p:nvSpPr>
        <p:spPr>
          <a:xfrm xmlns:a="http://schemas.openxmlformats.org/drawingml/2006/main">
            <a:off x="9267825" y="3905250"/>
            <a:ext cx="142875" cy="142875"/>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E494D2B-28E2-4AD2-8C89-9B80FBBB3F19}"/>
              </a:ext>
            </a:extLst>
          </p:cNvPr>
          <p:cNvSpPr>
            <a:spLocks xmlns:a="http://schemas.openxmlformats.org/drawingml/2006/main" noGrp="1"/>
          </p:cNvSpPr>
          <p:nvPr/>
        </p:nvSpPr>
        <p:spPr>
          <a:xfrm xmlns:a="http://schemas.openxmlformats.org/drawingml/2006/main">
            <a:off x="9677400" y="3667125"/>
            <a:ext cx="142875" cy="142875"/>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6D5D65-43DA-4EA3-9EA2-D0DB0BCE851F}"/>
              </a:ext>
            </a:extLst>
          </p:cNvPr>
          <p:cNvSpPr>
            <a:spLocks xmlns:a="http://schemas.openxmlformats.org/drawingml/2006/main" noGrp="1"/>
          </p:cNvSpPr>
          <p:nvPr/>
        </p:nvSpPr>
        <p:spPr>
          <a:xfrm xmlns:a="http://schemas.openxmlformats.org/drawingml/2006/main">
            <a:off x="10086975" y="3905250"/>
            <a:ext cx="142875" cy="142875"/>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C571A8D-6EFE-41A8-B232-582FAC34C84D}"/>
              </a:ext>
            </a:extLst>
          </p:cNvPr>
          <p:cNvSpPr>
            <a:spLocks xmlns:a="http://schemas.openxmlformats.org/drawingml/2006/main" noGrp="1"/>
          </p:cNvSpPr>
          <p:nvPr/>
        </p:nvSpPr>
        <p:spPr>
          <a:xfrm xmlns:a="http://schemas.openxmlformats.org/drawingml/2006/main">
            <a:off x="10496550" y="3667125"/>
            <a:ext cx="142875" cy="142875"/>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79E48DB-D2B4-4CBB-8447-91DEDE1CDCA7}"/>
              </a:ext>
            </a:extLst>
          </p:cNvPr>
          <p:cNvSpPr>
            <a:spLocks xmlns:a="http://schemas.openxmlformats.org/drawingml/2006/main" noGrp="1"/>
          </p:cNvSpPr>
          <p:nvPr/>
        </p:nvSpPr>
        <p:spPr>
          <a:xfrm xmlns:a="http://schemas.openxmlformats.org/drawingml/2006/main">
            <a:off x="1790700" y="52197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11827"/>
                </a:solidFill>
              </a:defRPr>
            </a:pPr>
            <a:r>
              <a:rPr sz="2025" b="1">
                <a:solidFill>
                  <a:srgbClr val="111827"/>
                </a:solidFill>
              </a:rPr>
              <a:t>TOM often produces more robust clusters than correlation alone.</a:t>
            </a:r>
          </a:p>
        </p:txBody>
      </p:sp>
      <p:sp>
        <p:nvSpPr>
          <p:cNvPr id="21" name="">
            <a:extLst xmlns:a="http://schemas.openxmlformats.org/drawingml/2006/main">
              <a:ext uri="{FF2B5EF4-FFF2-40B4-BE49-F238E27FC236}">
                <a16:creationId xmlns:a16="http://schemas.microsoft.com/office/drawing/2014/main" id="{7C276122-147E-4575-AF19-10988DB4E4E8}"/>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07</a:t>
            </a:r>
          </a:p>
        </p:txBody>
      </p:sp>
    </p:spTree>
    <p:extLst>
      <p:ext uri="{BB962C8B-B14F-4D97-AF65-F5344CB8AC3E}">
        <p14:creationId xmlns:p14="http://schemas.microsoft.com/office/powerpoint/2010/main" val="6672287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D5B98CE-77E9-4F80-B274-6F5A87BC44C1}"/>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70CC0CDE-36B1-4CAE-9E4A-BC8977CBEFC6}"/>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Tree branches become modules, then similar modules are merged</a:t>
            </a:r>
          </a:p>
        </p:txBody>
      </p:sp>
      <p:sp>
        <p:nvSpPr>
          <p:cNvPr id="3" name="">
            <a:extLst xmlns:a="http://schemas.openxmlformats.org/drawingml/2006/main">
              <a:ext uri="{FF2B5EF4-FFF2-40B4-BE49-F238E27FC236}">
                <a16:creationId xmlns:a16="http://schemas.microsoft.com/office/drawing/2014/main" id="{C77B3204-5459-4341-9036-2E5FA3587095}"/>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8780C60-B979-4DCF-8D38-5C02D5137D98}"/>
              </a:ext>
            </a:extLst>
          </p:cNvPr>
          <p:cNvSpPr>
            <a:spLocks xmlns:a="http://schemas.openxmlformats.org/drawingml/2006/main" noGrp="1"/>
          </p:cNvSpPr>
          <p:nvPr/>
        </p:nvSpPr>
        <p:spPr>
          <a:xfrm xmlns:a="http://schemas.openxmlformats.org/drawingml/2006/main">
            <a:off x="857250" y="3524250"/>
            <a:ext cx="0" cy="3810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5" name="">
            <a:extLst xmlns:a="http://schemas.openxmlformats.org/drawingml/2006/main">
              <a:ext uri="{FF2B5EF4-FFF2-40B4-BE49-F238E27FC236}">
                <a16:creationId xmlns:a16="http://schemas.microsoft.com/office/drawing/2014/main" id="{3CDD49F6-84A7-4FA9-BB41-53C83B63C594}"/>
              </a:ext>
            </a:extLst>
          </p:cNvPr>
          <p:cNvSpPr>
            <a:spLocks xmlns:a="http://schemas.openxmlformats.org/drawingml/2006/main" noGrp="1"/>
          </p:cNvSpPr>
          <p:nvPr/>
        </p:nvSpPr>
        <p:spPr>
          <a:xfrm xmlns:a="http://schemas.openxmlformats.org/drawingml/2006/main">
            <a:off x="857250" y="35242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6" name="">
            <a:extLst xmlns:a="http://schemas.openxmlformats.org/drawingml/2006/main">
              <a:ext uri="{FF2B5EF4-FFF2-40B4-BE49-F238E27FC236}">
                <a16:creationId xmlns:a16="http://schemas.microsoft.com/office/drawing/2014/main" id="{AE65127A-E1AC-4901-A192-5AD6891AE595}"/>
              </a:ext>
            </a:extLst>
          </p:cNvPr>
          <p:cNvSpPr>
            <a:spLocks xmlns:a="http://schemas.openxmlformats.org/drawingml/2006/main" noGrp="1"/>
          </p:cNvSpPr>
          <p:nvPr/>
        </p:nvSpPr>
        <p:spPr>
          <a:xfrm xmlns:a="http://schemas.openxmlformats.org/drawingml/2006/main">
            <a:off x="1428750" y="3257550"/>
            <a:ext cx="0" cy="6477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7" name="">
            <a:extLst xmlns:a="http://schemas.openxmlformats.org/drawingml/2006/main">
              <a:ext uri="{FF2B5EF4-FFF2-40B4-BE49-F238E27FC236}">
                <a16:creationId xmlns:a16="http://schemas.microsoft.com/office/drawing/2014/main" id="{A48B695F-95EA-4285-946A-94A9FB04C2B5}"/>
              </a:ext>
            </a:extLst>
          </p:cNvPr>
          <p:cNvSpPr>
            <a:spLocks xmlns:a="http://schemas.openxmlformats.org/drawingml/2006/main" noGrp="1"/>
          </p:cNvSpPr>
          <p:nvPr/>
        </p:nvSpPr>
        <p:spPr>
          <a:xfrm xmlns:a="http://schemas.openxmlformats.org/drawingml/2006/main">
            <a:off x="2000250" y="2990850"/>
            <a:ext cx="0" cy="9144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8" name="">
            <a:extLst xmlns:a="http://schemas.openxmlformats.org/drawingml/2006/main">
              <a:ext uri="{FF2B5EF4-FFF2-40B4-BE49-F238E27FC236}">
                <a16:creationId xmlns:a16="http://schemas.microsoft.com/office/drawing/2014/main" id="{EE1E6D1A-7A10-4089-B614-A4E27581A8CD}"/>
              </a:ext>
            </a:extLst>
          </p:cNvPr>
          <p:cNvSpPr>
            <a:spLocks xmlns:a="http://schemas.openxmlformats.org/drawingml/2006/main" noGrp="1"/>
          </p:cNvSpPr>
          <p:nvPr/>
        </p:nvSpPr>
        <p:spPr>
          <a:xfrm xmlns:a="http://schemas.openxmlformats.org/drawingml/2006/main">
            <a:off x="2000250" y="29908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9" name="">
            <a:extLst xmlns:a="http://schemas.openxmlformats.org/drawingml/2006/main">
              <a:ext uri="{FF2B5EF4-FFF2-40B4-BE49-F238E27FC236}">
                <a16:creationId xmlns:a16="http://schemas.microsoft.com/office/drawing/2014/main" id="{9B98F11D-3A95-44C6-93E7-DF4F2EC06AAF}"/>
              </a:ext>
            </a:extLst>
          </p:cNvPr>
          <p:cNvSpPr>
            <a:spLocks xmlns:a="http://schemas.openxmlformats.org/drawingml/2006/main" noGrp="1"/>
          </p:cNvSpPr>
          <p:nvPr/>
        </p:nvSpPr>
        <p:spPr>
          <a:xfrm xmlns:a="http://schemas.openxmlformats.org/drawingml/2006/main">
            <a:off x="2571750" y="2724150"/>
            <a:ext cx="0" cy="11811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0" name="">
            <a:extLst xmlns:a="http://schemas.openxmlformats.org/drawingml/2006/main">
              <a:ext uri="{FF2B5EF4-FFF2-40B4-BE49-F238E27FC236}">
                <a16:creationId xmlns:a16="http://schemas.microsoft.com/office/drawing/2014/main" id="{41FAC2FF-04D6-4547-BDB4-456A460A902E}"/>
              </a:ext>
            </a:extLst>
          </p:cNvPr>
          <p:cNvSpPr>
            <a:spLocks xmlns:a="http://schemas.openxmlformats.org/drawingml/2006/main" noGrp="1"/>
          </p:cNvSpPr>
          <p:nvPr/>
        </p:nvSpPr>
        <p:spPr>
          <a:xfrm xmlns:a="http://schemas.openxmlformats.org/drawingml/2006/main">
            <a:off x="3333750" y="3524250"/>
            <a:ext cx="0" cy="3810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1" name="">
            <a:extLst xmlns:a="http://schemas.openxmlformats.org/drawingml/2006/main">
              <a:ext uri="{FF2B5EF4-FFF2-40B4-BE49-F238E27FC236}">
                <a16:creationId xmlns:a16="http://schemas.microsoft.com/office/drawing/2014/main" id="{5411EC7E-80F3-471B-B2CE-E8A28849BFA7}"/>
              </a:ext>
            </a:extLst>
          </p:cNvPr>
          <p:cNvSpPr>
            <a:spLocks xmlns:a="http://schemas.openxmlformats.org/drawingml/2006/main" noGrp="1"/>
          </p:cNvSpPr>
          <p:nvPr/>
        </p:nvSpPr>
        <p:spPr>
          <a:xfrm xmlns:a="http://schemas.openxmlformats.org/drawingml/2006/main">
            <a:off x="3333750" y="35242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2" name="">
            <a:extLst xmlns:a="http://schemas.openxmlformats.org/drawingml/2006/main">
              <a:ext uri="{FF2B5EF4-FFF2-40B4-BE49-F238E27FC236}">
                <a16:creationId xmlns:a16="http://schemas.microsoft.com/office/drawing/2014/main" id="{5C474B62-B139-4995-BB2A-F23CF968D669}"/>
              </a:ext>
            </a:extLst>
          </p:cNvPr>
          <p:cNvSpPr>
            <a:spLocks xmlns:a="http://schemas.openxmlformats.org/drawingml/2006/main" noGrp="1"/>
          </p:cNvSpPr>
          <p:nvPr/>
        </p:nvSpPr>
        <p:spPr>
          <a:xfrm xmlns:a="http://schemas.openxmlformats.org/drawingml/2006/main">
            <a:off x="3905250" y="3257550"/>
            <a:ext cx="0" cy="6477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3" name="">
            <a:extLst xmlns:a="http://schemas.openxmlformats.org/drawingml/2006/main">
              <a:ext uri="{FF2B5EF4-FFF2-40B4-BE49-F238E27FC236}">
                <a16:creationId xmlns:a16="http://schemas.microsoft.com/office/drawing/2014/main" id="{4642A641-E736-4661-89D0-71FF6DB28434}"/>
              </a:ext>
            </a:extLst>
          </p:cNvPr>
          <p:cNvSpPr>
            <a:spLocks xmlns:a="http://schemas.openxmlformats.org/drawingml/2006/main" noGrp="1"/>
          </p:cNvSpPr>
          <p:nvPr/>
        </p:nvSpPr>
        <p:spPr>
          <a:xfrm xmlns:a="http://schemas.openxmlformats.org/drawingml/2006/main">
            <a:off x="4476750" y="2990850"/>
            <a:ext cx="0" cy="9144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4" name="">
            <a:extLst xmlns:a="http://schemas.openxmlformats.org/drawingml/2006/main">
              <a:ext uri="{FF2B5EF4-FFF2-40B4-BE49-F238E27FC236}">
                <a16:creationId xmlns:a16="http://schemas.microsoft.com/office/drawing/2014/main" id="{7ADDB8BE-7910-44DB-9CC7-456CAACDF804}"/>
              </a:ext>
            </a:extLst>
          </p:cNvPr>
          <p:cNvSpPr>
            <a:spLocks xmlns:a="http://schemas.openxmlformats.org/drawingml/2006/main" noGrp="1"/>
          </p:cNvSpPr>
          <p:nvPr/>
        </p:nvSpPr>
        <p:spPr>
          <a:xfrm xmlns:a="http://schemas.openxmlformats.org/drawingml/2006/main">
            <a:off x="4476750" y="29908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5" name="">
            <a:extLst xmlns:a="http://schemas.openxmlformats.org/drawingml/2006/main">
              <a:ext uri="{FF2B5EF4-FFF2-40B4-BE49-F238E27FC236}">
                <a16:creationId xmlns:a16="http://schemas.microsoft.com/office/drawing/2014/main" id="{5DC0EB3C-3FA9-4D57-988E-1C21604AC12A}"/>
              </a:ext>
            </a:extLst>
          </p:cNvPr>
          <p:cNvSpPr>
            <a:spLocks xmlns:a="http://schemas.openxmlformats.org/drawingml/2006/main" noGrp="1"/>
          </p:cNvSpPr>
          <p:nvPr/>
        </p:nvSpPr>
        <p:spPr>
          <a:xfrm xmlns:a="http://schemas.openxmlformats.org/drawingml/2006/main">
            <a:off x="5048250" y="2724150"/>
            <a:ext cx="0" cy="11811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6" name="">
            <a:extLst xmlns:a="http://schemas.openxmlformats.org/drawingml/2006/main">
              <a:ext uri="{FF2B5EF4-FFF2-40B4-BE49-F238E27FC236}">
                <a16:creationId xmlns:a16="http://schemas.microsoft.com/office/drawing/2014/main" id="{1CAD9C8D-103F-4249-A8A5-9E887F8DA0C7}"/>
              </a:ext>
            </a:extLst>
          </p:cNvPr>
          <p:cNvSpPr>
            <a:spLocks xmlns:a="http://schemas.openxmlformats.org/drawingml/2006/main" noGrp="1"/>
          </p:cNvSpPr>
          <p:nvPr/>
        </p:nvSpPr>
        <p:spPr>
          <a:xfrm xmlns:a="http://schemas.openxmlformats.org/drawingml/2006/main">
            <a:off x="6191250" y="3524250"/>
            <a:ext cx="0" cy="3810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7" name="">
            <a:extLst xmlns:a="http://schemas.openxmlformats.org/drawingml/2006/main">
              <a:ext uri="{FF2B5EF4-FFF2-40B4-BE49-F238E27FC236}">
                <a16:creationId xmlns:a16="http://schemas.microsoft.com/office/drawing/2014/main" id="{3AFC9CC1-530E-4802-84D0-45721ADC0FE7}"/>
              </a:ext>
            </a:extLst>
          </p:cNvPr>
          <p:cNvSpPr>
            <a:spLocks xmlns:a="http://schemas.openxmlformats.org/drawingml/2006/main" noGrp="1"/>
          </p:cNvSpPr>
          <p:nvPr/>
        </p:nvSpPr>
        <p:spPr>
          <a:xfrm xmlns:a="http://schemas.openxmlformats.org/drawingml/2006/main">
            <a:off x="6191250" y="35242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8" name="">
            <a:extLst xmlns:a="http://schemas.openxmlformats.org/drawingml/2006/main">
              <a:ext uri="{FF2B5EF4-FFF2-40B4-BE49-F238E27FC236}">
                <a16:creationId xmlns:a16="http://schemas.microsoft.com/office/drawing/2014/main" id="{E1F1155D-1FAF-4AF9-9225-8939E6596821}"/>
              </a:ext>
            </a:extLst>
          </p:cNvPr>
          <p:cNvSpPr>
            <a:spLocks xmlns:a="http://schemas.openxmlformats.org/drawingml/2006/main" noGrp="1"/>
          </p:cNvSpPr>
          <p:nvPr/>
        </p:nvSpPr>
        <p:spPr>
          <a:xfrm xmlns:a="http://schemas.openxmlformats.org/drawingml/2006/main">
            <a:off x="6762750" y="3257550"/>
            <a:ext cx="0" cy="6477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19" name="">
            <a:extLst xmlns:a="http://schemas.openxmlformats.org/drawingml/2006/main">
              <a:ext uri="{FF2B5EF4-FFF2-40B4-BE49-F238E27FC236}">
                <a16:creationId xmlns:a16="http://schemas.microsoft.com/office/drawing/2014/main" id="{B1915BB1-2164-42F9-A1D7-6B6FFE3BFBD3}"/>
              </a:ext>
            </a:extLst>
          </p:cNvPr>
          <p:cNvSpPr>
            <a:spLocks xmlns:a="http://schemas.openxmlformats.org/drawingml/2006/main" noGrp="1"/>
          </p:cNvSpPr>
          <p:nvPr/>
        </p:nvSpPr>
        <p:spPr>
          <a:xfrm xmlns:a="http://schemas.openxmlformats.org/drawingml/2006/main">
            <a:off x="7334250" y="2990850"/>
            <a:ext cx="0" cy="9144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0" name="">
            <a:extLst xmlns:a="http://schemas.openxmlformats.org/drawingml/2006/main">
              <a:ext uri="{FF2B5EF4-FFF2-40B4-BE49-F238E27FC236}">
                <a16:creationId xmlns:a16="http://schemas.microsoft.com/office/drawing/2014/main" id="{5731E444-95E9-424C-8BB1-AA7FFA943348}"/>
              </a:ext>
            </a:extLst>
          </p:cNvPr>
          <p:cNvSpPr>
            <a:spLocks xmlns:a="http://schemas.openxmlformats.org/drawingml/2006/main" noGrp="1"/>
          </p:cNvSpPr>
          <p:nvPr/>
        </p:nvSpPr>
        <p:spPr>
          <a:xfrm xmlns:a="http://schemas.openxmlformats.org/drawingml/2006/main">
            <a:off x="7334250" y="29908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1" name="">
            <a:extLst xmlns:a="http://schemas.openxmlformats.org/drawingml/2006/main">
              <a:ext uri="{FF2B5EF4-FFF2-40B4-BE49-F238E27FC236}">
                <a16:creationId xmlns:a16="http://schemas.microsoft.com/office/drawing/2014/main" id="{889FC7DF-7B10-44BD-8ADC-84FA27B39113}"/>
              </a:ext>
            </a:extLst>
          </p:cNvPr>
          <p:cNvSpPr>
            <a:spLocks xmlns:a="http://schemas.openxmlformats.org/drawingml/2006/main" noGrp="1"/>
          </p:cNvSpPr>
          <p:nvPr/>
        </p:nvSpPr>
        <p:spPr>
          <a:xfrm xmlns:a="http://schemas.openxmlformats.org/drawingml/2006/main">
            <a:off x="7905750" y="2724150"/>
            <a:ext cx="0" cy="11811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2" name="">
            <a:extLst xmlns:a="http://schemas.openxmlformats.org/drawingml/2006/main">
              <a:ext uri="{FF2B5EF4-FFF2-40B4-BE49-F238E27FC236}">
                <a16:creationId xmlns:a16="http://schemas.microsoft.com/office/drawing/2014/main" id="{3C45EC72-7375-4162-BE35-F6987FB2C977}"/>
              </a:ext>
            </a:extLst>
          </p:cNvPr>
          <p:cNvSpPr>
            <a:spLocks xmlns:a="http://schemas.openxmlformats.org/drawingml/2006/main" noGrp="1"/>
          </p:cNvSpPr>
          <p:nvPr/>
        </p:nvSpPr>
        <p:spPr>
          <a:xfrm xmlns:a="http://schemas.openxmlformats.org/drawingml/2006/main">
            <a:off x="8667750" y="3524250"/>
            <a:ext cx="0" cy="3810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3" name="">
            <a:extLst xmlns:a="http://schemas.openxmlformats.org/drawingml/2006/main">
              <a:ext uri="{FF2B5EF4-FFF2-40B4-BE49-F238E27FC236}">
                <a16:creationId xmlns:a16="http://schemas.microsoft.com/office/drawing/2014/main" id="{055364B7-D40E-4EF0-BD7C-9DC4DF26A622}"/>
              </a:ext>
            </a:extLst>
          </p:cNvPr>
          <p:cNvSpPr>
            <a:spLocks xmlns:a="http://schemas.openxmlformats.org/drawingml/2006/main" noGrp="1"/>
          </p:cNvSpPr>
          <p:nvPr/>
        </p:nvSpPr>
        <p:spPr>
          <a:xfrm xmlns:a="http://schemas.openxmlformats.org/drawingml/2006/main">
            <a:off x="8667750" y="35242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4" name="">
            <a:extLst xmlns:a="http://schemas.openxmlformats.org/drawingml/2006/main">
              <a:ext uri="{FF2B5EF4-FFF2-40B4-BE49-F238E27FC236}">
                <a16:creationId xmlns:a16="http://schemas.microsoft.com/office/drawing/2014/main" id="{14521970-5201-4FFA-A9A5-6E19CBDD8606}"/>
              </a:ext>
            </a:extLst>
          </p:cNvPr>
          <p:cNvSpPr>
            <a:spLocks xmlns:a="http://schemas.openxmlformats.org/drawingml/2006/main" noGrp="1"/>
          </p:cNvSpPr>
          <p:nvPr/>
        </p:nvSpPr>
        <p:spPr>
          <a:xfrm xmlns:a="http://schemas.openxmlformats.org/drawingml/2006/main">
            <a:off x="9239250" y="3257550"/>
            <a:ext cx="0" cy="6477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5" name="">
            <a:extLst xmlns:a="http://schemas.openxmlformats.org/drawingml/2006/main">
              <a:ext uri="{FF2B5EF4-FFF2-40B4-BE49-F238E27FC236}">
                <a16:creationId xmlns:a16="http://schemas.microsoft.com/office/drawing/2014/main" id="{33AB6AB3-D72E-4D31-B1D3-AFCAFDBBA99E}"/>
              </a:ext>
            </a:extLst>
          </p:cNvPr>
          <p:cNvSpPr>
            <a:spLocks xmlns:a="http://schemas.openxmlformats.org/drawingml/2006/main" noGrp="1"/>
          </p:cNvSpPr>
          <p:nvPr/>
        </p:nvSpPr>
        <p:spPr>
          <a:xfrm xmlns:a="http://schemas.openxmlformats.org/drawingml/2006/main">
            <a:off x="9810750" y="2990850"/>
            <a:ext cx="0" cy="9144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6" name="">
            <a:extLst xmlns:a="http://schemas.openxmlformats.org/drawingml/2006/main">
              <a:ext uri="{FF2B5EF4-FFF2-40B4-BE49-F238E27FC236}">
                <a16:creationId xmlns:a16="http://schemas.microsoft.com/office/drawing/2014/main" id="{1504B8D7-5008-4A59-95DB-6463B5BCDF5B}"/>
              </a:ext>
            </a:extLst>
          </p:cNvPr>
          <p:cNvSpPr>
            <a:spLocks xmlns:a="http://schemas.openxmlformats.org/drawingml/2006/main" noGrp="1"/>
          </p:cNvSpPr>
          <p:nvPr/>
        </p:nvSpPr>
        <p:spPr>
          <a:xfrm xmlns:a="http://schemas.openxmlformats.org/drawingml/2006/main">
            <a:off x="9810750" y="2990850"/>
            <a:ext cx="571500" cy="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7" name="">
            <a:extLst xmlns:a="http://schemas.openxmlformats.org/drawingml/2006/main">
              <a:ext uri="{FF2B5EF4-FFF2-40B4-BE49-F238E27FC236}">
                <a16:creationId xmlns:a16="http://schemas.microsoft.com/office/drawing/2014/main" id="{72C56425-0271-4D8D-91EB-2CD486FCB78B}"/>
              </a:ext>
            </a:extLst>
          </p:cNvPr>
          <p:cNvSpPr>
            <a:spLocks xmlns:a="http://schemas.openxmlformats.org/drawingml/2006/main" noGrp="1"/>
          </p:cNvSpPr>
          <p:nvPr/>
        </p:nvSpPr>
        <p:spPr>
          <a:xfrm xmlns:a="http://schemas.openxmlformats.org/drawingml/2006/main">
            <a:off x="10382250" y="2724150"/>
            <a:ext cx="0" cy="1181100"/>
          </a:xfrm>
          <a:prstGeom xmlns:a="http://schemas.openxmlformats.org/drawingml/2006/main" prst="line">
            <a:avLst/>
          </a:prstGeom>
          <a:noFill xmlns:a="http://schemas.openxmlformats.org/drawingml/2006/main"/>
          <a:ln xmlns:a="http://schemas.openxmlformats.org/drawingml/2006/main" w="9525">
            <a:solidFill>
              <a:srgbClr val="9CA3AF"/>
            </a:solidFill>
            <a:prstDash val="solid"/>
          </a:ln>
        </p:spPr>
      </p:sp>
      <p:sp>
        <p:nvSpPr>
          <p:cNvPr id="28" name="">
            <a:extLst xmlns:a="http://schemas.openxmlformats.org/drawingml/2006/main">
              <a:ext uri="{FF2B5EF4-FFF2-40B4-BE49-F238E27FC236}">
                <a16:creationId xmlns:a16="http://schemas.microsoft.com/office/drawing/2014/main" id="{8BE48D81-D3A6-4D61-82BA-0126157FEFC1}"/>
              </a:ext>
            </a:extLst>
          </p:cNvPr>
          <p:cNvSpPr>
            <a:spLocks xmlns:a="http://schemas.openxmlformats.org/drawingml/2006/main" noGrp="1"/>
          </p:cNvSpPr>
          <p:nvPr/>
        </p:nvSpPr>
        <p:spPr>
          <a:xfrm xmlns:a="http://schemas.openxmlformats.org/drawingml/2006/main">
            <a:off x="857250" y="4095750"/>
            <a:ext cx="2286000" cy="2667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FDD68C1-1787-4CB1-8D41-A5C920AC10F7}"/>
              </a:ext>
            </a:extLst>
          </p:cNvPr>
          <p:cNvSpPr>
            <a:spLocks xmlns:a="http://schemas.openxmlformats.org/drawingml/2006/main" noGrp="1"/>
          </p:cNvSpPr>
          <p:nvPr/>
        </p:nvSpPr>
        <p:spPr>
          <a:xfrm xmlns:a="http://schemas.openxmlformats.org/drawingml/2006/main">
            <a:off x="3333750" y="4095750"/>
            <a:ext cx="2286000" cy="266700"/>
          </a:xfrm>
          <a:prstGeom xmlns:a="http://schemas.openxmlformats.org/drawingml/2006/main" prst="rect">
            <a:avLst/>
          </a:prstGeom>
          <a:solidFill xmlns:a="http://schemas.openxmlformats.org/drawingml/2006/main">
            <a:srgbClr val="0F9D7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83768AF-B1C3-49C1-B1AA-86146CEAF8F8}"/>
              </a:ext>
            </a:extLst>
          </p:cNvPr>
          <p:cNvSpPr>
            <a:spLocks xmlns:a="http://schemas.openxmlformats.org/drawingml/2006/main" noGrp="1"/>
          </p:cNvSpPr>
          <p:nvPr/>
        </p:nvSpPr>
        <p:spPr>
          <a:xfrm xmlns:a="http://schemas.openxmlformats.org/drawingml/2006/main">
            <a:off x="6191250" y="4095750"/>
            <a:ext cx="2286000" cy="2667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87A12C4-2E20-4F82-96C3-AEB579DB95C8}"/>
              </a:ext>
            </a:extLst>
          </p:cNvPr>
          <p:cNvSpPr>
            <a:spLocks xmlns:a="http://schemas.openxmlformats.org/drawingml/2006/main" noGrp="1"/>
          </p:cNvSpPr>
          <p:nvPr/>
        </p:nvSpPr>
        <p:spPr>
          <a:xfrm xmlns:a="http://schemas.openxmlformats.org/drawingml/2006/main">
            <a:off x="8667750" y="4095750"/>
            <a:ext cx="2286000" cy="2667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0BF7EB1-6D4B-4C6D-88B4-801D62524563}"/>
              </a:ext>
            </a:extLst>
          </p:cNvPr>
          <p:cNvSpPr>
            <a:spLocks xmlns:a="http://schemas.openxmlformats.org/drawingml/2006/main" noGrp="1"/>
          </p:cNvSpPr>
          <p:nvPr/>
        </p:nvSpPr>
        <p:spPr>
          <a:xfrm xmlns:a="http://schemas.openxmlformats.org/drawingml/2006/main">
            <a:off x="857250" y="47148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827"/>
                </a:solidFill>
              </a:defRPr>
            </a:pPr>
            <a:r>
              <a:rPr sz="1650" b="1">
                <a:solidFill>
                  <a:srgbClr val="111827"/>
                </a:solidFill>
              </a:rPr>
              <a:t>Dynamic tree cut</a:t>
            </a:r>
          </a:p>
        </p:txBody>
      </p:sp>
      <p:sp>
        <p:nvSpPr>
          <p:cNvPr id="33" name="">
            <a:extLst xmlns:a="http://schemas.openxmlformats.org/drawingml/2006/main">
              <a:ext uri="{FF2B5EF4-FFF2-40B4-BE49-F238E27FC236}">
                <a16:creationId xmlns:a16="http://schemas.microsoft.com/office/drawing/2014/main" id="{E18A1EE8-46FC-4E24-811D-E1F6B5A01F48}"/>
              </a:ext>
            </a:extLst>
          </p:cNvPr>
          <p:cNvSpPr>
            <a:spLocks xmlns:a="http://schemas.openxmlformats.org/drawingml/2006/main" noGrp="1"/>
          </p:cNvSpPr>
          <p:nvPr/>
        </p:nvSpPr>
        <p:spPr>
          <a:xfrm xmlns:a="http://schemas.openxmlformats.org/drawingml/2006/main">
            <a:off x="3429000" y="4857750"/>
            <a:ext cx="2047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4" name="">
            <a:extLst xmlns:a="http://schemas.openxmlformats.org/drawingml/2006/main">
              <a:ext uri="{FF2B5EF4-FFF2-40B4-BE49-F238E27FC236}">
                <a16:creationId xmlns:a16="http://schemas.microsoft.com/office/drawing/2014/main" id="{3AF135B4-F3A3-4455-81B2-BB37EA498458}"/>
              </a:ext>
            </a:extLst>
          </p:cNvPr>
          <p:cNvSpPr>
            <a:spLocks xmlns:a="http://schemas.openxmlformats.org/drawingml/2006/main" noGrp="1"/>
          </p:cNvSpPr>
          <p:nvPr/>
        </p:nvSpPr>
        <p:spPr>
          <a:xfrm xmlns:a="http://schemas.openxmlformats.org/drawingml/2006/main">
            <a:off x="5715000" y="47148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827"/>
                </a:solidFill>
              </a:defRPr>
            </a:pPr>
            <a:r>
              <a:rPr sz="1650" b="1">
                <a:solidFill>
                  <a:srgbClr val="111827"/>
                </a:solidFill>
              </a:rPr>
              <a:t>Merge close eigengenes</a:t>
            </a:r>
          </a:p>
        </p:txBody>
      </p:sp>
      <p:sp>
        <p:nvSpPr>
          <p:cNvPr id="35" name="">
            <a:extLst xmlns:a="http://schemas.openxmlformats.org/drawingml/2006/main">
              <a:ext uri="{FF2B5EF4-FFF2-40B4-BE49-F238E27FC236}">
                <a16:creationId xmlns:a16="http://schemas.microsoft.com/office/drawing/2014/main" id="{DFD58DF1-B026-406F-BFAD-E4E7A80F8C7C}"/>
              </a:ext>
            </a:extLst>
          </p:cNvPr>
          <p:cNvSpPr>
            <a:spLocks xmlns:a="http://schemas.openxmlformats.org/drawingml/2006/main" noGrp="1"/>
          </p:cNvSpPr>
          <p:nvPr/>
        </p:nvSpPr>
        <p:spPr>
          <a:xfrm xmlns:a="http://schemas.openxmlformats.org/drawingml/2006/main">
            <a:off x="1524000" y="552450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563EB"/>
                </a:solidFill>
              </a:defRPr>
            </a:pPr>
            <a:r>
              <a:rPr sz="1875" b="1">
                <a:solidFill>
                  <a:srgbClr val="2563EB"/>
                </a:solidFill>
              </a:rPr>
              <a:t>A module eigengene is the first principal component of a module's expression.</a:t>
            </a:r>
          </a:p>
        </p:txBody>
      </p:sp>
      <p:sp>
        <p:nvSpPr>
          <p:cNvPr id="36" name="">
            <a:extLst xmlns:a="http://schemas.openxmlformats.org/drawingml/2006/main">
              <a:ext uri="{FF2B5EF4-FFF2-40B4-BE49-F238E27FC236}">
                <a16:creationId xmlns:a16="http://schemas.microsoft.com/office/drawing/2014/main" id="{DFED3831-05CD-4D69-AF2C-26EF5DF76461}"/>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08</a:t>
            </a:r>
          </a:p>
        </p:txBody>
      </p:sp>
    </p:spTree>
    <p:extLst>
      <p:ext uri="{BB962C8B-B14F-4D97-AF65-F5344CB8AC3E}">
        <p14:creationId xmlns:p14="http://schemas.microsoft.com/office/powerpoint/2010/main" val="4694058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6DCF9148-EDF2-4F79-8F00-D0D3C6858C15}"/>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4F731E0C-16E9-467A-8DE5-1BAE75E82383}"/>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Module–trait correlations prioritize biological signals</a:t>
            </a:r>
          </a:p>
        </p:txBody>
      </p:sp>
      <p:sp>
        <p:nvSpPr>
          <p:cNvPr id="3" name="">
            <a:extLst xmlns:a="http://schemas.openxmlformats.org/drawingml/2006/main">
              <a:ext uri="{FF2B5EF4-FFF2-40B4-BE49-F238E27FC236}">
                <a16:creationId xmlns:a16="http://schemas.microsoft.com/office/drawing/2014/main" id="{BD4466C7-FA60-4CB4-90C2-045C7B46897B}"/>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A9ED56E-0773-46AF-9740-BCF695DCB4CF}"/>
              </a:ext>
            </a:extLst>
          </p:cNvPr>
          <p:cNvSpPr>
            <a:spLocks xmlns:a="http://schemas.openxmlformats.org/drawingml/2006/main" noGrp="1"/>
          </p:cNvSpPr>
          <p:nvPr/>
        </p:nvSpPr>
        <p:spPr>
          <a:xfrm xmlns:a="http://schemas.openxmlformats.org/drawingml/2006/main">
            <a:off x="4095750" y="1695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11827"/>
                </a:solidFill>
              </a:defRPr>
            </a:pPr>
            <a:r>
              <a:rPr sz="1275" b="1">
                <a:solidFill>
                  <a:srgbClr val="111827"/>
                </a:solidFill>
              </a:rPr>
              <a:t>Disease</a:t>
            </a:r>
          </a:p>
        </p:txBody>
      </p:sp>
      <p:sp>
        <p:nvSpPr>
          <p:cNvPr id="5" name="">
            <a:extLst xmlns:a="http://schemas.openxmlformats.org/drawingml/2006/main">
              <a:ext uri="{FF2B5EF4-FFF2-40B4-BE49-F238E27FC236}">
                <a16:creationId xmlns:a16="http://schemas.microsoft.com/office/drawing/2014/main" id="{C8304527-991B-480F-B7A3-155B65678B85}"/>
              </a:ext>
            </a:extLst>
          </p:cNvPr>
          <p:cNvSpPr>
            <a:spLocks xmlns:a="http://schemas.openxmlformats.org/drawingml/2006/main" noGrp="1"/>
          </p:cNvSpPr>
          <p:nvPr/>
        </p:nvSpPr>
        <p:spPr>
          <a:xfrm xmlns:a="http://schemas.openxmlformats.org/drawingml/2006/main">
            <a:off x="5524500" y="1695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11827"/>
                </a:solidFill>
              </a:defRPr>
            </a:pPr>
            <a:r>
              <a:rPr sz="1275" b="1">
                <a:solidFill>
                  <a:srgbClr val="111827"/>
                </a:solidFill>
              </a:rPr>
              <a:t>Age</a:t>
            </a:r>
          </a:p>
        </p:txBody>
      </p:sp>
      <p:sp>
        <p:nvSpPr>
          <p:cNvPr id="6" name="">
            <a:extLst xmlns:a="http://schemas.openxmlformats.org/drawingml/2006/main">
              <a:ext uri="{FF2B5EF4-FFF2-40B4-BE49-F238E27FC236}">
                <a16:creationId xmlns:a16="http://schemas.microsoft.com/office/drawing/2014/main" id="{19FE3D27-482A-4C44-9197-64C0A4F78A4E}"/>
              </a:ext>
            </a:extLst>
          </p:cNvPr>
          <p:cNvSpPr>
            <a:spLocks xmlns:a="http://schemas.openxmlformats.org/drawingml/2006/main" noGrp="1"/>
          </p:cNvSpPr>
          <p:nvPr/>
        </p:nvSpPr>
        <p:spPr>
          <a:xfrm xmlns:a="http://schemas.openxmlformats.org/drawingml/2006/main">
            <a:off x="6953250" y="1695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11827"/>
                </a:solidFill>
              </a:defRPr>
            </a:pPr>
            <a:r>
              <a:rPr sz="1275" b="1">
                <a:solidFill>
                  <a:srgbClr val="111827"/>
                </a:solidFill>
              </a:rPr>
              <a:t>Sex</a:t>
            </a:r>
          </a:p>
        </p:txBody>
      </p:sp>
      <p:sp>
        <p:nvSpPr>
          <p:cNvPr id="7" name="">
            <a:extLst xmlns:a="http://schemas.openxmlformats.org/drawingml/2006/main">
              <a:ext uri="{FF2B5EF4-FFF2-40B4-BE49-F238E27FC236}">
                <a16:creationId xmlns:a16="http://schemas.microsoft.com/office/drawing/2014/main" id="{66A10C43-E379-4EE2-9EDE-721E22FAC278}"/>
              </a:ext>
            </a:extLst>
          </p:cNvPr>
          <p:cNvSpPr>
            <a:spLocks xmlns:a="http://schemas.openxmlformats.org/drawingml/2006/main" noGrp="1"/>
          </p:cNvSpPr>
          <p:nvPr/>
        </p:nvSpPr>
        <p:spPr>
          <a:xfrm xmlns:a="http://schemas.openxmlformats.org/drawingml/2006/main">
            <a:off x="8382000" y="1695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11827"/>
                </a:solidFill>
              </a:defRPr>
            </a:pPr>
            <a:r>
              <a:rPr sz="1275" b="1">
                <a:solidFill>
                  <a:srgbClr val="111827"/>
                </a:solidFill>
              </a:rPr>
              <a:t>Treatment</a:t>
            </a:r>
          </a:p>
        </p:txBody>
      </p:sp>
      <p:sp>
        <p:nvSpPr>
          <p:cNvPr id="8" name="">
            <a:extLst xmlns:a="http://schemas.openxmlformats.org/drawingml/2006/main">
              <a:ext uri="{FF2B5EF4-FFF2-40B4-BE49-F238E27FC236}">
                <a16:creationId xmlns:a16="http://schemas.microsoft.com/office/drawing/2014/main" id="{504558CA-6A77-4632-BCAA-1834456ACEFF}"/>
              </a:ext>
            </a:extLst>
          </p:cNvPr>
          <p:cNvSpPr>
            <a:spLocks xmlns:a="http://schemas.openxmlformats.org/drawingml/2006/main" noGrp="1"/>
          </p:cNvSpPr>
          <p:nvPr/>
        </p:nvSpPr>
        <p:spPr>
          <a:xfrm xmlns:a="http://schemas.openxmlformats.org/drawingml/2006/main">
            <a:off x="876300" y="21907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MEblue</a:t>
            </a:r>
          </a:p>
        </p:txBody>
      </p:sp>
      <p:sp>
        <p:nvSpPr>
          <p:cNvPr id="9" name="">
            <a:extLst xmlns:a="http://schemas.openxmlformats.org/drawingml/2006/main">
              <a:ext uri="{FF2B5EF4-FFF2-40B4-BE49-F238E27FC236}">
                <a16:creationId xmlns:a16="http://schemas.microsoft.com/office/drawing/2014/main" id="{D668A701-F6BD-4F44-8C1D-1670571FBE7C}"/>
              </a:ext>
            </a:extLst>
          </p:cNvPr>
          <p:cNvSpPr>
            <a:spLocks xmlns:a="http://schemas.openxmlformats.org/drawingml/2006/main" noGrp="1"/>
          </p:cNvSpPr>
          <p:nvPr/>
        </p:nvSpPr>
        <p:spPr>
          <a:xfrm xmlns:a="http://schemas.openxmlformats.org/drawingml/2006/main">
            <a:off x="4095750" y="2076450"/>
            <a:ext cx="1238250" cy="4953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65ED9D-850F-44C8-AE3D-7A03AD21DFD3}"/>
              </a:ext>
            </a:extLst>
          </p:cNvPr>
          <p:cNvSpPr>
            <a:spLocks xmlns:a="http://schemas.openxmlformats.org/drawingml/2006/main" noGrp="1"/>
          </p:cNvSpPr>
          <p:nvPr/>
        </p:nvSpPr>
        <p:spPr>
          <a:xfrm xmlns:a="http://schemas.openxmlformats.org/drawingml/2006/main">
            <a:off x="4191000" y="22002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0.72</a:t>
            </a:r>
          </a:p>
        </p:txBody>
      </p:sp>
      <p:sp>
        <p:nvSpPr>
          <p:cNvPr id="11" name="">
            <a:extLst xmlns:a="http://schemas.openxmlformats.org/drawingml/2006/main">
              <a:ext uri="{FF2B5EF4-FFF2-40B4-BE49-F238E27FC236}">
                <a16:creationId xmlns:a16="http://schemas.microsoft.com/office/drawing/2014/main" id="{DBDD4C51-3FFF-4A9B-BC31-58FF954ACDBB}"/>
              </a:ext>
            </a:extLst>
          </p:cNvPr>
          <p:cNvSpPr>
            <a:spLocks xmlns:a="http://schemas.openxmlformats.org/drawingml/2006/main" noGrp="1"/>
          </p:cNvSpPr>
          <p:nvPr/>
        </p:nvSpPr>
        <p:spPr>
          <a:xfrm xmlns:a="http://schemas.openxmlformats.org/drawingml/2006/main">
            <a:off x="5524500" y="20764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18FCA5-5B10-4FD9-8696-6ED521CD85CD}"/>
              </a:ext>
            </a:extLst>
          </p:cNvPr>
          <p:cNvSpPr>
            <a:spLocks xmlns:a="http://schemas.openxmlformats.org/drawingml/2006/main" noGrp="1"/>
          </p:cNvSpPr>
          <p:nvPr/>
        </p:nvSpPr>
        <p:spPr>
          <a:xfrm xmlns:a="http://schemas.openxmlformats.org/drawingml/2006/main">
            <a:off x="5619750" y="22002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0.10</a:t>
            </a:r>
          </a:p>
        </p:txBody>
      </p:sp>
      <p:sp>
        <p:nvSpPr>
          <p:cNvPr id="13" name="">
            <a:extLst xmlns:a="http://schemas.openxmlformats.org/drawingml/2006/main">
              <a:ext uri="{FF2B5EF4-FFF2-40B4-BE49-F238E27FC236}">
                <a16:creationId xmlns:a16="http://schemas.microsoft.com/office/drawing/2014/main" id="{8ED38E60-EB66-4205-AB55-93DB53E90ADF}"/>
              </a:ext>
            </a:extLst>
          </p:cNvPr>
          <p:cNvSpPr>
            <a:spLocks xmlns:a="http://schemas.openxmlformats.org/drawingml/2006/main" noGrp="1"/>
          </p:cNvSpPr>
          <p:nvPr/>
        </p:nvSpPr>
        <p:spPr>
          <a:xfrm xmlns:a="http://schemas.openxmlformats.org/drawingml/2006/main">
            <a:off x="6953250" y="2076450"/>
            <a:ext cx="1238250" cy="495300"/>
          </a:xfrm>
          <a:prstGeom xmlns:a="http://schemas.openxmlformats.org/drawingml/2006/main" prst="rect">
            <a:avLst/>
          </a:prstGeom>
          <a:solidFill xmlns:a="http://schemas.openxmlformats.org/drawingml/2006/main">
            <a:srgbClr val="FCE8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2DB74AE-4E4C-49DB-B4CD-F64B8F879C2E}"/>
              </a:ext>
            </a:extLst>
          </p:cNvPr>
          <p:cNvSpPr>
            <a:spLocks xmlns:a="http://schemas.openxmlformats.org/drawingml/2006/main" noGrp="1"/>
          </p:cNvSpPr>
          <p:nvPr/>
        </p:nvSpPr>
        <p:spPr>
          <a:xfrm xmlns:a="http://schemas.openxmlformats.org/drawingml/2006/main">
            <a:off x="7048500" y="22002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-0.05</a:t>
            </a:r>
          </a:p>
        </p:txBody>
      </p:sp>
      <p:sp>
        <p:nvSpPr>
          <p:cNvPr id="15" name="">
            <a:extLst xmlns:a="http://schemas.openxmlformats.org/drawingml/2006/main">
              <a:ext uri="{FF2B5EF4-FFF2-40B4-BE49-F238E27FC236}">
                <a16:creationId xmlns:a16="http://schemas.microsoft.com/office/drawing/2014/main" id="{1A15B481-05E8-412E-B026-0E02E0162943}"/>
              </a:ext>
            </a:extLst>
          </p:cNvPr>
          <p:cNvSpPr>
            <a:spLocks xmlns:a="http://schemas.openxmlformats.org/drawingml/2006/main" noGrp="1"/>
          </p:cNvSpPr>
          <p:nvPr/>
        </p:nvSpPr>
        <p:spPr>
          <a:xfrm xmlns:a="http://schemas.openxmlformats.org/drawingml/2006/main">
            <a:off x="8382000" y="20764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54C8887-B408-47E9-8BF0-622AAFC1DF26}"/>
              </a:ext>
            </a:extLst>
          </p:cNvPr>
          <p:cNvSpPr>
            <a:spLocks xmlns:a="http://schemas.openxmlformats.org/drawingml/2006/main" noGrp="1"/>
          </p:cNvSpPr>
          <p:nvPr/>
        </p:nvSpPr>
        <p:spPr>
          <a:xfrm xmlns:a="http://schemas.openxmlformats.org/drawingml/2006/main">
            <a:off x="8477250" y="22002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0.44</a:t>
            </a:r>
          </a:p>
        </p:txBody>
      </p:sp>
      <p:sp>
        <p:nvSpPr>
          <p:cNvPr id="17" name="">
            <a:extLst xmlns:a="http://schemas.openxmlformats.org/drawingml/2006/main">
              <a:ext uri="{FF2B5EF4-FFF2-40B4-BE49-F238E27FC236}">
                <a16:creationId xmlns:a16="http://schemas.microsoft.com/office/drawing/2014/main" id="{5CB12EC8-0B1D-4939-867E-BFC8F3528F46}"/>
              </a:ext>
            </a:extLst>
          </p:cNvPr>
          <p:cNvSpPr>
            <a:spLocks xmlns:a="http://schemas.openxmlformats.org/drawingml/2006/main" noGrp="1"/>
          </p:cNvSpPr>
          <p:nvPr/>
        </p:nvSpPr>
        <p:spPr>
          <a:xfrm xmlns:a="http://schemas.openxmlformats.org/drawingml/2006/main">
            <a:off x="876300" y="2838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MEturquoise</a:t>
            </a:r>
          </a:p>
        </p:txBody>
      </p:sp>
      <p:sp>
        <p:nvSpPr>
          <p:cNvPr id="18" name="">
            <a:extLst xmlns:a="http://schemas.openxmlformats.org/drawingml/2006/main">
              <a:ext uri="{FF2B5EF4-FFF2-40B4-BE49-F238E27FC236}">
                <a16:creationId xmlns:a16="http://schemas.microsoft.com/office/drawing/2014/main" id="{463A745C-862A-4D0E-B0BB-02114CFA03A9}"/>
              </a:ext>
            </a:extLst>
          </p:cNvPr>
          <p:cNvSpPr>
            <a:spLocks xmlns:a="http://schemas.openxmlformats.org/drawingml/2006/main" noGrp="1"/>
          </p:cNvSpPr>
          <p:nvPr/>
        </p:nvSpPr>
        <p:spPr>
          <a:xfrm xmlns:a="http://schemas.openxmlformats.org/drawingml/2006/main">
            <a:off x="4095750" y="2724150"/>
            <a:ext cx="1238250" cy="495300"/>
          </a:xfrm>
          <a:prstGeom xmlns:a="http://schemas.openxmlformats.org/drawingml/2006/main" prst="rect">
            <a:avLst/>
          </a:prstGeom>
          <a:solidFill xmlns:a="http://schemas.openxmlformats.org/drawingml/2006/main">
            <a:srgbClr val="FCE8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D126BAB-E269-4158-B72F-F2B0E824959A}"/>
              </a:ext>
            </a:extLst>
          </p:cNvPr>
          <p:cNvSpPr>
            <a:spLocks xmlns:a="http://schemas.openxmlformats.org/drawingml/2006/main" noGrp="1"/>
          </p:cNvSpPr>
          <p:nvPr/>
        </p:nvSpPr>
        <p:spPr>
          <a:xfrm xmlns:a="http://schemas.openxmlformats.org/drawingml/2006/main">
            <a:off x="4191000" y="28479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-0.18</a:t>
            </a:r>
          </a:p>
        </p:txBody>
      </p:sp>
      <p:sp>
        <p:nvSpPr>
          <p:cNvPr id="20" name="">
            <a:extLst xmlns:a="http://schemas.openxmlformats.org/drawingml/2006/main">
              <a:ext uri="{FF2B5EF4-FFF2-40B4-BE49-F238E27FC236}">
                <a16:creationId xmlns:a16="http://schemas.microsoft.com/office/drawing/2014/main" id="{6D46ED80-6753-4A20-B563-463C1E247752}"/>
              </a:ext>
            </a:extLst>
          </p:cNvPr>
          <p:cNvSpPr>
            <a:spLocks xmlns:a="http://schemas.openxmlformats.org/drawingml/2006/main" noGrp="1"/>
          </p:cNvSpPr>
          <p:nvPr/>
        </p:nvSpPr>
        <p:spPr>
          <a:xfrm xmlns:a="http://schemas.openxmlformats.org/drawingml/2006/main">
            <a:off x="5524500" y="2724150"/>
            <a:ext cx="1238250" cy="4953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49340EB-50EE-418B-A5B0-52B8EDCC9169}"/>
              </a:ext>
            </a:extLst>
          </p:cNvPr>
          <p:cNvSpPr>
            <a:spLocks xmlns:a="http://schemas.openxmlformats.org/drawingml/2006/main" noGrp="1"/>
          </p:cNvSpPr>
          <p:nvPr/>
        </p:nvSpPr>
        <p:spPr>
          <a:xfrm xmlns:a="http://schemas.openxmlformats.org/drawingml/2006/main">
            <a:off x="5619750" y="28479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0.62</a:t>
            </a:r>
          </a:p>
        </p:txBody>
      </p:sp>
      <p:sp>
        <p:nvSpPr>
          <p:cNvPr id="22" name="">
            <a:extLst xmlns:a="http://schemas.openxmlformats.org/drawingml/2006/main">
              <a:ext uri="{FF2B5EF4-FFF2-40B4-BE49-F238E27FC236}">
                <a16:creationId xmlns:a16="http://schemas.microsoft.com/office/drawing/2014/main" id="{AC9A33C5-B3A5-4F22-A6A0-2B8E89229482}"/>
              </a:ext>
            </a:extLst>
          </p:cNvPr>
          <p:cNvSpPr>
            <a:spLocks xmlns:a="http://schemas.openxmlformats.org/drawingml/2006/main" noGrp="1"/>
          </p:cNvSpPr>
          <p:nvPr/>
        </p:nvSpPr>
        <p:spPr>
          <a:xfrm xmlns:a="http://schemas.openxmlformats.org/drawingml/2006/main">
            <a:off x="6953250" y="27241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852755-AC4C-48AA-8411-6BC376F01292}"/>
              </a:ext>
            </a:extLst>
          </p:cNvPr>
          <p:cNvSpPr>
            <a:spLocks xmlns:a="http://schemas.openxmlformats.org/drawingml/2006/main" noGrp="1"/>
          </p:cNvSpPr>
          <p:nvPr/>
        </p:nvSpPr>
        <p:spPr>
          <a:xfrm xmlns:a="http://schemas.openxmlformats.org/drawingml/2006/main">
            <a:off x="7048500" y="28479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0.08</a:t>
            </a:r>
          </a:p>
        </p:txBody>
      </p:sp>
      <p:sp>
        <p:nvSpPr>
          <p:cNvPr id="24" name="">
            <a:extLst xmlns:a="http://schemas.openxmlformats.org/drawingml/2006/main">
              <a:ext uri="{FF2B5EF4-FFF2-40B4-BE49-F238E27FC236}">
                <a16:creationId xmlns:a16="http://schemas.microsoft.com/office/drawing/2014/main" id="{A61FFC63-30D3-4953-A2EA-A967823362DE}"/>
              </a:ext>
            </a:extLst>
          </p:cNvPr>
          <p:cNvSpPr>
            <a:spLocks xmlns:a="http://schemas.openxmlformats.org/drawingml/2006/main" noGrp="1"/>
          </p:cNvSpPr>
          <p:nvPr/>
        </p:nvSpPr>
        <p:spPr>
          <a:xfrm xmlns:a="http://schemas.openxmlformats.org/drawingml/2006/main">
            <a:off x="8382000" y="27241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4AF9AB1-D274-4921-9DEB-D19558D8D90A}"/>
              </a:ext>
            </a:extLst>
          </p:cNvPr>
          <p:cNvSpPr>
            <a:spLocks xmlns:a="http://schemas.openxmlformats.org/drawingml/2006/main" noGrp="1"/>
          </p:cNvSpPr>
          <p:nvPr/>
        </p:nvSpPr>
        <p:spPr>
          <a:xfrm xmlns:a="http://schemas.openxmlformats.org/drawingml/2006/main">
            <a:off x="8477250" y="28479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0.12</a:t>
            </a:r>
          </a:p>
        </p:txBody>
      </p:sp>
      <p:sp>
        <p:nvSpPr>
          <p:cNvPr id="26" name="">
            <a:extLst xmlns:a="http://schemas.openxmlformats.org/drawingml/2006/main">
              <a:ext uri="{FF2B5EF4-FFF2-40B4-BE49-F238E27FC236}">
                <a16:creationId xmlns:a16="http://schemas.microsoft.com/office/drawing/2014/main" id="{6E6C24B4-89D4-42BE-87F5-9563B8F50ABD}"/>
              </a:ext>
            </a:extLst>
          </p:cNvPr>
          <p:cNvSpPr>
            <a:spLocks xmlns:a="http://schemas.openxmlformats.org/drawingml/2006/main" noGrp="1"/>
          </p:cNvSpPr>
          <p:nvPr/>
        </p:nvSpPr>
        <p:spPr>
          <a:xfrm xmlns:a="http://schemas.openxmlformats.org/drawingml/2006/main">
            <a:off x="876300" y="3486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MEbrown</a:t>
            </a:r>
          </a:p>
        </p:txBody>
      </p:sp>
      <p:sp>
        <p:nvSpPr>
          <p:cNvPr id="27" name="">
            <a:extLst xmlns:a="http://schemas.openxmlformats.org/drawingml/2006/main">
              <a:ext uri="{FF2B5EF4-FFF2-40B4-BE49-F238E27FC236}">
                <a16:creationId xmlns:a16="http://schemas.microsoft.com/office/drawing/2014/main" id="{F8A131C5-890A-4D64-9D6B-CC8BB869DB88}"/>
              </a:ext>
            </a:extLst>
          </p:cNvPr>
          <p:cNvSpPr>
            <a:spLocks xmlns:a="http://schemas.openxmlformats.org/drawingml/2006/main" noGrp="1"/>
          </p:cNvSpPr>
          <p:nvPr/>
        </p:nvSpPr>
        <p:spPr>
          <a:xfrm xmlns:a="http://schemas.openxmlformats.org/drawingml/2006/main">
            <a:off x="4095750" y="33718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B6F4CCC-6774-4824-B828-7B2BB08C2C3E}"/>
              </a:ext>
            </a:extLst>
          </p:cNvPr>
          <p:cNvSpPr>
            <a:spLocks xmlns:a="http://schemas.openxmlformats.org/drawingml/2006/main" noGrp="1"/>
          </p:cNvSpPr>
          <p:nvPr/>
        </p:nvSpPr>
        <p:spPr>
          <a:xfrm xmlns:a="http://schemas.openxmlformats.org/drawingml/2006/main">
            <a:off x="4191000" y="34956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0.31</a:t>
            </a:r>
          </a:p>
        </p:txBody>
      </p:sp>
      <p:sp>
        <p:nvSpPr>
          <p:cNvPr id="29" name="">
            <a:extLst xmlns:a="http://schemas.openxmlformats.org/drawingml/2006/main">
              <a:ext uri="{FF2B5EF4-FFF2-40B4-BE49-F238E27FC236}">
                <a16:creationId xmlns:a16="http://schemas.microsoft.com/office/drawing/2014/main" id="{8686E29E-A72B-46C3-8828-8598CD713748}"/>
              </a:ext>
            </a:extLst>
          </p:cNvPr>
          <p:cNvSpPr>
            <a:spLocks xmlns:a="http://schemas.openxmlformats.org/drawingml/2006/main" noGrp="1"/>
          </p:cNvSpPr>
          <p:nvPr/>
        </p:nvSpPr>
        <p:spPr>
          <a:xfrm xmlns:a="http://schemas.openxmlformats.org/drawingml/2006/main">
            <a:off x="5524500" y="3371850"/>
            <a:ext cx="1238250" cy="495300"/>
          </a:xfrm>
          <a:prstGeom xmlns:a="http://schemas.openxmlformats.org/drawingml/2006/main" prst="rect">
            <a:avLst/>
          </a:prstGeom>
          <a:solidFill xmlns:a="http://schemas.openxmlformats.org/drawingml/2006/main">
            <a:srgbClr val="FCE8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BBAC8F0-911A-4667-A467-3EB09DBC0F68}"/>
              </a:ext>
            </a:extLst>
          </p:cNvPr>
          <p:cNvSpPr>
            <a:spLocks xmlns:a="http://schemas.openxmlformats.org/drawingml/2006/main" noGrp="1"/>
          </p:cNvSpPr>
          <p:nvPr/>
        </p:nvSpPr>
        <p:spPr>
          <a:xfrm xmlns:a="http://schemas.openxmlformats.org/drawingml/2006/main">
            <a:off x="5619750" y="34956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-0.20</a:t>
            </a:r>
          </a:p>
        </p:txBody>
      </p:sp>
      <p:sp>
        <p:nvSpPr>
          <p:cNvPr id="31" name="">
            <a:extLst xmlns:a="http://schemas.openxmlformats.org/drawingml/2006/main">
              <a:ext uri="{FF2B5EF4-FFF2-40B4-BE49-F238E27FC236}">
                <a16:creationId xmlns:a16="http://schemas.microsoft.com/office/drawing/2014/main" id="{B151E8AD-E8CC-4ACE-BAED-6F99BC55022D}"/>
              </a:ext>
            </a:extLst>
          </p:cNvPr>
          <p:cNvSpPr>
            <a:spLocks xmlns:a="http://schemas.openxmlformats.org/drawingml/2006/main" noGrp="1"/>
          </p:cNvSpPr>
          <p:nvPr/>
        </p:nvSpPr>
        <p:spPr>
          <a:xfrm xmlns:a="http://schemas.openxmlformats.org/drawingml/2006/main">
            <a:off x="6953250" y="33718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03E5081-82F4-4A80-ADC7-B763D4B52497}"/>
              </a:ext>
            </a:extLst>
          </p:cNvPr>
          <p:cNvSpPr>
            <a:spLocks xmlns:a="http://schemas.openxmlformats.org/drawingml/2006/main" noGrp="1"/>
          </p:cNvSpPr>
          <p:nvPr/>
        </p:nvSpPr>
        <p:spPr>
          <a:xfrm xmlns:a="http://schemas.openxmlformats.org/drawingml/2006/main">
            <a:off x="7048500" y="34956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0.15</a:t>
            </a:r>
          </a:p>
        </p:txBody>
      </p:sp>
      <p:sp>
        <p:nvSpPr>
          <p:cNvPr id="33" name="">
            <a:extLst xmlns:a="http://schemas.openxmlformats.org/drawingml/2006/main">
              <a:ext uri="{FF2B5EF4-FFF2-40B4-BE49-F238E27FC236}">
                <a16:creationId xmlns:a16="http://schemas.microsoft.com/office/drawing/2014/main" id="{AA97F634-DCE9-41A3-8145-900286F975E3}"/>
              </a:ext>
            </a:extLst>
          </p:cNvPr>
          <p:cNvSpPr>
            <a:spLocks xmlns:a="http://schemas.openxmlformats.org/drawingml/2006/main" noGrp="1"/>
          </p:cNvSpPr>
          <p:nvPr/>
        </p:nvSpPr>
        <p:spPr>
          <a:xfrm xmlns:a="http://schemas.openxmlformats.org/drawingml/2006/main">
            <a:off x="8382000" y="3371850"/>
            <a:ext cx="1238250" cy="495300"/>
          </a:xfrm>
          <a:prstGeom xmlns:a="http://schemas.openxmlformats.org/drawingml/2006/main" prst="rect">
            <a:avLst/>
          </a:prstGeom>
          <a:solidFill xmlns:a="http://schemas.openxmlformats.org/drawingml/2006/main">
            <a:srgbClr val="DC5A5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0100041-29A6-474C-BC5B-A14F892CBD7C}"/>
              </a:ext>
            </a:extLst>
          </p:cNvPr>
          <p:cNvSpPr>
            <a:spLocks xmlns:a="http://schemas.openxmlformats.org/drawingml/2006/main" noGrp="1"/>
          </p:cNvSpPr>
          <p:nvPr/>
        </p:nvSpPr>
        <p:spPr>
          <a:xfrm xmlns:a="http://schemas.openxmlformats.org/drawingml/2006/main">
            <a:off x="8477250" y="34956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-0.58</a:t>
            </a:r>
          </a:p>
        </p:txBody>
      </p:sp>
      <p:sp>
        <p:nvSpPr>
          <p:cNvPr id="35" name="">
            <a:extLst xmlns:a="http://schemas.openxmlformats.org/drawingml/2006/main">
              <a:ext uri="{FF2B5EF4-FFF2-40B4-BE49-F238E27FC236}">
                <a16:creationId xmlns:a16="http://schemas.microsoft.com/office/drawing/2014/main" id="{811381BA-2D10-4B63-AACD-73BF23588F22}"/>
              </a:ext>
            </a:extLst>
          </p:cNvPr>
          <p:cNvSpPr>
            <a:spLocks xmlns:a="http://schemas.openxmlformats.org/drawingml/2006/main" noGrp="1"/>
          </p:cNvSpPr>
          <p:nvPr/>
        </p:nvSpPr>
        <p:spPr>
          <a:xfrm xmlns:a="http://schemas.openxmlformats.org/drawingml/2006/main">
            <a:off x="876300" y="413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MEyellow</a:t>
            </a:r>
          </a:p>
        </p:txBody>
      </p:sp>
      <p:sp>
        <p:nvSpPr>
          <p:cNvPr id="36" name="">
            <a:extLst xmlns:a="http://schemas.openxmlformats.org/drawingml/2006/main">
              <a:ext uri="{FF2B5EF4-FFF2-40B4-BE49-F238E27FC236}">
                <a16:creationId xmlns:a16="http://schemas.microsoft.com/office/drawing/2014/main" id="{0697AD20-5B3B-48DF-9559-72AF6B17C452}"/>
              </a:ext>
            </a:extLst>
          </p:cNvPr>
          <p:cNvSpPr>
            <a:spLocks xmlns:a="http://schemas.openxmlformats.org/drawingml/2006/main" noGrp="1"/>
          </p:cNvSpPr>
          <p:nvPr/>
        </p:nvSpPr>
        <p:spPr>
          <a:xfrm xmlns:a="http://schemas.openxmlformats.org/drawingml/2006/main">
            <a:off x="4095750" y="40195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03BC85F-01B7-411A-91BE-7B5C98FD115E}"/>
              </a:ext>
            </a:extLst>
          </p:cNvPr>
          <p:cNvSpPr>
            <a:spLocks xmlns:a="http://schemas.openxmlformats.org/drawingml/2006/main" noGrp="1"/>
          </p:cNvSpPr>
          <p:nvPr/>
        </p:nvSpPr>
        <p:spPr>
          <a:xfrm xmlns:a="http://schemas.openxmlformats.org/drawingml/2006/main">
            <a:off x="4191000" y="41433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0.05</a:t>
            </a:r>
          </a:p>
        </p:txBody>
      </p:sp>
      <p:sp>
        <p:nvSpPr>
          <p:cNvPr id="38" name="">
            <a:extLst xmlns:a="http://schemas.openxmlformats.org/drawingml/2006/main">
              <a:ext uri="{FF2B5EF4-FFF2-40B4-BE49-F238E27FC236}">
                <a16:creationId xmlns:a16="http://schemas.microsoft.com/office/drawing/2014/main" id="{F79A5539-3B96-42FA-A4BB-B0921673A4C6}"/>
              </a:ext>
            </a:extLst>
          </p:cNvPr>
          <p:cNvSpPr>
            <a:spLocks xmlns:a="http://schemas.openxmlformats.org/drawingml/2006/main" noGrp="1"/>
          </p:cNvSpPr>
          <p:nvPr/>
        </p:nvSpPr>
        <p:spPr>
          <a:xfrm xmlns:a="http://schemas.openxmlformats.org/drawingml/2006/main">
            <a:off x="5524500" y="40195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C89341A-084D-44D3-915B-2A742F7000A8}"/>
              </a:ext>
            </a:extLst>
          </p:cNvPr>
          <p:cNvSpPr>
            <a:spLocks xmlns:a="http://schemas.openxmlformats.org/drawingml/2006/main" noGrp="1"/>
          </p:cNvSpPr>
          <p:nvPr/>
        </p:nvSpPr>
        <p:spPr>
          <a:xfrm xmlns:a="http://schemas.openxmlformats.org/drawingml/2006/main">
            <a:off x="5619750" y="41433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0.14</a:t>
            </a:r>
          </a:p>
        </p:txBody>
      </p:sp>
      <p:sp>
        <p:nvSpPr>
          <p:cNvPr id="40" name="">
            <a:extLst xmlns:a="http://schemas.openxmlformats.org/drawingml/2006/main">
              <a:ext uri="{FF2B5EF4-FFF2-40B4-BE49-F238E27FC236}">
                <a16:creationId xmlns:a16="http://schemas.microsoft.com/office/drawing/2014/main" id="{59B19985-5BEA-46A7-94B1-A316CE70A21B}"/>
              </a:ext>
            </a:extLst>
          </p:cNvPr>
          <p:cNvSpPr>
            <a:spLocks xmlns:a="http://schemas.openxmlformats.org/drawingml/2006/main" noGrp="1"/>
          </p:cNvSpPr>
          <p:nvPr/>
        </p:nvSpPr>
        <p:spPr>
          <a:xfrm xmlns:a="http://schemas.openxmlformats.org/drawingml/2006/main">
            <a:off x="6953250" y="4019550"/>
            <a:ext cx="1238250" cy="4953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C0E978F8-D952-4535-82D2-94B3480385D1}"/>
              </a:ext>
            </a:extLst>
          </p:cNvPr>
          <p:cNvSpPr>
            <a:spLocks xmlns:a="http://schemas.openxmlformats.org/drawingml/2006/main" noGrp="1"/>
          </p:cNvSpPr>
          <p:nvPr/>
        </p:nvSpPr>
        <p:spPr>
          <a:xfrm xmlns:a="http://schemas.openxmlformats.org/drawingml/2006/main">
            <a:off x="7048500" y="41433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0.52</a:t>
            </a:r>
          </a:p>
        </p:txBody>
      </p:sp>
      <p:sp>
        <p:nvSpPr>
          <p:cNvPr id="42" name="">
            <a:extLst xmlns:a="http://schemas.openxmlformats.org/drawingml/2006/main">
              <a:ext uri="{FF2B5EF4-FFF2-40B4-BE49-F238E27FC236}">
                <a16:creationId xmlns:a16="http://schemas.microsoft.com/office/drawing/2014/main" id="{84715C37-2058-49C4-A0B8-F241ED41B88D}"/>
              </a:ext>
            </a:extLst>
          </p:cNvPr>
          <p:cNvSpPr>
            <a:spLocks xmlns:a="http://schemas.openxmlformats.org/drawingml/2006/main" noGrp="1"/>
          </p:cNvSpPr>
          <p:nvPr/>
        </p:nvSpPr>
        <p:spPr>
          <a:xfrm xmlns:a="http://schemas.openxmlformats.org/drawingml/2006/main">
            <a:off x="8382000" y="40195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9E10546-E433-4A10-91AE-A4A9C731433C}"/>
              </a:ext>
            </a:extLst>
          </p:cNvPr>
          <p:cNvSpPr>
            <a:spLocks xmlns:a="http://schemas.openxmlformats.org/drawingml/2006/main" noGrp="1"/>
          </p:cNvSpPr>
          <p:nvPr/>
        </p:nvSpPr>
        <p:spPr>
          <a:xfrm xmlns:a="http://schemas.openxmlformats.org/drawingml/2006/main">
            <a:off x="8477250" y="41433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0.11</a:t>
            </a:r>
          </a:p>
        </p:txBody>
      </p:sp>
      <p:sp>
        <p:nvSpPr>
          <p:cNvPr id="44" name="">
            <a:extLst xmlns:a="http://schemas.openxmlformats.org/drawingml/2006/main">
              <a:ext uri="{FF2B5EF4-FFF2-40B4-BE49-F238E27FC236}">
                <a16:creationId xmlns:a16="http://schemas.microsoft.com/office/drawing/2014/main" id="{3976F6E2-C464-45FD-A5A4-BE805018BD12}"/>
              </a:ext>
            </a:extLst>
          </p:cNvPr>
          <p:cNvSpPr>
            <a:spLocks xmlns:a="http://schemas.openxmlformats.org/drawingml/2006/main" noGrp="1"/>
          </p:cNvSpPr>
          <p:nvPr/>
        </p:nvSpPr>
        <p:spPr>
          <a:xfrm xmlns:a="http://schemas.openxmlformats.org/drawingml/2006/main">
            <a:off x="876300" y="47815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MEgreen</a:t>
            </a:r>
          </a:p>
        </p:txBody>
      </p:sp>
      <p:sp>
        <p:nvSpPr>
          <p:cNvPr id="45" name="">
            <a:extLst xmlns:a="http://schemas.openxmlformats.org/drawingml/2006/main">
              <a:ext uri="{FF2B5EF4-FFF2-40B4-BE49-F238E27FC236}">
                <a16:creationId xmlns:a16="http://schemas.microsoft.com/office/drawing/2014/main" id="{E2D757A1-4DA6-4452-805E-57E6C5F90C97}"/>
              </a:ext>
            </a:extLst>
          </p:cNvPr>
          <p:cNvSpPr>
            <a:spLocks xmlns:a="http://schemas.openxmlformats.org/drawingml/2006/main" noGrp="1"/>
          </p:cNvSpPr>
          <p:nvPr/>
        </p:nvSpPr>
        <p:spPr>
          <a:xfrm xmlns:a="http://schemas.openxmlformats.org/drawingml/2006/main">
            <a:off x="4095750" y="4667250"/>
            <a:ext cx="1238250" cy="495300"/>
          </a:xfrm>
          <a:prstGeom xmlns:a="http://schemas.openxmlformats.org/drawingml/2006/main" prst="rect">
            <a:avLst/>
          </a:prstGeom>
          <a:solidFill xmlns:a="http://schemas.openxmlformats.org/drawingml/2006/main">
            <a:srgbClr val="DC5A5A"/>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6A0DF70-9F25-421C-A954-280F74EDB4A0}"/>
              </a:ext>
            </a:extLst>
          </p:cNvPr>
          <p:cNvSpPr>
            <a:spLocks xmlns:a="http://schemas.openxmlformats.org/drawingml/2006/main" noGrp="1"/>
          </p:cNvSpPr>
          <p:nvPr/>
        </p:nvSpPr>
        <p:spPr>
          <a:xfrm xmlns:a="http://schemas.openxmlformats.org/drawingml/2006/main">
            <a:off x="4191000" y="47910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-0.48</a:t>
            </a:r>
          </a:p>
        </p:txBody>
      </p:sp>
      <p:sp>
        <p:nvSpPr>
          <p:cNvPr id="47" name="">
            <a:extLst xmlns:a="http://schemas.openxmlformats.org/drawingml/2006/main">
              <a:ext uri="{FF2B5EF4-FFF2-40B4-BE49-F238E27FC236}">
                <a16:creationId xmlns:a16="http://schemas.microsoft.com/office/drawing/2014/main" id="{8DB01F85-134F-4B6D-860E-745BF7BD455B}"/>
              </a:ext>
            </a:extLst>
          </p:cNvPr>
          <p:cNvSpPr>
            <a:spLocks xmlns:a="http://schemas.openxmlformats.org/drawingml/2006/main" noGrp="1"/>
          </p:cNvSpPr>
          <p:nvPr/>
        </p:nvSpPr>
        <p:spPr>
          <a:xfrm xmlns:a="http://schemas.openxmlformats.org/drawingml/2006/main">
            <a:off x="5524500" y="46672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E6793D9-34E0-44D8-A08D-1F686CBD2133}"/>
              </a:ext>
            </a:extLst>
          </p:cNvPr>
          <p:cNvSpPr>
            <a:spLocks xmlns:a="http://schemas.openxmlformats.org/drawingml/2006/main" noGrp="1"/>
          </p:cNvSpPr>
          <p:nvPr/>
        </p:nvSpPr>
        <p:spPr>
          <a:xfrm xmlns:a="http://schemas.openxmlformats.org/drawingml/2006/main">
            <a:off x="5619750" y="47910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0.09</a:t>
            </a:r>
          </a:p>
        </p:txBody>
      </p:sp>
      <p:sp>
        <p:nvSpPr>
          <p:cNvPr id="49" name="">
            <a:extLst xmlns:a="http://schemas.openxmlformats.org/drawingml/2006/main">
              <a:ext uri="{FF2B5EF4-FFF2-40B4-BE49-F238E27FC236}">
                <a16:creationId xmlns:a16="http://schemas.microsoft.com/office/drawing/2014/main" id="{48DB42EA-546B-4EAE-B354-1A311075EDFC}"/>
              </a:ext>
            </a:extLst>
          </p:cNvPr>
          <p:cNvSpPr>
            <a:spLocks xmlns:a="http://schemas.openxmlformats.org/drawingml/2006/main" noGrp="1"/>
          </p:cNvSpPr>
          <p:nvPr/>
        </p:nvSpPr>
        <p:spPr>
          <a:xfrm xmlns:a="http://schemas.openxmlformats.org/drawingml/2006/main">
            <a:off x="6953250" y="4667250"/>
            <a:ext cx="1238250" cy="495300"/>
          </a:xfrm>
          <a:prstGeom xmlns:a="http://schemas.openxmlformats.org/drawingml/2006/main" prst="rect">
            <a:avLst/>
          </a:prstGeom>
          <a:solidFill xmlns:a="http://schemas.openxmlformats.org/drawingml/2006/main">
            <a:srgbClr val="FCE8E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ECDEFE6-A585-404B-A46A-A14DED73E830}"/>
              </a:ext>
            </a:extLst>
          </p:cNvPr>
          <p:cNvSpPr>
            <a:spLocks xmlns:a="http://schemas.openxmlformats.org/drawingml/2006/main" noGrp="1"/>
          </p:cNvSpPr>
          <p:nvPr/>
        </p:nvSpPr>
        <p:spPr>
          <a:xfrm xmlns:a="http://schemas.openxmlformats.org/drawingml/2006/main">
            <a:off x="7048500" y="47910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-0.13</a:t>
            </a:r>
          </a:p>
        </p:txBody>
      </p:sp>
      <p:sp>
        <p:nvSpPr>
          <p:cNvPr id="51" name="">
            <a:extLst xmlns:a="http://schemas.openxmlformats.org/drawingml/2006/main">
              <a:ext uri="{FF2B5EF4-FFF2-40B4-BE49-F238E27FC236}">
                <a16:creationId xmlns:a16="http://schemas.microsoft.com/office/drawing/2014/main" id="{B90452EB-A4DD-4C74-AE17-4EE1404C5DAA}"/>
              </a:ext>
            </a:extLst>
          </p:cNvPr>
          <p:cNvSpPr>
            <a:spLocks xmlns:a="http://schemas.openxmlformats.org/drawingml/2006/main" noGrp="1"/>
          </p:cNvSpPr>
          <p:nvPr/>
        </p:nvSpPr>
        <p:spPr>
          <a:xfrm xmlns:a="http://schemas.openxmlformats.org/drawingml/2006/main">
            <a:off x="8382000" y="4667250"/>
            <a:ext cx="12382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0FB31183-8A40-4B9C-AF59-AAACCCE14E88}"/>
              </a:ext>
            </a:extLst>
          </p:cNvPr>
          <p:cNvSpPr>
            <a:spLocks xmlns:a="http://schemas.openxmlformats.org/drawingml/2006/main" noGrp="1"/>
          </p:cNvSpPr>
          <p:nvPr/>
        </p:nvSpPr>
        <p:spPr>
          <a:xfrm xmlns:a="http://schemas.openxmlformats.org/drawingml/2006/main">
            <a:off x="8477250" y="47910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11827"/>
                </a:solidFill>
              </a:defRPr>
            </a:pPr>
            <a:r>
              <a:rPr sz="1350" b="1">
                <a:solidFill>
                  <a:srgbClr val="111827"/>
                </a:solidFill>
              </a:rPr>
              <a:t>0.37</a:t>
            </a:r>
          </a:p>
        </p:txBody>
      </p:sp>
      <p:sp>
        <p:nvSpPr>
          <p:cNvPr id="53" name="">
            <a:extLst xmlns:a="http://schemas.openxmlformats.org/drawingml/2006/main">
              <a:ext uri="{FF2B5EF4-FFF2-40B4-BE49-F238E27FC236}">
                <a16:creationId xmlns:a16="http://schemas.microsoft.com/office/drawing/2014/main" id="{2AA585F8-E2A3-4D3E-B1AB-6DE1866E970E}"/>
              </a:ext>
            </a:extLst>
          </p:cNvPr>
          <p:cNvSpPr>
            <a:spLocks xmlns:a="http://schemas.openxmlformats.org/drawingml/2006/main" noGrp="1"/>
          </p:cNvSpPr>
          <p:nvPr/>
        </p:nvSpPr>
        <p:spPr>
          <a:xfrm xmlns:a="http://schemas.openxmlformats.org/drawingml/2006/main">
            <a:off x="9810750" y="2114550"/>
            <a:ext cx="1619250" cy="23812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F39E9E3A-6BE3-4BF9-8ED6-31CC2A5467BD}"/>
              </a:ext>
            </a:extLst>
          </p:cNvPr>
          <p:cNvSpPr>
            <a:spLocks xmlns:a="http://schemas.openxmlformats.org/drawingml/2006/main" noGrp="1"/>
          </p:cNvSpPr>
          <p:nvPr/>
        </p:nvSpPr>
        <p:spPr>
          <a:xfrm xmlns:a="http://schemas.openxmlformats.org/drawingml/2006/main">
            <a:off x="10001250" y="23336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563EB"/>
                </a:solidFill>
              </a:defRPr>
            </a:pPr>
            <a:r>
              <a:rPr sz="1500" b="1">
                <a:solidFill>
                  <a:srgbClr val="2563EB"/>
                </a:solidFill>
              </a:rPr>
              <a:t>Read each cell</a:t>
            </a:r>
          </a:p>
        </p:txBody>
      </p:sp>
      <p:sp>
        <p:nvSpPr>
          <p:cNvPr id="55" name="">
            <a:extLst xmlns:a="http://schemas.openxmlformats.org/drawingml/2006/main">
              <a:ext uri="{FF2B5EF4-FFF2-40B4-BE49-F238E27FC236}">
                <a16:creationId xmlns:a16="http://schemas.microsoft.com/office/drawing/2014/main" id="{E80FF2ED-9890-4EB0-A92E-85FC6C740AF2}"/>
              </a:ext>
            </a:extLst>
          </p:cNvPr>
          <p:cNvSpPr>
            <a:spLocks xmlns:a="http://schemas.openxmlformats.org/drawingml/2006/main" noGrp="1"/>
          </p:cNvSpPr>
          <p:nvPr/>
        </p:nvSpPr>
        <p:spPr>
          <a:xfrm xmlns:a="http://schemas.openxmlformats.org/drawingml/2006/main">
            <a:off x="10001250" y="2838450"/>
            <a:ext cx="123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Direction</a:t>
            </a:r>
          </a:p>
          <a:p xmlns:a="http://schemas.openxmlformats.org/drawingml/2006/main">
            <a:pPr algn="l">
              <a:defRPr sz="1350" b="0">
                <a:solidFill>
                  <a:srgbClr val="111827"/>
                </a:solidFill>
              </a:defRPr>
            </a:pPr>
            <a:r>
              <a:rPr sz="1350" b="0">
                <a:solidFill>
                  <a:srgbClr val="111827"/>
                </a:solidFill>
              </a:rPr>
              <a:t>Effect size</a:t>
            </a:r>
          </a:p>
          <a:p xmlns:a="http://schemas.openxmlformats.org/drawingml/2006/main">
            <a:pPr algn="l">
              <a:defRPr sz="1350" b="0">
                <a:solidFill>
                  <a:srgbClr val="111827"/>
                </a:solidFill>
              </a:defRPr>
            </a:pPr>
            <a:r>
              <a:rPr sz="1350" b="0">
                <a:solidFill>
                  <a:srgbClr val="111827"/>
                </a:solidFill>
              </a:rPr>
              <a:t>P value</a:t>
            </a:r>
          </a:p>
          <a:p xmlns:a="http://schemas.openxmlformats.org/drawingml/2006/main">
            <a:pPr algn="l">
              <a:defRPr sz="1350" b="0">
                <a:solidFill>
                  <a:srgbClr val="111827"/>
                </a:solidFill>
              </a:defRPr>
            </a:pPr>
            <a:r>
              <a:rPr sz="1350" b="0">
                <a:solidFill>
                  <a:srgbClr val="111827"/>
                </a:solidFill>
              </a:rPr>
              <a:t>Sample size</a:t>
            </a:r>
          </a:p>
          <a:p xmlns:a="http://schemas.openxmlformats.org/drawingml/2006/main">
            <a:pPr algn="l">
              <a:defRPr sz="1350" b="0">
                <a:solidFill>
                  <a:srgbClr val="111827"/>
                </a:solidFill>
              </a:defRPr>
            </a:pPr>
            <a:r>
              <a:rPr sz="1350" b="0">
                <a:solidFill>
                  <a:srgbClr val="111827"/>
                </a:solidFill>
              </a:rPr>
              <a:t>Confounding</a:t>
            </a:r>
          </a:p>
        </p:txBody>
      </p:sp>
      <p:sp>
        <p:nvSpPr>
          <p:cNvPr id="56" name="">
            <a:extLst xmlns:a="http://schemas.openxmlformats.org/drawingml/2006/main">
              <a:ext uri="{FF2B5EF4-FFF2-40B4-BE49-F238E27FC236}">
                <a16:creationId xmlns:a16="http://schemas.microsoft.com/office/drawing/2014/main" id="{2D0FCA17-D27B-4EC2-85BA-510B40B05CDD}"/>
              </a:ext>
            </a:extLst>
          </p:cNvPr>
          <p:cNvSpPr>
            <a:spLocks xmlns:a="http://schemas.openxmlformats.org/drawingml/2006/main" noGrp="1"/>
          </p:cNvSpPr>
          <p:nvPr/>
        </p:nvSpPr>
        <p:spPr>
          <a:xfrm xmlns:a="http://schemas.openxmlformats.org/drawingml/2006/main">
            <a:off x="1238250" y="58102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827"/>
                </a:solidFill>
              </a:defRPr>
            </a:pPr>
            <a:r>
              <a:rPr sz="1800" b="1">
                <a:solidFill>
                  <a:srgbClr val="111827"/>
                </a:solidFill>
              </a:rPr>
              <a:t>Correlation highlights modules for follow-up; it does not establish causality.</a:t>
            </a:r>
          </a:p>
        </p:txBody>
      </p:sp>
      <p:sp>
        <p:nvSpPr>
          <p:cNvPr id="57" name="">
            <a:extLst xmlns:a="http://schemas.openxmlformats.org/drawingml/2006/main">
              <a:ext uri="{FF2B5EF4-FFF2-40B4-BE49-F238E27FC236}">
                <a16:creationId xmlns:a16="http://schemas.microsoft.com/office/drawing/2014/main" id="{59B01E86-3964-4F84-84DB-92F864EA4C8C}"/>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09</a:t>
            </a:r>
          </a:p>
        </p:txBody>
      </p:sp>
    </p:spTree>
    <p:extLst>
      <p:ext uri="{BB962C8B-B14F-4D97-AF65-F5344CB8AC3E}">
        <p14:creationId xmlns:p14="http://schemas.microsoft.com/office/powerpoint/2010/main" val="1382800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860C1AE-0E8A-4356-8712-CB8486AD22FC}"/>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6D6C14DA-F26A-471F-AA27-37D8120CB13E}"/>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Hub genes combine module membership with trait relevance</a:t>
            </a:r>
          </a:p>
        </p:txBody>
      </p:sp>
      <p:sp>
        <p:nvSpPr>
          <p:cNvPr id="3" name="">
            <a:extLst xmlns:a="http://schemas.openxmlformats.org/drawingml/2006/main">
              <a:ext uri="{FF2B5EF4-FFF2-40B4-BE49-F238E27FC236}">
                <a16:creationId xmlns:a16="http://schemas.microsoft.com/office/drawing/2014/main" id="{D82B4C02-663F-4A50-A175-543005C92A33}"/>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CE3957-DFC2-4480-938B-A304E369DB86}"/>
              </a:ext>
            </a:extLst>
          </p:cNvPr>
          <p:cNvSpPr>
            <a:spLocks xmlns:a="http://schemas.openxmlformats.org/drawingml/2006/main" noGrp="1"/>
          </p:cNvSpPr>
          <p:nvPr/>
        </p:nvSpPr>
        <p:spPr>
          <a:xfrm xmlns:a="http://schemas.openxmlformats.org/drawingml/2006/main">
            <a:off x="685800" y="1809750"/>
            <a:ext cx="4953000" cy="8191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A9E553-0AA8-46BF-9640-C51663F3B696}"/>
              </a:ext>
            </a:extLst>
          </p:cNvPr>
          <p:cNvSpPr>
            <a:spLocks xmlns:a="http://schemas.openxmlformats.org/drawingml/2006/main" noGrp="1"/>
          </p:cNvSpPr>
          <p:nvPr/>
        </p:nvSpPr>
        <p:spPr>
          <a:xfrm xmlns:a="http://schemas.openxmlformats.org/drawingml/2006/main">
            <a:off x="685800" y="1809750"/>
            <a:ext cx="114300" cy="819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4BC4D7-6FE3-497D-A9A1-AC9F409FAF2F}"/>
              </a:ext>
            </a:extLst>
          </p:cNvPr>
          <p:cNvSpPr>
            <a:spLocks xmlns:a="http://schemas.openxmlformats.org/drawingml/2006/main" noGrp="1"/>
          </p:cNvSpPr>
          <p:nvPr/>
        </p:nvSpPr>
        <p:spPr>
          <a:xfrm xmlns:a="http://schemas.openxmlformats.org/drawingml/2006/main">
            <a:off x="1000125" y="19431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827"/>
                </a:solidFill>
              </a:defRPr>
            </a:pPr>
            <a:r>
              <a:rPr sz="1650" b="1">
                <a:solidFill>
                  <a:srgbClr val="111827"/>
                </a:solidFill>
              </a:rPr>
              <a:t>Module membership (kME)</a:t>
            </a:r>
          </a:p>
        </p:txBody>
      </p:sp>
      <p:sp>
        <p:nvSpPr>
          <p:cNvPr id="7" name="">
            <a:extLst xmlns:a="http://schemas.openxmlformats.org/drawingml/2006/main">
              <a:ext uri="{FF2B5EF4-FFF2-40B4-BE49-F238E27FC236}">
                <a16:creationId xmlns:a16="http://schemas.microsoft.com/office/drawing/2014/main" id="{B213E826-1E11-443D-97EB-C957336D17BC}"/>
              </a:ext>
            </a:extLst>
          </p:cNvPr>
          <p:cNvSpPr>
            <a:spLocks xmlns:a="http://schemas.openxmlformats.org/drawingml/2006/main" noGrp="1"/>
          </p:cNvSpPr>
          <p:nvPr/>
        </p:nvSpPr>
        <p:spPr>
          <a:xfrm xmlns:a="http://schemas.openxmlformats.org/drawingml/2006/main">
            <a:off x="1000125" y="2266950"/>
            <a:ext cx="428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96579"/>
                </a:solidFill>
              </a:defRPr>
            </a:pPr>
            <a:r>
              <a:rPr sz="1275" b="0">
                <a:solidFill>
                  <a:srgbClr val="596579"/>
                </a:solidFill>
              </a:rPr>
              <a:t>How well a gene represents its module</a:t>
            </a:r>
          </a:p>
        </p:txBody>
      </p:sp>
      <p:sp>
        <p:nvSpPr>
          <p:cNvPr id="8" name="">
            <a:extLst xmlns:a="http://schemas.openxmlformats.org/drawingml/2006/main">
              <a:ext uri="{FF2B5EF4-FFF2-40B4-BE49-F238E27FC236}">
                <a16:creationId xmlns:a16="http://schemas.microsoft.com/office/drawing/2014/main" id="{53823A90-46E0-4254-8621-4314AF66B601}"/>
              </a:ext>
            </a:extLst>
          </p:cNvPr>
          <p:cNvSpPr>
            <a:spLocks xmlns:a="http://schemas.openxmlformats.org/drawingml/2006/main" noGrp="1"/>
          </p:cNvSpPr>
          <p:nvPr/>
        </p:nvSpPr>
        <p:spPr>
          <a:xfrm xmlns:a="http://schemas.openxmlformats.org/drawingml/2006/main">
            <a:off x="685800" y="2933700"/>
            <a:ext cx="4953000" cy="8191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84A766-8743-4B56-9FFF-C3FE1525959A}"/>
              </a:ext>
            </a:extLst>
          </p:cNvPr>
          <p:cNvSpPr>
            <a:spLocks xmlns:a="http://schemas.openxmlformats.org/drawingml/2006/main" noGrp="1"/>
          </p:cNvSpPr>
          <p:nvPr/>
        </p:nvSpPr>
        <p:spPr>
          <a:xfrm xmlns:a="http://schemas.openxmlformats.org/drawingml/2006/main">
            <a:off x="685800" y="2933700"/>
            <a:ext cx="114300" cy="819150"/>
          </a:xfrm>
          <a:prstGeom xmlns:a="http://schemas.openxmlformats.org/drawingml/2006/main" prst="rect">
            <a:avLst/>
          </a:prstGeom>
          <a:solidFill xmlns:a="http://schemas.openxmlformats.org/drawingml/2006/main">
            <a:srgbClr val="0F9D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58B850-D01E-4CD8-92ED-6F2B8A7F4306}"/>
              </a:ext>
            </a:extLst>
          </p:cNvPr>
          <p:cNvSpPr>
            <a:spLocks xmlns:a="http://schemas.openxmlformats.org/drawingml/2006/main" noGrp="1"/>
          </p:cNvSpPr>
          <p:nvPr/>
        </p:nvSpPr>
        <p:spPr>
          <a:xfrm xmlns:a="http://schemas.openxmlformats.org/drawingml/2006/main">
            <a:off x="1000125" y="3067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827"/>
                </a:solidFill>
              </a:defRPr>
            </a:pPr>
            <a:r>
              <a:rPr sz="1650" b="1">
                <a:solidFill>
                  <a:srgbClr val="111827"/>
                </a:solidFill>
              </a:rPr>
              <a:t>Gene significance (GS)</a:t>
            </a:r>
          </a:p>
        </p:txBody>
      </p:sp>
      <p:sp>
        <p:nvSpPr>
          <p:cNvPr id="11" name="">
            <a:extLst xmlns:a="http://schemas.openxmlformats.org/drawingml/2006/main">
              <a:ext uri="{FF2B5EF4-FFF2-40B4-BE49-F238E27FC236}">
                <a16:creationId xmlns:a16="http://schemas.microsoft.com/office/drawing/2014/main" id="{4EF95AF5-1E76-4506-878F-82DB8D7FF26D}"/>
              </a:ext>
            </a:extLst>
          </p:cNvPr>
          <p:cNvSpPr>
            <a:spLocks xmlns:a="http://schemas.openxmlformats.org/drawingml/2006/main" noGrp="1"/>
          </p:cNvSpPr>
          <p:nvPr/>
        </p:nvSpPr>
        <p:spPr>
          <a:xfrm xmlns:a="http://schemas.openxmlformats.org/drawingml/2006/main">
            <a:off x="1000125" y="3390900"/>
            <a:ext cx="428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96579"/>
                </a:solidFill>
              </a:defRPr>
            </a:pPr>
            <a:r>
              <a:rPr sz="1275" b="0">
                <a:solidFill>
                  <a:srgbClr val="596579"/>
                </a:solidFill>
              </a:rPr>
              <a:t>How strongly a gene relates to the trait</a:t>
            </a:r>
          </a:p>
        </p:txBody>
      </p:sp>
      <p:sp>
        <p:nvSpPr>
          <p:cNvPr id="12" name="">
            <a:extLst xmlns:a="http://schemas.openxmlformats.org/drawingml/2006/main">
              <a:ext uri="{FF2B5EF4-FFF2-40B4-BE49-F238E27FC236}">
                <a16:creationId xmlns:a16="http://schemas.microsoft.com/office/drawing/2014/main" id="{C905C176-8F83-4593-8D20-3649C79D158D}"/>
              </a:ext>
            </a:extLst>
          </p:cNvPr>
          <p:cNvSpPr>
            <a:spLocks xmlns:a="http://schemas.openxmlformats.org/drawingml/2006/main" noGrp="1"/>
          </p:cNvSpPr>
          <p:nvPr/>
        </p:nvSpPr>
        <p:spPr>
          <a:xfrm xmlns:a="http://schemas.openxmlformats.org/drawingml/2006/main">
            <a:off x="685800" y="4057650"/>
            <a:ext cx="4953000" cy="8191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BAF7B1-450A-41CB-94B0-5B5CCAD5CDCB}"/>
              </a:ext>
            </a:extLst>
          </p:cNvPr>
          <p:cNvSpPr>
            <a:spLocks xmlns:a="http://schemas.openxmlformats.org/drawingml/2006/main" noGrp="1"/>
          </p:cNvSpPr>
          <p:nvPr/>
        </p:nvSpPr>
        <p:spPr>
          <a:xfrm xmlns:a="http://schemas.openxmlformats.org/drawingml/2006/main">
            <a:off x="685800" y="4057650"/>
            <a:ext cx="114300" cy="81915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07CCD7-286E-4AA9-B65F-780F4FBCA2E3}"/>
              </a:ext>
            </a:extLst>
          </p:cNvPr>
          <p:cNvSpPr>
            <a:spLocks xmlns:a="http://schemas.openxmlformats.org/drawingml/2006/main" noGrp="1"/>
          </p:cNvSpPr>
          <p:nvPr/>
        </p:nvSpPr>
        <p:spPr>
          <a:xfrm xmlns:a="http://schemas.openxmlformats.org/drawingml/2006/main">
            <a:off x="1000125" y="41910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827"/>
                </a:solidFill>
              </a:defRPr>
            </a:pPr>
            <a:r>
              <a:rPr sz="1650" b="1">
                <a:solidFill>
                  <a:srgbClr val="111827"/>
                </a:solidFill>
              </a:rPr>
              <a:t>Intramodular connectivity</a:t>
            </a:r>
          </a:p>
        </p:txBody>
      </p:sp>
      <p:sp>
        <p:nvSpPr>
          <p:cNvPr id="15" name="">
            <a:extLst xmlns:a="http://schemas.openxmlformats.org/drawingml/2006/main">
              <a:ext uri="{FF2B5EF4-FFF2-40B4-BE49-F238E27FC236}">
                <a16:creationId xmlns:a16="http://schemas.microsoft.com/office/drawing/2014/main" id="{88EE6745-905E-4F3E-833C-5BF25B04E2CF}"/>
              </a:ext>
            </a:extLst>
          </p:cNvPr>
          <p:cNvSpPr>
            <a:spLocks xmlns:a="http://schemas.openxmlformats.org/drawingml/2006/main" noGrp="1"/>
          </p:cNvSpPr>
          <p:nvPr/>
        </p:nvSpPr>
        <p:spPr>
          <a:xfrm xmlns:a="http://schemas.openxmlformats.org/drawingml/2006/main">
            <a:off x="1000125" y="4514850"/>
            <a:ext cx="428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96579"/>
                </a:solidFill>
              </a:defRPr>
            </a:pPr>
            <a:r>
              <a:rPr sz="1275" b="0">
                <a:solidFill>
                  <a:srgbClr val="596579"/>
                </a:solidFill>
              </a:rPr>
              <a:t>How connected a gene is inside the module</a:t>
            </a:r>
          </a:p>
        </p:txBody>
      </p:sp>
      <p:sp>
        <p:nvSpPr>
          <p:cNvPr id="16" name="">
            <a:extLst xmlns:a="http://schemas.openxmlformats.org/drawingml/2006/main">
              <a:ext uri="{FF2B5EF4-FFF2-40B4-BE49-F238E27FC236}">
                <a16:creationId xmlns:a16="http://schemas.microsoft.com/office/drawing/2014/main" id="{B326C01B-AC6E-4490-AEE5-B7E057B09354}"/>
              </a:ext>
            </a:extLst>
          </p:cNvPr>
          <p:cNvSpPr>
            <a:spLocks xmlns:a="http://schemas.openxmlformats.org/drawingml/2006/main" noGrp="1"/>
          </p:cNvSpPr>
          <p:nvPr/>
        </p:nvSpPr>
        <p:spPr>
          <a:xfrm xmlns:a="http://schemas.openxmlformats.org/drawingml/2006/main">
            <a:off x="6381750" y="1809750"/>
            <a:ext cx="5048250" cy="31051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A50A1A4-F9CC-4146-81AD-830EA7BC5183}"/>
              </a:ext>
            </a:extLst>
          </p:cNvPr>
          <p:cNvSpPr>
            <a:spLocks xmlns:a="http://schemas.openxmlformats.org/drawingml/2006/main" noGrp="1"/>
          </p:cNvSpPr>
          <p:nvPr/>
        </p:nvSpPr>
        <p:spPr>
          <a:xfrm xmlns:a="http://schemas.openxmlformats.org/drawingml/2006/main">
            <a:off x="6762750" y="21145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563EB"/>
                </a:solidFill>
              </a:defRPr>
            </a:pPr>
            <a:r>
              <a:rPr sz="1950" b="1">
                <a:solidFill>
                  <a:srgbClr val="2563EB"/>
                </a:solidFill>
              </a:rPr>
              <a:t>Follow-up checklist</a:t>
            </a:r>
          </a:p>
        </p:txBody>
      </p:sp>
      <p:sp>
        <p:nvSpPr>
          <p:cNvPr id="18" name="">
            <a:extLst xmlns:a="http://schemas.openxmlformats.org/drawingml/2006/main">
              <a:ext uri="{FF2B5EF4-FFF2-40B4-BE49-F238E27FC236}">
                <a16:creationId xmlns:a16="http://schemas.microsoft.com/office/drawing/2014/main" id="{CBCA384C-004C-4B0A-8779-F196C6B586DA}"/>
              </a:ext>
            </a:extLst>
          </p:cNvPr>
          <p:cNvSpPr>
            <a:spLocks xmlns:a="http://schemas.openxmlformats.org/drawingml/2006/main" noGrp="1"/>
          </p:cNvSpPr>
          <p:nvPr/>
        </p:nvSpPr>
        <p:spPr>
          <a:xfrm xmlns:a="http://schemas.openxmlformats.org/drawingml/2006/main">
            <a:off x="6810375" y="26860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9D7A"/>
                </a:solidFill>
              </a:defRPr>
            </a:pPr>
            <a:r>
              <a:rPr sz="1425" b="1">
                <a:solidFill>
                  <a:srgbClr val="0F9D7A"/>
                </a:solidFill>
              </a:rPr>
              <a:t>✓</a:t>
            </a:r>
          </a:p>
        </p:txBody>
      </p:sp>
      <p:sp>
        <p:nvSpPr>
          <p:cNvPr id="19" name="">
            <a:extLst xmlns:a="http://schemas.openxmlformats.org/drawingml/2006/main">
              <a:ext uri="{FF2B5EF4-FFF2-40B4-BE49-F238E27FC236}">
                <a16:creationId xmlns:a16="http://schemas.microsoft.com/office/drawing/2014/main" id="{0BDBAEA2-7C9D-40D3-9B93-A23D67EDD85B}"/>
              </a:ext>
            </a:extLst>
          </p:cNvPr>
          <p:cNvSpPr>
            <a:spLocks xmlns:a="http://schemas.openxmlformats.org/drawingml/2006/main" noGrp="1"/>
          </p:cNvSpPr>
          <p:nvPr/>
        </p:nvSpPr>
        <p:spPr>
          <a:xfrm xmlns:a="http://schemas.openxmlformats.org/drawingml/2006/main">
            <a:off x="7143750" y="26670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Module–trait evidence</a:t>
            </a:r>
          </a:p>
        </p:txBody>
      </p:sp>
      <p:sp>
        <p:nvSpPr>
          <p:cNvPr id="20" name="">
            <a:extLst xmlns:a="http://schemas.openxmlformats.org/drawingml/2006/main">
              <a:ext uri="{FF2B5EF4-FFF2-40B4-BE49-F238E27FC236}">
                <a16:creationId xmlns:a16="http://schemas.microsoft.com/office/drawing/2014/main" id="{6BEBD1A0-98F7-4777-807D-10A3B68AE89D}"/>
              </a:ext>
            </a:extLst>
          </p:cNvPr>
          <p:cNvSpPr>
            <a:spLocks xmlns:a="http://schemas.openxmlformats.org/drawingml/2006/main" noGrp="1"/>
          </p:cNvSpPr>
          <p:nvPr/>
        </p:nvSpPr>
        <p:spPr>
          <a:xfrm xmlns:a="http://schemas.openxmlformats.org/drawingml/2006/main">
            <a:off x="6810375" y="3105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9D7A"/>
                </a:solidFill>
              </a:defRPr>
            </a:pPr>
            <a:r>
              <a:rPr sz="1425" b="1">
                <a:solidFill>
                  <a:srgbClr val="0F9D7A"/>
                </a:solidFill>
              </a:rPr>
              <a:t>✓</a:t>
            </a:r>
          </a:p>
        </p:txBody>
      </p:sp>
      <p:sp>
        <p:nvSpPr>
          <p:cNvPr id="21" name="">
            <a:extLst xmlns:a="http://schemas.openxmlformats.org/drawingml/2006/main">
              <a:ext uri="{FF2B5EF4-FFF2-40B4-BE49-F238E27FC236}">
                <a16:creationId xmlns:a16="http://schemas.microsoft.com/office/drawing/2014/main" id="{FD4D582C-EDB7-42D6-AF6C-28057C47B21B}"/>
              </a:ext>
            </a:extLst>
          </p:cNvPr>
          <p:cNvSpPr>
            <a:spLocks xmlns:a="http://schemas.openxmlformats.org/drawingml/2006/main" noGrp="1"/>
          </p:cNvSpPr>
          <p:nvPr/>
        </p:nvSpPr>
        <p:spPr>
          <a:xfrm xmlns:a="http://schemas.openxmlformats.org/drawingml/2006/main">
            <a:off x="7143750" y="30861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High kME and connectivity</a:t>
            </a:r>
          </a:p>
        </p:txBody>
      </p:sp>
      <p:sp>
        <p:nvSpPr>
          <p:cNvPr id="22" name="">
            <a:extLst xmlns:a="http://schemas.openxmlformats.org/drawingml/2006/main">
              <a:ext uri="{FF2B5EF4-FFF2-40B4-BE49-F238E27FC236}">
                <a16:creationId xmlns:a16="http://schemas.microsoft.com/office/drawing/2014/main" id="{C3AAF74D-2681-4852-83CA-63282422C76F}"/>
              </a:ext>
            </a:extLst>
          </p:cNvPr>
          <p:cNvSpPr>
            <a:spLocks xmlns:a="http://schemas.openxmlformats.org/drawingml/2006/main" noGrp="1"/>
          </p:cNvSpPr>
          <p:nvPr/>
        </p:nvSpPr>
        <p:spPr>
          <a:xfrm xmlns:a="http://schemas.openxmlformats.org/drawingml/2006/main">
            <a:off x="6810375" y="35242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9D7A"/>
                </a:solidFill>
              </a:defRPr>
            </a:pPr>
            <a:r>
              <a:rPr sz="1425" b="1">
                <a:solidFill>
                  <a:srgbClr val="0F9D7A"/>
                </a:solidFill>
              </a:rPr>
              <a:t>✓</a:t>
            </a:r>
          </a:p>
        </p:txBody>
      </p:sp>
      <p:sp>
        <p:nvSpPr>
          <p:cNvPr id="23" name="">
            <a:extLst xmlns:a="http://schemas.openxmlformats.org/drawingml/2006/main">
              <a:ext uri="{FF2B5EF4-FFF2-40B4-BE49-F238E27FC236}">
                <a16:creationId xmlns:a16="http://schemas.microsoft.com/office/drawing/2014/main" id="{3C7933D1-EF37-40E6-AFE0-66098A93B9FD}"/>
              </a:ext>
            </a:extLst>
          </p:cNvPr>
          <p:cNvSpPr>
            <a:spLocks xmlns:a="http://schemas.openxmlformats.org/drawingml/2006/main" noGrp="1"/>
          </p:cNvSpPr>
          <p:nvPr/>
        </p:nvSpPr>
        <p:spPr>
          <a:xfrm xmlns:a="http://schemas.openxmlformats.org/drawingml/2006/main">
            <a:off x="7143750" y="35052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Biological plausibility</a:t>
            </a:r>
          </a:p>
        </p:txBody>
      </p:sp>
      <p:sp>
        <p:nvSpPr>
          <p:cNvPr id="24" name="">
            <a:extLst xmlns:a="http://schemas.openxmlformats.org/drawingml/2006/main">
              <a:ext uri="{FF2B5EF4-FFF2-40B4-BE49-F238E27FC236}">
                <a16:creationId xmlns:a16="http://schemas.microsoft.com/office/drawing/2014/main" id="{9A76B9A8-1664-42D3-8A6B-3DEFA681A028}"/>
              </a:ext>
            </a:extLst>
          </p:cNvPr>
          <p:cNvSpPr>
            <a:spLocks xmlns:a="http://schemas.openxmlformats.org/drawingml/2006/main" noGrp="1"/>
          </p:cNvSpPr>
          <p:nvPr/>
        </p:nvSpPr>
        <p:spPr>
          <a:xfrm xmlns:a="http://schemas.openxmlformats.org/drawingml/2006/main">
            <a:off x="6810375" y="39433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9D7A"/>
                </a:solidFill>
              </a:defRPr>
            </a:pPr>
            <a:r>
              <a:rPr sz="1425" b="1">
                <a:solidFill>
                  <a:srgbClr val="0F9D7A"/>
                </a:solidFill>
              </a:rPr>
              <a:t>✓</a:t>
            </a:r>
          </a:p>
        </p:txBody>
      </p:sp>
      <p:sp>
        <p:nvSpPr>
          <p:cNvPr id="25" name="">
            <a:extLst xmlns:a="http://schemas.openxmlformats.org/drawingml/2006/main">
              <a:ext uri="{FF2B5EF4-FFF2-40B4-BE49-F238E27FC236}">
                <a16:creationId xmlns:a16="http://schemas.microsoft.com/office/drawing/2014/main" id="{70D9F5BB-9E08-4598-A56B-64F55176672A}"/>
              </a:ext>
            </a:extLst>
          </p:cNvPr>
          <p:cNvSpPr>
            <a:spLocks xmlns:a="http://schemas.openxmlformats.org/drawingml/2006/main" noGrp="1"/>
          </p:cNvSpPr>
          <p:nvPr/>
        </p:nvSpPr>
        <p:spPr>
          <a:xfrm xmlns:a="http://schemas.openxmlformats.org/drawingml/2006/main">
            <a:off x="7143750" y="39243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Pathway / ontology enrichment</a:t>
            </a:r>
          </a:p>
        </p:txBody>
      </p:sp>
      <p:sp>
        <p:nvSpPr>
          <p:cNvPr id="26" name="">
            <a:extLst xmlns:a="http://schemas.openxmlformats.org/drawingml/2006/main">
              <a:ext uri="{FF2B5EF4-FFF2-40B4-BE49-F238E27FC236}">
                <a16:creationId xmlns:a16="http://schemas.microsoft.com/office/drawing/2014/main" id="{5E740ED3-C6FC-4C5D-AA59-079D2BE2085A}"/>
              </a:ext>
            </a:extLst>
          </p:cNvPr>
          <p:cNvSpPr>
            <a:spLocks xmlns:a="http://schemas.openxmlformats.org/drawingml/2006/main" noGrp="1"/>
          </p:cNvSpPr>
          <p:nvPr/>
        </p:nvSpPr>
        <p:spPr>
          <a:xfrm xmlns:a="http://schemas.openxmlformats.org/drawingml/2006/main">
            <a:off x="6810375" y="43624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F9D7A"/>
                </a:solidFill>
              </a:defRPr>
            </a:pPr>
            <a:r>
              <a:rPr sz="1425" b="1">
                <a:solidFill>
                  <a:srgbClr val="0F9D7A"/>
                </a:solidFill>
              </a:rPr>
              <a:t>✓</a:t>
            </a:r>
          </a:p>
        </p:txBody>
      </p:sp>
      <p:sp>
        <p:nvSpPr>
          <p:cNvPr id="27" name="">
            <a:extLst xmlns:a="http://schemas.openxmlformats.org/drawingml/2006/main">
              <a:ext uri="{FF2B5EF4-FFF2-40B4-BE49-F238E27FC236}">
                <a16:creationId xmlns:a16="http://schemas.microsoft.com/office/drawing/2014/main" id="{56E73252-0E58-4702-A670-AE5D5D11628A}"/>
              </a:ext>
            </a:extLst>
          </p:cNvPr>
          <p:cNvSpPr>
            <a:spLocks xmlns:a="http://schemas.openxmlformats.org/drawingml/2006/main" noGrp="1"/>
          </p:cNvSpPr>
          <p:nvPr/>
        </p:nvSpPr>
        <p:spPr>
          <a:xfrm xmlns:a="http://schemas.openxmlformats.org/drawingml/2006/main">
            <a:off x="7143750" y="43434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Replication in an independent dataset</a:t>
            </a:r>
          </a:p>
        </p:txBody>
      </p:sp>
      <p:sp>
        <p:nvSpPr>
          <p:cNvPr id="28" name="">
            <a:extLst xmlns:a="http://schemas.openxmlformats.org/drawingml/2006/main">
              <a:ext uri="{FF2B5EF4-FFF2-40B4-BE49-F238E27FC236}">
                <a16:creationId xmlns:a16="http://schemas.microsoft.com/office/drawing/2014/main" id="{7D91125A-5676-4B24-AB22-7B10C0162E96}"/>
              </a:ext>
            </a:extLst>
          </p:cNvPr>
          <p:cNvSpPr>
            <a:spLocks xmlns:a="http://schemas.openxmlformats.org/drawingml/2006/main" noGrp="1"/>
          </p:cNvSpPr>
          <p:nvPr/>
        </p:nvSpPr>
        <p:spPr>
          <a:xfrm xmlns:a="http://schemas.openxmlformats.org/drawingml/2006/main">
            <a:off x="1714500" y="561975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827"/>
                </a:solidFill>
              </a:defRPr>
            </a:pPr>
            <a:r>
              <a:rPr sz="1875" b="1">
                <a:solidFill>
                  <a:srgbClr val="111827"/>
                </a:solidFill>
              </a:rPr>
              <a:t>A hub is a network property—not automatically a drug target.</a:t>
            </a:r>
          </a:p>
        </p:txBody>
      </p:sp>
      <p:sp>
        <p:nvSpPr>
          <p:cNvPr id="29" name="">
            <a:extLst xmlns:a="http://schemas.openxmlformats.org/drawingml/2006/main">
              <a:ext uri="{FF2B5EF4-FFF2-40B4-BE49-F238E27FC236}">
                <a16:creationId xmlns:a16="http://schemas.microsoft.com/office/drawing/2014/main" id="{FAC889A3-F12B-4A5D-AC36-E01CCE83BCE9}"/>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10</a:t>
            </a:r>
          </a:p>
        </p:txBody>
      </p:sp>
    </p:spTree>
    <p:extLst>
      <p:ext uri="{BB962C8B-B14F-4D97-AF65-F5344CB8AC3E}">
        <p14:creationId xmlns:p14="http://schemas.microsoft.com/office/powerpoint/2010/main" val="153467534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C8D1C0B-3167-4F8C-801C-F2061EAA45C6}"/>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1F5A4E0C-247B-4BE0-800D-04CB1BE8C4B1}"/>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Hands-on example: find disease-associated modules</a:t>
            </a:r>
          </a:p>
        </p:txBody>
      </p:sp>
      <p:sp>
        <p:nvSpPr>
          <p:cNvPr id="3" name="">
            <a:extLst xmlns:a="http://schemas.openxmlformats.org/drawingml/2006/main">
              <a:ext uri="{FF2B5EF4-FFF2-40B4-BE49-F238E27FC236}">
                <a16:creationId xmlns:a16="http://schemas.microsoft.com/office/drawing/2014/main" id="{5DE7F72B-8B04-4EAB-9952-8DD565E34054}"/>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A07BE8-08DD-4795-8331-6ABC77DA480B}"/>
              </a:ext>
            </a:extLst>
          </p:cNvPr>
          <p:cNvSpPr>
            <a:spLocks xmlns:a="http://schemas.openxmlformats.org/drawingml/2006/main" noGrp="1"/>
          </p:cNvSpPr>
          <p:nvPr/>
        </p:nvSpPr>
        <p:spPr>
          <a:xfrm xmlns:a="http://schemas.openxmlformats.org/drawingml/2006/main">
            <a:off x="685800" y="1752600"/>
            <a:ext cx="4953000" cy="34290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087400-E16E-461B-B334-5EAC31A1C332}"/>
              </a:ext>
            </a:extLst>
          </p:cNvPr>
          <p:cNvSpPr>
            <a:spLocks xmlns:a="http://schemas.openxmlformats.org/drawingml/2006/main" noGrp="1"/>
          </p:cNvSpPr>
          <p:nvPr/>
        </p:nvSpPr>
        <p:spPr>
          <a:xfrm xmlns:a="http://schemas.openxmlformats.org/drawingml/2006/main">
            <a:off x="10477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2563EB"/>
                </a:solidFill>
              </a:defRPr>
            </a:pPr>
            <a:r>
              <a:rPr sz="2100" b="1">
                <a:solidFill>
                  <a:srgbClr val="2563EB"/>
                </a:solidFill>
              </a:rPr>
              <a:t>Simulated study</a:t>
            </a:r>
          </a:p>
        </p:txBody>
      </p:sp>
      <p:sp>
        <p:nvSpPr>
          <p:cNvPr id="6" name="">
            <a:extLst xmlns:a="http://schemas.openxmlformats.org/drawingml/2006/main">
              <a:ext uri="{FF2B5EF4-FFF2-40B4-BE49-F238E27FC236}">
                <a16:creationId xmlns:a16="http://schemas.microsoft.com/office/drawing/2014/main" id="{E98741AB-2D17-411D-97F2-5DC1B1EF29FA}"/>
              </a:ext>
            </a:extLst>
          </p:cNvPr>
          <p:cNvSpPr>
            <a:spLocks xmlns:a="http://schemas.openxmlformats.org/drawingml/2006/main" noGrp="1"/>
          </p:cNvSpPr>
          <p:nvPr/>
        </p:nvSpPr>
        <p:spPr>
          <a:xfrm xmlns:a="http://schemas.openxmlformats.org/drawingml/2006/main">
            <a:off x="1047750" y="2714625"/>
            <a:ext cx="4000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11827"/>
                </a:solidFill>
              </a:defRPr>
            </a:pPr>
            <a:r>
              <a:rPr sz="1725" b="0">
                <a:solidFill>
                  <a:srgbClr val="111827"/>
                </a:solidFill>
              </a:rPr>
              <a:t>40 samples</a:t>
            </a:r>
          </a:p>
          <a:p xmlns:a="http://schemas.openxmlformats.org/drawingml/2006/main">
            <a:pPr algn="l">
              <a:defRPr sz="1725" b="0">
                <a:solidFill>
                  <a:srgbClr val="111827"/>
                </a:solidFill>
              </a:defRPr>
            </a:pPr>
            <a:r>
              <a:rPr sz="1725" b="0">
                <a:solidFill>
                  <a:srgbClr val="111827"/>
                </a:solidFill>
              </a:rPr>
              <a:t>2 groups: control vs disease</a:t>
            </a:r>
          </a:p>
          <a:p xmlns:a="http://schemas.openxmlformats.org/drawingml/2006/main">
            <a:pPr algn="l">
              <a:defRPr sz="1725" b="0">
                <a:solidFill>
                  <a:srgbClr val="111827"/>
                </a:solidFill>
              </a:defRPr>
            </a:pPr>
            <a:r>
              <a:rPr sz="1725" b="0">
                <a:solidFill>
                  <a:srgbClr val="111827"/>
                </a:solidFill>
              </a:rPr>
              <a:t>1,000 genes</a:t>
            </a:r>
          </a:p>
          <a:p xmlns:a="http://schemas.openxmlformats.org/drawingml/2006/main">
            <a:pPr algn="l">
              <a:defRPr sz="1725" b="0">
                <a:solidFill>
                  <a:srgbClr val="111827"/>
                </a:solidFill>
              </a:defRPr>
            </a:pPr>
            <a:r>
              <a:rPr sz="1725" b="0">
                <a:solidFill>
                  <a:srgbClr val="111827"/>
                </a:solidFill>
              </a:rPr>
              <a:t>Three planted co-expression blocks</a:t>
            </a:r>
          </a:p>
          <a:p xmlns:a="http://schemas.openxmlformats.org/drawingml/2006/main">
            <a:pPr algn="l">
              <a:defRPr sz="1725" b="0">
                <a:solidFill>
                  <a:srgbClr val="111827"/>
                </a:solidFill>
              </a:defRPr>
            </a:pPr>
            <a:r>
              <a:rPr sz="1725" b="0">
                <a:solidFill>
                  <a:srgbClr val="111827"/>
                </a:solidFill>
              </a:rPr>
              <a:t>One block linked to disease</a:t>
            </a:r>
          </a:p>
        </p:txBody>
      </p:sp>
      <p:sp>
        <p:nvSpPr>
          <p:cNvPr id="7" name="">
            <a:extLst xmlns:a="http://schemas.openxmlformats.org/drawingml/2006/main">
              <a:ext uri="{FF2B5EF4-FFF2-40B4-BE49-F238E27FC236}">
                <a16:creationId xmlns:a16="http://schemas.microsoft.com/office/drawing/2014/main" id="{68BCE0AE-4456-44D7-9369-8208EC95174F}"/>
              </a:ext>
            </a:extLst>
          </p:cNvPr>
          <p:cNvSpPr>
            <a:spLocks xmlns:a="http://schemas.openxmlformats.org/drawingml/2006/main" noGrp="1"/>
          </p:cNvSpPr>
          <p:nvPr/>
        </p:nvSpPr>
        <p:spPr>
          <a:xfrm xmlns:a="http://schemas.openxmlformats.org/drawingml/2006/main">
            <a:off x="6191250" y="1752600"/>
            <a:ext cx="5314950" cy="34290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169C10-831F-4E9A-8E4A-9E82A44C5695}"/>
              </a:ext>
            </a:extLst>
          </p:cNvPr>
          <p:cNvSpPr>
            <a:spLocks xmlns:a="http://schemas.openxmlformats.org/drawingml/2006/main" noGrp="1"/>
          </p:cNvSpPr>
          <p:nvPr/>
        </p:nvSpPr>
        <p:spPr>
          <a:xfrm xmlns:a="http://schemas.openxmlformats.org/drawingml/2006/main">
            <a:off x="65722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F9D7A"/>
                </a:solidFill>
              </a:defRPr>
            </a:pPr>
            <a:r>
              <a:rPr sz="2100" b="1">
                <a:solidFill>
                  <a:srgbClr val="0F9D7A"/>
                </a:solidFill>
              </a:rPr>
              <a:t>Questions</a:t>
            </a:r>
          </a:p>
        </p:txBody>
      </p:sp>
      <p:sp>
        <p:nvSpPr>
          <p:cNvPr id="9" name="">
            <a:extLst xmlns:a="http://schemas.openxmlformats.org/drawingml/2006/main">
              <a:ext uri="{FF2B5EF4-FFF2-40B4-BE49-F238E27FC236}">
                <a16:creationId xmlns:a16="http://schemas.microsoft.com/office/drawing/2014/main" id="{81A6A2DC-51B0-4785-997A-EB22B539A3D9}"/>
              </a:ext>
            </a:extLst>
          </p:cNvPr>
          <p:cNvSpPr>
            <a:spLocks xmlns:a="http://schemas.openxmlformats.org/drawingml/2006/main" noGrp="1"/>
          </p:cNvSpPr>
          <p:nvPr/>
        </p:nvSpPr>
        <p:spPr>
          <a:xfrm xmlns:a="http://schemas.openxmlformats.org/drawingml/2006/main">
            <a:off x="6667500" y="27432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10" name="">
            <a:extLst xmlns:a="http://schemas.openxmlformats.org/drawingml/2006/main">
              <a:ext uri="{FF2B5EF4-FFF2-40B4-BE49-F238E27FC236}">
                <a16:creationId xmlns:a16="http://schemas.microsoft.com/office/drawing/2014/main" id="{1DE0460C-CF35-4A8E-A436-929DD83328C9}"/>
              </a:ext>
            </a:extLst>
          </p:cNvPr>
          <p:cNvSpPr>
            <a:spLocks xmlns:a="http://schemas.openxmlformats.org/drawingml/2006/main" noGrp="1"/>
          </p:cNvSpPr>
          <p:nvPr/>
        </p:nvSpPr>
        <p:spPr>
          <a:xfrm xmlns:a="http://schemas.openxmlformats.org/drawingml/2006/main">
            <a:off x="6610350" y="2686050"/>
            <a:ext cx="381000" cy="3810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BFD5F2-24FD-4D10-9761-A7A83B644208}"/>
              </a:ext>
            </a:extLst>
          </p:cNvPr>
          <p:cNvSpPr>
            <a:spLocks xmlns:a="http://schemas.openxmlformats.org/drawingml/2006/main" noGrp="1"/>
          </p:cNvSpPr>
          <p:nvPr/>
        </p:nvSpPr>
        <p:spPr>
          <a:xfrm xmlns:a="http://schemas.openxmlformats.org/drawingml/2006/main">
            <a:off x="6705600" y="277177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2" name="">
            <a:extLst xmlns:a="http://schemas.openxmlformats.org/drawingml/2006/main">
              <a:ext uri="{FF2B5EF4-FFF2-40B4-BE49-F238E27FC236}">
                <a16:creationId xmlns:a16="http://schemas.microsoft.com/office/drawing/2014/main" id="{28AA61AF-E60A-4A6C-B0CE-1D7D70679855}"/>
              </a:ext>
            </a:extLst>
          </p:cNvPr>
          <p:cNvSpPr>
            <a:spLocks xmlns:a="http://schemas.openxmlformats.org/drawingml/2006/main" noGrp="1"/>
          </p:cNvSpPr>
          <p:nvPr/>
        </p:nvSpPr>
        <p:spPr>
          <a:xfrm xmlns:a="http://schemas.openxmlformats.org/drawingml/2006/main">
            <a:off x="7191375" y="27241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827"/>
                </a:solidFill>
              </a:defRPr>
            </a:pPr>
            <a:r>
              <a:rPr sz="1500" b="0">
                <a:solidFill>
                  <a:srgbClr val="111827"/>
                </a:solidFill>
              </a:rPr>
              <a:t>Which β should we use?</a:t>
            </a:r>
          </a:p>
        </p:txBody>
      </p:sp>
      <p:sp>
        <p:nvSpPr>
          <p:cNvPr id="13" name="">
            <a:extLst xmlns:a="http://schemas.openxmlformats.org/drawingml/2006/main">
              <a:ext uri="{FF2B5EF4-FFF2-40B4-BE49-F238E27FC236}">
                <a16:creationId xmlns:a16="http://schemas.microsoft.com/office/drawing/2014/main" id="{E104804E-4C65-42E9-8C3C-12809645B52D}"/>
              </a:ext>
            </a:extLst>
          </p:cNvPr>
          <p:cNvSpPr>
            <a:spLocks xmlns:a="http://schemas.openxmlformats.org/drawingml/2006/main" noGrp="1"/>
          </p:cNvSpPr>
          <p:nvPr/>
        </p:nvSpPr>
        <p:spPr>
          <a:xfrm xmlns:a="http://schemas.openxmlformats.org/drawingml/2006/main">
            <a:off x="6667500" y="32670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14" name="">
            <a:extLst xmlns:a="http://schemas.openxmlformats.org/drawingml/2006/main">
              <a:ext uri="{FF2B5EF4-FFF2-40B4-BE49-F238E27FC236}">
                <a16:creationId xmlns:a16="http://schemas.microsoft.com/office/drawing/2014/main" id="{09674A10-ED3D-4C36-80ED-9207A3BFF0FD}"/>
              </a:ext>
            </a:extLst>
          </p:cNvPr>
          <p:cNvSpPr>
            <a:spLocks xmlns:a="http://schemas.openxmlformats.org/drawingml/2006/main" noGrp="1"/>
          </p:cNvSpPr>
          <p:nvPr/>
        </p:nvSpPr>
        <p:spPr>
          <a:xfrm xmlns:a="http://schemas.openxmlformats.org/drawingml/2006/main">
            <a:off x="6610350" y="3209925"/>
            <a:ext cx="381000" cy="3810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15DBD7C-9A5E-4C4B-9805-100EAF5C2462}"/>
              </a:ext>
            </a:extLst>
          </p:cNvPr>
          <p:cNvSpPr>
            <a:spLocks xmlns:a="http://schemas.openxmlformats.org/drawingml/2006/main" noGrp="1"/>
          </p:cNvSpPr>
          <p:nvPr/>
        </p:nvSpPr>
        <p:spPr>
          <a:xfrm xmlns:a="http://schemas.openxmlformats.org/drawingml/2006/main">
            <a:off x="6705600" y="329565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6" name="">
            <a:extLst xmlns:a="http://schemas.openxmlformats.org/drawingml/2006/main">
              <a:ext uri="{FF2B5EF4-FFF2-40B4-BE49-F238E27FC236}">
                <a16:creationId xmlns:a16="http://schemas.microsoft.com/office/drawing/2014/main" id="{806213F5-5E69-4280-A4BF-434B2CDAEBA3}"/>
              </a:ext>
            </a:extLst>
          </p:cNvPr>
          <p:cNvSpPr>
            <a:spLocks xmlns:a="http://schemas.openxmlformats.org/drawingml/2006/main" noGrp="1"/>
          </p:cNvSpPr>
          <p:nvPr/>
        </p:nvSpPr>
        <p:spPr>
          <a:xfrm xmlns:a="http://schemas.openxmlformats.org/drawingml/2006/main">
            <a:off x="7191375" y="32480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827"/>
                </a:solidFill>
              </a:defRPr>
            </a:pPr>
            <a:r>
              <a:rPr sz="1500" b="0">
                <a:solidFill>
                  <a:srgbClr val="111827"/>
                </a:solidFill>
              </a:rPr>
              <a:t>How many modules are detected?</a:t>
            </a:r>
          </a:p>
        </p:txBody>
      </p:sp>
      <p:sp>
        <p:nvSpPr>
          <p:cNvPr id="17" name="">
            <a:extLst xmlns:a="http://schemas.openxmlformats.org/drawingml/2006/main">
              <a:ext uri="{FF2B5EF4-FFF2-40B4-BE49-F238E27FC236}">
                <a16:creationId xmlns:a16="http://schemas.microsoft.com/office/drawing/2014/main" id="{52E92B4C-31E5-42D0-8696-746EF3D575E0}"/>
              </a:ext>
            </a:extLst>
          </p:cNvPr>
          <p:cNvSpPr>
            <a:spLocks xmlns:a="http://schemas.openxmlformats.org/drawingml/2006/main" noGrp="1"/>
          </p:cNvSpPr>
          <p:nvPr/>
        </p:nvSpPr>
        <p:spPr>
          <a:xfrm xmlns:a="http://schemas.openxmlformats.org/drawingml/2006/main">
            <a:off x="6667500" y="37909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18" name="">
            <a:extLst xmlns:a="http://schemas.openxmlformats.org/drawingml/2006/main">
              <a:ext uri="{FF2B5EF4-FFF2-40B4-BE49-F238E27FC236}">
                <a16:creationId xmlns:a16="http://schemas.microsoft.com/office/drawing/2014/main" id="{B6BAC621-D0B4-494F-BD86-7D897BA6B165}"/>
              </a:ext>
            </a:extLst>
          </p:cNvPr>
          <p:cNvSpPr>
            <a:spLocks xmlns:a="http://schemas.openxmlformats.org/drawingml/2006/main" noGrp="1"/>
          </p:cNvSpPr>
          <p:nvPr/>
        </p:nvSpPr>
        <p:spPr>
          <a:xfrm xmlns:a="http://schemas.openxmlformats.org/drawingml/2006/main">
            <a:off x="6610350" y="3733800"/>
            <a:ext cx="381000" cy="3810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0DAB2A4-3A4D-44B8-B238-3B345E439CE5}"/>
              </a:ext>
            </a:extLst>
          </p:cNvPr>
          <p:cNvSpPr>
            <a:spLocks xmlns:a="http://schemas.openxmlformats.org/drawingml/2006/main" noGrp="1"/>
          </p:cNvSpPr>
          <p:nvPr/>
        </p:nvSpPr>
        <p:spPr>
          <a:xfrm xmlns:a="http://schemas.openxmlformats.org/drawingml/2006/main">
            <a:off x="6705600" y="3819525"/>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20" name="">
            <a:extLst xmlns:a="http://schemas.openxmlformats.org/drawingml/2006/main">
              <a:ext uri="{FF2B5EF4-FFF2-40B4-BE49-F238E27FC236}">
                <a16:creationId xmlns:a16="http://schemas.microsoft.com/office/drawing/2014/main" id="{0D8DC87B-B962-4DC0-AB2D-F65A12665830}"/>
              </a:ext>
            </a:extLst>
          </p:cNvPr>
          <p:cNvSpPr>
            <a:spLocks xmlns:a="http://schemas.openxmlformats.org/drawingml/2006/main" noGrp="1"/>
          </p:cNvSpPr>
          <p:nvPr/>
        </p:nvSpPr>
        <p:spPr>
          <a:xfrm xmlns:a="http://schemas.openxmlformats.org/drawingml/2006/main">
            <a:off x="7191375" y="37719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827"/>
                </a:solidFill>
              </a:defRPr>
            </a:pPr>
            <a:r>
              <a:rPr sz="1500" b="0">
                <a:solidFill>
                  <a:srgbClr val="111827"/>
                </a:solidFill>
              </a:rPr>
              <a:t>Which module correlates with disease?</a:t>
            </a:r>
          </a:p>
        </p:txBody>
      </p:sp>
      <p:sp>
        <p:nvSpPr>
          <p:cNvPr id="21" name="">
            <a:extLst xmlns:a="http://schemas.openxmlformats.org/drawingml/2006/main">
              <a:ext uri="{FF2B5EF4-FFF2-40B4-BE49-F238E27FC236}">
                <a16:creationId xmlns:a16="http://schemas.microsoft.com/office/drawing/2014/main" id="{A85D0AE1-02FC-405C-82A0-5AB31DF2DE30}"/>
              </a:ext>
            </a:extLst>
          </p:cNvPr>
          <p:cNvSpPr>
            <a:spLocks xmlns:a="http://schemas.openxmlformats.org/drawingml/2006/main" noGrp="1"/>
          </p:cNvSpPr>
          <p:nvPr/>
        </p:nvSpPr>
        <p:spPr>
          <a:xfrm xmlns:a="http://schemas.openxmlformats.org/drawingml/2006/main">
            <a:off x="6667500" y="43148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4</a:t>
            </a:r>
          </a:p>
        </p:txBody>
      </p:sp>
      <p:sp>
        <p:nvSpPr>
          <p:cNvPr id="22" name="">
            <a:extLst xmlns:a="http://schemas.openxmlformats.org/drawingml/2006/main">
              <a:ext uri="{FF2B5EF4-FFF2-40B4-BE49-F238E27FC236}">
                <a16:creationId xmlns:a16="http://schemas.microsoft.com/office/drawing/2014/main" id="{C32FB5D9-F97B-4952-9D2B-B5E5FF4379D5}"/>
              </a:ext>
            </a:extLst>
          </p:cNvPr>
          <p:cNvSpPr>
            <a:spLocks xmlns:a="http://schemas.openxmlformats.org/drawingml/2006/main" noGrp="1"/>
          </p:cNvSpPr>
          <p:nvPr/>
        </p:nvSpPr>
        <p:spPr>
          <a:xfrm xmlns:a="http://schemas.openxmlformats.org/drawingml/2006/main">
            <a:off x="6610350" y="4257675"/>
            <a:ext cx="381000" cy="38100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27068B0-98C8-4B7C-9E3A-594E29FA75AE}"/>
              </a:ext>
            </a:extLst>
          </p:cNvPr>
          <p:cNvSpPr>
            <a:spLocks xmlns:a="http://schemas.openxmlformats.org/drawingml/2006/main" noGrp="1"/>
          </p:cNvSpPr>
          <p:nvPr/>
        </p:nvSpPr>
        <p:spPr>
          <a:xfrm xmlns:a="http://schemas.openxmlformats.org/drawingml/2006/main">
            <a:off x="6705600" y="434340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4" name="">
            <a:extLst xmlns:a="http://schemas.openxmlformats.org/drawingml/2006/main">
              <a:ext uri="{FF2B5EF4-FFF2-40B4-BE49-F238E27FC236}">
                <a16:creationId xmlns:a16="http://schemas.microsoft.com/office/drawing/2014/main" id="{38931E27-4429-4DBA-B2FB-75A5878AB83E}"/>
              </a:ext>
            </a:extLst>
          </p:cNvPr>
          <p:cNvSpPr>
            <a:spLocks xmlns:a="http://schemas.openxmlformats.org/drawingml/2006/main" noGrp="1"/>
          </p:cNvSpPr>
          <p:nvPr/>
        </p:nvSpPr>
        <p:spPr>
          <a:xfrm xmlns:a="http://schemas.openxmlformats.org/drawingml/2006/main">
            <a:off x="7191375" y="42957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827"/>
                </a:solidFill>
              </a:defRPr>
            </a:pPr>
            <a:r>
              <a:rPr sz="1500" b="0">
                <a:solidFill>
                  <a:srgbClr val="111827"/>
                </a:solidFill>
              </a:rPr>
              <a:t>Which genes are plausible hubs?</a:t>
            </a:r>
          </a:p>
        </p:txBody>
      </p:sp>
      <p:sp>
        <p:nvSpPr>
          <p:cNvPr id="25" name="">
            <a:extLst xmlns:a="http://schemas.openxmlformats.org/drawingml/2006/main">
              <a:ext uri="{FF2B5EF4-FFF2-40B4-BE49-F238E27FC236}">
                <a16:creationId xmlns:a16="http://schemas.microsoft.com/office/drawing/2014/main" id="{54653EFB-6A3C-43FC-8FDA-193D8835E499}"/>
              </a:ext>
            </a:extLst>
          </p:cNvPr>
          <p:cNvSpPr>
            <a:spLocks xmlns:a="http://schemas.openxmlformats.org/drawingml/2006/main" noGrp="1"/>
          </p:cNvSpPr>
          <p:nvPr/>
        </p:nvSpPr>
        <p:spPr>
          <a:xfrm xmlns:a="http://schemas.openxmlformats.org/drawingml/2006/main">
            <a:off x="1524000" y="573405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827"/>
                </a:solidFill>
              </a:defRPr>
            </a:pPr>
            <a:r>
              <a:rPr sz="1800" b="1">
                <a:solidFill>
                  <a:srgbClr val="111827"/>
                </a:solidFill>
              </a:rPr>
              <a:t>The simulation gives us a known answer, so we can test the workflow.</a:t>
            </a:r>
          </a:p>
        </p:txBody>
      </p:sp>
      <p:sp>
        <p:nvSpPr>
          <p:cNvPr id="26" name="">
            <a:extLst xmlns:a="http://schemas.openxmlformats.org/drawingml/2006/main">
              <a:ext uri="{FF2B5EF4-FFF2-40B4-BE49-F238E27FC236}">
                <a16:creationId xmlns:a16="http://schemas.microsoft.com/office/drawing/2014/main" id="{3F75A1FA-2163-4003-8446-266970CAC493}"/>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11</a:t>
            </a:r>
          </a:p>
        </p:txBody>
      </p:sp>
    </p:spTree>
    <p:extLst>
      <p:ext uri="{BB962C8B-B14F-4D97-AF65-F5344CB8AC3E}">
        <p14:creationId xmlns:p14="http://schemas.microsoft.com/office/powerpoint/2010/main" val="11436938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3529682-2B93-4313-9C80-24AFF88EF318}"/>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008727D1-B7D6-4A51-BD36-CC48F2E1B023}"/>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Demo 1 — simulate expression and run quality control</a:t>
            </a:r>
          </a:p>
        </p:txBody>
      </p:sp>
      <p:sp>
        <p:nvSpPr>
          <p:cNvPr id="3" name="">
            <a:extLst xmlns:a="http://schemas.openxmlformats.org/drawingml/2006/main">
              <a:ext uri="{FF2B5EF4-FFF2-40B4-BE49-F238E27FC236}">
                <a16:creationId xmlns:a16="http://schemas.microsoft.com/office/drawing/2014/main" id="{9E26D261-A0AC-4F7C-9A3E-00DF5B612892}"/>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3BAB1C-049B-4A33-AD9A-AA7A68379247}"/>
              </a:ext>
            </a:extLst>
          </p:cNvPr>
          <p:cNvSpPr>
            <a:spLocks xmlns:a="http://schemas.openxmlformats.org/drawingml/2006/main" noGrp="1"/>
          </p:cNvSpPr>
          <p:nvPr/>
        </p:nvSpPr>
        <p:spPr>
          <a:xfrm xmlns:a="http://schemas.openxmlformats.org/drawingml/2006/main">
            <a:off x="590550" y="1619250"/>
            <a:ext cx="7239000" cy="44767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5770AA-3BA8-4640-89B0-9845D63A769E}"/>
              </a:ext>
            </a:extLst>
          </p:cNvPr>
          <p:cNvSpPr>
            <a:spLocks xmlns:a="http://schemas.openxmlformats.org/drawingml/2006/main" noGrp="1"/>
          </p:cNvSpPr>
          <p:nvPr/>
        </p:nvSpPr>
        <p:spPr>
          <a:xfrm xmlns:a="http://schemas.openxmlformats.org/drawingml/2006/main">
            <a:off x="781050" y="1771650"/>
            <a:ext cx="6858000" cy="421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E5EEF8"/>
                </a:solidFill>
              </a:defRPr>
            </a:pPr>
            <a:r>
              <a:rPr sz="1200" b="0">
                <a:solidFill>
                  <a:srgbClr val="E5EEF8"/>
                </a:solidFill>
              </a:rPr>
              <a:t>library(WGCNA)</a:t>
            </a:r>
          </a:p>
          <a:p xmlns:a="http://schemas.openxmlformats.org/drawingml/2006/main">
            <a:pPr algn="l">
              <a:defRPr sz="1200" b="0">
                <a:solidFill>
                  <a:srgbClr val="E5EEF8"/>
                </a:solidFill>
              </a:defRPr>
            </a:pPr>
            <a:r>
              <a:rPr sz="1200" b="0">
                <a:solidFill>
                  <a:srgbClr val="E5EEF8"/>
                </a:solidFill>
              </a:rPr>
              <a:t>options(stringsAsFactors = FALSE)</a:t>
            </a:r>
          </a:p>
          <a:p xmlns:a="http://schemas.openxmlformats.org/drawingml/2006/main">
            <a:pPr algn="l">
              <a:defRPr sz="1200" b="0">
                <a:solidFill>
                  <a:srgbClr val="E5EEF8"/>
                </a:solidFill>
              </a:defRPr>
            </a:pPr>
            <a:r>
              <a:rPr sz="1200" b="0">
                <a:solidFill>
                  <a:srgbClr val="E5EEF8"/>
                </a:solidFill>
              </a:rPr>
              <a:t>allowWGCNAThreads()</a:t>
            </a:r>
          </a:p>
          <a:p xmlns:a="http://schemas.openxmlformats.org/drawingml/2006/main">
            <a:pPr algn="l">
              <a:defRPr sz="1200" b="0">
                <a:solidFill>
                  <a:srgbClr val="E5EEF8"/>
                </a:solidFill>
              </a:defRPr>
            </a:pPr>
            <a:r>
              <a:rPr sz="1200" b="0">
                <a:solidFill>
                  <a:srgbClr val="E5EEF8"/>
                </a:solidFill>
              </a:rPr>
              <a:t>set.seed(2026)</a:t>
            </a:r>
          </a:p>
          <a:p xmlns:a="http://schemas.openxmlformats.org/drawingml/2006/main">
            <a:r>
              <a:t/>
            </a:r>
          </a:p>
          <a:p xmlns:a="http://schemas.openxmlformats.org/drawingml/2006/main">
            <a:pPr algn="l">
              <a:defRPr sz="1200" b="0">
                <a:solidFill>
                  <a:srgbClr val="E5EEF8"/>
                </a:solidFill>
              </a:defRPr>
            </a:pPr>
            <a:r>
              <a:rPr sz="1200" b="0">
                <a:solidFill>
                  <a:srgbClr val="E5EEF8"/>
                </a:solidFill>
              </a:rPr>
              <a:t>n &lt;- 40; p &lt;- 1000</a:t>
            </a:r>
          </a:p>
          <a:p xmlns:a="http://schemas.openxmlformats.org/drawingml/2006/main">
            <a:pPr algn="l">
              <a:defRPr sz="1200" b="0">
                <a:solidFill>
                  <a:srgbClr val="E5EEF8"/>
                </a:solidFill>
              </a:defRPr>
            </a:pPr>
            <a:r>
              <a:rPr sz="1200" b="0">
                <a:solidFill>
                  <a:srgbClr val="E5EEF8"/>
                </a:solidFill>
              </a:rPr>
              <a:t>trait &lt;- data.frame(Disease=rep(c(0,1), each=n/2))</a:t>
            </a:r>
          </a:p>
          <a:p xmlns:a="http://schemas.openxmlformats.org/drawingml/2006/main">
            <a:pPr algn="l">
              <a:defRPr sz="1200" b="0">
                <a:solidFill>
                  <a:srgbClr val="E5EEF8"/>
                </a:solidFill>
              </a:defRPr>
            </a:pPr>
            <a:r>
              <a:rPr sz="1200" b="0">
                <a:solidFill>
                  <a:srgbClr val="E5EEF8"/>
                </a:solidFill>
              </a:rPr>
              <a:t>X &lt;- matrix(rnorm(n*p), nrow=n, ncol=p)</a:t>
            </a:r>
          </a:p>
          <a:p xmlns:a="http://schemas.openxmlformats.org/drawingml/2006/main">
            <a:pPr algn="l">
              <a:defRPr sz="1200" b="0">
                <a:solidFill>
                  <a:srgbClr val="E5EEF8"/>
                </a:solidFill>
              </a:defRPr>
            </a:pPr>
            <a:r>
              <a:rPr sz="1200" b="0">
                <a:solidFill>
                  <a:srgbClr val="E5EEF8"/>
                </a:solidFill>
              </a:rPr>
              <a:t>L1 &lt;- rnorm(n) + 1.2*trait$Disease</a:t>
            </a:r>
          </a:p>
          <a:p xmlns:a="http://schemas.openxmlformats.org/drawingml/2006/main">
            <a:pPr algn="l">
              <a:defRPr sz="1200" b="0">
                <a:solidFill>
                  <a:srgbClr val="E5EEF8"/>
                </a:solidFill>
              </a:defRPr>
            </a:pPr>
            <a:r>
              <a:rPr sz="1200" b="0">
                <a:solidFill>
                  <a:srgbClr val="E5EEF8"/>
                </a:solidFill>
              </a:rPr>
              <a:t>L2 &lt;- rnorm(n); L3 &lt;- rnorm(n)</a:t>
            </a:r>
          </a:p>
          <a:p xmlns:a="http://schemas.openxmlformats.org/drawingml/2006/main">
            <a:pPr algn="l">
              <a:defRPr sz="1200" b="0">
                <a:solidFill>
                  <a:srgbClr val="E5EEF8"/>
                </a:solidFill>
              </a:defRPr>
            </a:pPr>
            <a:r>
              <a:rPr sz="1200" b="0">
                <a:solidFill>
                  <a:srgbClr val="E5EEF8"/>
                </a:solidFill>
              </a:rPr>
              <a:t>X[,1:120] &lt;- L1 + matrix(rnorm(n*120,sd=.5),n)</a:t>
            </a:r>
          </a:p>
          <a:p xmlns:a="http://schemas.openxmlformats.org/drawingml/2006/main">
            <a:pPr algn="l">
              <a:defRPr sz="1200" b="0">
                <a:solidFill>
                  <a:srgbClr val="E5EEF8"/>
                </a:solidFill>
              </a:defRPr>
            </a:pPr>
            <a:r>
              <a:rPr sz="1200" b="0">
                <a:solidFill>
                  <a:srgbClr val="E5EEF8"/>
                </a:solidFill>
              </a:rPr>
              <a:t>X[,121:220] &lt;- L2 + matrix(rnorm(n*100,sd=.5),n)</a:t>
            </a:r>
          </a:p>
          <a:p xmlns:a="http://schemas.openxmlformats.org/drawingml/2006/main">
            <a:pPr algn="l">
              <a:defRPr sz="1200" b="0">
                <a:solidFill>
                  <a:srgbClr val="E5EEF8"/>
                </a:solidFill>
              </a:defRPr>
            </a:pPr>
            <a:r>
              <a:rPr sz="1200" b="0">
                <a:solidFill>
                  <a:srgbClr val="E5EEF8"/>
                </a:solidFill>
              </a:rPr>
              <a:t>X[,221:300] &lt;- L3 + matrix(rnorm(n*80,sd=.5),n)</a:t>
            </a:r>
          </a:p>
          <a:p xmlns:a="http://schemas.openxmlformats.org/drawingml/2006/main">
            <a:pPr algn="l">
              <a:defRPr sz="1200" b="0">
                <a:solidFill>
                  <a:srgbClr val="E5EEF8"/>
                </a:solidFill>
              </a:defRPr>
            </a:pPr>
            <a:r>
              <a:rPr sz="1200" b="0">
                <a:solidFill>
                  <a:srgbClr val="E5EEF8"/>
                </a:solidFill>
              </a:rPr>
              <a:t>colnames(X) &lt;- paste0("Gene",seq_len(p))</a:t>
            </a:r>
          </a:p>
          <a:p xmlns:a="http://schemas.openxmlformats.org/drawingml/2006/main">
            <a:pPr algn="l">
              <a:defRPr sz="1200" b="0">
                <a:solidFill>
                  <a:srgbClr val="E5EEF8"/>
                </a:solidFill>
              </a:defRPr>
            </a:pPr>
            <a:r>
              <a:rPr sz="1200" b="0">
                <a:solidFill>
                  <a:srgbClr val="E5EEF8"/>
                </a:solidFill>
              </a:rPr>
              <a:t>rownames(X) &lt;- paste0("S",seq_len(n))</a:t>
            </a:r>
          </a:p>
          <a:p xmlns:a="http://schemas.openxmlformats.org/drawingml/2006/main">
            <a:pPr algn="l">
              <a:defRPr sz="1200" b="0">
                <a:solidFill>
                  <a:srgbClr val="E5EEF8"/>
                </a:solidFill>
              </a:defRPr>
            </a:pPr>
            <a:r>
              <a:rPr sz="1200" b="0">
                <a:solidFill>
                  <a:srgbClr val="E5EEF8"/>
                </a:solidFill>
              </a:rPr>
              <a:t>rownames(trait) &lt;- rownames(X)</a:t>
            </a:r>
          </a:p>
          <a:p xmlns:a="http://schemas.openxmlformats.org/drawingml/2006/main">
            <a:r>
              <a:t/>
            </a:r>
          </a:p>
          <a:p xmlns:a="http://schemas.openxmlformats.org/drawingml/2006/main">
            <a:pPr algn="l">
              <a:defRPr sz="1200" b="0">
                <a:solidFill>
                  <a:srgbClr val="E5EEF8"/>
                </a:solidFill>
              </a:defRPr>
            </a:pPr>
            <a:r>
              <a:rPr sz="1200" b="0">
                <a:solidFill>
                  <a:srgbClr val="E5EEF8"/>
                </a:solidFill>
              </a:rPr>
              <a:t>datExpr &lt;- as.data.frame(X)</a:t>
            </a:r>
          </a:p>
          <a:p xmlns:a="http://schemas.openxmlformats.org/drawingml/2006/main">
            <a:pPr algn="l">
              <a:defRPr sz="1200" b="0">
                <a:solidFill>
                  <a:srgbClr val="E5EEF8"/>
                </a:solidFill>
              </a:defRPr>
            </a:pPr>
            <a:r>
              <a:rPr sz="1200" b="0">
                <a:solidFill>
                  <a:srgbClr val="E5EEF8"/>
                </a:solidFill>
              </a:rPr>
              <a:t>gsg &lt;- goodSamplesGenes(datExpr, verbose=3)</a:t>
            </a:r>
          </a:p>
          <a:p xmlns:a="http://schemas.openxmlformats.org/drawingml/2006/main">
            <a:pPr algn="l">
              <a:defRPr sz="1200" b="0">
                <a:solidFill>
                  <a:srgbClr val="E5EEF8"/>
                </a:solidFill>
              </a:defRPr>
            </a:pPr>
            <a:r>
              <a:rPr sz="1200" b="0">
                <a:solidFill>
                  <a:srgbClr val="E5EEF8"/>
                </a:solidFill>
              </a:rPr>
              <a:t>datExpr &lt;- datExpr[gsg$goodSamples,gsg$goodGenes]</a:t>
            </a:r>
          </a:p>
        </p:txBody>
      </p:sp>
      <p:sp>
        <p:nvSpPr>
          <p:cNvPr id="6" name="">
            <a:extLst xmlns:a="http://schemas.openxmlformats.org/drawingml/2006/main">
              <a:ext uri="{FF2B5EF4-FFF2-40B4-BE49-F238E27FC236}">
                <a16:creationId xmlns:a16="http://schemas.microsoft.com/office/drawing/2014/main" id="{2BAA9EA0-6653-4CA6-8C01-BFF74341C65E}"/>
              </a:ext>
            </a:extLst>
          </p:cNvPr>
          <p:cNvSpPr>
            <a:spLocks xmlns:a="http://schemas.openxmlformats.org/drawingml/2006/main" noGrp="1"/>
          </p:cNvSpPr>
          <p:nvPr/>
        </p:nvSpPr>
        <p:spPr>
          <a:xfrm xmlns:a="http://schemas.openxmlformats.org/drawingml/2006/main">
            <a:off x="8239125" y="18097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563EB"/>
                </a:solidFill>
              </a:defRPr>
            </a:pPr>
            <a:r>
              <a:rPr sz="1875" b="1">
                <a:solidFill>
                  <a:srgbClr val="2563EB"/>
                </a:solidFill>
              </a:rPr>
              <a:t>Check before continuing</a:t>
            </a:r>
          </a:p>
        </p:txBody>
      </p:sp>
      <p:sp>
        <p:nvSpPr>
          <p:cNvPr id="7" name="">
            <a:extLst xmlns:a="http://schemas.openxmlformats.org/drawingml/2006/main">
              <a:ext uri="{FF2B5EF4-FFF2-40B4-BE49-F238E27FC236}">
                <a16:creationId xmlns:a16="http://schemas.microsoft.com/office/drawing/2014/main" id="{04FAAE06-63E2-4EFB-972B-48C47C053379}"/>
              </a:ext>
            </a:extLst>
          </p:cNvPr>
          <p:cNvSpPr>
            <a:spLocks xmlns:a="http://schemas.openxmlformats.org/drawingml/2006/main" noGrp="1"/>
          </p:cNvSpPr>
          <p:nvPr/>
        </p:nvSpPr>
        <p:spPr>
          <a:xfrm xmlns:a="http://schemas.openxmlformats.org/drawingml/2006/main">
            <a:off x="8239125" y="2381250"/>
            <a:ext cx="2952750" cy="495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6602F2-F2E4-4A1D-81E6-8F3E45834206}"/>
              </a:ext>
            </a:extLst>
          </p:cNvPr>
          <p:cNvSpPr>
            <a:spLocks xmlns:a="http://schemas.openxmlformats.org/drawingml/2006/main" noGrp="1"/>
          </p:cNvSpPr>
          <p:nvPr/>
        </p:nvSpPr>
        <p:spPr>
          <a:xfrm xmlns:a="http://schemas.openxmlformats.org/drawingml/2006/main">
            <a:off x="8429625" y="25241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dim(datExpr)</a:t>
            </a:r>
          </a:p>
        </p:txBody>
      </p:sp>
      <p:sp>
        <p:nvSpPr>
          <p:cNvPr id="9" name="">
            <a:extLst xmlns:a="http://schemas.openxmlformats.org/drawingml/2006/main">
              <a:ext uri="{FF2B5EF4-FFF2-40B4-BE49-F238E27FC236}">
                <a16:creationId xmlns:a16="http://schemas.microsoft.com/office/drawing/2014/main" id="{C35FCCBB-AE81-49DB-A320-A6EEDF6075C5}"/>
              </a:ext>
            </a:extLst>
          </p:cNvPr>
          <p:cNvSpPr>
            <a:spLocks xmlns:a="http://schemas.openxmlformats.org/drawingml/2006/main" noGrp="1"/>
          </p:cNvSpPr>
          <p:nvPr/>
        </p:nvSpPr>
        <p:spPr>
          <a:xfrm xmlns:a="http://schemas.openxmlformats.org/drawingml/2006/main">
            <a:off x="8239125" y="3067050"/>
            <a:ext cx="2952750" cy="495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B23480-96CF-47F3-AA51-B47482BEE5AC}"/>
              </a:ext>
            </a:extLst>
          </p:cNvPr>
          <p:cNvSpPr>
            <a:spLocks xmlns:a="http://schemas.openxmlformats.org/drawingml/2006/main" noGrp="1"/>
          </p:cNvSpPr>
          <p:nvPr/>
        </p:nvSpPr>
        <p:spPr>
          <a:xfrm xmlns:a="http://schemas.openxmlformats.org/drawingml/2006/main">
            <a:off x="8429625" y="32099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all(gsg$allOK)</a:t>
            </a:r>
          </a:p>
        </p:txBody>
      </p:sp>
      <p:sp>
        <p:nvSpPr>
          <p:cNvPr id="11" name="">
            <a:extLst xmlns:a="http://schemas.openxmlformats.org/drawingml/2006/main">
              <a:ext uri="{FF2B5EF4-FFF2-40B4-BE49-F238E27FC236}">
                <a16:creationId xmlns:a16="http://schemas.microsoft.com/office/drawing/2014/main" id="{79251DCA-6127-4F4F-804D-D0D08B6D30EE}"/>
              </a:ext>
            </a:extLst>
          </p:cNvPr>
          <p:cNvSpPr>
            <a:spLocks xmlns:a="http://schemas.openxmlformats.org/drawingml/2006/main" noGrp="1"/>
          </p:cNvSpPr>
          <p:nvPr/>
        </p:nvSpPr>
        <p:spPr>
          <a:xfrm xmlns:a="http://schemas.openxmlformats.org/drawingml/2006/main">
            <a:off x="8239125" y="3752850"/>
            <a:ext cx="2952750" cy="4953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3EAA36-DB86-4561-92E7-5E9095D71057}"/>
              </a:ext>
            </a:extLst>
          </p:cNvPr>
          <p:cNvSpPr>
            <a:spLocks xmlns:a="http://schemas.openxmlformats.org/drawingml/2006/main" noGrp="1"/>
          </p:cNvSpPr>
          <p:nvPr/>
        </p:nvSpPr>
        <p:spPr>
          <a:xfrm xmlns:a="http://schemas.openxmlformats.org/drawingml/2006/main">
            <a:off x="8429625" y="38957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827"/>
                </a:solidFill>
              </a:defRPr>
            </a:pPr>
            <a:r>
              <a:rPr sz="1350" b="0">
                <a:solidFill>
                  <a:srgbClr val="111827"/>
                </a:solidFill>
              </a:rPr>
              <a:t>sample dendrogram</a:t>
            </a:r>
          </a:p>
        </p:txBody>
      </p:sp>
      <p:sp>
        <p:nvSpPr>
          <p:cNvPr id="13" name="">
            <a:extLst xmlns:a="http://schemas.openxmlformats.org/drawingml/2006/main">
              <a:ext uri="{FF2B5EF4-FFF2-40B4-BE49-F238E27FC236}">
                <a16:creationId xmlns:a16="http://schemas.microsoft.com/office/drawing/2014/main" id="{15953B47-4425-4F08-AC61-3147EA9F0943}"/>
              </a:ext>
            </a:extLst>
          </p:cNvPr>
          <p:cNvSpPr>
            <a:spLocks xmlns:a="http://schemas.openxmlformats.org/drawingml/2006/main" noGrp="1"/>
          </p:cNvSpPr>
          <p:nvPr/>
        </p:nvSpPr>
        <p:spPr>
          <a:xfrm xmlns:a="http://schemas.openxmlformats.org/drawingml/2006/main">
            <a:off x="8239125" y="4438650"/>
            <a:ext cx="2952750" cy="4953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AA2448-9892-4B5E-AA08-C1B8544BC298}"/>
              </a:ext>
            </a:extLst>
          </p:cNvPr>
          <p:cNvSpPr>
            <a:spLocks xmlns:a="http://schemas.openxmlformats.org/drawingml/2006/main" noGrp="1"/>
          </p:cNvSpPr>
          <p:nvPr/>
        </p:nvSpPr>
        <p:spPr>
          <a:xfrm xmlns:a="http://schemas.openxmlformats.org/drawingml/2006/main">
            <a:off x="8429625" y="45815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rownames(trait) alignment</a:t>
            </a:r>
          </a:p>
        </p:txBody>
      </p:sp>
      <p:sp>
        <p:nvSpPr>
          <p:cNvPr id="15" name="">
            <a:extLst xmlns:a="http://schemas.openxmlformats.org/drawingml/2006/main">
              <a:ext uri="{FF2B5EF4-FFF2-40B4-BE49-F238E27FC236}">
                <a16:creationId xmlns:a16="http://schemas.microsoft.com/office/drawing/2014/main" id="{A2A6015A-F9EA-46CE-9B8C-67FD91A5CA9B}"/>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12</a:t>
            </a:r>
          </a:p>
        </p:txBody>
      </p:sp>
    </p:spTree>
    <p:extLst>
      <p:ext uri="{BB962C8B-B14F-4D97-AF65-F5344CB8AC3E}">
        <p14:creationId xmlns:p14="http://schemas.microsoft.com/office/powerpoint/2010/main" val="54379199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21168B7-F8A5-44E4-ABCF-699A6FCBCBD8}"/>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A508A7D1-6394-43D8-90E2-D1C40AA4BBE7}"/>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Demo 2 — select β and detect modules</a:t>
            </a:r>
          </a:p>
        </p:txBody>
      </p:sp>
      <p:sp>
        <p:nvSpPr>
          <p:cNvPr id="3" name="">
            <a:extLst xmlns:a="http://schemas.openxmlformats.org/drawingml/2006/main">
              <a:ext uri="{FF2B5EF4-FFF2-40B4-BE49-F238E27FC236}">
                <a16:creationId xmlns:a16="http://schemas.microsoft.com/office/drawing/2014/main" id="{DEC0AFB0-7722-4717-823E-CBC3A3F08151}"/>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1216A3-4A32-46FB-98E1-A5F83C7E0CA2}"/>
              </a:ext>
            </a:extLst>
          </p:cNvPr>
          <p:cNvSpPr>
            <a:spLocks xmlns:a="http://schemas.openxmlformats.org/drawingml/2006/main" noGrp="1"/>
          </p:cNvSpPr>
          <p:nvPr/>
        </p:nvSpPr>
        <p:spPr>
          <a:xfrm xmlns:a="http://schemas.openxmlformats.org/drawingml/2006/main">
            <a:off x="590550" y="1619250"/>
            <a:ext cx="7239000" cy="44767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A64566-2EEE-43B2-A349-551CCD9088D0}"/>
              </a:ext>
            </a:extLst>
          </p:cNvPr>
          <p:cNvSpPr>
            <a:spLocks xmlns:a="http://schemas.openxmlformats.org/drawingml/2006/main" noGrp="1"/>
          </p:cNvSpPr>
          <p:nvPr/>
        </p:nvSpPr>
        <p:spPr>
          <a:xfrm xmlns:a="http://schemas.openxmlformats.org/drawingml/2006/main">
            <a:off x="781050" y="1771650"/>
            <a:ext cx="6858000" cy="421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E5EEF8"/>
                </a:solidFill>
              </a:defRPr>
            </a:pPr>
            <a:r>
              <a:rPr sz="1200" b="0">
                <a:solidFill>
                  <a:srgbClr val="E5EEF8"/>
                </a:solidFill>
              </a:rPr>
              <a:t>powers &lt;- c(1:10, seq(12, 20, by=2))</a:t>
            </a:r>
          </a:p>
          <a:p xmlns:a="http://schemas.openxmlformats.org/drawingml/2006/main">
            <a:pPr algn="l">
              <a:defRPr sz="1200" b="0">
                <a:solidFill>
                  <a:srgbClr val="E5EEF8"/>
                </a:solidFill>
              </a:defRPr>
            </a:pPr>
            <a:r>
              <a:rPr sz="1200" b="0">
                <a:solidFill>
                  <a:srgbClr val="E5EEF8"/>
                </a:solidFill>
              </a:rPr>
              <a:t>sft &lt;- pickSoftThreshold(</a:t>
            </a:r>
          </a:p>
          <a:p xmlns:a="http://schemas.openxmlformats.org/drawingml/2006/main">
            <a:pPr algn="l">
              <a:defRPr sz="1200" b="0">
                <a:solidFill>
                  <a:srgbClr val="E5EEF8"/>
                </a:solidFill>
              </a:defRPr>
            </a:pPr>
            <a:r>
              <a:rPr sz="1200" b="0">
                <a:solidFill>
                  <a:srgbClr val="E5EEF8"/>
                </a:solidFill>
              </a:rPr>
              <a:t>  datExpr, powerVector=powers,</a:t>
            </a:r>
          </a:p>
          <a:p xmlns:a="http://schemas.openxmlformats.org/drawingml/2006/main">
            <a:pPr algn="l">
              <a:defRPr sz="1200" b="0">
                <a:solidFill>
                  <a:srgbClr val="E5EEF8"/>
                </a:solidFill>
              </a:defRPr>
            </a:pPr>
            <a:r>
              <a:rPr sz="1200" b="0">
                <a:solidFill>
                  <a:srgbClr val="E5EEF8"/>
                </a:solidFill>
              </a:rPr>
              <a:t>  networkType="signed", verbose=5</a:t>
            </a:r>
          </a:p>
          <a:p xmlns:a="http://schemas.openxmlformats.org/drawingml/2006/main">
            <a:pPr algn="l">
              <a:defRPr sz="1200" b="0">
                <a:solidFill>
                  <a:srgbClr val="E5EEF8"/>
                </a:solidFill>
              </a:defRPr>
            </a:pPr>
            <a:r>
              <a:rPr sz="1200" b="0">
                <a:solidFill>
                  <a:srgbClr val="E5EEF8"/>
                </a:solidFill>
              </a:rPr>
              <a:t>)</a:t>
            </a:r>
          </a:p>
          <a:p xmlns:a="http://schemas.openxmlformats.org/drawingml/2006/main">
            <a:r>
              <a:t/>
            </a:r>
          </a:p>
          <a:p xmlns:a="http://schemas.openxmlformats.org/drawingml/2006/main">
            <a:pPr algn="l">
              <a:defRPr sz="1200" b="0">
                <a:solidFill>
                  <a:srgbClr val="E5EEF8"/>
                </a:solidFill>
              </a:defRPr>
            </a:pPr>
            <a:r>
              <a:rPr sz="1200" b="0">
                <a:solidFill>
                  <a:srgbClr val="E5EEF8"/>
                </a:solidFill>
              </a:rPr>
              <a:t>softPower &lt;- 6  # replace after inspecting sft</a:t>
            </a:r>
          </a:p>
          <a:p xmlns:a="http://schemas.openxmlformats.org/drawingml/2006/main">
            <a:pPr algn="l">
              <a:defRPr sz="1200" b="0">
                <a:solidFill>
                  <a:srgbClr val="E5EEF8"/>
                </a:solidFill>
              </a:defRPr>
            </a:pPr>
            <a:r>
              <a:rPr sz="1200" b="0">
                <a:solidFill>
                  <a:srgbClr val="E5EEF8"/>
                </a:solidFill>
              </a:rPr>
              <a:t>net &lt;- blockwiseModules(</a:t>
            </a:r>
          </a:p>
          <a:p xmlns:a="http://schemas.openxmlformats.org/drawingml/2006/main">
            <a:pPr algn="l">
              <a:defRPr sz="1200" b="0">
                <a:solidFill>
                  <a:srgbClr val="E5EEF8"/>
                </a:solidFill>
              </a:defRPr>
            </a:pPr>
            <a:r>
              <a:rPr sz="1200" b="0">
                <a:solidFill>
                  <a:srgbClr val="E5EEF8"/>
                </a:solidFill>
              </a:rPr>
              <a:t>  datExpr, power=softPower,</a:t>
            </a:r>
          </a:p>
          <a:p xmlns:a="http://schemas.openxmlformats.org/drawingml/2006/main">
            <a:pPr algn="l">
              <a:defRPr sz="1200" b="0">
                <a:solidFill>
                  <a:srgbClr val="E5EEF8"/>
                </a:solidFill>
              </a:defRPr>
            </a:pPr>
            <a:r>
              <a:rPr sz="1200" b="0">
                <a:solidFill>
                  <a:srgbClr val="E5EEF8"/>
                </a:solidFill>
              </a:rPr>
              <a:t>  networkType="signed", TOMType="signed",</a:t>
            </a:r>
          </a:p>
          <a:p xmlns:a="http://schemas.openxmlformats.org/drawingml/2006/main">
            <a:pPr algn="l">
              <a:defRPr sz="1200" b="0">
                <a:solidFill>
                  <a:srgbClr val="E5EEF8"/>
                </a:solidFill>
              </a:defRPr>
            </a:pPr>
            <a:r>
              <a:rPr sz="1200" b="0">
                <a:solidFill>
                  <a:srgbClr val="E5EEF8"/>
                </a:solidFill>
              </a:rPr>
              <a:t>  minModuleSize=30, mergeCutHeight=0.25,</a:t>
            </a:r>
          </a:p>
          <a:p xmlns:a="http://schemas.openxmlformats.org/drawingml/2006/main">
            <a:pPr algn="l">
              <a:defRPr sz="1200" b="0">
                <a:solidFill>
                  <a:srgbClr val="E5EEF8"/>
                </a:solidFill>
              </a:defRPr>
            </a:pPr>
            <a:r>
              <a:rPr sz="1200" b="0">
                <a:solidFill>
                  <a:srgbClr val="E5EEF8"/>
                </a:solidFill>
              </a:rPr>
              <a:t>  numericLabels=TRUE, pamRespectsDendro=FALSE,</a:t>
            </a:r>
          </a:p>
          <a:p xmlns:a="http://schemas.openxmlformats.org/drawingml/2006/main">
            <a:pPr algn="l">
              <a:defRPr sz="1200" b="0">
                <a:solidFill>
                  <a:srgbClr val="E5EEF8"/>
                </a:solidFill>
              </a:defRPr>
            </a:pPr>
            <a:r>
              <a:rPr sz="1200" b="0">
                <a:solidFill>
                  <a:srgbClr val="E5EEF8"/>
                </a:solidFill>
              </a:rPr>
              <a:t>  verbose=3</a:t>
            </a:r>
          </a:p>
          <a:p xmlns:a="http://schemas.openxmlformats.org/drawingml/2006/main">
            <a:pPr algn="l">
              <a:defRPr sz="1200" b="0">
                <a:solidFill>
                  <a:srgbClr val="E5EEF8"/>
                </a:solidFill>
              </a:defRPr>
            </a:pPr>
            <a:r>
              <a:rPr sz="1200" b="0">
                <a:solidFill>
                  <a:srgbClr val="E5EEF8"/>
                </a:solidFill>
              </a:rPr>
              <a:t>)</a:t>
            </a:r>
          </a:p>
          <a:p xmlns:a="http://schemas.openxmlformats.org/drawingml/2006/main">
            <a:pPr algn="l">
              <a:defRPr sz="1200" b="0">
                <a:solidFill>
                  <a:srgbClr val="E5EEF8"/>
                </a:solidFill>
              </a:defRPr>
            </a:pPr>
            <a:r>
              <a:rPr sz="1200" b="0">
                <a:solidFill>
                  <a:srgbClr val="E5EEF8"/>
                </a:solidFill>
              </a:rPr>
              <a:t>moduleColors &lt;- labels2colors(net$colors)</a:t>
            </a:r>
          </a:p>
          <a:p xmlns:a="http://schemas.openxmlformats.org/drawingml/2006/main">
            <a:pPr algn="l">
              <a:defRPr sz="1200" b="0">
                <a:solidFill>
                  <a:srgbClr val="E5EEF8"/>
                </a:solidFill>
              </a:defRPr>
            </a:pPr>
            <a:r>
              <a:rPr sz="1200" b="0">
                <a:solidFill>
                  <a:srgbClr val="E5EEF8"/>
                </a:solidFill>
              </a:rPr>
              <a:t>table(moduleColors)</a:t>
            </a:r>
          </a:p>
        </p:txBody>
      </p:sp>
      <p:sp>
        <p:nvSpPr>
          <p:cNvPr id="6" name="">
            <a:extLst xmlns:a="http://schemas.openxmlformats.org/drawingml/2006/main">
              <a:ext uri="{FF2B5EF4-FFF2-40B4-BE49-F238E27FC236}">
                <a16:creationId xmlns:a16="http://schemas.microsoft.com/office/drawing/2014/main" id="{9DE2CC28-ED4F-40EB-96BD-F73848D9DC20}"/>
              </a:ext>
            </a:extLst>
          </p:cNvPr>
          <p:cNvSpPr>
            <a:spLocks xmlns:a="http://schemas.openxmlformats.org/drawingml/2006/main" noGrp="1"/>
          </p:cNvSpPr>
          <p:nvPr/>
        </p:nvSpPr>
        <p:spPr>
          <a:xfrm xmlns:a="http://schemas.openxmlformats.org/drawingml/2006/main">
            <a:off x="8239125" y="18097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563EB"/>
                </a:solidFill>
              </a:defRPr>
            </a:pPr>
            <a:r>
              <a:rPr sz="1875" b="1">
                <a:solidFill>
                  <a:srgbClr val="2563EB"/>
                </a:solidFill>
              </a:rPr>
              <a:t>Parameters to discuss</a:t>
            </a:r>
          </a:p>
        </p:txBody>
      </p:sp>
      <p:sp>
        <p:nvSpPr>
          <p:cNvPr id="7" name="">
            <a:extLst xmlns:a="http://schemas.openxmlformats.org/drawingml/2006/main">
              <a:ext uri="{FF2B5EF4-FFF2-40B4-BE49-F238E27FC236}">
                <a16:creationId xmlns:a16="http://schemas.microsoft.com/office/drawing/2014/main" id="{E1E125DD-49A7-4DCD-8E35-4DD792011D9C}"/>
              </a:ext>
            </a:extLst>
          </p:cNvPr>
          <p:cNvSpPr>
            <a:spLocks xmlns:a="http://schemas.openxmlformats.org/drawingml/2006/main" noGrp="1"/>
          </p:cNvSpPr>
          <p:nvPr/>
        </p:nvSpPr>
        <p:spPr>
          <a:xfrm xmlns:a="http://schemas.openxmlformats.org/drawingml/2006/main">
            <a:off x="8239125" y="24765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networkType</a:t>
            </a:r>
          </a:p>
        </p:txBody>
      </p:sp>
      <p:sp>
        <p:nvSpPr>
          <p:cNvPr id="8" name="">
            <a:extLst xmlns:a="http://schemas.openxmlformats.org/drawingml/2006/main">
              <a:ext uri="{FF2B5EF4-FFF2-40B4-BE49-F238E27FC236}">
                <a16:creationId xmlns:a16="http://schemas.microsoft.com/office/drawing/2014/main" id="{C3151E48-29B9-4D2A-B0C7-4691BFCFEFD6}"/>
              </a:ext>
            </a:extLst>
          </p:cNvPr>
          <p:cNvSpPr>
            <a:spLocks xmlns:a="http://schemas.openxmlformats.org/drawingml/2006/main" noGrp="1"/>
          </p:cNvSpPr>
          <p:nvPr/>
        </p:nvSpPr>
        <p:spPr>
          <a:xfrm xmlns:a="http://schemas.openxmlformats.org/drawingml/2006/main">
            <a:off x="9953625" y="24765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596579"/>
                </a:solidFill>
              </a:defRPr>
            </a:pPr>
            <a:r>
              <a:rPr sz="1350" b="1">
                <a:solidFill>
                  <a:srgbClr val="596579"/>
                </a:solidFill>
              </a:rPr>
              <a:t>signed</a:t>
            </a:r>
          </a:p>
        </p:txBody>
      </p:sp>
      <p:sp>
        <p:nvSpPr>
          <p:cNvPr id="9" name="">
            <a:extLst xmlns:a="http://schemas.openxmlformats.org/drawingml/2006/main">
              <a:ext uri="{FF2B5EF4-FFF2-40B4-BE49-F238E27FC236}">
                <a16:creationId xmlns:a16="http://schemas.microsoft.com/office/drawing/2014/main" id="{76AD1BEE-5955-4C96-8C56-C9A4DCA2D51C}"/>
              </a:ext>
            </a:extLst>
          </p:cNvPr>
          <p:cNvSpPr>
            <a:spLocks xmlns:a="http://schemas.openxmlformats.org/drawingml/2006/main" noGrp="1"/>
          </p:cNvSpPr>
          <p:nvPr/>
        </p:nvSpPr>
        <p:spPr>
          <a:xfrm xmlns:a="http://schemas.openxmlformats.org/drawingml/2006/main">
            <a:off x="8239125" y="2819400"/>
            <a:ext cx="29527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65EAC4-DCB4-4055-A371-1AB7D52B471E}"/>
              </a:ext>
            </a:extLst>
          </p:cNvPr>
          <p:cNvSpPr>
            <a:spLocks xmlns:a="http://schemas.openxmlformats.org/drawingml/2006/main" noGrp="1"/>
          </p:cNvSpPr>
          <p:nvPr/>
        </p:nvSpPr>
        <p:spPr>
          <a:xfrm xmlns:a="http://schemas.openxmlformats.org/drawingml/2006/main">
            <a:off x="8239125" y="314325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minModuleSize</a:t>
            </a:r>
          </a:p>
        </p:txBody>
      </p:sp>
      <p:sp>
        <p:nvSpPr>
          <p:cNvPr id="11" name="">
            <a:extLst xmlns:a="http://schemas.openxmlformats.org/drawingml/2006/main">
              <a:ext uri="{FF2B5EF4-FFF2-40B4-BE49-F238E27FC236}">
                <a16:creationId xmlns:a16="http://schemas.microsoft.com/office/drawing/2014/main" id="{A1D200D4-A937-4B97-AAFC-FCFDE81817CC}"/>
              </a:ext>
            </a:extLst>
          </p:cNvPr>
          <p:cNvSpPr>
            <a:spLocks xmlns:a="http://schemas.openxmlformats.org/drawingml/2006/main" noGrp="1"/>
          </p:cNvSpPr>
          <p:nvPr/>
        </p:nvSpPr>
        <p:spPr>
          <a:xfrm xmlns:a="http://schemas.openxmlformats.org/drawingml/2006/main">
            <a:off x="9953625" y="3143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596579"/>
                </a:solidFill>
              </a:defRPr>
            </a:pPr>
            <a:r>
              <a:rPr sz="1350" b="1">
                <a:solidFill>
                  <a:srgbClr val="596579"/>
                </a:solidFill>
              </a:rPr>
              <a:t>30</a:t>
            </a:r>
          </a:p>
        </p:txBody>
      </p:sp>
      <p:sp>
        <p:nvSpPr>
          <p:cNvPr id="12" name="">
            <a:extLst xmlns:a="http://schemas.openxmlformats.org/drawingml/2006/main">
              <a:ext uri="{FF2B5EF4-FFF2-40B4-BE49-F238E27FC236}">
                <a16:creationId xmlns:a16="http://schemas.microsoft.com/office/drawing/2014/main" id="{E4230385-88E2-49BE-B875-9C7355C81F40}"/>
              </a:ext>
            </a:extLst>
          </p:cNvPr>
          <p:cNvSpPr>
            <a:spLocks xmlns:a="http://schemas.openxmlformats.org/drawingml/2006/main" noGrp="1"/>
          </p:cNvSpPr>
          <p:nvPr/>
        </p:nvSpPr>
        <p:spPr>
          <a:xfrm xmlns:a="http://schemas.openxmlformats.org/drawingml/2006/main">
            <a:off x="8239125" y="3486150"/>
            <a:ext cx="29527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16160B-A823-43FF-842F-B0CD6F928248}"/>
              </a:ext>
            </a:extLst>
          </p:cNvPr>
          <p:cNvSpPr>
            <a:spLocks xmlns:a="http://schemas.openxmlformats.org/drawingml/2006/main" noGrp="1"/>
          </p:cNvSpPr>
          <p:nvPr/>
        </p:nvSpPr>
        <p:spPr>
          <a:xfrm xmlns:a="http://schemas.openxmlformats.org/drawingml/2006/main">
            <a:off x="8239125" y="38100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mergeCutHeight</a:t>
            </a:r>
          </a:p>
        </p:txBody>
      </p:sp>
      <p:sp>
        <p:nvSpPr>
          <p:cNvPr id="14" name="">
            <a:extLst xmlns:a="http://schemas.openxmlformats.org/drawingml/2006/main">
              <a:ext uri="{FF2B5EF4-FFF2-40B4-BE49-F238E27FC236}">
                <a16:creationId xmlns:a16="http://schemas.microsoft.com/office/drawing/2014/main" id="{41C4365A-F7B9-4892-8EFE-38778DBC020E}"/>
              </a:ext>
            </a:extLst>
          </p:cNvPr>
          <p:cNvSpPr>
            <a:spLocks xmlns:a="http://schemas.openxmlformats.org/drawingml/2006/main" noGrp="1"/>
          </p:cNvSpPr>
          <p:nvPr/>
        </p:nvSpPr>
        <p:spPr>
          <a:xfrm xmlns:a="http://schemas.openxmlformats.org/drawingml/2006/main">
            <a:off x="9953625" y="3810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596579"/>
                </a:solidFill>
              </a:defRPr>
            </a:pPr>
            <a:r>
              <a:rPr sz="1350" b="1">
                <a:solidFill>
                  <a:srgbClr val="596579"/>
                </a:solidFill>
              </a:rPr>
              <a:t>0.25</a:t>
            </a:r>
          </a:p>
        </p:txBody>
      </p:sp>
      <p:sp>
        <p:nvSpPr>
          <p:cNvPr id="15" name="">
            <a:extLst xmlns:a="http://schemas.openxmlformats.org/drawingml/2006/main">
              <a:ext uri="{FF2B5EF4-FFF2-40B4-BE49-F238E27FC236}">
                <a16:creationId xmlns:a16="http://schemas.microsoft.com/office/drawing/2014/main" id="{4C43E9C5-9B41-4E4F-9F34-772209CF4754}"/>
              </a:ext>
            </a:extLst>
          </p:cNvPr>
          <p:cNvSpPr>
            <a:spLocks xmlns:a="http://schemas.openxmlformats.org/drawingml/2006/main" noGrp="1"/>
          </p:cNvSpPr>
          <p:nvPr/>
        </p:nvSpPr>
        <p:spPr>
          <a:xfrm xmlns:a="http://schemas.openxmlformats.org/drawingml/2006/main">
            <a:off x="8239125" y="4152900"/>
            <a:ext cx="29527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2C78EF-EE9E-4ABC-8750-513632F6C354}"/>
              </a:ext>
            </a:extLst>
          </p:cNvPr>
          <p:cNvSpPr>
            <a:spLocks xmlns:a="http://schemas.openxmlformats.org/drawingml/2006/main" noGrp="1"/>
          </p:cNvSpPr>
          <p:nvPr/>
        </p:nvSpPr>
        <p:spPr>
          <a:xfrm xmlns:a="http://schemas.openxmlformats.org/drawingml/2006/main">
            <a:off x="8239125" y="447675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827"/>
                </a:solidFill>
              </a:defRPr>
            </a:pPr>
            <a:r>
              <a:rPr sz="1350" b="1">
                <a:solidFill>
                  <a:srgbClr val="111827"/>
                </a:solidFill>
              </a:rPr>
              <a:t>softPower</a:t>
            </a:r>
          </a:p>
        </p:txBody>
      </p:sp>
      <p:sp>
        <p:nvSpPr>
          <p:cNvPr id="17" name="">
            <a:extLst xmlns:a="http://schemas.openxmlformats.org/drawingml/2006/main">
              <a:ext uri="{FF2B5EF4-FFF2-40B4-BE49-F238E27FC236}">
                <a16:creationId xmlns:a16="http://schemas.microsoft.com/office/drawing/2014/main" id="{0FAEC8C7-BE26-49F2-B821-AC5129DDC965}"/>
              </a:ext>
            </a:extLst>
          </p:cNvPr>
          <p:cNvSpPr>
            <a:spLocks xmlns:a="http://schemas.openxmlformats.org/drawingml/2006/main" noGrp="1"/>
          </p:cNvSpPr>
          <p:nvPr/>
        </p:nvSpPr>
        <p:spPr>
          <a:xfrm xmlns:a="http://schemas.openxmlformats.org/drawingml/2006/main">
            <a:off x="9953625" y="4476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F59E0B"/>
                </a:solidFill>
              </a:defRPr>
            </a:pPr>
            <a:r>
              <a:rPr sz="1350" b="1">
                <a:solidFill>
                  <a:srgbClr val="F59E0B"/>
                </a:solidFill>
              </a:rPr>
              <a:t>inspect first</a:t>
            </a:r>
          </a:p>
        </p:txBody>
      </p:sp>
      <p:sp>
        <p:nvSpPr>
          <p:cNvPr id="18" name="">
            <a:extLst xmlns:a="http://schemas.openxmlformats.org/drawingml/2006/main">
              <a:ext uri="{FF2B5EF4-FFF2-40B4-BE49-F238E27FC236}">
                <a16:creationId xmlns:a16="http://schemas.microsoft.com/office/drawing/2014/main" id="{6605AB19-4A8C-4138-8F82-1B3DD64C6202}"/>
              </a:ext>
            </a:extLst>
          </p:cNvPr>
          <p:cNvSpPr>
            <a:spLocks xmlns:a="http://schemas.openxmlformats.org/drawingml/2006/main" noGrp="1"/>
          </p:cNvSpPr>
          <p:nvPr/>
        </p:nvSpPr>
        <p:spPr>
          <a:xfrm xmlns:a="http://schemas.openxmlformats.org/drawingml/2006/main">
            <a:off x="8239125" y="4819650"/>
            <a:ext cx="29527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5B2754D-73C6-4C86-9165-8887D490F350}"/>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13</a:t>
            </a:r>
          </a:p>
        </p:txBody>
      </p:sp>
    </p:spTree>
    <p:extLst>
      <p:ext uri="{BB962C8B-B14F-4D97-AF65-F5344CB8AC3E}">
        <p14:creationId xmlns:p14="http://schemas.microsoft.com/office/powerpoint/2010/main" val="14905854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E59775-FEE4-48ED-81A0-62A37E55973F}"/>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WGCNA • BIOINFORMATICS CLASS</a:t>
            </a:r>
          </a:p>
        </p:txBody>
      </p:sp>
      <p:sp>
        <p:nvSpPr>
          <p:cNvPr id="2" name="">
            <a:extLst xmlns:a="http://schemas.openxmlformats.org/drawingml/2006/main">
              <a:ext uri="{FF2B5EF4-FFF2-40B4-BE49-F238E27FC236}">
                <a16:creationId xmlns:a16="http://schemas.microsoft.com/office/drawing/2014/main" id="{D7772CE5-A76C-4A9D-AD9A-76CF1EE6F0D5}"/>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Demo 3 — connect modules to disease and rank hubs</a:t>
            </a:r>
          </a:p>
        </p:txBody>
      </p:sp>
      <p:sp>
        <p:nvSpPr>
          <p:cNvPr id="3" name="">
            <a:extLst xmlns:a="http://schemas.openxmlformats.org/drawingml/2006/main">
              <a:ext uri="{FF2B5EF4-FFF2-40B4-BE49-F238E27FC236}">
                <a16:creationId xmlns:a16="http://schemas.microsoft.com/office/drawing/2014/main" id="{9E09F6BC-5A8F-4234-9259-B0721F9ED17E}"/>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CD71FF-92AA-4312-8598-9A391A1E8518}"/>
              </a:ext>
            </a:extLst>
          </p:cNvPr>
          <p:cNvSpPr>
            <a:spLocks xmlns:a="http://schemas.openxmlformats.org/drawingml/2006/main" noGrp="1"/>
          </p:cNvSpPr>
          <p:nvPr/>
        </p:nvSpPr>
        <p:spPr>
          <a:xfrm xmlns:a="http://schemas.openxmlformats.org/drawingml/2006/main">
            <a:off x="590550" y="1619250"/>
            <a:ext cx="7524750" cy="44767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454BA4-6E82-4557-9078-9BB480C893BE}"/>
              </a:ext>
            </a:extLst>
          </p:cNvPr>
          <p:cNvSpPr>
            <a:spLocks xmlns:a="http://schemas.openxmlformats.org/drawingml/2006/main" noGrp="1"/>
          </p:cNvSpPr>
          <p:nvPr/>
        </p:nvSpPr>
        <p:spPr>
          <a:xfrm xmlns:a="http://schemas.openxmlformats.org/drawingml/2006/main">
            <a:off x="781050" y="1771650"/>
            <a:ext cx="7143750" cy="421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E5EEF8"/>
                </a:solidFill>
              </a:defRPr>
            </a:pPr>
            <a:r>
              <a:rPr sz="1200" b="0">
                <a:solidFill>
                  <a:srgbClr val="E5EEF8"/>
                </a:solidFill>
              </a:rPr>
              <a:t>MEs &lt;- orderMEs(net$MEs)</a:t>
            </a:r>
          </a:p>
          <a:p xmlns:a="http://schemas.openxmlformats.org/drawingml/2006/main">
            <a:pPr algn="l">
              <a:defRPr sz="1200" b="0">
                <a:solidFill>
                  <a:srgbClr val="E5EEF8"/>
                </a:solidFill>
              </a:defRPr>
            </a:pPr>
            <a:r>
              <a:rPr sz="1200" b="0">
                <a:solidFill>
                  <a:srgbClr val="E5EEF8"/>
                </a:solidFill>
              </a:rPr>
              <a:t>moduleTraitCor &lt;- cor(MEs, trait$Disease, use="p")</a:t>
            </a:r>
          </a:p>
          <a:p xmlns:a="http://schemas.openxmlformats.org/drawingml/2006/main">
            <a:pPr algn="l">
              <a:defRPr sz="1200" b="0">
                <a:solidFill>
                  <a:srgbClr val="E5EEF8"/>
                </a:solidFill>
              </a:defRPr>
            </a:pPr>
            <a:r>
              <a:rPr sz="1200" b="0">
                <a:solidFill>
                  <a:srgbClr val="E5EEF8"/>
                </a:solidFill>
              </a:rPr>
              <a:t>moduleTraitP &lt;- corPvalueStudent(moduleTraitCor, nSamples=nrow(datExpr))</a:t>
            </a:r>
          </a:p>
          <a:p xmlns:a="http://schemas.openxmlformats.org/drawingml/2006/main">
            <a:r>
              <a:t/>
            </a:r>
          </a:p>
          <a:p xmlns:a="http://schemas.openxmlformats.org/drawingml/2006/main">
            <a:pPr algn="l">
              <a:defRPr sz="1200" b="0">
                <a:solidFill>
                  <a:srgbClr val="E5EEF8"/>
                </a:solidFill>
              </a:defRPr>
            </a:pPr>
            <a:r>
              <a:rPr sz="1200" b="0">
                <a:solidFill>
                  <a:srgbClr val="E5EEF8"/>
                </a:solidFill>
              </a:rPr>
              <a:t># Example: choose the strongest disease-linked module</a:t>
            </a:r>
          </a:p>
          <a:p xmlns:a="http://schemas.openxmlformats.org/drawingml/2006/main">
            <a:pPr algn="l">
              <a:defRPr sz="1200" b="0">
                <a:solidFill>
                  <a:srgbClr val="E5EEF8"/>
                </a:solidFill>
              </a:defRPr>
            </a:pPr>
            <a:r>
              <a:rPr sz="1200" b="0">
                <a:solidFill>
                  <a:srgbClr val="E5EEF8"/>
                </a:solidFill>
              </a:rPr>
              <a:t>targetME &lt;- rownames(moduleTraitCor)[which.max(abs(moduleTraitCor[,1]))]</a:t>
            </a:r>
          </a:p>
          <a:p xmlns:a="http://schemas.openxmlformats.org/drawingml/2006/main">
            <a:pPr algn="l">
              <a:defRPr sz="1200" b="0">
                <a:solidFill>
                  <a:srgbClr val="E5EEF8"/>
                </a:solidFill>
              </a:defRPr>
            </a:pPr>
            <a:r>
              <a:rPr sz="1200" b="0">
                <a:solidFill>
                  <a:srgbClr val="E5EEF8"/>
                </a:solidFill>
              </a:rPr>
              <a:t>targetColor &lt;- sub("ME", "", targetME)</a:t>
            </a:r>
          </a:p>
          <a:p xmlns:a="http://schemas.openxmlformats.org/drawingml/2006/main">
            <a:r>
              <a:t/>
            </a:r>
          </a:p>
          <a:p xmlns:a="http://schemas.openxmlformats.org/drawingml/2006/main">
            <a:pPr algn="l">
              <a:defRPr sz="1200" b="0">
                <a:solidFill>
                  <a:srgbClr val="E5EEF8"/>
                </a:solidFill>
              </a:defRPr>
            </a:pPr>
            <a:r>
              <a:rPr sz="1200" b="0">
                <a:solidFill>
                  <a:srgbClr val="E5EEF8"/>
                </a:solidFill>
              </a:rPr>
              <a:t>MM &lt;- cor(datExpr, MEs, use="p")</a:t>
            </a:r>
          </a:p>
          <a:p xmlns:a="http://schemas.openxmlformats.org/drawingml/2006/main">
            <a:pPr algn="l">
              <a:defRPr sz="1200" b="0">
                <a:solidFill>
                  <a:srgbClr val="E5EEF8"/>
                </a:solidFill>
              </a:defRPr>
            </a:pPr>
            <a:r>
              <a:rPr sz="1200" b="0">
                <a:solidFill>
                  <a:srgbClr val="E5EEF8"/>
                </a:solidFill>
              </a:rPr>
              <a:t>GS &lt;- cor(datExpr, trait$Disease, use="p")</a:t>
            </a:r>
          </a:p>
          <a:p xmlns:a="http://schemas.openxmlformats.org/drawingml/2006/main">
            <a:pPr algn="l">
              <a:defRPr sz="1200" b="0">
                <a:solidFill>
                  <a:srgbClr val="E5EEF8"/>
                </a:solidFill>
              </a:defRPr>
            </a:pPr>
            <a:r>
              <a:rPr sz="1200" b="0">
                <a:solidFill>
                  <a:srgbClr val="E5EEF8"/>
                </a:solidFill>
              </a:rPr>
              <a:t>idx &lt;- moduleColors == targetColor</a:t>
            </a:r>
          </a:p>
          <a:p xmlns:a="http://schemas.openxmlformats.org/drawingml/2006/main">
            <a:pPr algn="l">
              <a:defRPr sz="1200" b="0">
                <a:solidFill>
                  <a:srgbClr val="E5EEF8"/>
                </a:solidFill>
              </a:defRPr>
            </a:pPr>
            <a:r>
              <a:rPr sz="1200" b="0">
                <a:solidFill>
                  <a:srgbClr val="E5EEF8"/>
                </a:solidFill>
              </a:rPr>
              <a:t>hubs &lt;- data.frame(</a:t>
            </a:r>
          </a:p>
          <a:p xmlns:a="http://schemas.openxmlformats.org/drawingml/2006/main">
            <a:pPr algn="l">
              <a:defRPr sz="1200" b="0">
                <a:solidFill>
                  <a:srgbClr val="E5EEF8"/>
                </a:solidFill>
              </a:defRPr>
            </a:pPr>
            <a:r>
              <a:rPr sz="1200" b="0">
                <a:solidFill>
                  <a:srgbClr val="E5EEF8"/>
                </a:solidFill>
              </a:rPr>
              <a:t>  gene=colnames(datExpr)[idx],</a:t>
            </a:r>
          </a:p>
          <a:p xmlns:a="http://schemas.openxmlformats.org/drawingml/2006/main">
            <a:pPr algn="l">
              <a:defRPr sz="1200" b="0">
                <a:solidFill>
                  <a:srgbClr val="E5EEF8"/>
                </a:solidFill>
              </a:defRPr>
            </a:pPr>
            <a:r>
              <a:rPr sz="1200" b="0">
                <a:solidFill>
                  <a:srgbClr val="E5EEF8"/>
                </a:solidFill>
              </a:rPr>
              <a:t>  MM=abs(MM[idx, targetME]),</a:t>
            </a:r>
          </a:p>
          <a:p xmlns:a="http://schemas.openxmlformats.org/drawingml/2006/main">
            <a:pPr algn="l">
              <a:defRPr sz="1200" b="0">
                <a:solidFill>
                  <a:srgbClr val="E5EEF8"/>
                </a:solidFill>
              </a:defRPr>
            </a:pPr>
            <a:r>
              <a:rPr sz="1200" b="0">
                <a:solidFill>
                  <a:srgbClr val="E5EEF8"/>
                </a:solidFill>
              </a:rPr>
              <a:t>  GS=abs(GS[idx, 1])</a:t>
            </a:r>
          </a:p>
          <a:p xmlns:a="http://schemas.openxmlformats.org/drawingml/2006/main">
            <a:pPr algn="l">
              <a:defRPr sz="1200" b="0">
                <a:solidFill>
                  <a:srgbClr val="E5EEF8"/>
                </a:solidFill>
              </a:defRPr>
            </a:pPr>
            <a:r>
              <a:rPr sz="1200" b="0">
                <a:solidFill>
                  <a:srgbClr val="E5EEF8"/>
                </a:solidFill>
              </a:rPr>
              <a:t>)</a:t>
            </a:r>
          </a:p>
          <a:p xmlns:a="http://schemas.openxmlformats.org/drawingml/2006/main">
            <a:pPr algn="l">
              <a:defRPr sz="1200" b="0">
                <a:solidFill>
                  <a:srgbClr val="E5EEF8"/>
                </a:solidFill>
              </a:defRPr>
            </a:pPr>
            <a:r>
              <a:rPr sz="1200" b="0">
                <a:solidFill>
                  <a:srgbClr val="E5EEF8"/>
                </a:solidFill>
              </a:rPr>
              <a:t>hubs &lt;- hubs[order(-hubs$MM, -hubs$GS), ]</a:t>
            </a:r>
          </a:p>
          <a:p xmlns:a="http://schemas.openxmlformats.org/drawingml/2006/main">
            <a:pPr algn="l">
              <a:defRPr sz="1200" b="0">
                <a:solidFill>
                  <a:srgbClr val="E5EEF8"/>
                </a:solidFill>
              </a:defRPr>
            </a:pPr>
            <a:r>
              <a:rPr sz="1200" b="0">
                <a:solidFill>
                  <a:srgbClr val="E5EEF8"/>
                </a:solidFill>
              </a:rPr>
              <a:t>head(hubs, 10)</a:t>
            </a:r>
          </a:p>
        </p:txBody>
      </p:sp>
      <p:sp>
        <p:nvSpPr>
          <p:cNvPr id="6" name="">
            <a:extLst xmlns:a="http://schemas.openxmlformats.org/drawingml/2006/main">
              <a:ext uri="{FF2B5EF4-FFF2-40B4-BE49-F238E27FC236}">
                <a16:creationId xmlns:a16="http://schemas.microsoft.com/office/drawing/2014/main" id="{3EE281C4-C94A-4242-9988-00D480358A0B}"/>
              </a:ext>
            </a:extLst>
          </p:cNvPr>
          <p:cNvSpPr>
            <a:spLocks xmlns:a="http://schemas.openxmlformats.org/drawingml/2006/main" noGrp="1"/>
          </p:cNvSpPr>
          <p:nvPr/>
        </p:nvSpPr>
        <p:spPr>
          <a:xfrm xmlns:a="http://schemas.openxmlformats.org/drawingml/2006/main">
            <a:off x="8524875" y="18097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F9D7A"/>
                </a:solidFill>
              </a:defRPr>
            </a:pPr>
            <a:r>
              <a:rPr sz="1875" b="1">
                <a:solidFill>
                  <a:srgbClr val="0F9D7A"/>
                </a:solidFill>
              </a:rPr>
              <a:t>Expected output</a:t>
            </a:r>
          </a:p>
        </p:txBody>
      </p:sp>
      <p:sp>
        <p:nvSpPr>
          <p:cNvPr id="7" name="">
            <a:extLst xmlns:a="http://schemas.openxmlformats.org/drawingml/2006/main">
              <a:ext uri="{FF2B5EF4-FFF2-40B4-BE49-F238E27FC236}">
                <a16:creationId xmlns:a16="http://schemas.microsoft.com/office/drawing/2014/main" id="{09A3F197-A0DF-4BCC-9A38-152ED27512F3}"/>
              </a:ext>
            </a:extLst>
          </p:cNvPr>
          <p:cNvSpPr>
            <a:spLocks xmlns:a="http://schemas.openxmlformats.org/drawingml/2006/main" noGrp="1"/>
          </p:cNvSpPr>
          <p:nvPr/>
        </p:nvSpPr>
        <p:spPr>
          <a:xfrm xmlns:a="http://schemas.openxmlformats.org/drawingml/2006/main">
            <a:off x="8524875" y="2428875"/>
            <a:ext cx="2667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111827"/>
                </a:solidFill>
              </a:defRPr>
            </a:pPr>
            <a:r>
              <a:rPr sz="1575" b="0">
                <a:solidFill>
                  <a:srgbClr val="111827"/>
                </a:solidFill>
              </a:rPr>
              <a:t>1 disease-linked module</a:t>
            </a:r>
          </a:p>
          <a:p xmlns:a="http://schemas.openxmlformats.org/drawingml/2006/main">
            <a:r>
              <a:t/>
            </a:r>
          </a:p>
          <a:p xmlns:a="http://schemas.openxmlformats.org/drawingml/2006/main">
            <a:pPr algn="l">
              <a:defRPr sz="1575" b="0">
                <a:solidFill>
                  <a:srgbClr val="111827"/>
                </a:solidFill>
              </a:defRPr>
            </a:pPr>
            <a:r>
              <a:rPr sz="1575" b="0">
                <a:solidFill>
                  <a:srgbClr val="111827"/>
                </a:solidFill>
              </a:rPr>
              <a:t>Top genes with high:</a:t>
            </a:r>
          </a:p>
          <a:p xmlns:a="http://schemas.openxmlformats.org/drawingml/2006/main">
            <a:pPr algn="l">
              <a:defRPr sz="1575" b="0">
                <a:solidFill>
                  <a:srgbClr val="111827"/>
                </a:solidFill>
              </a:defRPr>
            </a:pPr>
            <a:r>
              <a:rPr sz="1575" b="0">
                <a:solidFill>
                  <a:srgbClr val="111827"/>
                </a:solidFill>
              </a:rPr>
              <a:t>• module membership</a:t>
            </a:r>
          </a:p>
          <a:p xmlns:a="http://schemas.openxmlformats.org/drawingml/2006/main">
            <a:pPr algn="l">
              <a:defRPr sz="1575" b="0">
                <a:solidFill>
                  <a:srgbClr val="111827"/>
                </a:solidFill>
              </a:defRPr>
            </a:pPr>
            <a:r>
              <a:rPr sz="1575" b="0">
                <a:solidFill>
                  <a:srgbClr val="111827"/>
                </a:solidFill>
              </a:rPr>
              <a:t>• gene significance</a:t>
            </a:r>
          </a:p>
          <a:p xmlns:a="http://schemas.openxmlformats.org/drawingml/2006/main">
            <a:r>
              <a:t/>
            </a:r>
          </a:p>
          <a:p xmlns:a="http://schemas.openxmlformats.org/drawingml/2006/main">
            <a:pPr algn="l">
              <a:defRPr sz="1575" b="0">
                <a:solidFill>
                  <a:srgbClr val="111827"/>
                </a:solidFill>
              </a:defRPr>
            </a:pPr>
            <a:r>
              <a:rPr sz="1575" b="0">
                <a:solidFill>
                  <a:srgbClr val="111827"/>
                </a:solidFill>
              </a:rPr>
              <a:t>Next: enrichment + replication</a:t>
            </a:r>
          </a:p>
        </p:txBody>
      </p:sp>
      <p:sp>
        <p:nvSpPr>
          <p:cNvPr id="8" name="">
            <a:extLst xmlns:a="http://schemas.openxmlformats.org/drawingml/2006/main">
              <a:ext uri="{FF2B5EF4-FFF2-40B4-BE49-F238E27FC236}">
                <a16:creationId xmlns:a16="http://schemas.microsoft.com/office/drawing/2014/main" id="{C6CC8D27-551C-457E-AF7A-B3AAACD75FEE}"/>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14</a:t>
            </a:r>
          </a:p>
        </p:txBody>
      </p:sp>
    </p:spTree>
    <p:extLst>
      <p:ext uri="{BB962C8B-B14F-4D97-AF65-F5344CB8AC3E}">
        <p14:creationId xmlns:p14="http://schemas.microsoft.com/office/powerpoint/2010/main" val="73787434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792DA2E-9F69-4CDA-9DB8-D7088C1F876F}"/>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563EB"/>
                </a:solidFill>
              </a:defRPr>
            </a:pPr>
            <a:r>
              <a:rPr sz="975" b="1">
                <a:solidFill>
                  <a:srgbClr val="2563EB"/>
                </a:solidFill>
              </a:rPr>
              <a:t>TAKE-HOME MESSAGE</a:t>
            </a:r>
          </a:p>
        </p:txBody>
      </p:sp>
      <p:sp>
        <p:nvSpPr>
          <p:cNvPr id="2" name="">
            <a:extLst xmlns:a="http://schemas.openxmlformats.org/drawingml/2006/main">
              <a:ext uri="{FF2B5EF4-FFF2-40B4-BE49-F238E27FC236}">
                <a16:creationId xmlns:a16="http://schemas.microsoft.com/office/drawing/2014/main" id="{210A32B3-903E-41D9-9B66-43C21D07C41E}"/>
              </a:ext>
            </a:extLst>
          </p:cNvPr>
          <p:cNvSpPr>
            <a:spLocks xmlns:a="http://schemas.openxmlformats.org/drawingml/2006/main" noGrp="1"/>
          </p:cNvSpPr>
          <p:nvPr/>
        </p:nvSpPr>
        <p:spPr>
          <a:xfrm xmlns:a="http://schemas.openxmlformats.org/drawingml/2006/main">
            <a:off x="609600" y="685800"/>
            <a:ext cx="1085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827"/>
                </a:solidFill>
              </a:defRPr>
            </a:pPr>
            <a:r>
              <a:rPr sz="2850" b="1">
                <a:solidFill>
                  <a:srgbClr val="111827"/>
                </a:solidFill>
              </a:rPr>
              <a:t>Use WGCNA as a discovery framework, not a causal test</a:t>
            </a:r>
          </a:p>
        </p:txBody>
      </p:sp>
      <p:sp>
        <p:nvSpPr>
          <p:cNvPr id="3" name="">
            <a:extLst xmlns:a="http://schemas.openxmlformats.org/drawingml/2006/main">
              <a:ext uri="{FF2B5EF4-FFF2-40B4-BE49-F238E27FC236}">
                <a16:creationId xmlns:a16="http://schemas.microsoft.com/office/drawing/2014/main" id="{AAE7341D-40DB-477D-BA06-7D3704F6BDF3}"/>
              </a:ext>
            </a:extLst>
          </p:cNvPr>
          <p:cNvSpPr>
            <a:spLocks xmlns:a="http://schemas.openxmlformats.org/drawingml/2006/main" noGrp="1"/>
          </p:cNvSpPr>
          <p:nvPr/>
        </p:nvSpPr>
        <p:spPr>
          <a:xfrm xmlns:a="http://schemas.openxmlformats.org/drawingml/2006/main">
            <a:off x="609600" y="1371600"/>
            <a:ext cx="10972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D78AC80-3AE6-483A-A9D9-08658EDB93DC}"/>
              </a:ext>
            </a:extLst>
          </p:cNvPr>
          <p:cNvSpPr>
            <a:spLocks xmlns:a="http://schemas.openxmlformats.org/drawingml/2006/main" noGrp="1"/>
          </p:cNvSpPr>
          <p:nvPr/>
        </p:nvSpPr>
        <p:spPr>
          <a:xfrm xmlns:a="http://schemas.openxmlformats.org/drawingml/2006/main">
            <a:off x="914400" y="1714500"/>
            <a:ext cx="514350" cy="5143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4EB116-77CA-4753-98C9-50CA65E82416}"/>
              </a:ext>
            </a:extLst>
          </p:cNvPr>
          <p:cNvSpPr>
            <a:spLocks xmlns:a="http://schemas.openxmlformats.org/drawingml/2006/main" noGrp="1"/>
          </p:cNvSpPr>
          <p:nvPr/>
        </p:nvSpPr>
        <p:spPr>
          <a:xfrm xmlns:a="http://schemas.openxmlformats.org/drawingml/2006/main">
            <a:off x="1057275" y="18192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1</a:t>
            </a:r>
          </a:p>
        </p:txBody>
      </p:sp>
      <p:sp>
        <p:nvSpPr>
          <p:cNvPr id="6" name="">
            <a:extLst xmlns:a="http://schemas.openxmlformats.org/drawingml/2006/main">
              <a:ext uri="{FF2B5EF4-FFF2-40B4-BE49-F238E27FC236}">
                <a16:creationId xmlns:a16="http://schemas.microsoft.com/office/drawing/2014/main" id="{C4EC1DE1-3C9B-4B05-9519-ED9C69AC508B}"/>
              </a:ext>
            </a:extLst>
          </p:cNvPr>
          <p:cNvSpPr>
            <a:spLocks xmlns:a="http://schemas.openxmlformats.org/drawingml/2006/main" noGrp="1"/>
          </p:cNvSpPr>
          <p:nvPr/>
        </p:nvSpPr>
        <p:spPr>
          <a:xfrm xmlns:a="http://schemas.openxmlformats.org/drawingml/2006/main">
            <a:off x="1714500" y="1771650"/>
            <a:ext cx="885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111827"/>
                </a:solidFill>
              </a:defRPr>
            </a:pPr>
            <a:r>
              <a:rPr sz="1800" b="0">
                <a:solidFill>
                  <a:srgbClr val="111827"/>
                </a:solidFill>
              </a:rPr>
              <a:t>Start with clean, appropriately transformed expression data.</a:t>
            </a:r>
          </a:p>
        </p:txBody>
      </p:sp>
      <p:sp>
        <p:nvSpPr>
          <p:cNvPr id="7" name="">
            <a:extLst xmlns:a="http://schemas.openxmlformats.org/drawingml/2006/main">
              <a:ext uri="{FF2B5EF4-FFF2-40B4-BE49-F238E27FC236}">
                <a16:creationId xmlns:a16="http://schemas.microsoft.com/office/drawing/2014/main" id="{53FC2752-0C3F-4924-BC13-167C964B8427}"/>
              </a:ext>
            </a:extLst>
          </p:cNvPr>
          <p:cNvSpPr>
            <a:spLocks xmlns:a="http://schemas.openxmlformats.org/drawingml/2006/main" noGrp="1"/>
          </p:cNvSpPr>
          <p:nvPr/>
        </p:nvSpPr>
        <p:spPr>
          <a:xfrm xmlns:a="http://schemas.openxmlformats.org/drawingml/2006/main">
            <a:off x="914400" y="2590800"/>
            <a:ext cx="514350" cy="5143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E7356FE-911E-407A-9364-00C45115A10A}"/>
              </a:ext>
            </a:extLst>
          </p:cNvPr>
          <p:cNvSpPr>
            <a:spLocks xmlns:a="http://schemas.openxmlformats.org/drawingml/2006/main" noGrp="1"/>
          </p:cNvSpPr>
          <p:nvPr/>
        </p:nvSpPr>
        <p:spPr>
          <a:xfrm xmlns:a="http://schemas.openxmlformats.org/drawingml/2006/main">
            <a:off x="1057275" y="26955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2</a:t>
            </a:r>
          </a:p>
        </p:txBody>
      </p:sp>
      <p:sp>
        <p:nvSpPr>
          <p:cNvPr id="9" name="">
            <a:extLst xmlns:a="http://schemas.openxmlformats.org/drawingml/2006/main">
              <a:ext uri="{FF2B5EF4-FFF2-40B4-BE49-F238E27FC236}">
                <a16:creationId xmlns:a16="http://schemas.microsoft.com/office/drawing/2014/main" id="{16C46660-89E4-4180-9B75-C9A683AE2B06}"/>
              </a:ext>
            </a:extLst>
          </p:cNvPr>
          <p:cNvSpPr>
            <a:spLocks xmlns:a="http://schemas.openxmlformats.org/drawingml/2006/main" noGrp="1"/>
          </p:cNvSpPr>
          <p:nvPr/>
        </p:nvSpPr>
        <p:spPr>
          <a:xfrm xmlns:a="http://schemas.openxmlformats.org/drawingml/2006/main">
            <a:off x="1714500" y="2647950"/>
            <a:ext cx="885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111827"/>
                </a:solidFill>
              </a:defRPr>
            </a:pPr>
            <a:r>
              <a:rPr sz="1800" b="0">
                <a:solidFill>
                  <a:srgbClr val="111827"/>
                </a:solidFill>
              </a:rPr>
              <a:t>Document β, network type, module size, and merge settings.</a:t>
            </a:r>
          </a:p>
        </p:txBody>
      </p:sp>
      <p:sp>
        <p:nvSpPr>
          <p:cNvPr id="10" name="">
            <a:extLst xmlns:a="http://schemas.openxmlformats.org/drawingml/2006/main">
              <a:ext uri="{FF2B5EF4-FFF2-40B4-BE49-F238E27FC236}">
                <a16:creationId xmlns:a16="http://schemas.microsoft.com/office/drawing/2014/main" id="{7F526EAA-B47F-4000-A1D5-C32448CC3BB4}"/>
              </a:ext>
            </a:extLst>
          </p:cNvPr>
          <p:cNvSpPr>
            <a:spLocks xmlns:a="http://schemas.openxmlformats.org/drawingml/2006/main" noGrp="1"/>
          </p:cNvSpPr>
          <p:nvPr/>
        </p:nvSpPr>
        <p:spPr>
          <a:xfrm xmlns:a="http://schemas.openxmlformats.org/drawingml/2006/main">
            <a:off x="914400" y="3467100"/>
            <a:ext cx="514350" cy="51435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B79473-27C6-4E05-AA89-88056EEAC84F}"/>
              </a:ext>
            </a:extLst>
          </p:cNvPr>
          <p:cNvSpPr>
            <a:spLocks xmlns:a="http://schemas.openxmlformats.org/drawingml/2006/main" noGrp="1"/>
          </p:cNvSpPr>
          <p:nvPr/>
        </p:nvSpPr>
        <p:spPr>
          <a:xfrm xmlns:a="http://schemas.openxmlformats.org/drawingml/2006/main">
            <a:off x="1057275" y="35718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3</a:t>
            </a:r>
          </a:p>
        </p:txBody>
      </p:sp>
      <p:sp>
        <p:nvSpPr>
          <p:cNvPr id="12" name="">
            <a:extLst xmlns:a="http://schemas.openxmlformats.org/drawingml/2006/main">
              <a:ext uri="{FF2B5EF4-FFF2-40B4-BE49-F238E27FC236}">
                <a16:creationId xmlns:a16="http://schemas.microsoft.com/office/drawing/2014/main" id="{88648DB6-9D8F-4DB0-B8BA-BC07C0C2B7FD}"/>
              </a:ext>
            </a:extLst>
          </p:cNvPr>
          <p:cNvSpPr>
            <a:spLocks xmlns:a="http://schemas.openxmlformats.org/drawingml/2006/main" noGrp="1"/>
          </p:cNvSpPr>
          <p:nvPr/>
        </p:nvSpPr>
        <p:spPr>
          <a:xfrm xmlns:a="http://schemas.openxmlformats.org/drawingml/2006/main">
            <a:off x="1714500" y="3524250"/>
            <a:ext cx="885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111827"/>
                </a:solidFill>
              </a:defRPr>
            </a:pPr>
            <a:r>
              <a:rPr sz="1800" b="0">
                <a:solidFill>
                  <a:srgbClr val="111827"/>
                </a:solidFill>
              </a:rPr>
              <a:t>Interpret modules before individual hub genes.</a:t>
            </a:r>
          </a:p>
        </p:txBody>
      </p:sp>
      <p:sp>
        <p:nvSpPr>
          <p:cNvPr id="13" name="">
            <a:extLst xmlns:a="http://schemas.openxmlformats.org/drawingml/2006/main">
              <a:ext uri="{FF2B5EF4-FFF2-40B4-BE49-F238E27FC236}">
                <a16:creationId xmlns:a16="http://schemas.microsoft.com/office/drawing/2014/main" id="{FC710784-B20B-4BAD-A196-18252E314C80}"/>
              </a:ext>
            </a:extLst>
          </p:cNvPr>
          <p:cNvSpPr>
            <a:spLocks xmlns:a="http://schemas.openxmlformats.org/drawingml/2006/main" noGrp="1"/>
          </p:cNvSpPr>
          <p:nvPr/>
        </p:nvSpPr>
        <p:spPr>
          <a:xfrm xmlns:a="http://schemas.openxmlformats.org/drawingml/2006/main">
            <a:off x="914400" y="4343400"/>
            <a:ext cx="514350" cy="514350"/>
          </a:xfrm>
          <a:prstGeom xmlns:a="http://schemas.openxmlformats.org/drawingml/2006/main" prst="ellipse">
            <a:avLst/>
          </a:prstGeom>
          <a:solidFill xmlns:a="http://schemas.openxmlformats.org/drawingml/2006/main">
            <a:srgbClr val="0F9D7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964B12-E442-472D-877E-B42A8CEB8683}"/>
              </a:ext>
            </a:extLst>
          </p:cNvPr>
          <p:cNvSpPr>
            <a:spLocks xmlns:a="http://schemas.openxmlformats.org/drawingml/2006/main" noGrp="1"/>
          </p:cNvSpPr>
          <p:nvPr/>
        </p:nvSpPr>
        <p:spPr>
          <a:xfrm xmlns:a="http://schemas.openxmlformats.org/drawingml/2006/main">
            <a:off x="1057275" y="44481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4</a:t>
            </a:r>
          </a:p>
        </p:txBody>
      </p:sp>
      <p:sp>
        <p:nvSpPr>
          <p:cNvPr id="15" name="">
            <a:extLst xmlns:a="http://schemas.openxmlformats.org/drawingml/2006/main">
              <a:ext uri="{FF2B5EF4-FFF2-40B4-BE49-F238E27FC236}">
                <a16:creationId xmlns:a16="http://schemas.microsoft.com/office/drawing/2014/main" id="{24B3ED35-6951-4CAF-8653-FB4C8C9F3B80}"/>
              </a:ext>
            </a:extLst>
          </p:cNvPr>
          <p:cNvSpPr>
            <a:spLocks xmlns:a="http://schemas.openxmlformats.org/drawingml/2006/main" noGrp="1"/>
          </p:cNvSpPr>
          <p:nvPr/>
        </p:nvSpPr>
        <p:spPr>
          <a:xfrm xmlns:a="http://schemas.openxmlformats.org/drawingml/2006/main">
            <a:off x="1714500" y="4400550"/>
            <a:ext cx="885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827"/>
                </a:solidFill>
              </a:defRPr>
            </a:pPr>
            <a:r>
              <a:rPr sz="1800" b="1">
                <a:solidFill>
                  <a:srgbClr val="111827"/>
                </a:solidFill>
              </a:rPr>
              <a:t>Validate associations, enrichment, and hubs in independent evidence.</a:t>
            </a:r>
          </a:p>
        </p:txBody>
      </p:sp>
      <p:sp>
        <p:nvSpPr>
          <p:cNvPr id="16" name="">
            <a:extLst xmlns:a="http://schemas.openxmlformats.org/drawingml/2006/main">
              <a:ext uri="{FF2B5EF4-FFF2-40B4-BE49-F238E27FC236}">
                <a16:creationId xmlns:a16="http://schemas.microsoft.com/office/drawing/2014/main" id="{41859D09-30CD-4ECD-91C3-17F897AA3241}"/>
              </a:ext>
            </a:extLst>
          </p:cNvPr>
          <p:cNvSpPr>
            <a:spLocks xmlns:a="http://schemas.openxmlformats.org/drawingml/2006/main" noGrp="1"/>
          </p:cNvSpPr>
          <p:nvPr/>
        </p:nvSpPr>
        <p:spPr>
          <a:xfrm xmlns:a="http://schemas.openxmlformats.org/drawingml/2006/main">
            <a:off x="685800" y="5448300"/>
            <a:ext cx="10820400" cy="62865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476712-CFDF-4937-8481-FB3AD916B99C}"/>
              </a:ext>
            </a:extLst>
          </p:cNvPr>
          <p:cNvSpPr>
            <a:spLocks xmlns:a="http://schemas.openxmlformats.org/drawingml/2006/main" noGrp="1"/>
          </p:cNvSpPr>
          <p:nvPr/>
        </p:nvSpPr>
        <p:spPr>
          <a:xfrm xmlns:a="http://schemas.openxmlformats.org/drawingml/2006/main">
            <a:off x="1047750" y="56388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596579"/>
                </a:solidFill>
              </a:defRPr>
            </a:pPr>
            <a:r>
              <a:rPr sz="1425" b="1">
                <a:solidFill>
                  <a:srgbClr val="596579"/>
                </a:solidFill>
              </a:rPr>
              <a:t>Core references: Langfelder &amp; Horvath (2008) • WGCNA package manual</a:t>
            </a:r>
          </a:p>
        </p:txBody>
      </p:sp>
      <p:sp>
        <p:nvSpPr>
          <p:cNvPr id="18" name="">
            <a:extLst xmlns:a="http://schemas.openxmlformats.org/drawingml/2006/main">
              <a:ext uri="{FF2B5EF4-FFF2-40B4-BE49-F238E27FC236}">
                <a16:creationId xmlns:a16="http://schemas.microsoft.com/office/drawing/2014/main" id="{D4F979E8-BF7F-4586-9F61-E3551A76CAE5}"/>
              </a:ext>
            </a:extLst>
          </p:cNvPr>
          <p:cNvSpPr>
            <a:spLocks xmlns:a="http://schemas.openxmlformats.org/drawingml/2006/main" noGrp="1"/>
          </p:cNvSpPr>
          <p:nvPr/>
        </p:nvSpPr>
        <p:spPr>
          <a:xfrm xmlns:a="http://schemas.openxmlformats.org/drawingml/2006/main">
            <a:off x="11125200" y="64293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96579"/>
                </a:solidFill>
              </a:defRPr>
            </a:pPr>
            <a:r>
              <a:rPr sz="900" b="1">
                <a:solidFill>
                  <a:srgbClr val="596579"/>
                </a:solidFill>
              </a:rPr>
              <a:t>15</a:t>
            </a:r>
          </a:p>
        </p:txBody>
      </p:sp>
    </p:spTree>
    <p:extLst>
      <p:ext uri="{BB962C8B-B14F-4D97-AF65-F5344CB8AC3E}">
        <p14:creationId xmlns:p14="http://schemas.microsoft.com/office/powerpoint/2010/main" val="7710069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2026-08-21T04:17:41.1530000Z</dcterms:created>
  <dcterms:modified xsi:type="dcterms:W3CDTF">2026-08-21T04:17:41.1530000Z</dcterms:modified>
</coreProperties>
</file>